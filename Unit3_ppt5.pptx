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4"/>
  </p:notesMasterIdLst>
  <p:sldIdLst>
    <p:sldId id="256" r:id="rId2"/>
    <p:sldId id="257" r:id="rId3"/>
    <p:sldId id="258" r:id="rId4"/>
    <p:sldId id="263" r:id="rId5"/>
    <p:sldId id="264" r:id="rId6"/>
    <p:sldId id="265" r:id="rId7"/>
    <p:sldId id="266" r:id="rId8"/>
    <p:sldId id="267" r:id="rId9"/>
    <p:sldId id="268" r:id="rId10"/>
    <p:sldId id="269" r:id="rId11"/>
    <p:sldId id="270" r:id="rId12"/>
    <p:sldId id="307" r:id="rId13"/>
    <p:sldId id="271" r:id="rId14"/>
    <p:sldId id="272" r:id="rId15"/>
    <p:sldId id="273" r:id="rId16"/>
    <p:sldId id="274" r:id="rId17"/>
    <p:sldId id="275" r:id="rId18"/>
    <p:sldId id="276" r:id="rId19"/>
    <p:sldId id="277" r:id="rId20"/>
    <p:sldId id="278" r:id="rId21"/>
    <p:sldId id="279" r:id="rId22"/>
    <p:sldId id="280" r:id="rId23"/>
    <p:sldId id="281" r:id="rId24"/>
    <p:sldId id="310" r:id="rId25"/>
    <p:sldId id="282" r:id="rId26"/>
    <p:sldId id="283" r:id="rId27"/>
    <p:sldId id="284" r:id="rId28"/>
    <p:sldId id="285" r:id="rId29"/>
    <p:sldId id="286" r:id="rId30"/>
    <p:sldId id="287" r:id="rId31"/>
    <p:sldId id="308" r:id="rId32"/>
    <p:sldId id="288" r:id="rId33"/>
    <p:sldId id="289" r:id="rId34"/>
    <p:sldId id="290" r:id="rId35"/>
    <p:sldId id="291" r:id="rId36"/>
    <p:sldId id="292" r:id="rId37"/>
    <p:sldId id="293" r:id="rId38"/>
    <p:sldId id="294" r:id="rId39"/>
    <p:sldId id="295" r:id="rId40"/>
    <p:sldId id="296" r:id="rId41"/>
    <p:sldId id="297" r:id="rId42"/>
    <p:sldId id="309" r:id="rId43"/>
    <p:sldId id="298" r:id="rId44"/>
    <p:sldId id="299" r:id="rId45"/>
    <p:sldId id="300" r:id="rId46"/>
    <p:sldId id="301" r:id="rId47"/>
    <p:sldId id="302" r:id="rId48"/>
    <p:sldId id="303" r:id="rId49"/>
    <p:sldId id="304" r:id="rId50"/>
    <p:sldId id="305" r:id="rId51"/>
    <p:sldId id="306" r:id="rId52"/>
    <p:sldId id="262" r:id="rId53"/>
  </p:sldIdLst>
  <p:sldSz cx="18288000" cy="10287000"/>
  <p:notesSz cx="6858000" cy="9144000"/>
  <p:embeddedFontLst>
    <p:embeddedFont>
      <p:font typeface="Arial Bold" panose="020B0704020202020204" pitchFamily="34" charset="0"/>
      <p:bold r:id="rId55"/>
    </p:embeddedFont>
    <p:embeddedFont>
      <p:font typeface="Calibri (MS)" panose="020B0604020202020204" charset="0"/>
      <p:regular r:id="rId56"/>
    </p:embeddedFont>
    <p:embeddedFont>
      <p:font typeface="Calibri (MS) Bold" panose="020B0604020202020204" charset="0"/>
      <p:regular r:id="rId57"/>
    </p:embeddedFont>
    <p:embeddedFont>
      <p:font typeface="Cambria Math" panose="02040503050406030204" pitchFamily="18" charset="0"/>
      <p:regular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326369-CF4A-430C-BDC0-747CF42E2C98}" v="70" dt="2026-10-15T12:54:58.5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jwala talanki" userId="f96f43d5c5067f3b" providerId="LiveId" clId="{4B6E1711-CB52-4CF4-B5ED-8DDF63F8A93D}"/>
    <pc:docChg chg="undo custSel addSld modSld">
      <pc:chgData name="prajwala talanki" userId="f96f43d5c5067f3b" providerId="LiveId" clId="{4B6E1711-CB52-4CF4-B5ED-8DDF63F8A93D}" dt="2026-10-15T12:54:58.533" v="420"/>
      <pc:docMkLst>
        <pc:docMk/>
      </pc:docMkLst>
      <pc:sldChg chg="modSp mod">
        <pc:chgData name="prajwala talanki" userId="f96f43d5c5067f3b" providerId="LiveId" clId="{4B6E1711-CB52-4CF4-B5ED-8DDF63F8A93D}" dt="2026-10-15T05:18:41.769" v="1" actId="113"/>
        <pc:sldMkLst>
          <pc:docMk/>
          <pc:sldMk cId="0" sldId="263"/>
        </pc:sldMkLst>
        <pc:spChg chg="mod">
          <ac:chgData name="prajwala talanki" userId="f96f43d5c5067f3b" providerId="LiveId" clId="{4B6E1711-CB52-4CF4-B5ED-8DDF63F8A93D}" dt="2026-10-15T05:18:41.769" v="1" actId="113"/>
          <ac:spMkLst>
            <pc:docMk/>
            <pc:sldMk cId="0" sldId="263"/>
            <ac:spMk id="7" creationId="{00000000-0000-0000-0000-000000000000}"/>
          </ac:spMkLst>
        </pc:spChg>
      </pc:sldChg>
      <pc:sldChg chg="addSp modSp mod">
        <pc:chgData name="prajwala talanki" userId="f96f43d5c5067f3b" providerId="LiveId" clId="{4B6E1711-CB52-4CF4-B5ED-8DDF63F8A93D}" dt="2026-10-15T05:25:18.178" v="32" actId="14100"/>
        <pc:sldMkLst>
          <pc:docMk/>
          <pc:sldMk cId="0" sldId="264"/>
        </pc:sldMkLst>
        <pc:spChg chg="mod">
          <ac:chgData name="prajwala talanki" userId="f96f43d5c5067f3b" providerId="LiveId" clId="{4B6E1711-CB52-4CF4-B5ED-8DDF63F8A93D}" dt="2026-10-15T05:24:10.957" v="24"/>
          <ac:spMkLst>
            <pc:docMk/>
            <pc:sldMk cId="0" sldId="264"/>
            <ac:spMk id="7" creationId="{00000000-0000-0000-0000-000000000000}"/>
          </ac:spMkLst>
        </pc:spChg>
        <pc:spChg chg="add mod">
          <ac:chgData name="prajwala talanki" userId="f96f43d5c5067f3b" providerId="LiveId" clId="{4B6E1711-CB52-4CF4-B5ED-8DDF63F8A93D}" dt="2026-10-15T05:24:18.984" v="27" actId="14100"/>
          <ac:spMkLst>
            <pc:docMk/>
            <pc:sldMk cId="0" sldId="264"/>
            <ac:spMk id="11" creationId="{0E9E53F1-B458-3908-478D-11FBCEBE0C4F}"/>
          </ac:spMkLst>
        </pc:spChg>
        <pc:graphicFrameChg chg="add mod modGraphic">
          <ac:chgData name="prajwala talanki" userId="f96f43d5c5067f3b" providerId="LiveId" clId="{4B6E1711-CB52-4CF4-B5ED-8DDF63F8A93D}" dt="2026-10-15T05:25:18.178" v="32" actId="14100"/>
          <ac:graphicFrameMkLst>
            <pc:docMk/>
            <pc:sldMk cId="0" sldId="264"/>
            <ac:graphicFrameMk id="12" creationId="{3277C93F-7EE4-6FA6-59D1-AD4AA176EA7F}"/>
          </ac:graphicFrameMkLst>
        </pc:graphicFrameChg>
        <pc:picChg chg="mod">
          <ac:chgData name="prajwala talanki" userId="f96f43d5c5067f3b" providerId="LiveId" clId="{4B6E1711-CB52-4CF4-B5ED-8DDF63F8A93D}" dt="2026-10-15T05:25:10.027" v="29" actId="1076"/>
          <ac:picMkLst>
            <pc:docMk/>
            <pc:sldMk cId="0" sldId="264"/>
            <ac:picMk id="8" creationId="{00000000-0000-0000-0000-000000000000}"/>
          </ac:picMkLst>
        </pc:picChg>
      </pc:sldChg>
      <pc:sldChg chg="modSp mod">
        <pc:chgData name="prajwala talanki" userId="f96f43d5c5067f3b" providerId="LiveId" clId="{4B6E1711-CB52-4CF4-B5ED-8DDF63F8A93D}" dt="2026-10-15T05:25:57.150" v="35" actId="113"/>
        <pc:sldMkLst>
          <pc:docMk/>
          <pc:sldMk cId="0" sldId="265"/>
        </pc:sldMkLst>
        <pc:spChg chg="mod">
          <ac:chgData name="prajwala talanki" userId="f96f43d5c5067f3b" providerId="LiveId" clId="{4B6E1711-CB52-4CF4-B5ED-8DDF63F8A93D}" dt="2026-10-15T05:25:57.150" v="35" actId="113"/>
          <ac:spMkLst>
            <pc:docMk/>
            <pc:sldMk cId="0" sldId="265"/>
            <ac:spMk id="7" creationId="{00000000-0000-0000-0000-000000000000}"/>
          </ac:spMkLst>
        </pc:spChg>
      </pc:sldChg>
      <pc:sldChg chg="addSp modSp mod">
        <pc:chgData name="prajwala talanki" userId="f96f43d5c5067f3b" providerId="LiveId" clId="{4B6E1711-CB52-4CF4-B5ED-8DDF63F8A93D}" dt="2026-10-15T05:27:20.375" v="38" actId="403"/>
        <pc:sldMkLst>
          <pc:docMk/>
          <pc:sldMk cId="0" sldId="266"/>
        </pc:sldMkLst>
        <pc:spChg chg="add mod">
          <ac:chgData name="prajwala talanki" userId="f96f43d5c5067f3b" providerId="LiveId" clId="{4B6E1711-CB52-4CF4-B5ED-8DDF63F8A93D}" dt="2026-10-15T05:27:20.375" v="38" actId="403"/>
          <ac:spMkLst>
            <pc:docMk/>
            <pc:sldMk cId="0" sldId="266"/>
            <ac:spMk id="11" creationId="{76C701B3-8C3A-8199-0104-E0BE32EA8178}"/>
          </ac:spMkLst>
        </pc:spChg>
      </pc:sldChg>
      <pc:sldChg chg="addSp modSp mod">
        <pc:chgData name="prajwala talanki" userId="f96f43d5c5067f3b" providerId="LiveId" clId="{4B6E1711-CB52-4CF4-B5ED-8DDF63F8A93D}" dt="2026-10-15T05:30:53.760" v="53" actId="1036"/>
        <pc:sldMkLst>
          <pc:docMk/>
          <pc:sldMk cId="0" sldId="267"/>
        </pc:sldMkLst>
        <pc:spChg chg="mod">
          <ac:chgData name="prajwala talanki" userId="f96f43d5c5067f3b" providerId="LiveId" clId="{4B6E1711-CB52-4CF4-B5ED-8DDF63F8A93D}" dt="2026-10-15T05:29:49.776" v="48" actId="113"/>
          <ac:spMkLst>
            <pc:docMk/>
            <pc:sldMk cId="0" sldId="267"/>
            <ac:spMk id="7" creationId="{00000000-0000-0000-0000-000000000000}"/>
          </ac:spMkLst>
        </pc:spChg>
        <pc:spChg chg="add mod">
          <ac:chgData name="prajwala talanki" userId="f96f43d5c5067f3b" providerId="LiveId" clId="{4B6E1711-CB52-4CF4-B5ED-8DDF63F8A93D}" dt="2026-10-15T05:29:28.839" v="45" actId="1076"/>
          <ac:spMkLst>
            <pc:docMk/>
            <pc:sldMk cId="0" sldId="267"/>
            <ac:spMk id="13" creationId="{BB4FBB66-2F18-F4EE-3DB6-FB2F3F5FD3E7}"/>
          </ac:spMkLst>
        </pc:spChg>
        <pc:picChg chg="mod">
          <ac:chgData name="prajwala talanki" userId="f96f43d5c5067f3b" providerId="LiveId" clId="{4B6E1711-CB52-4CF4-B5ED-8DDF63F8A93D}" dt="2026-10-15T05:30:45.676" v="51" actId="1076"/>
          <ac:picMkLst>
            <pc:docMk/>
            <pc:sldMk cId="0" sldId="267"/>
            <ac:picMk id="8" creationId="{00000000-0000-0000-0000-000000000000}"/>
          </ac:picMkLst>
        </pc:picChg>
        <pc:picChg chg="add mod">
          <ac:chgData name="prajwala talanki" userId="f96f43d5c5067f3b" providerId="LiveId" clId="{4B6E1711-CB52-4CF4-B5ED-8DDF63F8A93D}" dt="2026-10-15T05:29:03.386" v="43" actId="1076"/>
          <ac:picMkLst>
            <pc:docMk/>
            <pc:sldMk cId="0" sldId="267"/>
            <ac:picMk id="11" creationId="{3DDBED26-62B6-9D83-29B2-6EBB205E48CF}"/>
          </ac:picMkLst>
        </pc:picChg>
        <pc:picChg chg="add mod">
          <ac:chgData name="prajwala talanki" userId="f96f43d5c5067f3b" providerId="LiveId" clId="{4B6E1711-CB52-4CF4-B5ED-8DDF63F8A93D}" dt="2026-10-15T05:30:53.760" v="53" actId="1036"/>
          <ac:picMkLst>
            <pc:docMk/>
            <pc:sldMk cId="0" sldId="267"/>
            <ac:picMk id="15" creationId="{5CD48B13-AEFB-8D80-B7F6-0D4B2DE3AEF2}"/>
          </ac:picMkLst>
        </pc:picChg>
      </pc:sldChg>
      <pc:sldChg chg="modSp modAnim">
        <pc:chgData name="prajwala talanki" userId="f96f43d5c5067f3b" providerId="LiveId" clId="{4B6E1711-CB52-4CF4-B5ED-8DDF63F8A93D}" dt="2026-10-15T12:22:10.251" v="339" actId="20577"/>
        <pc:sldMkLst>
          <pc:docMk/>
          <pc:sldMk cId="0" sldId="268"/>
        </pc:sldMkLst>
        <pc:spChg chg="mod">
          <ac:chgData name="prajwala talanki" userId="f96f43d5c5067f3b" providerId="LiveId" clId="{4B6E1711-CB52-4CF4-B5ED-8DDF63F8A93D}" dt="2026-10-15T12:22:10.251" v="339" actId="20577"/>
          <ac:spMkLst>
            <pc:docMk/>
            <pc:sldMk cId="0" sldId="268"/>
            <ac:spMk id="10" creationId="{00000000-0000-0000-0000-000000000000}"/>
          </ac:spMkLst>
        </pc:spChg>
      </pc:sldChg>
      <pc:sldChg chg="addSp delSp modSp mod">
        <pc:chgData name="prajwala talanki" userId="f96f43d5c5067f3b" providerId="LiveId" clId="{4B6E1711-CB52-4CF4-B5ED-8DDF63F8A93D}" dt="2026-10-15T06:07:49.380" v="184" actId="113"/>
        <pc:sldMkLst>
          <pc:docMk/>
          <pc:sldMk cId="0" sldId="269"/>
        </pc:sldMkLst>
        <pc:spChg chg="mod">
          <ac:chgData name="prajwala talanki" userId="f96f43d5c5067f3b" providerId="LiveId" clId="{4B6E1711-CB52-4CF4-B5ED-8DDF63F8A93D}" dt="2026-10-15T06:07:49.380" v="184" actId="113"/>
          <ac:spMkLst>
            <pc:docMk/>
            <pc:sldMk cId="0" sldId="269"/>
            <ac:spMk id="7" creationId="{00000000-0000-0000-0000-000000000000}"/>
          </ac:spMkLst>
        </pc:spChg>
        <pc:spChg chg="del mod">
          <ac:chgData name="prajwala talanki" userId="f96f43d5c5067f3b" providerId="LiveId" clId="{4B6E1711-CB52-4CF4-B5ED-8DDF63F8A93D}" dt="2026-10-15T05:50:24.085" v="97"/>
          <ac:spMkLst>
            <pc:docMk/>
            <pc:sldMk cId="0" sldId="269"/>
            <ac:spMk id="9" creationId="{00000000-0000-0000-0000-000000000000}"/>
          </ac:spMkLst>
        </pc:spChg>
        <pc:spChg chg="add mod">
          <ac:chgData name="prajwala talanki" userId="f96f43d5c5067f3b" providerId="LiveId" clId="{4B6E1711-CB52-4CF4-B5ED-8DDF63F8A93D}" dt="2026-10-15T05:48:20.948" v="63" actId="123"/>
          <ac:spMkLst>
            <pc:docMk/>
            <pc:sldMk cId="0" sldId="269"/>
            <ac:spMk id="11" creationId="{8AE8A812-6F78-5E00-803C-615AB5D7DC76}"/>
          </ac:spMkLst>
        </pc:spChg>
        <pc:spChg chg="add mod">
          <ac:chgData name="prajwala talanki" userId="f96f43d5c5067f3b" providerId="LiveId" clId="{4B6E1711-CB52-4CF4-B5ED-8DDF63F8A93D}" dt="2026-10-15T05:51:00.489" v="116" actId="403"/>
          <ac:spMkLst>
            <pc:docMk/>
            <pc:sldMk cId="0" sldId="269"/>
            <ac:spMk id="15" creationId="{AC97AD9C-03D3-C283-0081-B8A36D910521}"/>
          </ac:spMkLst>
        </pc:spChg>
        <pc:picChg chg="mod">
          <ac:chgData name="prajwala talanki" userId="f96f43d5c5067f3b" providerId="LiveId" clId="{4B6E1711-CB52-4CF4-B5ED-8DDF63F8A93D}" dt="2026-10-15T05:49:37.934" v="83" actId="14100"/>
          <ac:picMkLst>
            <pc:docMk/>
            <pc:sldMk cId="0" sldId="269"/>
            <ac:picMk id="8" creationId="{00000000-0000-0000-0000-000000000000}"/>
          </ac:picMkLst>
        </pc:picChg>
        <pc:picChg chg="add mod">
          <ac:chgData name="prajwala talanki" userId="f96f43d5c5067f3b" providerId="LiveId" clId="{4B6E1711-CB52-4CF4-B5ED-8DDF63F8A93D}" dt="2026-10-15T05:48:58.537" v="69" actId="14100"/>
          <ac:picMkLst>
            <pc:docMk/>
            <pc:sldMk cId="0" sldId="269"/>
            <ac:picMk id="13" creationId="{3B8CA35B-EC3F-73D8-8ED1-7FC528EF7010}"/>
          </ac:picMkLst>
        </pc:picChg>
        <pc:picChg chg="add mod">
          <ac:chgData name="prajwala talanki" userId="f96f43d5c5067f3b" providerId="LiveId" clId="{4B6E1711-CB52-4CF4-B5ED-8DDF63F8A93D}" dt="2026-10-15T06:07:44.778" v="183" actId="14100"/>
          <ac:picMkLst>
            <pc:docMk/>
            <pc:sldMk cId="0" sldId="269"/>
            <ac:picMk id="17" creationId="{A2B56CCC-5000-FE06-50F7-0940F336DDD2}"/>
          </ac:picMkLst>
        </pc:picChg>
      </pc:sldChg>
      <pc:sldChg chg="modSp mod modAnim">
        <pc:chgData name="prajwala talanki" userId="f96f43d5c5067f3b" providerId="LiveId" clId="{4B6E1711-CB52-4CF4-B5ED-8DDF63F8A93D}" dt="2026-10-15T12:25:22.153" v="358" actId="20577"/>
        <pc:sldMkLst>
          <pc:docMk/>
          <pc:sldMk cId="0" sldId="270"/>
        </pc:sldMkLst>
        <pc:spChg chg="mod">
          <ac:chgData name="prajwala talanki" userId="f96f43d5c5067f3b" providerId="LiveId" clId="{4B6E1711-CB52-4CF4-B5ED-8DDF63F8A93D}" dt="2026-10-15T05:57:44.296" v="137"/>
          <ac:spMkLst>
            <pc:docMk/>
            <pc:sldMk cId="0" sldId="270"/>
            <ac:spMk id="9" creationId="{00000000-0000-0000-0000-000000000000}"/>
          </ac:spMkLst>
        </pc:spChg>
        <pc:spChg chg="mod">
          <ac:chgData name="prajwala talanki" userId="f96f43d5c5067f3b" providerId="LiveId" clId="{4B6E1711-CB52-4CF4-B5ED-8DDF63F8A93D}" dt="2026-10-15T12:25:22.153" v="358" actId="20577"/>
          <ac:spMkLst>
            <pc:docMk/>
            <pc:sldMk cId="0" sldId="270"/>
            <ac:spMk id="10" creationId="{00000000-0000-0000-0000-000000000000}"/>
          </ac:spMkLst>
        </pc:spChg>
      </pc:sldChg>
      <pc:sldChg chg="modSp mod">
        <pc:chgData name="prajwala talanki" userId="f96f43d5c5067f3b" providerId="LiveId" clId="{4B6E1711-CB52-4CF4-B5ED-8DDF63F8A93D}" dt="2026-10-15T06:12:52.343" v="193" actId="113"/>
        <pc:sldMkLst>
          <pc:docMk/>
          <pc:sldMk cId="0" sldId="271"/>
        </pc:sldMkLst>
        <pc:spChg chg="mod">
          <ac:chgData name="prajwala talanki" userId="f96f43d5c5067f3b" providerId="LiveId" clId="{4B6E1711-CB52-4CF4-B5ED-8DDF63F8A93D}" dt="2026-10-15T06:12:52.343" v="193" actId="113"/>
          <ac:spMkLst>
            <pc:docMk/>
            <pc:sldMk cId="0" sldId="271"/>
            <ac:spMk id="7" creationId="{00000000-0000-0000-0000-000000000000}"/>
          </ac:spMkLst>
        </pc:spChg>
      </pc:sldChg>
      <pc:sldChg chg="modSp mod">
        <pc:chgData name="prajwala talanki" userId="f96f43d5c5067f3b" providerId="LiveId" clId="{4B6E1711-CB52-4CF4-B5ED-8DDF63F8A93D}" dt="2026-10-15T06:38:49.791" v="198" actId="113"/>
        <pc:sldMkLst>
          <pc:docMk/>
          <pc:sldMk cId="0" sldId="272"/>
        </pc:sldMkLst>
        <pc:spChg chg="mod">
          <ac:chgData name="prajwala talanki" userId="f96f43d5c5067f3b" providerId="LiveId" clId="{4B6E1711-CB52-4CF4-B5ED-8DDF63F8A93D}" dt="2026-10-15T06:38:49.791" v="198" actId="113"/>
          <ac:spMkLst>
            <pc:docMk/>
            <pc:sldMk cId="0" sldId="272"/>
            <ac:spMk id="7" creationId="{00000000-0000-0000-0000-000000000000}"/>
          </ac:spMkLst>
        </pc:spChg>
      </pc:sldChg>
      <pc:sldChg chg="mod modShow">
        <pc:chgData name="prajwala talanki" userId="f96f43d5c5067f3b" providerId="LiveId" clId="{4B6E1711-CB52-4CF4-B5ED-8DDF63F8A93D}" dt="2026-10-15T12:40:19.386" v="359" actId="729"/>
        <pc:sldMkLst>
          <pc:docMk/>
          <pc:sldMk cId="0" sldId="273"/>
        </pc:sldMkLst>
      </pc:sldChg>
      <pc:sldChg chg="modSp mod">
        <pc:chgData name="prajwala talanki" userId="f96f43d5c5067f3b" providerId="LiveId" clId="{4B6E1711-CB52-4CF4-B5ED-8DDF63F8A93D}" dt="2026-10-15T06:44:09.263" v="224" actId="113"/>
        <pc:sldMkLst>
          <pc:docMk/>
          <pc:sldMk cId="0" sldId="274"/>
        </pc:sldMkLst>
        <pc:spChg chg="mod">
          <ac:chgData name="prajwala talanki" userId="f96f43d5c5067f3b" providerId="LiveId" clId="{4B6E1711-CB52-4CF4-B5ED-8DDF63F8A93D}" dt="2026-10-15T06:44:09.263" v="224" actId="113"/>
          <ac:spMkLst>
            <pc:docMk/>
            <pc:sldMk cId="0" sldId="274"/>
            <ac:spMk id="7" creationId="{00000000-0000-0000-0000-000000000000}"/>
          </ac:spMkLst>
        </pc:spChg>
      </pc:sldChg>
      <pc:sldChg chg="modSp mod">
        <pc:chgData name="prajwala talanki" userId="f96f43d5c5067f3b" providerId="LiveId" clId="{4B6E1711-CB52-4CF4-B5ED-8DDF63F8A93D}" dt="2026-10-15T06:44:57.448" v="226" actId="113"/>
        <pc:sldMkLst>
          <pc:docMk/>
          <pc:sldMk cId="0" sldId="275"/>
        </pc:sldMkLst>
        <pc:spChg chg="mod">
          <ac:chgData name="prajwala talanki" userId="f96f43d5c5067f3b" providerId="LiveId" clId="{4B6E1711-CB52-4CF4-B5ED-8DDF63F8A93D}" dt="2026-10-15T06:44:57.448" v="226" actId="113"/>
          <ac:spMkLst>
            <pc:docMk/>
            <pc:sldMk cId="0" sldId="275"/>
            <ac:spMk id="7" creationId="{00000000-0000-0000-0000-000000000000}"/>
          </ac:spMkLst>
        </pc:spChg>
      </pc:sldChg>
      <pc:sldChg chg="modSp mod">
        <pc:chgData name="prajwala talanki" userId="f96f43d5c5067f3b" providerId="LiveId" clId="{4B6E1711-CB52-4CF4-B5ED-8DDF63F8A93D}" dt="2026-10-15T06:45:45.406" v="231" actId="113"/>
        <pc:sldMkLst>
          <pc:docMk/>
          <pc:sldMk cId="0" sldId="276"/>
        </pc:sldMkLst>
        <pc:spChg chg="mod">
          <ac:chgData name="prajwala talanki" userId="f96f43d5c5067f3b" providerId="LiveId" clId="{4B6E1711-CB52-4CF4-B5ED-8DDF63F8A93D}" dt="2026-10-15T06:45:45.406" v="231" actId="113"/>
          <ac:spMkLst>
            <pc:docMk/>
            <pc:sldMk cId="0" sldId="276"/>
            <ac:spMk id="7" creationId="{00000000-0000-0000-0000-000000000000}"/>
          </ac:spMkLst>
        </pc:spChg>
      </pc:sldChg>
      <pc:sldChg chg="modSp mod">
        <pc:chgData name="prajwala talanki" userId="f96f43d5c5067f3b" providerId="LiveId" clId="{4B6E1711-CB52-4CF4-B5ED-8DDF63F8A93D}" dt="2026-10-15T06:46:15.955" v="235" actId="113"/>
        <pc:sldMkLst>
          <pc:docMk/>
          <pc:sldMk cId="0" sldId="277"/>
        </pc:sldMkLst>
        <pc:spChg chg="mod">
          <ac:chgData name="prajwala talanki" userId="f96f43d5c5067f3b" providerId="LiveId" clId="{4B6E1711-CB52-4CF4-B5ED-8DDF63F8A93D}" dt="2026-10-15T06:46:15.955" v="235" actId="113"/>
          <ac:spMkLst>
            <pc:docMk/>
            <pc:sldMk cId="0" sldId="277"/>
            <ac:spMk id="7" creationId="{00000000-0000-0000-0000-000000000000}"/>
          </ac:spMkLst>
        </pc:spChg>
      </pc:sldChg>
      <pc:sldChg chg="addSp delSp modSp mod">
        <pc:chgData name="prajwala talanki" userId="f96f43d5c5067f3b" providerId="LiveId" clId="{4B6E1711-CB52-4CF4-B5ED-8DDF63F8A93D}" dt="2026-10-15T06:50:03.908" v="262" actId="113"/>
        <pc:sldMkLst>
          <pc:docMk/>
          <pc:sldMk cId="0" sldId="278"/>
        </pc:sldMkLst>
        <pc:spChg chg="mod">
          <ac:chgData name="prajwala talanki" userId="f96f43d5c5067f3b" providerId="LiveId" clId="{4B6E1711-CB52-4CF4-B5ED-8DDF63F8A93D}" dt="2026-10-15T06:50:03.908" v="262" actId="113"/>
          <ac:spMkLst>
            <pc:docMk/>
            <pc:sldMk cId="0" sldId="278"/>
            <ac:spMk id="7" creationId="{00000000-0000-0000-0000-000000000000}"/>
          </ac:spMkLst>
        </pc:spChg>
        <pc:spChg chg="del mod">
          <ac:chgData name="prajwala talanki" userId="f96f43d5c5067f3b" providerId="LiveId" clId="{4B6E1711-CB52-4CF4-B5ED-8DDF63F8A93D}" dt="2026-10-15T06:49:13.493" v="253"/>
          <ac:spMkLst>
            <pc:docMk/>
            <pc:sldMk cId="0" sldId="278"/>
            <ac:spMk id="9" creationId="{00000000-0000-0000-0000-000000000000}"/>
          </ac:spMkLst>
        </pc:spChg>
        <pc:picChg chg="mod">
          <ac:chgData name="prajwala talanki" userId="f96f43d5c5067f3b" providerId="LiveId" clId="{4B6E1711-CB52-4CF4-B5ED-8DDF63F8A93D}" dt="2026-10-15T06:48:34.258" v="249" actId="1076"/>
          <ac:picMkLst>
            <pc:docMk/>
            <pc:sldMk cId="0" sldId="278"/>
            <ac:picMk id="8" creationId="{00000000-0000-0000-0000-000000000000}"/>
          </ac:picMkLst>
        </pc:picChg>
        <pc:picChg chg="add mod">
          <ac:chgData name="prajwala talanki" userId="f96f43d5c5067f3b" providerId="LiveId" clId="{4B6E1711-CB52-4CF4-B5ED-8DDF63F8A93D}" dt="2026-10-15T06:49:17.666" v="257" actId="1076"/>
          <ac:picMkLst>
            <pc:docMk/>
            <pc:sldMk cId="0" sldId="278"/>
            <ac:picMk id="10" creationId="{DDBA7DB7-E1F4-95D3-69BF-672D5E7B2A28}"/>
          </ac:picMkLst>
        </pc:picChg>
      </pc:sldChg>
      <pc:sldChg chg="mod modShow">
        <pc:chgData name="prajwala talanki" userId="f96f43d5c5067f3b" providerId="LiveId" clId="{4B6E1711-CB52-4CF4-B5ED-8DDF63F8A93D}" dt="2026-10-15T12:44:43.549" v="360" actId="729"/>
        <pc:sldMkLst>
          <pc:docMk/>
          <pc:sldMk cId="0" sldId="279"/>
        </pc:sldMkLst>
      </pc:sldChg>
      <pc:sldChg chg="modSp mod">
        <pc:chgData name="prajwala talanki" userId="f96f43d5c5067f3b" providerId="LiveId" clId="{4B6E1711-CB52-4CF4-B5ED-8DDF63F8A93D}" dt="2026-10-15T12:48:35.712" v="402" actId="113"/>
        <pc:sldMkLst>
          <pc:docMk/>
          <pc:sldMk cId="0" sldId="281"/>
        </pc:sldMkLst>
        <pc:spChg chg="mod">
          <ac:chgData name="prajwala talanki" userId="f96f43d5c5067f3b" providerId="LiveId" clId="{4B6E1711-CB52-4CF4-B5ED-8DDF63F8A93D}" dt="2026-10-15T12:47:18.214" v="363"/>
          <ac:spMkLst>
            <pc:docMk/>
            <pc:sldMk cId="0" sldId="281"/>
            <ac:spMk id="8" creationId="{00000000-0000-0000-0000-000000000000}"/>
          </ac:spMkLst>
        </pc:spChg>
        <pc:spChg chg="mod">
          <ac:chgData name="prajwala talanki" userId="f96f43d5c5067f3b" providerId="LiveId" clId="{4B6E1711-CB52-4CF4-B5ED-8DDF63F8A93D}" dt="2026-10-15T12:48:35.712" v="402" actId="113"/>
          <ac:spMkLst>
            <pc:docMk/>
            <pc:sldMk cId="0" sldId="281"/>
            <ac:spMk id="11" creationId="{00000000-0000-0000-0000-000000000000}"/>
          </ac:spMkLst>
        </pc:spChg>
      </pc:sldChg>
      <pc:sldChg chg="modSp mod">
        <pc:chgData name="prajwala talanki" userId="f96f43d5c5067f3b" providerId="LiveId" clId="{4B6E1711-CB52-4CF4-B5ED-8DDF63F8A93D}" dt="2026-10-15T06:52:48.920" v="263" actId="113"/>
        <pc:sldMkLst>
          <pc:docMk/>
          <pc:sldMk cId="0" sldId="282"/>
        </pc:sldMkLst>
        <pc:spChg chg="mod">
          <ac:chgData name="prajwala talanki" userId="f96f43d5c5067f3b" providerId="LiveId" clId="{4B6E1711-CB52-4CF4-B5ED-8DDF63F8A93D}" dt="2026-10-15T06:52:48.920" v="263" actId="113"/>
          <ac:spMkLst>
            <pc:docMk/>
            <pc:sldMk cId="0" sldId="282"/>
            <ac:spMk id="7" creationId="{00000000-0000-0000-0000-000000000000}"/>
          </ac:spMkLst>
        </pc:spChg>
      </pc:sldChg>
      <pc:sldChg chg="modSp mod">
        <pc:chgData name="prajwala talanki" userId="f96f43d5c5067f3b" providerId="LiveId" clId="{4B6E1711-CB52-4CF4-B5ED-8DDF63F8A93D}" dt="2026-10-15T06:57:56.740" v="265" actId="113"/>
        <pc:sldMkLst>
          <pc:docMk/>
          <pc:sldMk cId="0" sldId="283"/>
        </pc:sldMkLst>
        <pc:spChg chg="mod">
          <ac:chgData name="prajwala talanki" userId="f96f43d5c5067f3b" providerId="LiveId" clId="{4B6E1711-CB52-4CF4-B5ED-8DDF63F8A93D}" dt="2026-10-15T06:57:56.740" v="265" actId="113"/>
          <ac:spMkLst>
            <pc:docMk/>
            <pc:sldMk cId="0" sldId="283"/>
            <ac:spMk id="7" creationId="{00000000-0000-0000-0000-000000000000}"/>
          </ac:spMkLst>
        </pc:spChg>
      </pc:sldChg>
      <pc:sldChg chg="modSp mod">
        <pc:chgData name="prajwala talanki" userId="f96f43d5c5067f3b" providerId="LiveId" clId="{4B6E1711-CB52-4CF4-B5ED-8DDF63F8A93D}" dt="2026-10-15T06:59:15.142" v="266" actId="113"/>
        <pc:sldMkLst>
          <pc:docMk/>
          <pc:sldMk cId="0" sldId="284"/>
        </pc:sldMkLst>
        <pc:spChg chg="mod">
          <ac:chgData name="prajwala talanki" userId="f96f43d5c5067f3b" providerId="LiveId" clId="{4B6E1711-CB52-4CF4-B5ED-8DDF63F8A93D}" dt="2026-10-15T06:59:15.142" v="266" actId="113"/>
          <ac:spMkLst>
            <pc:docMk/>
            <pc:sldMk cId="0" sldId="284"/>
            <ac:spMk id="7" creationId="{00000000-0000-0000-0000-000000000000}"/>
          </ac:spMkLst>
        </pc:spChg>
      </pc:sldChg>
      <pc:sldChg chg="modSp mod">
        <pc:chgData name="prajwala talanki" userId="f96f43d5c5067f3b" providerId="LiveId" clId="{4B6E1711-CB52-4CF4-B5ED-8DDF63F8A93D}" dt="2026-10-15T06:59:46.644" v="269" actId="113"/>
        <pc:sldMkLst>
          <pc:docMk/>
          <pc:sldMk cId="0" sldId="286"/>
        </pc:sldMkLst>
        <pc:spChg chg="mod">
          <ac:chgData name="prajwala talanki" userId="f96f43d5c5067f3b" providerId="LiveId" clId="{4B6E1711-CB52-4CF4-B5ED-8DDF63F8A93D}" dt="2026-10-15T06:59:46.644" v="269" actId="113"/>
          <ac:spMkLst>
            <pc:docMk/>
            <pc:sldMk cId="0" sldId="286"/>
            <ac:spMk id="7" creationId="{00000000-0000-0000-0000-000000000000}"/>
          </ac:spMkLst>
        </pc:spChg>
      </pc:sldChg>
      <pc:sldChg chg="addSp delSp modSp mod modAnim">
        <pc:chgData name="prajwala talanki" userId="f96f43d5c5067f3b" providerId="LiveId" clId="{4B6E1711-CB52-4CF4-B5ED-8DDF63F8A93D}" dt="2026-10-15T12:51:00.958" v="412" actId="478"/>
        <pc:sldMkLst>
          <pc:docMk/>
          <pc:sldMk cId="0" sldId="287"/>
        </pc:sldMkLst>
        <pc:spChg chg="mod">
          <ac:chgData name="prajwala talanki" userId="f96f43d5c5067f3b" providerId="LiveId" clId="{4B6E1711-CB52-4CF4-B5ED-8DDF63F8A93D}" dt="2026-10-15T07:08:14.896" v="271"/>
          <ac:spMkLst>
            <pc:docMk/>
            <pc:sldMk cId="0" sldId="287"/>
            <ac:spMk id="8" creationId="{00000000-0000-0000-0000-000000000000}"/>
          </ac:spMkLst>
        </pc:spChg>
        <pc:picChg chg="add del mod">
          <ac:chgData name="prajwala talanki" userId="f96f43d5c5067f3b" providerId="LiveId" clId="{4B6E1711-CB52-4CF4-B5ED-8DDF63F8A93D}" dt="2026-10-15T12:51:00.958" v="412" actId="478"/>
          <ac:picMkLst>
            <pc:docMk/>
            <pc:sldMk cId="0" sldId="287"/>
            <ac:picMk id="13" creationId="{771272F3-189C-E6FD-4A97-ECBFC6443095}"/>
          </ac:picMkLst>
        </pc:picChg>
      </pc:sldChg>
      <pc:sldChg chg="modSp mod">
        <pc:chgData name="prajwala talanki" userId="f96f43d5c5067f3b" providerId="LiveId" clId="{4B6E1711-CB52-4CF4-B5ED-8DDF63F8A93D}" dt="2026-10-15T07:11:01.005" v="305" actId="113"/>
        <pc:sldMkLst>
          <pc:docMk/>
          <pc:sldMk cId="0" sldId="288"/>
        </pc:sldMkLst>
        <pc:spChg chg="mod">
          <ac:chgData name="prajwala talanki" userId="f96f43d5c5067f3b" providerId="LiveId" clId="{4B6E1711-CB52-4CF4-B5ED-8DDF63F8A93D}" dt="2026-10-15T07:11:01.005" v="305" actId="113"/>
          <ac:spMkLst>
            <pc:docMk/>
            <pc:sldMk cId="0" sldId="288"/>
            <ac:spMk id="7" creationId="{00000000-0000-0000-0000-000000000000}"/>
          </ac:spMkLst>
        </pc:spChg>
      </pc:sldChg>
      <pc:sldChg chg="modSp mod">
        <pc:chgData name="prajwala talanki" userId="f96f43d5c5067f3b" providerId="LiveId" clId="{4B6E1711-CB52-4CF4-B5ED-8DDF63F8A93D}" dt="2026-10-15T07:11:12.117" v="306" actId="113"/>
        <pc:sldMkLst>
          <pc:docMk/>
          <pc:sldMk cId="0" sldId="289"/>
        </pc:sldMkLst>
        <pc:spChg chg="mod">
          <ac:chgData name="prajwala talanki" userId="f96f43d5c5067f3b" providerId="LiveId" clId="{4B6E1711-CB52-4CF4-B5ED-8DDF63F8A93D}" dt="2026-10-15T07:11:12.117" v="306" actId="113"/>
          <ac:spMkLst>
            <pc:docMk/>
            <pc:sldMk cId="0" sldId="289"/>
            <ac:spMk id="7" creationId="{00000000-0000-0000-0000-000000000000}"/>
          </ac:spMkLst>
        </pc:spChg>
      </pc:sldChg>
      <pc:sldChg chg="modSp mod">
        <pc:chgData name="prajwala talanki" userId="f96f43d5c5067f3b" providerId="LiveId" clId="{4B6E1711-CB52-4CF4-B5ED-8DDF63F8A93D}" dt="2026-10-15T07:11:49.820" v="313" actId="113"/>
        <pc:sldMkLst>
          <pc:docMk/>
          <pc:sldMk cId="0" sldId="290"/>
        </pc:sldMkLst>
        <pc:spChg chg="mod">
          <ac:chgData name="prajwala talanki" userId="f96f43d5c5067f3b" providerId="LiveId" clId="{4B6E1711-CB52-4CF4-B5ED-8DDF63F8A93D}" dt="2026-10-15T07:11:49.820" v="313" actId="113"/>
          <ac:spMkLst>
            <pc:docMk/>
            <pc:sldMk cId="0" sldId="290"/>
            <ac:spMk id="7" creationId="{00000000-0000-0000-0000-000000000000}"/>
          </ac:spMkLst>
        </pc:spChg>
      </pc:sldChg>
      <pc:sldChg chg="modSp mod">
        <pc:chgData name="prajwala talanki" userId="f96f43d5c5067f3b" providerId="LiveId" clId="{4B6E1711-CB52-4CF4-B5ED-8DDF63F8A93D}" dt="2026-10-15T07:12:00.089" v="314" actId="113"/>
        <pc:sldMkLst>
          <pc:docMk/>
          <pc:sldMk cId="0" sldId="291"/>
        </pc:sldMkLst>
        <pc:spChg chg="mod">
          <ac:chgData name="prajwala talanki" userId="f96f43d5c5067f3b" providerId="LiveId" clId="{4B6E1711-CB52-4CF4-B5ED-8DDF63F8A93D}" dt="2026-10-15T07:12:00.089" v="314" actId="113"/>
          <ac:spMkLst>
            <pc:docMk/>
            <pc:sldMk cId="0" sldId="291"/>
            <ac:spMk id="7" creationId="{00000000-0000-0000-0000-000000000000}"/>
          </ac:spMkLst>
        </pc:spChg>
      </pc:sldChg>
      <pc:sldChg chg="modSp mod">
        <pc:chgData name="prajwala talanki" userId="f96f43d5c5067f3b" providerId="LiveId" clId="{4B6E1711-CB52-4CF4-B5ED-8DDF63F8A93D}" dt="2026-10-15T07:13:17.876" v="315" actId="113"/>
        <pc:sldMkLst>
          <pc:docMk/>
          <pc:sldMk cId="0" sldId="292"/>
        </pc:sldMkLst>
        <pc:spChg chg="mod">
          <ac:chgData name="prajwala talanki" userId="f96f43d5c5067f3b" providerId="LiveId" clId="{4B6E1711-CB52-4CF4-B5ED-8DDF63F8A93D}" dt="2026-10-15T07:13:17.876" v="315" actId="113"/>
          <ac:spMkLst>
            <pc:docMk/>
            <pc:sldMk cId="0" sldId="292"/>
            <ac:spMk id="12" creationId="{00000000-0000-0000-0000-000000000000}"/>
          </ac:spMkLst>
        </pc:spChg>
      </pc:sldChg>
      <pc:sldChg chg="modSp mod">
        <pc:chgData name="prajwala talanki" userId="f96f43d5c5067f3b" providerId="LiveId" clId="{4B6E1711-CB52-4CF4-B5ED-8DDF63F8A93D}" dt="2026-10-15T07:13:46.515" v="319" actId="113"/>
        <pc:sldMkLst>
          <pc:docMk/>
          <pc:sldMk cId="0" sldId="293"/>
        </pc:sldMkLst>
        <pc:spChg chg="mod">
          <ac:chgData name="prajwala talanki" userId="f96f43d5c5067f3b" providerId="LiveId" clId="{4B6E1711-CB52-4CF4-B5ED-8DDF63F8A93D}" dt="2026-10-15T07:13:46.515" v="319" actId="113"/>
          <ac:spMkLst>
            <pc:docMk/>
            <pc:sldMk cId="0" sldId="293"/>
            <ac:spMk id="7" creationId="{00000000-0000-0000-0000-000000000000}"/>
          </ac:spMkLst>
        </pc:spChg>
      </pc:sldChg>
      <pc:sldChg chg="modSp mod modAnim">
        <pc:chgData name="prajwala talanki" userId="f96f43d5c5067f3b" providerId="LiveId" clId="{4B6E1711-CB52-4CF4-B5ED-8DDF63F8A93D}" dt="2026-10-15T12:54:58.533" v="420"/>
        <pc:sldMkLst>
          <pc:docMk/>
          <pc:sldMk cId="0" sldId="294"/>
        </pc:sldMkLst>
        <pc:spChg chg="mod">
          <ac:chgData name="prajwala talanki" userId="f96f43d5c5067f3b" providerId="LiveId" clId="{4B6E1711-CB52-4CF4-B5ED-8DDF63F8A93D}" dt="2026-10-15T12:54:31.773" v="419" actId="20577"/>
          <ac:spMkLst>
            <pc:docMk/>
            <pc:sldMk cId="0" sldId="294"/>
            <ac:spMk id="8" creationId="{00000000-0000-0000-0000-000000000000}"/>
          </ac:spMkLst>
        </pc:spChg>
      </pc:sldChg>
      <pc:sldChg chg="modSp mod">
        <pc:chgData name="prajwala talanki" userId="f96f43d5c5067f3b" providerId="LiveId" clId="{4B6E1711-CB52-4CF4-B5ED-8DDF63F8A93D}" dt="2026-10-15T07:54:24.674" v="324" actId="113"/>
        <pc:sldMkLst>
          <pc:docMk/>
          <pc:sldMk cId="0" sldId="296"/>
        </pc:sldMkLst>
        <pc:spChg chg="mod">
          <ac:chgData name="prajwala talanki" userId="f96f43d5c5067f3b" providerId="LiveId" clId="{4B6E1711-CB52-4CF4-B5ED-8DDF63F8A93D}" dt="2026-10-15T07:54:24.674" v="324" actId="113"/>
          <ac:spMkLst>
            <pc:docMk/>
            <pc:sldMk cId="0" sldId="296"/>
            <ac:spMk id="7" creationId="{00000000-0000-0000-0000-000000000000}"/>
          </ac:spMkLst>
        </pc:spChg>
      </pc:sldChg>
      <pc:sldChg chg="modSp modAnim">
        <pc:chgData name="prajwala talanki" userId="f96f43d5c5067f3b" providerId="LiveId" clId="{4B6E1711-CB52-4CF4-B5ED-8DDF63F8A93D}" dt="2026-10-15T07:56:36.374" v="328"/>
        <pc:sldMkLst>
          <pc:docMk/>
          <pc:sldMk cId="0" sldId="300"/>
        </pc:sldMkLst>
        <pc:spChg chg="mod">
          <ac:chgData name="prajwala talanki" userId="f96f43d5c5067f3b" providerId="LiveId" clId="{4B6E1711-CB52-4CF4-B5ED-8DDF63F8A93D}" dt="2026-10-15T07:56:25.126" v="327"/>
          <ac:spMkLst>
            <pc:docMk/>
            <pc:sldMk cId="0" sldId="300"/>
            <ac:spMk id="4" creationId="{00000000-0000-0000-0000-000000000000}"/>
          </ac:spMkLst>
        </pc:spChg>
      </pc:sldChg>
      <pc:sldChg chg="addSp modSp new mod">
        <pc:chgData name="prajwala talanki" userId="f96f43d5c5067f3b" providerId="LiveId" clId="{4B6E1711-CB52-4CF4-B5ED-8DDF63F8A93D}" dt="2026-10-15T06:08:27.876" v="185" actId="1076"/>
        <pc:sldMkLst>
          <pc:docMk/>
          <pc:sldMk cId="1695577290" sldId="307"/>
        </pc:sldMkLst>
        <pc:spChg chg="add mod">
          <ac:chgData name="prajwala talanki" userId="f96f43d5c5067f3b" providerId="LiveId" clId="{4B6E1711-CB52-4CF4-B5ED-8DDF63F8A93D}" dt="2026-10-15T06:06:43.034" v="176" actId="403"/>
          <ac:spMkLst>
            <pc:docMk/>
            <pc:sldMk cId="1695577290" sldId="307"/>
            <ac:spMk id="3" creationId="{3A417563-5348-91E3-0F03-99CC26F3A1C7}"/>
          </ac:spMkLst>
        </pc:spChg>
        <pc:spChg chg="add mod">
          <ac:chgData name="prajwala talanki" userId="f96f43d5c5067f3b" providerId="LiveId" clId="{4B6E1711-CB52-4CF4-B5ED-8DDF63F8A93D}" dt="2026-10-15T06:08:27.876" v="185" actId="1076"/>
          <ac:spMkLst>
            <pc:docMk/>
            <pc:sldMk cId="1695577290" sldId="307"/>
            <ac:spMk id="7" creationId="{2B4B9D59-75FC-2A43-498E-1F3939F65E76}"/>
          </ac:spMkLst>
        </pc:spChg>
        <pc:spChg chg="add mod">
          <ac:chgData name="prajwala talanki" userId="f96f43d5c5067f3b" providerId="LiveId" clId="{4B6E1711-CB52-4CF4-B5ED-8DDF63F8A93D}" dt="2026-10-15T06:06:43.034" v="176" actId="403"/>
          <ac:spMkLst>
            <pc:docMk/>
            <pc:sldMk cId="1695577290" sldId="307"/>
            <ac:spMk id="9" creationId="{B20A5DEE-5DB9-E2BB-482E-15815A8D1FAD}"/>
          </ac:spMkLst>
        </pc:spChg>
        <pc:picChg chg="add mod">
          <ac:chgData name="prajwala talanki" userId="f96f43d5c5067f3b" providerId="LiveId" clId="{4B6E1711-CB52-4CF4-B5ED-8DDF63F8A93D}" dt="2026-10-15T06:04:19.753" v="155" actId="1076"/>
          <ac:picMkLst>
            <pc:docMk/>
            <pc:sldMk cId="1695577290" sldId="307"/>
            <ac:picMk id="5" creationId="{69EDF584-8AF6-A9B8-B6CD-B78DBB6FC34F}"/>
          </ac:picMkLst>
        </pc:picChg>
        <pc:picChg chg="add mod">
          <ac:chgData name="prajwala talanki" userId="f96f43d5c5067f3b" providerId="LiveId" clId="{4B6E1711-CB52-4CF4-B5ED-8DDF63F8A93D}" dt="2026-10-15T06:06:10.019" v="165" actId="1076"/>
          <ac:picMkLst>
            <pc:docMk/>
            <pc:sldMk cId="1695577290" sldId="307"/>
            <ac:picMk id="11" creationId="{609B306E-DABE-813A-197D-1535A0D48DEC}"/>
          </ac:picMkLst>
        </pc:picChg>
        <pc:picChg chg="add mod">
          <ac:chgData name="prajwala talanki" userId="f96f43d5c5067f3b" providerId="LiveId" clId="{4B6E1711-CB52-4CF4-B5ED-8DDF63F8A93D}" dt="2026-10-15T06:06:46.872" v="178" actId="14100"/>
          <ac:picMkLst>
            <pc:docMk/>
            <pc:sldMk cId="1695577290" sldId="307"/>
            <ac:picMk id="13" creationId="{67F1344B-4BDA-5D73-C4F9-53D0DD6A9923}"/>
          </ac:picMkLst>
        </pc:picChg>
      </pc:sldChg>
      <pc:sldChg chg="addSp modSp new mod modAnim modNotesTx">
        <pc:chgData name="prajwala talanki" userId="f96f43d5c5067f3b" providerId="LiveId" clId="{4B6E1711-CB52-4CF4-B5ED-8DDF63F8A93D}" dt="2026-10-15T12:52:00.054" v="417" actId="1036"/>
        <pc:sldMkLst>
          <pc:docMk/>
          <pc:sldMk cId="1765469851" sldId="308"/>
        </pc:sldMkLst>
        <pc:spChg chg="add mod">
          <ac:chgData name="prajwala talanki" userId="f96f43d5c5067f3b" providerId="LiveId" clId="{4B6E1711-CB52-4CF4-B5ED-8DDF63F8A93D}" dt="2026-10-15T07:10:22.736" v="303" actId="403"/>
          <ac:spMkLst>
            <pc:docMk/>
            <pc:sldMk cId="1765469851" sldId="308"/>
            <ac:spMk id="7" creationId="{32C5422D-31D5-6040-7DBE-D96FC1E40D13}"/>
          </ac:spMkLst>
        </pc:spChg>
        <pc:picChg chg="add mod">
          <ac:chgData name="prajwala talanki" userId="f96f43d5c5067f3b" providerId="LiveId" clId="{4B6E1711-CB52-4CF4-B5ED-8DDF63F8A93D}" dt="2026-10-15T07:08:25.441" v="274" actId="1076"/>
          <ac:picMkLst>
            <pc:docMk/>
            <pc:sldMk cId="1765469851" sldId="308"/>
            <ac:picMk id="3" creationId="{5D0F227F-1C52-2D1E-6A9D-1C9F1A796030}"/>
          </ac:picMkLst>
        </pc:picChg>
        <pc:picChg chg="add mod">
          <ac:chgData name="prajwala talanki" userId="f96f43d5c5067f3b" providerId="LiveId" clId="{4B6E1711-CB52-4CF4-B5ED-8DDF63F8A93D}" dt="2026-10-15T12:52:00.054" v="417" actId="1036"/>
          <ac:picMkLst>
            <pc:docMk/>
            <pc:sldMk cId="1765469851" sldId="308"/>
            <ac:picMk id="4" creationId="{B5274A64-2E25-6194-BA4F-3AD81561FCDC}"/>
          </ac:picMkLst>
        </pc:picChg>
        <pc:picChg chg="add mod">
          <ac:chgData name="prajwala talanki" userId="f96f43d5c5067f3b" providerId="LiveId" clId="{4B6E1711-CB52-4CF4-B5ED-8DDF63F8A93D}" dt="2026-10-15T07:08:39.072" v="276" actId="1076"/>
          <ac:picMkLst>
            <pc:docMk/>
            <pc:sldMk cId="1765469851" sldId="308"/>
            <ac:picMk id="5" creationId="{1E6E17B1-9F69-5D57-5520-4F6F49D613DC}"/>
          </ac:picMkLst>
        </pc:picChg>
      </pc:sldChg>
      <pc:sldChg chg="add">
        <pc:chgData name="prajwala talanki" userId="f96f43d5c5067f3b" providerId="LiveId" clId="{4B6E1711-CB52-4CF4-B5ED-8DDF63F8A93D}" dt="2026-10-15T07:54:31.363" v="325" actId="2890"/>
        <pc:sldMkLst>
          <pc:docMk/>
          <pc:sldMk cId="588393506" sldId="309"/>
        </pc:sldMkLst>
      </pc:sldChg>
      <pc:sldChg chg="addSp modSp new mod">
        <pc:chgData name="prajwala talanki" userId="f96f43d5c5067f3b" providerId="LiveId" clId="{4B6E1711-CB52-4CF4-B5ED-8DDF63F8A93D}" dt="2026-10-15T12:48:53.221" v="408" actId="113"/>
        <pc:sldMkLst>
          <pc:docMk/>
          <pc:sldMk cId="2229888924" sldId="310"/>
        </pc:sldMkLst>
        <pc:spChg chg="add mod">
          <ac:chgData name="prajwala talanki" userId="f96f43d5c5067f3b" providerId="LiveId" clId="{4B6E1711-CB52-4CF4-B5ED-8DDF63F8A93D}" dt="2026-10-15T12:48:08.543" v="399" actId="20577"/>
          <ac:spMkLst>
            <pc:docMk/>
            <pc:sldMk cId="2229888924" sldId="310"/>
            <ac:spMk id="3" creationId="{B45B165F-6166-5437-6147-62DE0893A3A3}"/>
          </ac:spMkLst>
        </pc:spChg>
        <pc:spChg chg="add mod">
          <ac:chgData name="prajwala talanki" userId="f96f43d5c5067f3b" providerId="LiveId" clId="{4B6E1711-CB52-4CF4-B5ED-8DDF63F8A93D}" dt="2026-10-15T12:48:06.862" v="398" actId="20577"/>
          <ac:spMkLst>
            <pc:docMk/>
            <pc:sldMk cId="2229888924" sldId="310"/>
            <ac:spMk id="6" creationId="{76DF0C27-EAB8-2B26-13BA-10E243D81365}"/>
          </ac:spMkLst>
        </pc:spChg>
        <pc:spChg chg="add mod">
          <ac:chgData name="prajwala talanki" userId="f96f43d5c5067f3b" providerId="LiveId" clId="{4B6E1711-CB52-4CF4-B5ED-8DDF63F8A93D}" dt="2026-10-15T12:48:53.221" v="408" actId="113"/>
          <ac:spMkLst>
            <pc:docMk/>
            <pc:sldMk cId="2229888924" sldId="310"/>
            <ac:spMk id="8" creationId="{D0AB8558-8C5B-EF95-5379-2947318AB4D4}"/>
          </ac:spMkLst>
        </pc:spChg>
        <pc:graphicFrameChg chg="add mod">
          <ac:chgData name="prajwala talanki" userId="f96f43d5c5067f3b" providerId="LiveId" clId="{4B6E1711-CB52-4CF4-B5ED-8DDF63F8A93D}" dt="2026-10-15T12:47:56.267" v="392" actId="1076"/>
          <ac:graphicFrameMkLst>
            <pc:docMk/>
            <pc:sldMk cId="2229888924" sldId="310"/>
            <ac:graphicFrameMk id="4" creationId="{1B066936-868E-77B1-D1AF-F7D314B30DF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00C6C0-8785-4DE1-AC15-3E9FFEFD33CE}"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7AF538-F68E-48BE-AF2D-871836460888}" type="slidenum">
              <a:rPr lang="en-IN" smtClean="0"/>
              <a:t>‹#›</a:t>
            </a:fld>
            <a:endParaRPr lang="en-IN"/>
          </a:p>
        </p:txBody>
      </p:sp>
    </p:spTree>
    <p:extLst>
      <p:ext uri="{BB962C8B-B14F-4D97-AF65-F5344CB8AC3E}">
        <p14:creationId xmlns:p14="http://schemas.microsoft.com/office/powerpoint/2010/main" val="48318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3years and 12 months</a:t>
            </a:r>
            <a:endParaRPr lang="en-IN" dirty="0"/>
          </a:p>
        </p:txBody>
      </p:sp>
      <p:sp>
        <p:nvSpPr>
          <p:cNvPr id="4" name="Slide Number Placeholder 3"/>
          <p:cNvSpPr>
            <a:spLocks noGrp="1"/>
          </p:cNvSpPr>
          <p:nvPr>
            <p:ph type="sldNum" sz="quarter" idx="5"/>
          </p:nvPr>
        </p:nvSpPr>
        <p:spPr/>
        <p:txBody>
          <a:bodyPr/>
          <a:lstStyle/>
          <a:p>
            <a:fld id="{C47AF538-F68E-48BE-AF2D-871836460888}" type="slidenum">
              <a:rPr lang="en-IN" smtClean="0"/>
              <a:t>31</a:t>
            </a:fld>
            <a:endParaRPr lang="en-IN"/>
          </a:p>
        </p:txBody>
      </p:sp>
    </p:spTree>
    <p:extLst>
      <p:ext uri="{BB962C8B-B14F-4D97-AF65-F5344CB8AC3E}">
        <p14:creationId xmlns:p14="http://schemas.microsoft.com/office/powerpoint/2010/main" val="168167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
                      <m:sSub>
                        <m:sSubPr>
                          <m:ctrlPr>
                            <a:rPr lang="en-IN" i="1">
                              <a:latin typeface="Cambria Math" panose="02040503050406030204" pitchFamily="18" charset="0"/>
                            </a:rPr>
                          </m:ctrlPr>
                        </m:sSubPr>
                        <m:e>
                          <m:r>
                            <a:rPr lang="en-IN" i="1">
                              <a:latin typeface="Cambria Math" panose="02040503050406030204" pitchFamily="18" charset="0"/>
                            </a:rPr>
                            <m:t>𝑓</m:t>
                          </m:r>
                        </m:e>
                        <m:sub>
                          <m:r>
                            <a:rPr lang="en-IN" i="1">
                              <a:latin typeface="Cambria Math" panose="02040503050406030204" pitchFamily="18" charset="0"/>
                            </a:rPr>
                            <m:t>𝑠</m:t>
                          </m:r>
                        </m:sub>
                      </m:sSub>
                      <m:r>
                        <a:rPr lang="en-IN" i="0">
                          <a:latin typeface="Cambria Math" panose="02040503050406030204" pitchFamily="18" charset="0"/>
                        </a:rPr>
                        <m:t>&gt;2</m:t>
                      </m:r>
                      <m:sSub>
                        <m:sSubPr>
                          <m:ctrlPr>
                            <a:rPr lang="en-IN" i="1">
                              <a:latin typeface="Cambria Math" panose="02040503050406030204" pitchFamily="18" charset="0"/>
                            </a:rPr>
                          </m:ctrlPr>
                        </m:sSubPr>
                        <m:e>
                          <m:r>
                            <a:rPr lang="en-IN" i="1">
                              <a:latin typeface="Cambria Math" panose="02040503050406030204" pitchFamily="18" charset="0"/>
                            </a:rPr>
                            <m:t>𝑓</m:t>
                          </m:r>
                        </m:e>
                        <m:sub>
                          <m:r>
                            <m:rPr>
                              <m:sty m:val="p"/>
                            </m:rPr>
                            <a:rPr lang="en-IN" i="0">
                              <a:latin typeface="Cambria Math" panose="02040503050406030204" pitchFamily="18" charset="0"/>
                            </a:rPr>
                            <m:t>max</m:t>
                          </m:r>
                        </m:sub>
                      </m:sSub>
                    </m:oMath>
                  </m:oMathPara>
                </a14:m>
                <a:endParaRPr lang="en-IN" dirty="0"/>
              </a:p>
            </p:txBody>
          </p:sp>
        </mc:Choice>
        <mc:Fallback xmlns="">
          <p:sp>
            <p:nvSpPr>
              <p:cNvPr id="3" name="Notes Placeholder 2"/>
              <p:cNvSpPr>
                <a:spLocks noGrp="1"/>
              </p:cNvSpPr>
              <p:nvPr>
                <p:ph type="body" idx="1"/>
              </p:nvPr>
            </p:nvSpPr>
            <p:spPr/>
            <p:txBody>
              <a:bodyPr/>
              <a:lstStyle/>
              <a:p>
                <a:r>
                  <a:rPr lang="en-IN" i="0">
                    <a:latin typeface="Cambria Math" panose="02040503050406030204" pitchFamily="18" charset="0"/>
                  </a:rPr>
                  <a:t>𝑓_𝑠&gt;2𝑓_max</a:t>
                </a:r>
                <a:endParaRPr lang="en-IN" dirty="0"/>
              </a:p>
            </p:txBody>
          </p:sp>
        </mc:Fallback>
      </mc:AlternateContent>
      <p:sp>
        <p:nvSpPr>
          <p:cNvPr id="4" name="Slide Number Placeholder 3"/>
          <p:cNvSpPr>
            <a:spLocks noGrp="1"/>
          </p:cNvSpPr>
          <p:nvPr>
            <p:ph type="sldNum" sz="quarter" idx="5"/>
          </p:nvPr>
        </p:nvSpPr>
        <p:spPr/>
        <p:txBody>
          <a:bodyPr/>
          <a:lstStyle/>
          <a:p>
            <a:fld id="{C47AF538-F68E-48BE-AF2D-871836460888}" type="slidenum">
              <a:rPr lang="en-IN" smtClean="0"/>
              <a:t>46</a:t>
            </a:fld>
            <a:endParaRPr lang="en-IN"/>
          </a:p>
        </p:txBody>
      </p:sp>
    </p:spTree>
    <p:extLst>
      <p:ext uri="{BB962C8B-B14F-4D97-AF65-F5344CB8AC3E}">
        <p14:creationId xmlns:p14="http://schemas.microsoft.com/office/powerpoint/2010/main" val="1160715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95405" y="7042547"/>
            <a:ext cx="11061382" cy="571500"/>
          </a:xfrm>
          <a:prstGeom prst="rect">
            <a:avLst/>
          </a:prstGeom>
        </p:spPr>
        <p:txBody>
          <a:bodyPr lIns="0" tIns="0" rIns="0" bIns="0" rtlCol="0" anchor="t">
            <a:spAutoFit/>
          </a:bodyPr>
          <a:lstStyle/>
          <a:p>
            <a:pPr algn="l">
              <a:lnSpc>
                <a:spcPts val="4320"/>
              </a:lnSpc>
            </a:pPr>
            <a:r>
              <a:rPr lang="en-US" sz="3600" b="1">
                <a:solidFill>
                  <a:srgbClr val="000000"/>
                </a:solidFill>
                <a:latin typeface="Arial Bold"/>
                <a:ea typeface="Arial Bold"/>
                <a:cs typeface="Arial Bold"/>
                <a:sym typeface="Arial Bold"/>
              </a:rPr>
              <a:t>Dr.Prajwala TR (Course Instructor)</a:t>
            </a:r>
          </a:p>
        </p:txBody>
      </p:sp>
      <p:sp>
        <p:nvSpPr>
          <p:cNvPr id="3" name="TextBox 3"/>
          <p:cNvSpPr txBox="1"/>
          <p:nvPr/>
        </p:nvSpPr>
        <p:spPr>
          <a:xfrm>
            <a:off x="5795405" y="7663053"/>
            <a:ext cx="10829677" cy="571500"/>
          </a:xfrm>
          <a:prstGeom prst="rect">
            <a:avLst/>
          </a:prstGeom>
        </p:spPr>
        <p:txBody>
          <a:bodyPr lIns="0" tIns="0" rIns="0" bIns="0" rtlCol="0" anchor="t">
            <a:spAutoFit/>
          </a:bodyPr>
          <a:lstStyle/>
          <a:p>
            <a:pPr algn="l">
              <a:lnSpc>
                <a:spcPts val="4320"/>
              </a:lnSpc>
            </a:pPr>
            <a:r>
              <a:rPr lang="en-US" sz="3600">
                <a:solidFill>
                  <a:srgbClr val="000000"/>
                </a:solidFill>
                <a:latin typeface="Arial"/>
                <a:ea typeface="Arial"/>
                <a:cs typeface="Arial"/>
                <a:sym typeface="Arial"/>
              </a:rPr>
              <a:t>Dept. of CSE, PES University, Bangalore</a:t>
            </a:r>
          </a:p>
        </p:txBody>
      </p:sp>
      <p:sp>
        <p:nvSpPr>
          <p:cNvPr id="4" name="Freeform 4"/>
          <p:cNvSpPr/>
          <p:nvPr/>
        </p:nvSpPr>
        <p:spPr>
          <a:xfrm>
            <a:off x="470764" y="8234553"/>
            <a:ext cx="1600343" cy="1617231"/>
          </a:xfrm>
          <a:custGeom>
            <a:avLst/>
            <a:gdLst/>
            <a:ahLst/>
            <a:cxnLst/>
            <a:rect l="l" t="t" r="r" b="b"/>
            <a:pathLst>
              <a:path w="1600343" h="1617231">
                <a:moveTo>
                  <a:pt x="0" y="0"/>
                </a:moveTo>
                <a:lnTo>
                  <a:pt x="1600342" y="0"/>
                </a:lnTo>
                <a:lnTo>
                  <a:pt x="1600342" y="1617231"/>
                </a:lnTo>
                <a:lnTo>
                  <a:pt x="0" y="16172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p:cNvSpPr/>
          <p:nvPr/>
        </p:nvSpPr>
        <p:spPr>
          <a:xfrm>
            <a:off x="5795405" y="6622732"/>
            <a:ext cx="12088487" cy="0"/>
          </a:xfrm>
          <a:prstGeom prst="line">
            <a:avLst/>
          </a:prstGeom>
          <a:ln w="28575" cap="rnd">
            <a:solidFill>
              <a:srgbClr val="ED7D31"/>
            </a:solidFill>
            <a:prstDash val="solid"/>
            <a:headEnd type="none" w="sm" len="sm"/>
            <a:tailEnd type="none" w="sm" len="sm"/>
          </a:ln>
        </p:spPr>
        <p:txBody>
          <a:bodyPr/>
          <a:lstStyle/>
          <a:p>
            <a:endParaRPr lang="en-IN"/>
          </a:p>
        </p:txBody>
      </p:sp>
      <p:sp>
        <p:nvSpPr>
          <p:cNvPr id="6" name="Freeform 6"/>
          <p:cNvSpPr/>
          <p:nvPr/>
        </p:nvSpPr>
        <p:spPr>
          <a:xfrm>
            <a:off x="16283549" y="399097"/>
            <a:ext cx="1600343" cy="1617231"/>
          </a:xfrm>
          <a:custGeom>
            <a:avLst/>
            <a:gdLst/>
            <a:ahLst/>
            <a:cxnLst/>
            <a:rect l="l" t="t" r="r" b="b"/>
            <a:pathLst>
              <a:path w="1600343" h="1617231">
                <a:moveTo>
                  <a:pt x="0" y="0"/>
                </a:moveTo>
                <a:lnTo>
                  <a:pt x="1600343" y="0"/>
                </a:lnTo>
                <a:lnTo>
                  <a:pt x="1600343" y="1617231"/>
                </a:lnTo>
                <a:lnTo>
                  <a:pt x="0" y="16172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5795405" y="5120729"/>
            <a:ext cx="12088487" cy="704850"/>
          </a:xfrm>
          <a:prstGeom prst="rect">
            <a:avLst/>
          </a:prstGeom>
        </p:spPr>
        <p:txBody>
          <a:bodyPr lIns="0" tIns="0" rIns="0" bIns="0" rtlCol="0" anchor="t">
            <a:spAutoFit/>
          </a:bodyPr>
          <a:lstStyle/>
          <a:p>
            <a:pPr algn="ctr">
              <a:lnSpc>
                <a:spcPts val="4920"/>
              </a:lnSpc>
            </a:pPr>
            <a:r>
              <a:rPr lang="en-US" sz="4100" b="1">
                <a:solidFill>
                  <a:srgbClr val="2F5597"/>
                </a:solidFill>
                <a:latin typeface="Calibri (MS) Bold"/>
                <a:ea typeface="Calibri (MS) Bold"/>
                <a:cs typeface="Calibri (MS) Bold"/>
                <a:sym typeface="Calibri (MS) Bold"/>
              </a:rPr>
              <a:t>PPT 5: Animation, Motion and Temporal Visualization</a:t>
            </a:r>
          </a:p>
        </p:txBody>
      </p:sp>
      <p:sp>
        <p:nvSpPr>
          <p:cNvPr id="8" name="TextBox 8"/>
          <p:cNvSpPr txBox="1"/>
          <p:nvPr/>
        </p:nvSpPr>
        <p:spPr>
          <a:xfrm>
            <a:off x="5795405" y="914400"/>
            <a:ext cx="12088487" cy="1809750"/>
          </a:xfrm>
          <a:prstGeom prst="rect">
            <a:avLst/>
          </a:prstGeom>
        </p:spPr>
        <p:txBody>
          <a:bodyPr lIns="0" tIns="0" rIns="0" bIns="0" rtlCol="0" anchor="t">
            <a:spAutoFit/>
          </a:bodyPr>
          <a:lstStyle/>
          <a:p>
            <a:pPr algn="ctr">
              <a:lnSpc>
                <a:spcPts val="6720"/>
              </a:lnSpc>
            </a:pPr>
            <a:r>
              <a:rPr lang="en-US" sz="5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5795405" y="4305272"/>
            <a:ext cx="12088487" cy="685800"/>
          </a:xfrm>
          <a:prstGeom prst="rect">
            <a:avLst/>
          </a:prstGeom>
        </p:spPr>
        <p:txBody>
          <a:bodyPr lIns="0" tIns="0" rIns="0" bIns="0" rtlCol="0" anchor="t">
            <a:spAutoFit/>
          </a:bodyPr>
          <a:lstStyle/>
          <a:p>
            <a:pPr algn="ctr">
              <a:lnSpc>
                <a:spcPts val="4786"/>
              </a:lnSpc>
            </a:pPr>
            <a:r>
              <a:rPr lang="en-US" sz="3988" b="1">
                <a:solidFill>
                  <a:srgbClr val="2F5496"/>
                </a:solidFill>
                <a:latin typeface="Calibri (MS) Bold"/>
                <a:ea typeface="Calibri (MS) Bold"/>
                <a:cs typeface="Calibri (MS) Bold"/>
                <a:sym typeface="Calibri (MS) Bold"/>
              </a:rPr>
              <a:t>(UE24CS342AA9)</a:t>
            </a:r>
          </a:p>
        </p:txBody>
      </p:sp>
      <p:sp>
        <p:nvSpPr>
          <p:cNvPr id="10" name="TextBox 10"/>
          <p:cNvSpPr txBox="1"/>
          <p:nvPr/>
        </p:nvSpPr>
        <p:spPr>
          <a:xfrm>
            <a:off x="5795405" y="3275112"/>
            <a:ext cx="12088487" cy="685800"/>
          </a:xfrm>
          <a:prstGeom prst="rect">
            <a:avLst/>
          </a:prstGeom>
        </p:spPr>
        <p:txBody>
          <a:bodyPr lIns="0" tIns="0" rIns="0" bIns="0" rtlCol="0" anchor="t">
            <a:spAutoFit/>
          </a:bodyPr>
          <a:lstStyle/>
          <a:p>
            <a:pPr algn="ctr">
              <a:lnSpc>
                <a:spcPts val="4786"/>
              </a:lnSpc>
            </a:pPr>
            <a:r>
              <a:rPr lang="en-US" sz="3988" b="1" u="sng">
                <a:solidFill>
                  <a:srgbClr val="2F5496"/>
                </a:solidFill>
                <a:latin typeface="Calibri (MS) Bold"/>
                <a:ea typeface="Calibri (MS) Bold"/>
                <a:cs typeface="Calibri (MS) Bold"/>
                <a:sym typeface="Calibri (MS) Bold"/>
              </a:rPr>
              <a:t>Unit 3 : Multimedia and Interactive Visualization </a:t>
            </a:r>
          </a:p>
        </p:txBody>
      </p:sp>
      <p:grpSp>
        <p:nvGrpSpPr>
          <p:cNvPr id="11" name="Group 11"/>
          <p:cNvGrpSpPr/>
          <p:nvPr/>
        </p:nvGrpSpPr>
        <p:grpSpPr>
          <a:xfrm>
            <a:off x="1028700" y="1028700"/>
            <a:ext cx="3891710" cy="7205853"/>
            <a:chOff x="0" y="0"/>
            <a:chExt cx="1679219" cy="3109227"/>
          </a:xfrm>
        </p:grpSpPr>
        <p:sp>
          <p:nvSpPr>
            <p:cNvPr id="12" name="Freeform 12"/>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4"/>
              <a:stretch>
                <a:fillRect r="-1"/>
              </a:stretch>
            </a:blipFill>
          </p:spPr>
          <p:txBody>
            <a:bodyPr/>
            <a:lstStyle/>
            <a:p>
              <a:endParaRPr lang="en-I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3" name="TextBox 3"/>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Acknowledgement</a:t>
            </a:r>
          </a:p>
        </p:txBody>
      </p:sp>
      <p:sp>
        <p:nvSpPr>
          <p:cNvPr id="4" name="TextBox 4"/>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5" name="TextBox 5"/>
          <p:cNvSpPr txBox="1"/>
          <p:nvPr/>
        </p:nvSpPr>
        <p:spPr>
          <a:xfrm>
            <a:off x="681104" y="2201578"/>
            <a:ext cx="14188440" cy="3046988"/>
          </a:xfrm>
          <a:prstGeom prst="rect">
            <a:avLst/>
          </a:prstGeom>
        </p:spPr>
        <p:txBody>
          <a:bodyPr lIns="0" tIns="0" rIns="0" bIns="0" rtlCol="0" anchor="t">
            <a:spAutoFit/>
          </a:bodyPr>
          <a:lstStyle/>
          <a:p>
            <a:pPr algn="just">
              <a:lnSpc>
                <a:spcPts val="3600"/>
              </a:lnSpc>
            </a:pPr>
            <a:r>
              <a:rPr lang="en-US" sz="3000" dirty="0">
                <a:solidFill>
                  <a:srgbClr val="000000"/>
                </a:solidFill>
                <a:latin typeface="Calibri (MS)"/>
                <a:ea typeface="Calibri (MS)"/>
                <a:cs typeface="Calibri (MS)"/>
                <a:sym typeface="Calibri (MS)"/>
              </a:rPr>
              <a:t>The slides are prepared from  various resources from the Universities from abroad and India. Also, some material is taken from reliable resources from internet throughout this course.</a:t>
            </a:r>
          </a:p>
          <a:p>
            <a:endParaRPr lang="en-US" sz="3000" dirty="0">
              <a:solidFill>
                <a:srgbClr val="000000"/>
              </a:solidFill>
              <a:latin typeface="Calibri (MS)"/>
              <a:ea typeface="Calibri (MS)"/>
              <a:cs typeface="Calibri (MS)"/>
              <a:sym typeface="Calibri (MS)"/>
            </a:endParaRPr>
          </a:p>
          <a:p>
            <a:r>
              <a:rPr sz="2600" b="1" i="0" dirty="0">
                <a:solidFill>
                  <a:srgbClr val="1A1A1A"/>
                </a:solidFill>
                <a:latin typeface="Calibri"/>
              </a:rPr>
              <a:t>Primary textbooks for this lecture: </a:t>
            </a:r>
            <a:r>
              <a:rPr sz="2600" b="0" i="0" dirty="0">
                <a:solidFill>
                  <a:srgbClr val="1A1A1A"/>
                </a:solidFill>
                <a:latin typeface="Calibri"/>
              </a:rPr>
              <a:t>T. </a:t>
            </a:r>
            <a:r>
              <a:rPr sz="2600" b="0" i="0" dirty="0" err="1">
                <a:solidFill>
                  <a:srgbClr val="1A1A1A"/>
                </a:solidFill>
                <a:latin typeface="Calibri"/>
              </a:rPr>
              <a:t>Munzner</a:t>
            </a:r>
            <a:r>
              <a:rPr sz="2600" b="0" i="0" dirty="0">
                <a:solidFill>
                  <a:srgbClr val="1A1A1A"/>
                </a:solidFill>
                <a:latin typeface="Calibri"/>
              </a:rPr>
              <a:t>, Visualization Analysis and Design (CRC Press, 2014) and C. O. Wilke, Fundamentals of Data Visualization (O’Reilly, 2019), supported by research papers listed on the References slide. </a:t>
            </a:r>
          </a:p>
        </p:txBody>
      </p:sp>
      <p:grpSp>
        <p:nvGrpSpPr>
          <p:cNvPr id="6" name="Group 6"/>
          <p:cNvGrpSpPr/>
          <p:nvPr/>
        </p:nvGrpSpPr>
        <p:grpSpPr>
          <a:xfrm>
            <a:off x="16629593" y="463796"/>
            <a:ext cx="1259415" cy="2331920"/>
            <a:chOff x="0" y="0"/>
            <a:chExt cx="1679219" cy="3109227"/>
          </a:xfrm>
        </p:grpSpPr>
        <p:sp>
          <p:nvSpPr>
            <p:cNvPr id="7" name="Freeform 7"/>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3" name="TextBox 3"/>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Lecture Overview</a:t>
            </a:r>
          </a:p>
        </p:txBody>
      </p:sp>
      <p:sp>
        <p:nvSpPr>
          <p:cNvPr id="4" name="TextBox 4"/>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5" name="TextBox 5"/>
          <p:cNvSpPr txBox="1"/>
          <p:nvPr/>
        </p:nvSpPr>
        <p:spPr>
          <a:xfrm>
            <a:off x="681104" y="2201578"/>
            <a:ext cx="14188440" cy="14382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In this lecture, we will cover:</a:t>
            </a:r>
          </a:p>
          <a:p>
            <a:pPr algn="l">
              <a:lnSpc>
                <a:spcPts val="3600"/>
              </a:lnSpc>
            </a:pPr>
            <a:endParaRPr lang="en-US" sz="3000" b="1">
              <a:solidFill>
                <a:srgbClr val="000000"/>
              </a:solidFill>
              <a:latin typeface="Calibri (MS) Bold"/>
              <a:ea typeface="Calibri (MS) Bold"/>
              <a:cs typeface="Calibri (MS) Bold"/>
              <a:sym typeface="Calibri (MS) Bold"/>
            </a:endParaRPr>
          </a:p>
        </p:txBody>
      </p:sp>
      <p:grpSp>
        <p:nvGrpSpPr>
          <p:cNvPr id="6" name="Group 6"/>
          <p:cNvGrpSpPr/>
          <p:nvPr/>
        </p:nvGrpSpPr>
        <p:grpSpPr>
          <a:xfrm>
            <a:off x="16629593" y="463796"/>
            <a:ext cx="1259415" cy="2331920"/>
            <a:chOff x="0" y="0"/>
            <a:chExt cx="1679219" cy="3109227"/>
          </a:xfrm>
        </p:grpSpPr>
        <p:sp>
          <p:nvSpPr>
            <p:cNvPr id="7" name="Freeform 7"/>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8" name="TextBox 7"/>
          <p:cNvSpPr txBox="1"/>
          <p:nvPr/>
        </p:nvSpPr>
        <p:spPr>
          <a:xfrm>
            <a:off x="681104" y="3000000"/>
            <a:ext cx="7900000" cy="6500000"/>
          </a:xfrm>
          <a:prstGeom prst="rect">
            <a:avLst/>
          </a:prstGeom>
          <a:noFill/>
        </p:spPr>
        <p:txBody>
          <a:bodyPr wrap="square" lIns="0" tIns="0" rIns="0" bIns="0" anchor="t">
            <a:spAutoFit/>
          </a:bodyPr>
          <a:lstStyle/>
          <a:p>
            <a:pPr marL="420000" indent="-340000">
              <a:spcAft>
                <a:spcPts val="600"/>
              </a:spcAft>
              <a:buFont typeface="Arial"/>
              <a:buChar char="•"/>
            </a:pPr>
            <a:r>
              <a:rPr sz="2500" b="0" i="0">
                <a:solidFill>
                  <a:srgbClr val="1A1A1A"/>
                </a:solidFill>
                <a:latin typeface="Calibri"/>
              </a:rPr>
              <a:t>Animation and Visualization</a:t>
            </a:r>
          </a:p>
          <a:p>
            <a:pPr marL="420000" indent="-340000">
              <a:spcAft>
                <a:spcPts val="600"/>
              </a:spcAft>
              <a:buFont typeface="Arial"/>
              <a:buChar char="•"/>
            </a:pPr>
            <a:r>
              <a:rPr sz="2500" b="0" i="0">
                <a:solidFill>
                  <a:srgbClr val="1A1A1A"/>
                </a:solidFill>
                <a:latin typeface="Calibri"/>
              </a:rPr>
              <a:t>Animation as a Visual Encoding</a:t>
            </a:r>
          </a:p>
          <a:p>
            <a:pPr marL="420000" indent="-340000">
              <a:spcAft>
                <a:spcPts val="600"/>
              </a:spcAft>
              <a:buFont typeface="Arial"/>
              <a:buChar char="•"/>
            </a:pPr>
            <a:r>
              <a:rPr sz="2500" b="0" i="0">
                <a:solidFill>
                  <a:srgbClr val="1A1A1A"/>
                </a:solidFill>
                <a:latin typeface="Calibri"/>
              </a:rPr>
              <a:t>Motion as a Visual Variable</a:t>
            </a:r>
          </a:p>
          <a:p>
            <a:pPr marL="420000" indent="-340000">
              <a:spcAft>
                <a:spcPts val="600"/>
              </a:spcAft>
              <a:buFont typeface="Arial"/>
              <a:buChar char="•"/>
            </a:pPr>
            <a:r>
              <a:rPr sz="2500" b="0" i="0">
                <a:solidFill>
                  <a:srgbClr val="1A1A1A"/>
                </a:solidFill>
                <a:latin typeface="Calibri"/>
              </a:rPr>
              <a:t>Animation Timing</a:t>
            </a:r>
          </a:p>
          <a:p>
            <a:pPr marL="420000" indent="-340000">
              <a:spcAft>
                <a:spcPts val="600"/>
              </a:spcAft>
              <a:buFont typeface="Arial"/>
              <a:buChar char="•"/>
            </a:pPr>
            <a:r>
              <a:rPr sz="2500" b="0" i="0">
                <a:solidFill>
                  <a:srgbClr val="1A1A1A"/>
                </a:solidFill>
                <a:latin typeface="Calibri"/>
              </a:rPr>
              <a:t>Frame Rate</a:t>
            </a:r>
          </a:p>
          <a:p>
            <a:pPr marL="420000" indent="-340000">
              <a:spcAft>
                <a:spcPts val="600"/>
              </a:spcAft>
              <a:buFont typeface="Arial"/>
              <a:buChar char="•"/>
            </a:pPr>
            <a:r>
              <a:rPr sz="2500" b="0" i="0">
                <a:solidFill>
                  <a:srgbClr val="1A1A1A"/>
                </a:solidFill>
                <a:latin typeface="Calibri"/>
              </a:rPr>
              <a:t>Temporal Sampling</a:t>
            </a:r>
          </a:p>
          <a:p>
            <a:pPr marL="420000" indent="-340000">
              <a:spcAft>
                <a:spcPts val="600"/>
              </a:spcAft>
              <a:buFont typeface="Arial"/>
              <a:buChar char="•"/>
            </a:pPr>
            <a:r>
              <a:rPr sz="2500" b="0" i="0">
                <a:solidFill>
                  <a:srgbClr val="1A1A1A"/>
                </a:solidFill>
                <a:latin typeface="Calibri"/>
              </a:rPr>
              <a:t>Animated Transitions</a:t>
            </a:r>
          </a:p>
          <a:p>
            <a:pPr marL="420000" indent="-340000">
              <a:spcAft>
                <a:spcPts val="600"/>
              </a:spcAft>
              <a:buFont typeface="Arial"/>
              <a:buChar char="•"/>
            </a:pPr>
            <a:r>
              <a:rPr sz="2500" b="0" i="0">
                <a:solidFill>
                  <a:srgbClr val="1A1A1A"/>
                </a:solidFill>
                <a:latin typeface="Calibri"/>
              </a:rPr>
              <a:t>Designing Good Transitions</a:t>
            </a:r>
          </a:p>
          <a:p>
            <a:pPr marL="420000" indent="-340000">
              <a:spcAft>
                <a:spcPts val="600"/>
              </a:spcAft>
              <a:buFont typeface="Arial"/>
              <a:buChar char="•"/>
            </a:pPr>
            <a:r>
              <a:rPr sz="2500" b="0" i="0">
                <a:solidFill>
                  <a:srgbClr val="1A1A1A"/>
                </a:solidFill>
                <a:latin typeface="Calibri"/>
              </a:rPr>
              <a:t>Change Detection and Change Blindness</a:t>
            </a:r>
          </a:p>
          <a:p>
            <a:pPr marL="420000" indent="-340000">
              <a:spcAft>
                <a:spcPts val="600"/>
              </a:spcAft>
              <a:buFont typeface="Arial"/>
              <a:buChar char="•"/>
            </a:pPr>
            <a:r>
              <a:rPr sz="2500" b="0" i="0">
                <a:solidFill>
                  <a:srgbClr val="1A1A1A"/>
                </a:solidFill>
                <a:latin typeface="Calibri"/>
              </a:rPr>
              <a:t>Animation for Trends</a:t>
            </a:r>
          </a:p>
          <a:p>
            <a:pPr marL="420000" indent="-340000">
              <a:spcAft>
                <a:spcPts val="600"/>
              </a:spcAft>
              <a:buFont typeface="Arial"/>
              <a:buChar char="•"/>
            </a:pPr>
            <a:r>
              <a:rPr sz="2500" b="0" i="0">
                <a:solidFill>
                  <a:srgbClr val="1A1A1A"/>
                </a:solidFill>
                <a:latin typeface="Calibri"/>
              </a:rPr>
              <a:t>Animation for Spatial Data</a:t>
            </a:r>
          </a:p>
          <a:p>
            <a:pPr marL="420000" indent="-340000">
              <a:spcAft>
                <a:spcPts val="600"/>
              </a:spcAft>
              <a:buFont typeface="Arial"/>
              <a:buChar char="•"/>
            </a:pPr>
            <a:r>
              <a:rPr sz="2500" b="0" i="0">
                <a:solidFill>
                  <a:srgbClr val="1A1A1A"/>
                </a:solidFill>
                <a:latin typeface="Calibri"/>
              </a:rPr>
              <a:t>Motion and Trajectories</a:t>
            </a:r>
          </a:p>
          <a:p>
            <a:pPr marL="420000" indent="-340000">
              <a:spcAft>
                <a:spcPts val="600"/>
              </a:spcAft>
              <a:buFont typeface="Arial"/>
              <a:buChar char="•"/>
            </a:pPr>
            <a:r>
              <a:rPr sz="2500" b="0" i="0">
                <a:solidFill>
                  <a:srgbClr val="1A1A1A"/>
                </a:solidFill>
                <a:latin typeface="Calibri"/>
              </a:rPr>
              <a:t>Particle Animation</a:t>
            </a:r>
          </a:p>
          <a:p>
            <a:pPr marL="420000" indent="-340000">
              <a:spcAft>
                <a:spcPts val="600"/>
              </a:spcAft>
              <a:buFont typeface="Arial"/>
              <a:buChar char="•"/>
            </a:pPr>
            <a:r>
              <a:rPr sz="2500" b="0" i="0">
                <a:solidFill>
                  <a:srgbClr val="1A1A1A"/>
                </a:solidFill>
                <a:latin typeface="Calibri"/>
              </a:rPr>
              <a:t>Temporal Visualization Fundamentals</a:t>
            </a:r>
          </a:p>
        </p:txBody>
      </p:sp>
      <p:sp>
        <p:nvSpPr>
          <p:cNvPr id="9" name="TextBox 8"/>
          <p:cNvSpPr txBox="1"/>
          <p:nvPr/>
        </p:nvSpPr>
        <p:spPr>
          <a:xfrm>
            <a:off x="8881104" y="3000000"/>
            <a:ext cx="7900000" cy="6500000"/>
          </a:xfrm>
          <a:prstGeom prst="rect">
            <a:avLst/>
          </a:prstGeom>
          <a:noFill/>
        </p:spPr>
        <p:txBody>
          <a:bodyPr wrap="square" lIns="0" tIns="0" rIns="0" bIns="0" anchor="t">
            <a:spAutoFit/>
          </a:bodyPr>
          <a:lstStyle/>
          <a:p>
            <a:pPr marL="420000" indent="-340000">
              <a:spcAft>
                <a:spcPts val="600"/>
              </a:spcAft>
              <a:buFont typeface="Arial"/>
              <a:buChar char="•"/>
            </a:pPr>
            <a:r>
              <a:rPr sz="2500" b="0" i="0">
                <a:solidFill>
                  <a:srgbClr val="1A1A1A"/>
                </a:solidFill>
                <a:latin typeface="Calibri"/>
              </a:rPr>
              <a:t>Temporal Data and Time-Dependent Data</a:t>
            </a:r>
          </a:p>
          <a:p>
            <a:pPr marL="420000" indent="-340000">
              <a:spcAft>
                <a:spcPts val="600"/>
              </a:spcAft>
              <a:buFont typeface="Arial"/>
              <a:buChar char="•"/>
            </a:pPr>
            <a:r>
              <a:rPr sz="2500" b="0" i="0">
                <a:solidFill>
                  <a:srgbClr val="1A1A1A"/>
                </a:solidFill>
                <a:latin typeface="Calibri"/>
              </a:rPr>
              <a:t>Continuous and Discrete Time</a:t>
            </a:r>
          </a:p>
          <a:p>
            <a:pPr marL="420000" indent="-340000">
              <a:spcAft>
                <a:spcPts val="600"/>
              </a:spcAft>
              <a:buFont typeface="Arial"/>
              <a:buChar char="•"/>
            </a:pPr>
            <a:r>
              <a:rPr sz="2500" b="0" i="0">
                <a:solidFill>
                  <a:srgbClr val="1A1A1A"/>
                </a:solidFill>
                <a:latin typeface="Calibri"/>
              </a:rPr>
              <a:t>Events Over Time</a:t>
            </a:r>
          </a:p>
          <a:p>
            <a:pPr marL="420000" indent="-340000">
              <a:spcAft>
                <a:spcPts val="600"/>
              </a:spcAft>
              <a:buFont typeface="Arial"/>
              <a:buChar char="•"/>
            </a:pPr>
            <a:r>
              <a:rPr sz="2500" b="0" i="0">
                <a:solidFill>
                  <a:srgbClr val="1A1A1A"/>
                </a:solidFill>
                <a:latin typeface="Calibri"/>
              </a:rPr>
              <a:t>Temporal Encoding</a:t>
            </a:r>
          </a:p>
          <a:p>
            <a:pPr marL="420000" indent="-340000">
              <a:spcAft>
                <a:spcPts val="600"/>
              </a:spcAft>
              <a:buFont typeface="Arial"/>
              <a:buChar char="•"/>
            </a:pPr>
            <a:r>
              <a:rPr sz="2500" b="0" i="0">
                <a:solidFill>
                  <a:srgbClr val="1A1A1A"/>
                </a:solidFill>
                <a:latin typeface="Calibri"/>
              </a:rPr>
              <a:t>Time-Series Visualization</a:t>
            </a:r>
          </a:p>
          <a:p>
            <a:pPr marL="420000" indent="-340000">
              <a:spcAft>
                <a:spcPts val="600"/>
              </a:spcAft>
              <a:buFont typeface="Arial"/>
              <a:buChar char="•"/>
            </a:pPr>
            <a:r>
              <a:rPr sz="2500" b="0" i="0">
                <a:solidFill>
                  <a:srgbClr val="1A1A1A"/>
                </a:solidFill>
                <a:latin typeface="Calibri"/>
              </a:rPr>
              <a:t>Temporal Aggregation</a:t>
            </a:r>
          </a:p>
          <a:p>
            <a:pPr marL="420000" indent="-340000">
              <a:spcAft>
                <a:spcPts val="600"/>
              </a:spcAft>
              <a:buFont typeface="Arial"/>
              <a:buChar char="•"/>
            </a:pPr>
            <a:r>
              <a:rPr sz="2500" b="0" i="0">
                <a:solidFill>
                  <a:srgbClr val="1A1A1A"/>
                </a:solidFill>
                <a:latin typeface="Calibri"/>
              </a:rPr>
              <a:t>Temporal Filtering</a:t>
            </a:r>
          </a:p>
          <a:p>
            <a:pPr marL="420000" indent="-340000">
              <a:spcAft>
                <a:spcPts val="600"/>
              </a:spcAft>
              <a:buFont typeface="Arial"/>
              <a:buChar char="•"/>
            </a:pPr>
            <a:r>
              <a:rPr sz="2500" b="0" i="0">
                <a:solidFill>
                  <a:srgbClr val="1A1A1A"/>
                </a:solidFill>
                <a:latin typeface="Calibri"/>
              </a:rPr>
              <a:t>Timeline Visualization</a:t>
            </a:r>
          </a:p>
          <a:p>
            <a:pPr marL="420000" indent="-340000">
              <a:spcAft>
                <a:spcPts val="600"/>
              </a:spcAft>
              <a:buFont typeface="Arial"/>
              <a:buChar char="•"/>
            </a:pPr>
            <a:r>
              <a:rPr sz="2500" b="0" i="0">
                <a:solidFill>
                  <a:srgbClr val="1A1A1A"/>
                </a:solidFill>
                <a:latin typeface="Calibri"/>
              </a:rPr>
              <a:t>Playback and Scrubbing</a:t>
            </a:r>
          </a:p>
          <a:p>
            <a:pPr marL="420000" indent="-340000">
              <a:spcAft>
                <a:spcPts val="600"/>
              </a:spcAft>
              <a:buFont typeface="Arial"/>
              <a:buChar char="•"/>
            </a:pPr>
            <a:r>
              <a:rPr sz="2500" b="0" i="0">
                <a:solidFill>
                  <a:srgbClr val="1A1A1A"/>
                </a:solidFill>
                <a:latin typeface="Calibri"/>
              </a:rPr>
              <a:t>Temporal Navigation</a:t>
            </a:r>
          </a:p>
          <a:p>
            <a:pPr marL="420000" indent="-340000">
              <a:spcAft>
                <a:spcPts val="600"/>
              </a:spcAft>
              <a:buFont typeface="Arial"/>
              <a:buChar char="•"/>
            </a:pPr>
            <a:r>
              <a:rPr sz="2500" b="0" i="0">
                <a:solidFill>
                  <a:srgbClr val="1A1A1A"/>
                </a:solidFill>
                <a:latin typeface="Calibri"/>
              </a:rPr>
              <a:t>Animation Versus Static Views</a:t>
            </a:r>
          </a:p>
          <a:p>
            <a:pPr marL="420000" indent="-340000">
              <a:spcAft>
                <a:spcPts val="600"/>
              </a:spcAft>
              <a:buFont typeface="Arial"/>
              <a:buChar char="•"/>
            </a:pPr>
            <a:r>
              <a:rPr sz="2500" b="0" i="0">
                <a:solidFill>
                  <a:srgbClr val="1A1A1A"/>
                </a:solidFill>
                <a:latin typeface="Calibri"/>
              </a:rPr>
              <a:t>Animation Versus Small Multiples</a:t>
            </a:r>
          </a:p>
          <a:p>
            <a:pPr marL="420000" indent="-340000">
              <a:spcAft>
                <a:spcPts val="600"/>
              </a:spcAft>
              <a:buFont typeface="Arial"/>
              <a:buChar char="•"/>
            </a:pPr>
            <a:r>
              <a:rPr sz="2500" b="0" i="0">
                <a:solidFill>
                  <a:srgbClr val="1A1A1A"/>
                </a:solidFill>
                <a:latin typeface="Calibri"/>
              </a:rPr>
              <a:t>Advantages and Limitations of Animation</a:t>
            </a:r>
          </a:p>
          <a:p>
            <a:pPr marL="420000" indent="-340000">
              <a:spcAft>
                <a:spcPts val="600"/>
              </a:spcAft>
              <a:buFont typeface="Arial"/>
              <a:buChar char="•"/>
            </a:pPr>
            <a:r>
              <a:rPr sz="2500" b="0" i="0">
                <a:solidFill>
                  <a:srgbClr val="1A1A1A"/>
                </a:solidFill>
                <a:latin typeface="Calibri"/>
              </a:rPr>
              <a:t>Cognitive Issues in Temporal Visualization</a:t>
            </a:r>
          </a:p>
        </p:txBody>
      </p:sp>
      <p:sp>
        <p:nvSpPr>
          <p:cNvPr id="10" name="TextBox 9"/>
          <p:cNvSpPr txBox="1"/>
          <p:nvPr/>
        </p:nvSpPr>
        <p:spPr>
          <a:xfrm>
            <a:off x="681104" y="9450000"/>
            <a:ext cx="16000000" cy="500000"/>
          </a:xfrm>
          <a:prstGeom prst="rect">
            <a:avLst/>
          </a:prstGeom>
          <a:noFill/>
        </p:spPr>
        <p:txBody>
          <a:bodyPr wrap="square" lIns="0" tIns="0" rIns="0" bIns="0" anchor="t">
            <a:spAutoFit/>
          </a:bodyPr>
          <a:lstStyle/>
          <a:p>
            <a:r>
              <a:rPr sz="2100" b="1" i="0">
                <a:solidFill>
                  <a:srgbClr val="C55A11"/>
                </a:solidFill>
                <a:latin typeface="Calibri"/>
              </a:rPr>
              <a:t>Plus: 6 worked numericals with solutions  •  8 MCQs  •  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Animation and Visualization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6646820"/>
          </a:xfrm>
          <a:prstGeom prst="rect">
            <a:avLst/>
          </a:prstGeom>
          <a:noFill/>
        </p:spPr>
        <p:txBody>
          <a:bodyPr wrap="square" lIns="0" tIns="0" rIns="0" bIns="0" anchor="t">
            <a:spAutoFit/>
          </a:bodyPr>
          <a:lstStyle/>
          <a:p>
            <a:pPr>
              <a:lnSpc>
                <a:spcPct val="105000"/>
              </a:lnSpc>
              <a:spcAft>
                <a:spcPts val="700"/>
              </a:spcAft>
              <a:buNone/>
            </a:pPr>
            <a:r>
              <a:rPr sz="2600" b="1" i="0" dirty="0">
                <a:solidFill>
                  <a:srgbClr val="1A1A1A"/>
                </a:solidFill>
                <a:latin typeface="Calibri"/>
              </a:rPr>
              <a:t>Animation = showing a sequence of images over time so that change is perceived as motion</a:t>
            </a:r>
            <a:r>
              <a:rPr sz="2600" b="0" i="0" dirty="0">
                <a:solidFill>
                  <a:srgbClr val="1A1A1A"/>
                </a:solidFill>
                <a:latin typeface="Calibri"/>
              </a:rPr>
              <a:t>.</a:t>
            </a:r>
          </a:p>
          <a:p>
            <a:pPr>
              <a:lnSpc>
                <a:spcPct val="105000"/>
              </a:lnSpc>
              <a:spcBef>
                <a:spcPts val="600"/>
              </a:spcBef>
              <a:spcAft>
                <a:spcPts val="700"/>
              </a:spcAft>
              <a:buNone/>
            </a:pPr>
            <a:r>
              <a:rPr sz="2600" b="1" i="0" dirty="0" err="1">
                <a:solidFill>
                  <a:srgbClr val="1F3864"/>
                </a:solidFill>
                <a:latin typeface="Calibri"/>
              </a:rPr>
              <a:t>Munzner</a:t>
            </a:r>
            <a:r>
              <a:rPr sz="2600" b="1" i="0" dirty="0">
                <a:solidFill>
                  <a:srgbClr val="1F3864"/>
                </a:solidFill>
                <a:latin typeface="Calibri"/>
              </a:rPr>
              <a:t> distinguishes three meanings:</a:t>
            </a:r>
          </a:p>
          <a:p>
            <a:pPr marL="420000" indent="-340000">
              <a:lnSpc>
                <a:spcPct val="105000"/>
              </a:lnSpc>
              <a:spcAft>
                <a:spcPts val="700"/>
              </a:spcAft>
              <a:buFont typeface="Arial"/>
              <a:buChar char="•"/>
            </a:pPr>
            <a:r>
              <a:rPr sz="2600" b="1" i="0" dirty="0">
                <a:solidFill>
                  <a:srgbClr val="1A1A1A"/>
                </a:solidFill>
                <a:latin typeface="Calibri"/>
              </a:rPr>
              <a:t>Narrative storytelling</a:t>
            </a:r>
            <a:r>
              <a:rPr sz="2600" b="0" i="0" dirty="0">
                <a:solidFill>
                  <a:srgbClr val="1A1A1A"/>
                </a:solidFill>
                <a:latin typeface="Calibri"/>
              </a:rPr>
              <a:t> – movie-style, choreographed by an author</a:t>
            </a:r>
          </a:p>
          <a:p>
            <a:pPr marL="420000" indent="-340000">
              <a:lnSpc>
                <a:spcPct val="105000"/>
              </a:lnSpc>
              <a:spcAft>
                <a:spcPts val="700"/>
              </a:spcAft>
              <a:buFont typeface="Arial"/>
              <a:buChar char="•"/>
            </a:pPr>
            <a:r>
              <a:rPr sz="2600" b="1" i="0" dirty="0">
                <a:solidFill>
                  <a:srgbClr val="1A1A1A"/>
                </a:solidFill>
                <a:latin typeface="Calibri"/>
              </a:rPr>
              <a:t>Transitions</a:t>
            </a:r>
            <a:r>
              <a:rPr sz="2600" b="0" i="0" dirty="0">
                <a:solidFill>
                  <a:srgbClr val="1A1A1A"/>
                </a:solidFill>
                <a:latin typeface="Calibri"/>
              </a:rPr>
              <a:t> – smoothly moving from one state to another</a:t>
            </a:r>
          </a:p>
          <a:p>
            <a:pPr marL="420000" indent="-340000">
              <a:lnSpc>
                <a:spcPct val="105000"/>
              </a:lnSpc>
              <a:spcAft>
                <a:spcPts val="700"/>
              </a:spcAft>
              <a:buFont typeface="Arial"/>
              <a:buChar char="•"/>
            </a:pPr>
            <a:r>
              <a:rPr sz="2600" b="1" i="0" dirty="0">
                <a:solidFill>
                  <a:srgbClr val="1A1A1A"/>
                </a:solidFill>
                <a:latin typeface="Calibri"/>
              </a:rPr>
              <a:t>Playback</a:t>
            </a:r>
            <a:r>
              <a:rPr sz="2600" b="0" i="0" dirty="0">
                <a:solidFill>
                  <a:srgbClr val="1A1A1A"/>
                </a:solidFill>
                <a:latin typeface="Calibri"/>
              </a:rPr>
              <a:t> – video-style multi-frame sequence (play, pause, stop, rewind, step)</a:t>
            </a:r>
          </a:p>
          <a:p>
            <a:pPr>
              <a:lnSpc>
                <a:spcPct val="105000"/>
              </a:lnSpc>
              <a:spcBef>
                <a:spcPts val="600"/>
              </a:spcBef>
              <a:spcAft>
                <a:spcPts val="700"/>
              </a:spcAft>
              <a:buNone/>
            </a:pPr>
            <a:r>
              <a:rPr sz="2600" b="1" i="0" dirty="0">
                <a:solidFill>
                  <a:srgbClr val="1F3864"/>
                </a:solidFill>
                <a:latin typeface="Calibri"/>
              </a:rPr>
              <a:t>Key idea</a:t>
            </a:r>
          </a:p>
          <a:p>
            <a:pPr marL="420000" indent="-340000">
              <a:lnSpc>
                <a:spcPct val="105000"/>
              </a:lnSpc>
              <a:spcAft>
                <a:spcPts val="700"/>
              </a:spcAft>
              <a:buFont typeface="Arial"/>
              <a:buChar char="•"/>
            </a:pPr>
            <a:r>
              <a:rPr sz="2600" b="1" i="0" dirty="0">
                <a:solidFill>
                  <a:srgbClr val="1A1A1A"/>
                </a:solidFill>
                <a:latin typeface="Calibri"/>
              </a:rPr>
              <a:t>Data that changes over time does NOT have to be shown as an animation – animation is only one of many encodings of time</a:t>
            </a:r>
          </a:p>
          <a:p>
            <a:pPr marL="420000" indent="-340000">
              <a:lnSpc>
                <a:spcPct val="105000"/>
              </a:lnSpc>
              <a:spcAft>
                <a:spcPts val="700"/>
              </a:spcAft>
              <a:buFont typeface="Arial"/>
              <a:buChar char="•"/>
            </a:pPr>
            <a:r>
              <a:rPr sz="2600" b="1" i="0" dirty="0">
                <a:solidFill>
                  <a:srgbClr val="1A1A1A"/>
                </a:solidFill>
                <a:latin typeface="Calibri"/>
              </a:rPr>
              <a:t>Movie intuition misleads:</a:t>
            </a:r>
            <a:r>
              <a:rPr sz="2600" b="0" i="0" dirty="0">
                <a:solidFill>
                  <a:srgbClr val="1A1A1A"/>
                </a:solidFill>
                <a:latin typeface="Calibri"/>
              </a:rPr>
              <a:t> films guide the eye to one place; data animations change everywhere at once</a:t>
            </a:r>
          </a:p>
        </p:txBody>
      </p:sp>
      <p:pic>
        <p:nvPicPr>
          <p:cNvPr id="8" name="Picture 7" descr="meanings.png"/>
          <p:cNvPicPr>
            <a:picLocks noChangeAspect="1"/>
          </p:cNvPicPr>
          <p:nvPr/>
        </p:nvPicPr>
        <p:blipFill>
          <a:blip r:embed="rId3"/>
          <a:stretch>
            <a:fillRect/>
          </a:stretch>
        </p:blipFill>
        <p:spPr>
          <a:xfrm>
            <a:off x="9950000" y="3869705"/>
            <a:ext cx="7600000" cy="4810589"/>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§2.6.2 &amp; §6.5.2, pp. 38–39, 132–133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Animation as a Visual Encoding</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733304" y="2118898"/>
            <a:ext cx="8950000" cy="8133573"/>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In an animated chart</a:t>
            </a:r>
            <a:r>
              <a:rPr sz="2600" b="1" i="0" dirty="0">
                <a:solidFill>
                  <a:srgbClr val="1A1A1A"/>
                </a:solidFill>
                <a:latin typeface="Calibri"/>
              </a:rPr>
              <a:t>, the data attribute time is mapped to display time: one data time step → one (or more) frames</a:t>
            </a:r>
            <a:r>
              <a:rPr sz="2600" b="0" i="0" dirty="0">
                <a:solidFill>
                  <a:srgbClr val="1A1A1A"/>
                </a:solidFill>
                <a:latin typeface="Calibri"/>
              </a:rPr>
              <a:t>.</a:t>
            </a:r>
          </a:p>
          <a:p>
            <a:pPr marL="420000" indent="-340000">
              <a:lnSpc>
                <a:spcPct val="105000"/>
              </a:lnSpc>
              <a:spcAft>
                <a:spcPts val="700"/>
              </a:spcAft>
              <a:buFont typeface="Arial"/>
              <a:buChar char="•"/>
            </a:pPr>
            <a:r>
              <a:rPr sz="2600" b="1" i="0" dirty="0">
                <a:solidFill>
                  <a:srgbClr val="1A1A1A"/>
                </a:solidFill>
                <a:latin typeface="Calibri"/>
              </a:rPr>
              <a:t>Spatial channels (x, y, size, </a:t>
            </a:r>
            <a:r>
              <a:rPr sz="2600" b="1" i="0" dirty="0" err="1">
                <a:solidFill>
                  <a:srgbClr val="1A1A1A"/>
                </a:solidFill>
                <a:latin typeface="Calibri"/>
              </a:rPr>
              <a:t>colour</a:t>
            </a:r>
            <a:r>
              <a:rPr sz="2600" b="0" i="0" dirty="0">
                <a:solidFill>
                  <a:srgbClr val="1A1A1A"/>
                </a:solidFill>
                <a:latin typeface="Calibri"/>
              </a:rPr>
              <a:t>) still encode the other attributes in each frame</a:t>
            </a:r>
          </a:p>
          <a:p>
            <a:pPr marL="420000" indent="-340000">
              <a:lnSpc>
                <a:spcPct val="100000"/>
              </a:lnSpc>
              <a:spcAft>
                <a:spcPts val="700"/>
              </a:spcAft>
              <a:buFont typeface="Arial"/>
              <a:buChar char="•"/>
            </a:pPr>
            <a:r>
              <a:rPr sz="2600" b="0" i="0" dirty="0">
                <a:solidFill>
                  <a:srgbClr val="1A1A1A"/>
                </a:solidFill>
                <a:latin typeface="Calibri"/>
              </a:rPr>
              <a:t>Example: </a:t>
            </a:r>
            <a:r>
              <a:rPr sz="2600" b="0" i="0" dirty="0" err="1">
                <a:solidFill>
                  <a:srgbClr val="1A1A1A"/>
                </a:solidFill>
                <a:latin typeface="Calibri"/>
              </a:rPr>
              <a:t>Gapminder</a:t>
            </a:r>
            <a:r>
              <a:rPr sz="2600" b="0" i="0" dirty="0">
                <a:solidFill>
                  <a:srgbClr val="1A1A1A"/>
                </a:solidFill>
                <a:latin typeface="Calibri"/>
              </a:rPr>
              <a:t> ‘</a:t>
            </a:r>
            <a:r>
              <a:rPr sz="2600" b="0" i="0" dirty="0" err="1">
                <a:solidFill>
                  <a:srgbClr val="1A1A1A"/>
                </a:solidFill>
                <a:latin typeface="Calibri"/>
              </a:rPr>
              <a:t>Trendalyzer</a:t>
            </a:r>
            <a:r>
              <a:rPr sz="2600" b="0" i="0" dirty="0">
                <a:solidFill>
                  <a:srgbClr val="1A1A1A"/>
                </a:solidFill>
                <a:latin typeface="Calibri"/>
              </a:rPr>
              <a:t>’ (Hans Rosling) – income vs life expectancy, one frame per year</a:t>
            </a:r>
            <a:r>
              <a:rPr lang="en-US" sz="2600" b="0" i="0" dirty="0">
                <a:solidFill>
                  <a:srgbClr val="1A1A1A"/>
                </a:solidFill>
                <a:latin typeface="Calibri"/>
              </a:rPr>
              <a:t>(</a:t>
            </a:r>
            <a:r>
              <a:rPr lang="en-US" sz="2600" b="1" i="0" dirty="0">
                <a:solidFill>
                  <a:srgbClr val="1A1A1A"/>
                </a:solidFill>
                <a:latin typeface="Calibri"/>
              </a:rPr>
              <a:t>helps people understand how countries develop over time instead of looking at separate static charts.)</a:t>
            </a:r>
            <a:endParaRPr sz="2600" b="1" i="0" dirty="0">
              <a:solidFill>
                <a:srgbClr val="1A1A1A"/>
              </a:solidFill>
              <a:latin typeface="Calibri"/>
            </a:endParaRPr>
          </a:p>
          <a:p>
            <a:pPr>
              <a:lnSpc>
                <a:spcPct val="105000"/>
              </a:lnSpc>
              <a:spcBef>
                <a:spcPts val="600"/>
              </a:spcBef>
              <a:spcAft>
                <a:spcPts val="700"/>
              </a:spcAft>
              <a:buNone/>
            </a:pPr>
            <a:r>
              <a:rPr sz="2600" b="1" i="0" dirty="0">
                <a:solidFill>
                  <a:srgbClr val="1F3864"/>
                </a:solidFill>
                <a:latin typeface="Calibri"/>
              </a:rPr>
              <a:t>Congruence principle</a:t>
            </a:r>
          </a:p>
          <a:p>
            <a:pPr marL="420000" indent="-340000">
              <a:lnSpc>
                <a:spcPct val="100000"/>
              </a:lnSpc>
              <a:spcAft>
                <a:spcPts val="700"/>
              </a:spcAft>
              <a:buFont typeface="Arial"/>
              <a:buChar char="•"/>
            </a:pPr>
            <a:r>
              <a:rPr sz="2600" b="1" i="0" dirty="0">
                <a:solidFill>
                  <a:srgbClr val="1A1A1A"/>
                </a:solidFill>
                <a:latin typeface="Calibri"/>
              </a:rPr>
              <a:t>Animation is natural when the content itself is change over time</a:t>
            </a:r>
            <a:r>
              <a:rPr lang="en-US" sz="2600" b="1" i="0" dirty="0">
                <a:solidFill>
                  <a:srgbClr val="1A1A1A"/>
                </a:solidFill>
                <a:latin typeface="Calibri"/>
              </a:rPr>
              <a:t>(If you want to show how a plant grows over 30 days, animation is suitable because growth happens over time.)</a:t>
            </a:r>
            <a:endParaRPr sz="2600" b="1" i="0" dirty="0">
              <a:solidFill>
                <a:srgbClr val="1A1A1A"/>
              </a:solidFill>
              <a:latin typeface="Calibri"/>
            </a:endParaRPr>
          </a:p>
          <a:p>
            <a:pPr>
              <a:lnSpc>
                <a:spcPct val="105000"/>
              </a:lnSpc>
              <a:spcBef>
                <a:spcPts val="600"/>
              </a:spcBef>
              <a:spcAft>
                <a:spcPts val="700"/>
              </a:spcAft>
              <a:buNone/>
            </a:pPr>
            <a:r>
              <a:rPr sz="2600" b="1" i="0" dirty="0">
                <a:solidFill>
                  <a:srgbClr val="1F3864"/>
                </a:solidFill>
                <a:latin typeface="Calibri"/>
              </a:rPr>
              <a:t>Apprehension principle</a:t>
            </a:r>
          </a:p>
          <a:p>
            <a:pPr marL="420000" indent="-340000">
              <a:lnSpc>
                <a:spcPct val="105000"/>
              </a:lnSpc>
              <a:spcAft>
                <a:spcPts val="700"/>
              </a:spcAft>
              <a:buFont typeface="Arial"/>
              <a:buChar char="•"/>
            </a:pPr>
            <a:r>
              <a:rPr sz="2600" b="1" i="0" dirty="0">
                <a:solidFill>
                  <a:srgbClr val="1A1A1A"/>
                </a:solidFill>
                <a:latin typeface="Calibri"/>
              </a:rPr>
              <a:t>It works only if viewers can perceive and understand the change – too fast or too complex and it fails</a:t>
            </a:r>
          </a:p>
          <a:p>
            <a:pPr marL="900000" indent="-340000">
              <a:lnSpc>
                <a:spcPct val="105000"/>
              </a:lnSpc>
              <a:spcAft>
                <a:spcPts val="700"/>
              </a:spcAft>
              <a:buFont typeface="Arial"/>
              <a:buChar char="–"/>
            </a:pPr>
            <a:r>
              <a:rPr sz="2300" b="0" i="0" dirty="0">
                <a:solidFill>
                  <a:srgbClr val="333333"/>
                </a:solidFill>
                <a:latin typeface="Calibri"/>
              </a:rPr>
              <a:t>Tversky et al. found many ‘animation beats static’ studies were not fair comparisons</a:t>
            </a:r>
            <a:endParaRPr lang="en-US" sz="2300" b="0" i="0" dirty="0">
              <a:solidFill>
                <a:srgbClr val="333333"/>
              </a:solidFill>
              <a:latin typeface="Calibri"/>
            </a:endParaRPr>
          </a:p>
          <a:p>
            <a:pPr marL="900000" indent="-340000">
              <a:lnSpc>
                <a:spcPct val="100000"/>
              </a:lnSpc>
              <a:spcAft>
                <a:spcPts val="700"/>
              </a:spcAft>
              <a:buFont typeface="Arial"/>
              <a:buChar char="–"/>
            </a:pPr>
            <a:endParaRPr sz="2300" b="0" i="0" dirty="0">
              <a:solidFill>
                <a:srgbClr val="333333"/>
              </a:solidFill>
              <a:latin typeface="Calibri"/>
            </a:endParaRPr>
          </a:p>
        </p:txBody>
      </p:sp>
      <p:pic>
        <p:nvPicPr>
          <p:cNvPr id="8" name="Picture 7" descr="gapminder.gif"/>
          <p:cNvPicPr>
            <a:picLocks noChangeAspect="1"/>
          </p:cNvPicPr>
          <p:nvPr/>
        </p:nvPicPr>
        <p:blipFill>
          <a:blip r:embed="rId3"/>
          <a:stretch>
            <a:fillRect/>
          </a:stretch>
        </p:blipFill>
        <p:spPr>
          <a:xfrm>
            <a:off x="9950000" y="3269714"/>
            <a:ext cx="6331104" cy="4352634"/>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§6.5; Tversky, Morrison &amp; Bétrancourt, ‘Animation: can it facilitate?’, IJHCS 57 (2002)</a:t>
            </a:r>
          </a:p>
        </p:txBody>
      </p:sp>
      <p:sp>
        <p:nvSpPr>
          <p:cNvPr id="11" name="TextBox 10">
            <a:extLst>
              <a:ext uri="{FF2B5EF4-FFF2-40B4-BE49-F238E27FC236}">
                <a16:creationId xmlns:a16="http://schemas.microsoft.com/office/drawing/2014/main" id="{0E9E53F1-B458-3908-478D-11FBCEBE0C4F}"/>
              </a:ext>
            </a:extLst>
          </p:cNvPr>
          <p:cNvSpPr txBox="1"/>
          <p:nvPr/>
        </p:nvSpPr>
        <p:spPr>
          <a:xfrm>
            <a:off x="9448800" y="2566182"/>
            <a:ext cx="7180793" cy="646331"/>
          </a:xfrm>
          <a:prstGeom prst="rect">
            <a:avLst/>
          </a:prstGeom>
          <a:noFill/>
        </p:spPr>
        <p:txBody>
          <a:bodyPr wrap="square">
            <a:spAutoFit/>
          </a:bodyPr>
          <a:lstStyle/>
          <a:p>
            <a:r>
              <a:rPr lang="en-IN" dirty="0"/>
              <a:t>Even if animation is appropriate, it will not be useful if the changes happen too quickly or too many things change at once.</a:t>
            </a:r>
          </a:p>
        </p:txBody>
      </p:sp>
      <p:graphicFrame>
        <p:nvGraphicFramePr>
          <p:cNvPr id="12" name="Table 11">
            <a:extLst>
              <a:ext uri="{FF2B5EF4-FFF2-40B4-BE49-F238E27FC236}">
                <a16:creationId xmlns:a16="http://schemas.microsoft.com/office/drawing/2014/main" id="{3277C93F-7EE4-6FA6-59D1-AD4AA176EA7F}"/>
              </a:ext>
            </a:extLst>
          </p:cNvPr>
          <p:cNvGraphicFramePr>
            <a:graphicFrameLocks noGrp="1"/>
          </p:cNvGraphicFramePr>
          <p:nvPr>
            <p:extLst>
              <p:ext uri="{D42A27DB-BD31-4B8C-83A1-F6EECF244321}">
                <p14:modId xmlns:p14="http://schemas.microsoft.com/office/powerpoint/2010/main" val="2913769313"/>
              </p:ext>
            </p:extLst>
          </p:nvPr>
        </p:nvGraphicFramePr>
        <p:xfrm>
          <a:off x="9757275" y="7674428"/>
          <a:ext cx="7797422" cy="2560320"/>
        </p:xfrm>
        <a:graphic>
          <a:graphicData uri="http://schemas.openxmlformats.org/drawingml/2006/table">
            <a:tbl>
              <a:tblPr>
                <a:tableStyleId>{5C22544A-7EE6-4342-B048-85BDC9FD1C3A}</a:tableStyleId>
              </a:tblPr>
              <a:tblGrid>
                <a:gridCol w="3898711">
                  <a:extLst>
                    <a:ext uri="{9D8B030D-6E8A-4147-A177-3AD203B41FA5}">
                      <a16:colId xmlns:a16="http://schemas.microsoft.com/office/drawing/2014/main" val="3585155740"/>
                    </a:ext>
                  </a:extLst>
                </a:gridCol>
                <a:gridCol w="3898711">
                  <a:extLst>
                    <a:ext uri="{9D8B030D-6E8A-4147-A177-3AD203B41FA5}">
                      <a16:colId xmlns:a16="http://schemas.microsoft.com/office/drawing/2014/main" val="2630265108"/>
                    </a:ext>
                  </a:extLst>
                </a:gridCol>
              </a:tblGrid>
              <a:tr h="313664">
                <a:tc>
                  <a:txBody>
                    <a:bodyPr/>
                    <a:lstStyle/>
                    <a:p>
                      <a:pPr>
                        <a:buNone/>
                      </a:pPr>
                      <a:r>
                        <a:rPr lang="en-IN"/>
                        <a:t>Principle</a:t>
                      </a:r>
                    </a:p>
                  </a:txBody>
                  <a:tcPr anchor="ctr"/>
                </a:tc>
                <a:tc>
                  <a:txBody>
                    <a:bodyPr/>
                    <a:lstStyle/>
                    <a:p>
                      <a:pPr>
                        <a:buNone/>
                      </a:pPr>
                      <a:r>
                        <a:rPr lang="en-IN"/>
                        <a:t>Simple meaning</a:t>
                      </a:r>
                    </a:p>
                  </a:txBody>
                  <a:tcPr anchor="ctr"/>
                </a:tc>
                <a:extLst>
                  <a:ext uri="{0D108BD9-81ED-4DB2-BD59-A6C34878D82A}">
                    <a16:rowId xmlns:a16="http://schemas.microsoft.com/office/drawing/2014/main" val="104448619"/>
                  </a:ext>
                </a:extLst>
              </a:tr>
              <a:tr h="548912">
                <a:tc>
                  <a:txBody>
                    <a:bodyPr/>
                    <a:lstStyle/>
                    <a:p>
                      <a:pPr>
                        <a:buNone/>
                      </a:pPr>
                      <a:r>
                        <a:rPr lang="en-IN"/>
                        <a:t>Congruence</a:t>
                      </a:r>
                    </a:p>
                  </a:txBody>
                  <a:tcPr anchor="ctr"/>
                </a:tc>
                <a:tc>
                  <a:txBody>
                    <a:bodyPr/>
                    <a:lstStyle/>
                    <a:p>
                      <a:pPr>
                        <a:buNone/>
                      </a:pPr>
                      <a:r>
                        <a:rPr lang="en-IN"/>
                        <a:t>Use animation when the data naturally changes over time.</a:t>
                      </a:r>
                    </a:p>
                  </a:txBody>
                  <a:tcPr anchor="ctr"/>
                </a:tc>
                <a:extLst>
                  <a:ext uri="{0D108BD9-81ED-4DB2-BD59-A6C34878D82A}">
                    <a16:rowId xmlns:a16="http://schemas.microsoft.com/office/drawing/2014/main" val="3990512609"/>
                  </a:ext>
                </a:extLst>
              </a:tr>
              <a:tr h="548912">
                <a:tc>
                  <a:txBody>
                    <a:bodyPr/>
                    <a:lstStyle/>
                    <a:p>
                      <a:pPr>
                        <a:buNone/>
                      </a:pPr>
                      <a:r>
                        <a:rPr lang="en-IN"/>
                        <a:t>Apprehension</a:t>
                      </a:r>
                    </a:p>
                  </a:txBody>
                  <a:tcPr anchor="ctr"/>
                </a:tc>
                <a:tc>
                  <a:txBody>
                    <a:bodyPr/>
                    <a:lstStyle/>
                    <a:p>
                      <a:pPr>
                        <a:buNone/>
                      </a:pPr>
                      <a:r>
                        <a:rPr lang="en-IN"/>
                        <a:t>Make the animation slow and clear enough for viewers to understand.</a:t>
                      </a:r>
                    </a:p>
                  </a:txBody>
                  <a:tcPr anchor="ctr"/>
                </a:tc>
                <a:extLst>
                  <a:ext uri="{0D108BD9-81ED-4DB2-BD59-A6C34878D82A}">
                    <a16:rowId xmlns:a16="http://schemas.microsoft.com/office/drawing/2014/main" val="3912157999"/>
                  </a:ext>
                </a:extLst>
              </a:tr>
              <a:tr h="784160">
                <a:tc>
                  <a:txBody>
                    <a:bodyPr/>
                    <a:lstStyle/>
                    <a:p>
                      <a:pPr>
                        <a:buNone/>
                      </a:pPr>
                      <a:r>
                        <a:rPr lang="en-IN"/>
                        <a:t>Fair comparison</a:t>
                      </a:r>
                    </a:p>
                  </a:txBody>
                  <a:tcPr anchor="ctr"/>
                </a:tc>
                <a:tc>
                  <a:txBody>
                    <a:bodyPr/>
                    <a:lstStyle/>
                    <a:p>
                      <a:pPr>
                        <a:buNone/>
                      </a:pPr>
                      <a:r>
                        <a:rPr lang="en-IN" dirty="0"/>
                        <a:t>Compare animation with an equally informative static presentation before claiming it is better.</a:t>
                      </a:r>
                    </a:p>
                  </a:txBody>
                  <a:tcPr anchor="ctr"/>
                </a:tc>
                <a:extLst>
                  <a:ext uri="{0D108BD9-81ED-4DB2-BD59-A6C34878D82A}">
                    <a16:rowId xmlns:a16="http://schemas.microsoft.com/office/drawing/2014/main" val="72017479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Motion as a Visual Variable</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6989990"/>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Motion channels: </a:t>
            </a:r>
            <a:r>
              <a:rPr sz="2600" b="1" i="0" dirty="0">
                <a:solidFill>
                  <a:srgbClr val="1A1A1A"/>
                </a:solidFill>
                <a:latin typeface="Calibri"/>
              </a:rPr>
              <a:t>direction of motion, velocity of motion, flicker/blink frequency.</a:t>
            </a:r>
          </a:p>
          <a:p>
            <a:pPr marL="420000" indent="-340000">
              <a:lnSpc>
                <a:spcPct val="105000"/>
              </a:lnSpc>
              <a:spcAft>
                <a:spcPts val="700"/>
              </a:spcAft>
              <a:buFont typeface="Arial"/>
              <a:buChar char="•"/>
            </a:pPr>
            <a:r>
              <a:rPr sz="2600" b="0" i="0" dirty="0">
                <a:solidFill>
                  <a:srgbClr val="1A1A1A"/>
                </a:solidFill>
                <a:latin typeface="Calibri"/>
              </a:rPr>
              <a:t>With a </a:t>
            </a:r>
            <a:r>
              <a:rPr sz="2600" b="1" i="0" dirty="0">
                <a:solidFill>
                  <a:srgbClr val="1A1A1A"/>
                </a:solidFill>
                <a:latin typeface="Calibri"/>
              </a:rPr>
              <a:t>fixed layout</a:t>
            </a:r>
            <a:r>
              <a:rPr sz="2600" b="0" i="0" dirty="0">
                <a:solidFill>
                  <a:srgbClr val="1A1A1A"/>
                </a:solidFill>
                <a:latin typeface="Calibri"/>
              </a:rPr>
              <a:t>, motion is usually a small cyclic oscillation around the item’s position</a:t>
            </a:r>
          </a:p>
          <a:p>
            <a:pPr marL="420000" indent="-340000">
              <a:lnSpc>
                <a:spcPct val="105000"/>
              </a:lnSpc>
              <a:spcAft>
                <a:spcPts val="700"/>
              </a:spcAft>
              <a:buFont typeface="Arial"/>
              <a:buChar char="•"/>
            </a:pPr>
            <a:r>
              <a:rPr sz="2600" b="1" i="0" dirty="0">
                <a:solidFill>
                  <a:srgbClr val="1A1A1A"/>
                </a:solidFill>
                <a:latin typeface="Calibri"/>
              </a:rPr>
              <a:t>Extremely salient and highly separable from static channels (</a:t>
            </a:r>
            <a:r>
              <a:rPr sz="2600" b="1" i="0" dirty="0" err="1">
                <a:solidFill>
                  <a:srgbClr val="1A1A1A"/>
                </a:solidFill>
                <a:latin typeface="Calibri"/>
              </a:rPr>
              <a:t>colour</a:t>
            </a:r>
            <a:r>
              <a:rPr sz="2600" b="1" i="0" dirty="0">
                <a:solidFill>
                  <a:srgbClr val="1A1A1A"/>
                </a:solidFill>
                <a:latin typeface="Calibri"/>
              </a:rPr>
              <a:t>, position)</a:t>
            </a:r>
          </a:p>
          <a:p>
            <a:pPr marL="420000" indent="-340000">
              <a:lnSpc>
                <a:spcPct val="105000"/>
              </a:lnSpc>
              <a:spcAft>
                <a:spcPts val="700"/>
              </a:spcAft>
              <a:buFont typeface="Arial"/>
              <a:buChar char="•"/>
            </a:pPr>
            <a:r>
              <a:rPr sz="2600" b="1" i="0" dirty="0">
                <a:solidFill>
                  <a:srgbClr val="1A1A1A"/>
                </a:solidFill>
                <a:latin typeface="Calibri"/>
              </a:rPr>
              <a:t>Pops out </a:t>
            </a:r>
            <a:r>
              <a:rPr sz="2600" b="1" i="0" dirty="0" err="1">
                <a:solidFill>
                  <a:srgbClr val="1A1A1A"/>
                </a:solidFill>
                <a:latin typeface="Calibri"/>
              </a:rPr>
              <a:t>preattentively</a:t>
            </a:r>
            <a:r>
              <a:rPr sz="2600" b="1" i="0" dirty="0">
                <a:solidFill>
                  <a:srgbClr val="1A1A1A"/>
                </a:solidFill>
                <a:latin typeface="Calibri"/>
              </a:rPr>
              <a:t>:</a:t>
            </a:r>
            <a:r>
              <a:rPr sz="2600" b="0" i="0" dirty="0">
                <a:solidFill>
                  <a:srgbClr val="1A1A1A"/>
                </a:solidFill>
                <a:latin typeface="Calibri"/>
              </a:rPr>
              <a:t> moving items are found almost instantly</a:t>
            </a:r>
          </a:p>
          <a:p>
            <a:pPr marL="420000" indent="-340000">
              <a:lnSpc>
                <a:spcPct val="105000"/>
              </a:lnSpc>
              <a:spcAft>
                <a:spcPts val="700"/>
              </a:spcAft>
              <a:buFont typeface="Arial"/>
              <a:buChar char="•"/>
            </a:pPr>
            <a:r>
              <a:rPr sz="2600" b="1" i="0" dirty="0">
                <a:solidFill>
                  <a:srgbClr val="1A1A1A"/>
                </a:solidFill>
                <a:latin typeface="Calibri"/>
              </a:rPr>
              <a:t>Weakness:</a:t>
            </a:r>
            <a:r>
              <a:rPr sz="2600" b="0" i="0" dirty="0">
                <a:solidFill>
                  <a:srgbClr val="1A1A1A"/>
                </a:solidFill>
                <a:latin typeface="Calibri"/>
              </a:rPr>
              <a:t> nearly impossible to ignore – flicker/blinking can annoy and distract</a:t>
            </a:r>
          </a:p>
          <a:p>
            <a:pPr>
              <a:lnSpc>
                <a:spcPct val="105000"/>
              </a:lnSpc>
              <a:spcBef>
                <a:spcPts val="600"/>
              </a:spcBef>
              <a:spcAft>
                <a:spcPts val="700"/>
              </a:spcAft>
              <a:buNone/>
            </a:pPr>
            <a:r>
              <a:rPr sz="2600" b="1" i="0" dirty="0" err="1">
                <a:solidFill>
                  <a:srgbClr val="1F3864"/>
                </a:solidFill>
                <a:latin typeface="Calibri"/>
              </a:rPr>
              <a:t>Munzner’s</a:t>
            </a:r>
            <a:r>
              <a:rPr sz="2600" b="1" i="0" dirty="0">
                <a:solidFill>
                  <a:srgbClr val="1F3864"/>
                </a:solidFill>
                <a:latin typeface="Calibri"/>
              </a:rPr>
              <a:t> safe strategy</a:t>
            </a:r>
          </a:p>
          <a:p>
            <a:pPr marL="420000" indent="-340000">
              <a:lnSpc>
                <a:spcPct val="105000"/>
              </a:lnSpc>
              <a:spcAft>
                <a:spcPts val="700"/>
              </a:spcAft>
              <a:buFont typeface="Arial"/>
              <a:buChar char="•"/>
            </a:pPr>
            <a:r>
              <a:rPr sz="2600" b="0" i="0" dirty="0">
                <a:solidFill>
                  <a:srgbClr val="1A1A1A"/>
                </a:solidFill>
                <a:latin typeface="Calibri"/>
              </a:rPr>
              <a:t>Treat motion as an identity channel with 2 levels: moves / does not move</a:t>
            </a:r>
          </a:p>
          <a:p>
            <a:pPr marL="420000" indent="-340000">
              <a:lnSpc>
                <a:spcPct val="105000"/>
              </a:lnSpc>
              <a:spcAft>
                <a:spcPts val="700"/>
              </a:spcAft>
              <a:buFont typeface="Arial"/>
              <a:buChar char="•"/>
            </a:pPr>
            <a:r>
              <a:rPr sz="2600" b="1" i="0" dirty="0">
                <a:solidFill>
                  <a:srgbClr val="1A1A1A"/>
                </a:solidFill>
                <a:latin typeface="Calibri"/>
              </a:rPr>
              <a:t>Best use:</a:t>
            </a:r>
            <a:r>
              <a:rPr sz="2600" b="0" i="0" dirty="0">
                <a:solidFill>
                  <a:srgbClr val="1A1A1A"/>
                </a:solidFill>
                <a:latin typeface="Calibri"/>
              </a:rPr>
              <a:t> temporary highlighting (e.g. on mouse-over, or newly added items)</a:t>
            </a:r>
          </a:p>
        </p:txBody>
      </p:sp>
      <p:pic>
        <p:nvPicPr>
          <p:cNvPr id="8" name="Picture 7" descr="motion_popout.gif"/>
          <p:cNvPicPr>
            <a:picLocks noChangeAspect="1"/>
          </p:cNvPicPr>
          <p:nvPr/>
        </p:nvPicPr>
        <p:blipFill>
          <a:blip r:embed="rId3"/>
          <a:stretch>
            <a:fillRect/>
          </a:stretch>
        </p:blipFill>
        <p:spPr>
          <a:xfrm>
            <a:off x="9950000" y="3615000"/>
            <a:ext cx="7600000" cy="5320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§10.4.5 Motion Channels, pp. 238–239; §5.5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Animation Timing</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7450000"/>
          </a:xfrm>
          <a:prstGeom prst="rect">
            <a:avLst/>
          </a:prstGeom>
          <a:noFill/>
        </p:spPr>
        <p:txBody>
          <a:bodyPr wrap="square" lIns="0" tIns="0" rIns="0" bIns="0" anchor="t">
            <a:spAutoFit/>
          </a:bodyPr>
          <a:lstStyle/>
          <a:p>
            <a:pPr>
              <a:lnSpc>
                <a:spcPct val="105000"/>
              </a:lnSpc>
              <a:spcBef>
                <a:spcPts val="600"/>
              </a:spcBef>
              <a:spcAft>
                <a:spcPts val="700"/>
              </a:spcAft>
              <a:buNone/>
            </a:pPr>
            <a:r>
              <a:rPr sz="2600" b="1" i="0" dirty="0">
                <a:solidFill>
                  <a:srgbClr val="1F3864"/>
                </a:solidFill>
                <a:latin typeface="Calibri"/>
              </a:rPr>
              <a:t>How long should a transition last?</a:t>
            </a:r>
          </a:p>
          <a:p>
            <a:pPr marL="420000" indent="-340000">
              <a:lnSpc>
                <a:spcPct val="105000"/>
              </a:lnSpc>
              <a:spcAft>
                <a:spcPts val="700"/>
              </a:spcAft>
              <a:buFont typeface="Arial"/>
              <a:buChar char="•"/>
            </a:pPr>
            <a:r>
              <a:rPr sz="2600" b="1" i="0" dirty="0">
                <a:solidFill>
                  <a:srgbClr val="1A1A1A"/>
                </a:solidFill>
                <a:latin typeface="Calibri"/>
              </a:rPr>
              <a:t>Too short (&lt; ~0.25 s):</a:t>
            </a:r>
            <a:r>
              <a:rPr sz="2600" b="0" i="0" dirty="0">
                <a:solidFill>
                  <a:srgbClr val="1A1A1A"/>
                </a:solidFill>
                <a:latin typeface="Calibri"/>
              </a:rPr>
              <a:t> changes are missed; too long (&gt; ~2 s): tedious</a:t>
            </a:r>
          </a:p>
          <a:p>
            <a:pPr marL="420000" indent="-340000">
              <a:lnSpc>
                <a:spcPct val="105000"/>
              </a:lnSpc>
              <a:spcAft>
                <a:spcPts val="700"/>
              </a:spcAft>
              <a:buFont typeface="Arial"/>
              <a:buChar char="•"/>
            </a:pPr>
            <a:r>
              <a:rPr sz="2600" b="1" i="0" dirty="0">
                <a:solidFill>
                  <a:srgbClr val="1A1A1A"/>
                </a:solidFill>
                <a:latin typeface="Calibri"/>
              </a:rPr>
              <a:t>Heer &amp; Robertson:</a:t>
            </a:r>
            <a:r>
              <a:rPr sz="2600" b="0" i="0" dirty="0">
                <a:solidFill>
                  <a:srgbClr val="1A1A1A"/>
                </a:solidFill>
                <a:latin typeface="Calibri"/>
              </a:rPr>
              <a:t> ~1 s per stage worked well for staged chart transitions</a:t>
            </a:r>
          </a:p>
          <a:p>
            <a:pPr marL="420000" indent="-340000">
              <a:lnSpc>
                <a:spcPct val="105000"/>
              </a:lnSpc>
              <a:spcAft>
                <a:spcPts val="700"/>
              </a:spcAft>
              <a:buFont typeface="Arial"/>
              <a:buChar char="•"/>
            </a:pPr>
            <a:r>
              <a:rPr sz="2600" b="1" i="0" dirty="0">
                <a:solidFill>
                  <a:srgbClr val="1A1A1A"/>
                </a:solidFill>
                <a:latin typeface="Calibri"/>
              </a:rPr>
              <a:t>Card et al.:</a:t>
            </a:r>
            <a:r>
              <a:rPr sz="2600" b="0" i="0" dirty="0">
                <a:solidFill>
                  <a:srgbClr val="1A1A1A"/>
                </a:solidFill>
                <a:latin typeface="Calibri"/>
              </a:rPr>
              <a:t> ~0.1 s perceptual cycle – below this, successive frames fuse; ~1 s keeps a user’s flow of thought</a:t>
            </a:r>
          </a:p>
          <a:p>
            <a:pPr>
              <a:lnSpc>
                <a:spcPct val="105000"/>
              </a:lnSpc>
              <a:spcBef>
                <a:spcPts val="600"/>
              </a:spcBef>
              <a:spcAft>
                <a:spcPts val="700"/>
              </a:spcAft>
              <a:buNone/>
            </a:pPr>
            <a:r>
              <a:rPr sz="2600" b="1" i="0" dirty="0">
                <a:solidFill>
                  <a:srgbClr val="1F3864"/>
                </a:solidFill>
                <a:latin typeface="Calibri"/>
              </a:rPr>
              <a:t>Pacing / easing functions</a:t>
            </a:r>
          </a:p>
          <a:p>
            <a:pPr marL="420000" indent="-340000">
              <a:lnSpc>
                <a:spcPct val="105000"/>
              </a:lnSpc>
              <a:spcAft>
                <a:spcPts val="700"/>
              </a:spcAft>
              <a:buFont typeface="Arial"/>
              <a:buChar char="•"/>
            </a:pPr>
            <a:r>
              <a:rPr sz="2600" b="1" i="0" dirty="0">
                <a:solidFill>
                  <a:srgbClr val="1A1A1A"/>
                </a:solidFill>
                <a:latin typeface="Calibri"/>
              </a:rPr>
              <a:t>Slow-in / slow-out (ease-in-out):</a:t>
            </a:r>
            <a:r>
              <a:rPr sz="2600" b="0" i="0" dirty="0">
                <a:solidFill>
                  <a:srgbClr val="1A1A1A"/>
                </a:solidFill>
                <a:latin typeface="Calibri"/>
              </a:rPr>
              <a:t> start slow, speed up, end slow – helps tracking of start and end positions</a:t>
            </a:r>
          </a:p>
          <a:p>
            <a:pPr marL="420000" indent="-340000">
              <a:lnSpc>
                <a:spcPct val="105000"/>
              </a:lnSpc>
              <a:spcAft>
                <a:spcPts val="700"/>
              </a:spcAft>
              <a:buFont typeface="Arial"/>
              <a:buChar char="•"/>
            </a:pPr>
            <a:r>
              <a:rPr sz="2600" b="1" i="0" dirty="0">
                <a:solidFill>
                  <a:srgbClr val="1A1A1A"/>
                </a:solidFill>
                <a:latin typeface="Calibri"/>
              </a:rPr>
              <a:t>Staging:</a:t>
            </a:r>
            <a:r>
              <a:rPr sz="2600" b="0" i="0" dirty="0">
                <a:solidFill>
                  <a:srgbClr val="1A1A1A"/>
                </a:solidFill>
                <a:latin typeface="Calibri"/>
              </a:rPr>
              <a:t> break a complex change into sequential steps (e.g. first change axes, then move marks)</a:t>
            </a:r>
          </a:p>
          <a:p>
            <a:pPr marL="420000" indent="-340000">
              <a:lnSpc>
                <a:spcPct val="105000"/>
              </a:lnSpc>
              <a:spcAft>
                <a:spcPts val="700"/>
              </a:spcAft>
              <a:buFont typeface="Arial"/>
              <a:buChar char="•"/>
            </a:pPr>
            <a:r>
              <a:rPr sz="2600" b="0" i="0" dirty="0">
                <a:solidFill>
                  <a:srgbClr val="1A1A1A"/>
                </a:solidFill>
                <a:latin typeface="Calibri"/>
              </a:rPr>
              <a:t>Hold the final state long enough to be read</a:t>
            </a:r>
          </a:p>
        </p:txBody>
      </p:sp>
      <p:pic>
        <p:nvPicPr>
          <p:cNvPr id="8" name="Picture 7" descr="easing.png"/>
          <p:cNvPicPr>
            <a:picLocks noChangeAspect="1"/>
          </p:cNvPicPr>
          <p:nvPr/>
        </p:nvPicPr>
        <p:blipFill>
          <a:blip r:embed="rId3"/>
          <a:stretch>
            <a:fillRect/>
          </a:stretch>
        </p:blipFill>
        <p:spPr>
          <a:xfrm>
            <a:off x="9950000" y="3543311"/>
            <a:ext cx="7600000" cy="5463378"/>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Heer &amp; Robertson, IEEE TVCG 13(6) 2007; Card, Robertson &amp; Mackinlay, CHI 1991; Dragicevic et al., CHI 2011</a:t>
            </a:r>
          </a:p>
        </p:txBody>
      </p:sp>
      <p:sp>
        <p:nvSpPr>
          <p:cNvPr id="11" name="TextBox 10">
            <a:extLst>
              <a:ext uri="{FF2B5EF4-FFF2-40B4-BE49-F238E27FC236}">
                <a16:creationId xmlns:a16="http://schemas.microsoft.com/office/drawing/2014/main" id="{76C701B3-8C3A-8199-0104-E0BE32EA8178}"/>
              </a:ext>
            </a:extLst>
          </p:cNvPr>
          <p:cNvSpPr txBox="1"/>
          <p:nvPr/>
        </p:nvSpPr>
        <p:spPr>
          <a:xfrm>
            <a:off x="5791200" y="1000497"/>
            <a:ext cx="9152164" cy="707886"/>
          </a:xfrm>
          <a:prstGeom prst="rect">
            <a:avLst/>
          </a:prstGeom>
          <a:noFill/>
        </p:spPr>
        <p:txBody>
          <a:bodyPr wrap="square">
            <a:spAutoFit/>
          </a:bodyPr>
          <a:lstStyle/>
          <a:p>
            <a:r>
              <a:rPr lang="en-IN" sz="2000" dirty="0"/>
              <a:t>A perceptual cycle is the short amount of time the human visual system needs to perceive and process a visual change before processing the next 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Frame Rate</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7101303"/>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Frame rate (fps) = number of distinct images displayed per second.</a:t>
            </a:r>
          </a:p>
          <a:p>
            <a:pPr marL="420000" indent="-340000">
              <a:lnSpc>
                <a:spcPct val="105000"/>
              </a:lnSpc>
              <a:spcAft>
                <a:spcPts val="700"/>
              </a:spcAft>
              <a:buFont typeface="Arial"/>
              <a:buChar char="•"/>
            </a:pPr>
            <a:r>
              <a:rPr sz="2600" b="1" i="0" dirty="0">
                <a:solidFill>
                  <a:srgbClr val="1A1A1A"/>
                </a:solidFill>
                <a:latin typeface="Calibri"/>
              </a:rPr>
              <a:t>Film ≈ 24 fps, video ≈ 25–30 fps, interactive graphics/games target 60 fps</a:t>
            </a:r>
          </a:p>
          <a:p>
            <a:pPr marL="420000" indent="-340000">
              <a:lnSpc>
                <a:spcPct val="105000"/>
              </a:lnSpc>
              <a:spcAft>
                <a:spcPts val="700"/>
              </a:spcAft>
              <a:buFont typeface="Arial"/>
              <a:buChar char="•"/>
            </a:pPr>
            <a:r>
              <a:rPr sz="2600" b="0" i="0" dirty="0">
                <a:solidFill>
                  <a:srgbClr val="1A1A1A"/>
                </a:solidFill>
                <a:latin typeface="Calibri"/>
              </a:rPr>
              <a:t>Below ~10–12 fps motion looks jerky (stroboscopic); movement is seen as jumps</a:t>
            </a:r>
          </a:p>
          <a:p>
            <a:pPr marL="420000" indent="-340000">
              <a:lnSpc>
                <a:spcPct val="105000"/>
              </a:lnSpc>
              <a:spcAft>
                <a:spcPts val="700"/>
              </a:spcAft>
              <a:buFont typeface="Arial"/>
              <a:buChar char="•"/>
            </a:pPr>
            <a:r>
              <a:rPr sz="2600" b="0" i="0" dirty="0">
                <a:solidFill>
                  <a:srgbClr val="1A1A1A"/>
                </a:solidFill>
                <a:latin typeface="Calibri"/>
              </a:rPr>
              <a:t>Frame time budget = 1000 </a:t>
            </a:r>
            <a:r>
              <a:rPr sz="2600" b="0" i="0" dirty="0" err="1">
                <a:solidFill>
                  <a:srgbClr val="1A1A1A"/>
                </a:solidFill>
                <a:latin typeface="Calibri"/>
              </a:rPr>
              <a:t>ms</a:t>
            </a:r>
            <a:r>
              <a:rPr sz="2600" b="0" i="0" dirty="0">
                <a:solidFill>
                  <a:srgbClr val="1A1A1A"/>
                </a:solidFill>
                <a:latin typeface="Calibri"/>
              </a:rPr>
              <a:t> / fps  (60 fps → 16.7 </a:t>
            </a:r>
            <a:r>
              <a:rPr sz="2600" b="0" i="0" dirty="0" err="1">
                <a:solidFill>
                  <a:srgbClr val="1A1A1A"/>
                </a:solidFill>
                <a:latin typeface="Calibri"/>
              </a:rPr>
              <a:t>ms</a:t>
            </a:r>
            <a:r>
              <a:rPr sz="2600" b="0" i="0" dirty="0">
                <a:solidFill>
                  <a:srgbClr val="1A1A1A"/>
                </a:solidFill>
                <a:latin typeface="Calibri"/>
              </a:rPr>
              <a:t> per frame)</a:t>
            </a:r>
            <a:endParaRPr lang="en-US" sz="2600" b="0" i="0" dirty="0">
              <a:solidFill>
                <a:srgbClr val="1A1A1A"/>
              </a:solidFill>
              <a:latin typeface="Calibri"/>
            </a:endParaRPr>
          </a:p>
          <a:p>
            <a:pPr marL="420000" indent="-340000">
              <a:lnSpc>
                <a:spcPct val="100000"/>
              </a:lnSpc>
              <a:spcAft>
                <a:spcPts val="700"/>
              </a:spcAft>
              <a:buFont typeface="Arial"/>
              <a:buChar char="•"/>
            </a:pPr>
            <a:r>
              <a:rPr lang="en-IN" sz="2800" b="1" dirty="0"/>
              <a:t>frame time budget is the time available to render one frame at a target frame rate. </a:t>
            </a:r>
            <a:endParaRPr sz="2600" b="1" i="0" dirty="0">
              <a:solidFill>
                <a:srgbClr val="1A1A1A"/>
              </a:solidFill>
              <a:latin typeface="Calibri"/>
            </a:endParaRPr>
          </a:p>
          <a:p>
            <a:pPr>
              <a:lnSpc>
                <a:spcPct val="105000"/>
              </a:lnSpc>
              <a:spcBef>
                <a:spcPts val="600"/>
              </a:spcBef>
              <a:spcAft>
                <a:spcPts val="700"/>
              </a:spcAft>
              <a:buNone/>
            </a:pPr>
            <a:r>
              <a:rPr sz="2600" b="1" i="0" dirty="0">
                <a:solidFill>
                  <a:srgbClr val="1F3864"/>
                </a:solidFill>
                <a:latin typeface="Calibri"/>
              </a:rPr>
              <a:t>Two different ‘rates’ in data animation</a:t>
            </a:r>
          </a:p>
          <a:p>
            <a:pPr marL="420000" indent="-340000">
              <a:lnSpc>
                <a:spcPct val="105000"/>
              </a:lnSpc>
              <a:spcAft>
                <a:spcPts val="700"/>
              </a:spcAft>
              <a:buFont typeface="Arial"/>
              <a:buChar char="•"/>
            </a:pPr>
            <a:r>
              <a:rPr sz="2600" b="1" i="0" dirty="0">
                <a:solidFill>
                  <a:srgbClr val="1A1A1A"/>
                </a:solidFill>
                <a:latin typeface="Calibri"/>
              </a:rPr>
              <a:t>Rendering rate</a:t>
            </a:r>
            <a:r>
              <a:rPr sz="2600" b="0" i="0" dirty="0">
                <a:solidFill>
                  <a:srgbClr val="1A1A1A"/>
                </a:solidFill>
                <a:latin typeface="Calibri"/>
              </a:rPr>
              <a:t> – how smoothly frames are drawn (fps)</a:t>
            </a:r>
          </a:p>
          <a:p>
            <a:pPr marL="420000" indent="-340000">
              <a:lnSpc>
                <a:spcPct val="105000"/>
              </a:lnSpc>
              <a:spcAft>
                <a:spcPts val="700"/>
              </a:spcAft>
              <a:buFont typeface="Arial"/>
              <a:buChar char="•"/>
            </a:pPr>
            <a:r>
              <a:rPr sz="2600" b="1" i="0" dirty="0">
                <a:solidFill>
                  <a:srgbClr val="1A1A1A"/>
                </a:solidFill>
                <a:latin typeface="Calibri"/>
              </a:rPr>
              <a:t>Data rate</a:t>
            </a:r>
            <a:r>
              <a:rPr sz="2600" b="0" i="0" dirty="0">
                <a:solidFill>
                  <a:srgbClr val="1A1A1A"/>
                </a:solidFill>
                <a:latin typeface="Calibri"/>
              </a:rPr>
              <a:t> – how many data time steps are shown per second (e.g. 2 years/s)</a:t>
            </a:r>
          </a:p>
          <a:p>
            <a:pPr marL="420000" indent="-340000">
              <a:lnSpc>
                <a:spcPct val="105000"/>
              </a:lnSpc>
              <a:spcAft>
                <a:spcPts val="700"/>
              </a:spcAft>
              <a:buFont typeface="Arial"/>
              <a:buChar char="•"/>
            </a:pPr>
            <a:r>
              <a:rPr sz="2600" b="0" i="0" dirty="0">
                <a:solidFill>
                  <a:srgbClr val="1A1A1A"/>
                </a:solidFill>
                <a:latin typeface="Calibri"/>
              </a:rPr>
              <a:t>Interpolated ‘tween’ frames can keep motion smooth even when data steps are coarse</a:t>
            </a:r>
          </a:p>
        </p:txBody>
      </p:sp>
      <p:pic>
        <p:nvPicPr>
          <p:cNvPr id="8" name="Picture 7" descr="framerate.gif"/>
          <p:cNvPicPr>
            <a:picLocks noChangeAspect="1"/>
          </p:cNvPicPr>
          <p:nvPr/>
        </p:nvPicPr>
        <p:blipFill>
          <a:blip r:embed="rId3"/>
          <a:stretch>
            <a:fillRect/>
          </a:stretch>
        </p:blipFill>
        <p:spPr>
          <a:xfrm>
            <a:off x="9854731" y="3378599"/>
            <a:ext cx="7600000" cy="4275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Card, Robertson &amp; Mackinlay, CHI 1991; general computer-graphics practice</a:t>
            </a:r>
          </a:p>
        </p:txBody>
      </p:sp>
      <p:pic>
        <p:nvPicPr>
          <p:cNvPr id="11" name="Picture 10">
            <a:extLst>
              <a:ext uri="{FF2B5EF4-FFF2-40B4-BE49-F238E27FC236}">
                <a16:creationId xmlns:a16="http://schemas.microsoft.com/office/drawing/2014/main" id="{3DDBED26-62B6-9D83-29B2-6EBB205E48CF}"/>
              </a:ext>
            </a:extLst>
          </p:cNvPr>
          <p:cNvPicPr>
            <a:picLocks noChangeAspect="1"/>
          </p:cNvPicPr>
          <p:nvPr/>
        </p:nvPicPr>
        <p:blipFill>
          <a:blip r:embed="rId4"/>
          <a:stretch>
            <a:fillRect/>
          </a:stretch>
        </p:blipFill>
        <p:spPr>
          <a:xfrm>
            <a:off x="9713178" y="1263263"/>
            <a:ext cx="6801682" cy="1436562"/>
          </a:xfrm>
          <a:prstGeom prst="rect">
            <a:avLst/>
          </a:prstGeom>
        </p:spPr>
      </p:pic>
      <p:sp>
        <p:nvSpPr>
          <p:cNvPr id="13" name="TextBox 12">
            <a:extLst>
              <a:ext uri="{FF2B5EF4-FFF2-40B4-BE49-F238E27FC236}">
                <a16:creationId xmlns:a16="http://schemas.microsoft.com/office/drawing/2014/main" id="{BB4FBB66-2F18-F4EE-3DB6-FB2F3F5FD3E7}"/>
              </a:ext>
            </a:extLst>
          </p:cNvPr>
          <p:cNvSpPr txBox="1"/>
          <p:nvPr/>
        </p:nvSpPr>
        <p:spPr>
          <a:xfrm>
            <a:off x="10439400" y="2854546"/>
            <a:ext cx="9152164" cy="369332"/>
          </a:xfrm>
          <a:prstGeom prst="rect">
            <a:avLst/>
          </a:prstGeom>
          <a:noFill/>
        </p:spPr>
        <p:txBody>
          <a:bodyPr wrap="square">
            <a:spAutoFit/>
          </a:bodyPr>
          <a:lstStyle/>
          <a:p>
            <a:r>
              <a:rPr lang="en-IN" dirty="0"/>
              <a:t>Higher FPS means less time is available to process each frame.</a:t>
            </a:r>
          </a:p>
        </p:txBody>
      </p:sp>
      <p:pic>
        <p:nvPicPr>
          <p:cNvPr id="15" name="Picture 14">
            <a:extLst>
              <a:ext uri="{FF2B5EF4-FFF2-40B4-BE49-F238E27FC236}">
                <a16:creationId xmlns:a16="http://schemas.microsoft.com/office/drawing/2014/main" id="{5CD48B13-AEFB-8D80-B7F6-0D4B2DE3AEF2}"/>
              </a:ext>
            </a:extLst>
          </p:cNvPr>
          <p:cNvPicPr>
            <a:picLocks noChangeAspect="1"/>
          </p:cNvPicPr>
          <p:nvPr/>
        </p:nvPicPr>
        <p:blipFill>
          <a:blip r:embed="rId5"/>
          <a:stretch>
            <a:fillRect/>
          </a:stretch>
        </p:blipFill>
        <p:spPr>
          <a:xfrm>
            <a:off x="10241634" y="8053701"/>
            <a:ext cx="6039470" cy="2118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Numerical 1: Frame Rate and Duration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Rounded Rectangle 6"/>
          <p:cNvSpPr/>
          <p:nvPr/>
        </p:nvSpPr>
        <p:spPr>
          <a:xfrm>
            <a:off x="681104" y="2150000"/>
            <a:ext cx="15968896" cy="2850000"/>
          </a:xfrm>
          <a:prstGeom prst="roundRect">
            <a:avLst>
              <a:gd name="adj" fmla="val 6000"/>
            </a:avLst>
          </a:prstGeom>
          <a:solidFill>
            <a:srgbClr val="FBEEE4"/>
          </a:solidFill>
          <a:ln w="19050">
            <a:solidFill>
              <a:srgbClr val="DFA26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31104" y="2300000"/>
            <a:ext cx="15468896" cy="2600000"/>
          </a:xfrm>
          <a:prstGeom prst="rect">
            <a:avLst/>
          </a:prstGeom>
          <a:noFill/>
        </p:spPr>
        <p:txBody>
          <a:bodyPr wrap="square" lIns="0" tIns="0" rIns="0" bIns="0" anchor="t">
            <a:spAutoFit/>
          </a:bodyPr>
          <a:lstStyle/>
          <a:p>
            <a:r>
              <a:rPr sz="2700" b="1" i="0" dirty="0">
                <a:solidFill>
                  <a:srgbClr val="C55A11"/>
                </a:solidFill>
                <a:latin typeface="Calibri"/>
              </a:rPr>
              <a:t>Problem</a:t>
            </a:r>
          </a:p>
          <a:p>
            <a:pPr>
              <a:spcAft>
                <a:spcPts val="300"/>
              </a:spcAft>
            </a:pPr>
            <a:r>
              <a:rPr sz="2500" b="0" i="0" dirty="0">
                <a:solidFill>
                  <a:srgbClr val="1A1A1A"/>
                </a:solidFill>
                <a:latin typeface="Calibri"/>
              </a:rPr>
              <a:t>120 monthly snapshots (10 years) are animated at 24 fps, each month held for 0.5 s.</a:t>
            </a:r>
          </a:p>
          <a:p>
            <a:pPr>
              <a:spcAft>
                <a:spcPts val="300"/>
              </a:spcAft>
            </a:pPr>
            <a:r>
              <a:rPr sz="2500" b="0" i="0" dirty="0">
                <a:solidFill>
                  <a:srgbClr val="1A1A1A"/>
                </a:solidFill>
                <a:latin typeface="Calibri"/>
              </a:rPr>
              <a:t>(a) Total duration?  (b) Total frames?  (c) Frames per month?</a:t>
            </a:r>
          </a:p>
          <a:p>
            <a:pPr>
              <a:spcAft>
                <a:spcPts val="300"/>
              </a:spcAft>
            </a:pPr>
            <a:r>
              <a:rPr sz="2500" b="0" i="0" dirty="0">
                <a:solidFill>
                  <a:srgbClr val="1A1A1A"/>
                </a:solidFill>
                <a:latin typeface="Calibri"/>
              </a:rPr>
              <a:t>(d) To show all 10 years in 30 s with 6 frames per month, what fps is needed?</a:t>
            </a:r>
          </a:p>
          <a:p>
            <a:pPr>
              <a:spcAft>
                <a:spcPts val="300"/>
              </a:spcAft>
            </a:pPr>
            <a:r>
              <a:rPr sz="2500" b="0" i="0" dirty="0">
                <a:solidFill>
                  <a:srgbClr val="1A1A1A"/>
                </a:solidFill>
                <a:latin typeface="Calibri"/>
              </a:rPr>
              <a:t>(e) Rendering 50,000 particles costs 0.4 µs each. Can we reach 60 fps?</a:t>
            </a:r>
          </a:p>
        </p:txBody>
      </p:sp>
      <p:sp>
        <p:nvSpPr>
          <p:cNvPr id="9" name="Rounded Rectangle 8"/>
          <p:cNvSpPr/>
          <p:nvPr/>
        </p:nvSpPr>
        <p:spPr>
          <a:xfrm>
            <a:off x="681104" y="5200000"/>
            <a:ext cx="15968896" cy="4400000"/>
          </a:xfrm>
          <a:prstGeom prst="roundRect">
            <a:avLst>
              <a:gd name="adj" fmla="val 6000"/>
            </a:avLst>
          </a:prstGeom>
          <a:solidFill>
            <a:srgbClr val="EAF0FA"/>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31104" y="5350000"/>
            <a:ext cx="15468896" cy="2980303"/>
          </a:xfrm>
          <a:prstGeom prst="rect">
            <a:avLst/>
          </a:prstGeom>
          <a:noFill/>
        </p:spPr>
        <p:txBody>
          <a:bodyPr wrap="square" lIns="0" tIns="0" rIns="0" bIns="0" anchor="t">
            <a:spAutoFit/>
          </a:bodyPr>
          <a:lstStyle/>
          <a:p>
            <a:r>
              <a:rPr sz="2700" b="1" i="0" dirty="0">
                <a:solidFill>
                  <a:srgbClr val="4472C4"/>
                </a:solidFill>
                <a:latin typeface="Calibri"/>
              </a:rPr>
              <a:t>Solution</a:t>
            </a:r>
          </a:p>
          <a:p>
            <a:pPr>
              <a:spcAft>
                <a:spcPts val="400"/>
              </a:spcAft>
            </a:pPr>
            <a:r>
              <a:rPr sz="2500" b="1" i="0" dirty="0">
                <a:solidFill>
                  <a:srgbClr val="1F3864"/>
                </a:solidFill>
                <a:latin typeface="Calibri"/>
              </a:rPr>
              <a:t>(a)</a:t>
            </a:r>
            <a:r>
              <a:rPr sz="2500" b="0" i="0" dirty="0">
                <a:solidFill>
                  <a:srgbClr val="1A1A1A"/>
                </a:solidFill>
                <a:latin typeface="Calibri"/>
              </a:rPr>
              <a:t> 120 × 0.5 s = 60 s</a:t>
            </a:r>
          </a:p>
          <a:p>
            <a:pPr>
              <a:spcAft>
                <a:spcPts val="400"/>
              </a:spcAft>
            </a:pPr>
            <a:r>
              <a:rPr sz="2500" b="1" i="0" dirty="0">
                <a:solidFill>
                  <a:srgbClr val="1F3864"/>
                </a:solidFill>
                <a:latin typeface="Calibri"/>
              </a:rPr>
              <a:t>(b)</a:t>
            </a:r>
            <a:r>
              <a:rPr sz="2500" b="0" i="0" dirty="0">
                <a:solidFill>
                  <a:srgbClr val="1A1A1A"/>
                </a:solidFill>
                <a:latin typeface="Calibri"/>
              </a:rPr>
              <a:t> 60 s × 24 fps = 1,440 frames</a:t>
            </a:r>
          </a:p>
          <a:p>
            <a:pPr>
              <a:spcAft>
                <a:spcPts val="400"/>
              </a:spcAft>
            </a:pPr>
            <a:r>
              <a:rPr sz="2500" b="1" i="0" dirty="0">
                <a:solidFill>
                  <a:srgbClr val="1F3864"/>
                </a:solidFill>
                <a:latin typeface="Calibri"/>
              </a:rPr>
              <a:t>(c)</a:t>
            </a:r>
            <a:r>
              <a:rPr sz="2500" b="0" i="0" dirty="0">
                <a:solidFill>
                  <a:srgbClr val="1A1A1A"/>
                </a:solidFill>
                <a:latin typeface="Calibri"/>
              </a:rPr>
              <a:t> 0.5 s × 24 fps = 12 frames per month</a:t>
            </a:r>
          </a:p>
          <a:p>
            <a:pPr>
              <a:spcAft>
                <a:spcPts val="400"/>
              </a:spcAft>
            </a:pPr>
            <a:r>
              <a:rPr sz="2500" b="1" i="0" dirty="0">
                <a:solidFill>
                  <a:srgbClr val="1F3864"/>
                </a:solidFill>
                <a:latin typeface="Calibri"/>
              </a:rPr>
              <a:t>(d)</a:t>
            </a:r>
            <a:r>
              <a:rPr sz="2500" b="0" i="0" dirty="0">
                <a:solidFill>
                  <a:srgbClr val="1A1A1A"/>
                </a:solidFill>
                <a:latin typeface="Calibri"/>
              </a:rPr>
              <a:t> 30 s / 120 = 0.25 s per month → 6 frames / 0.25 s = 24 fps</a:t>
            </a:r>
          </a:p>
          <a:p>
            <a:pPr>
              <a:spcAft>
                <a:spcPts val="400"/>
              </a:spcAft>
            </a:pPr>
            <a:r>
              <a:rPr sz="2500" b="1" i="0" dirty="0">
                <a:solidFill>
                  <a:srgbClr val="1F3864"/>
                </a:solidFill>
                <a:latin typeface="Calibri"/>
              </a:rPr>
              <a:t>(e)</a:t>
            </a:r>
            <a:r>
              <a:rPr sz="2500" b="0" i="0" dirty="0">
                <a:solidFill>
                  <a:srgbClr val="1A1A1A"/>
                </a:solidFill>
                <a:latin typeface="Calibri"/>
              </a:rPr>
              <a:t> 50,000 × 0.4 µs = 20 </a:t>
            </a:r>
            <a:r>
              <a:rPr sz="2500" b="0" i="0" dirty="0" err="1">
                <a:solidFill>
                  <a:srgbClr val="1A1A1A"/>
                </a:solidFill>
                <a:latin typeface="Calibri"/>
              </a:rPr>
              <a:t>ms</a:t>
            </a:r>
            <a:r>
              <a:rPr sz="2500" b="0" i="0" dirty="0">
                <a:solidFill>
                  <a:srgbClr val="1A1A1A"/>
                </a:solidFill>
                <a:latin typeface="Calibri"/>
              </a:rPr>
              <a:t> per frame &gt; 16.7 </a:t>
            </a:r>
            <a:r>
              <a:rPr sz="2500" b="0" i="0" dirty="0" err="1">
                <a:solidFill>
                  <a:srgbClr val="1A1A1A"/>
                </a:solidFill>
                <a:latin typeface="Calibri"/>
              </a:rPr>
              <a:t>ms</a:t>
            </a:r>
            <a:r>
              <a:rPr sz="2500" b="0" i="0" dirty="0">
                <a:solidFill>
                  <a:srgbClr val="1A1A1A"/>
                </a:solidFill>
                <a:latin typeface="Calibri"/>
              </a:rPr>
              <a:t> budget for 60 fps</a:t>
            </a:r>
          </a:p>
          <a:p>
            <a:pPr>
              <a:spcAft>
                <a:spcPts val="400"/>
              </a:spcAft>
            </a:pPr>
            <a:r>
              <a:rPr sz="2500" b="0" i="0" dirty="0">
                <a:solidFill>
                  <a:srgbClr val="1A1A1A"/>
                </a:solidFill>
                <a:latin typeface="Calibri"/>
              </a:rPr>
              <a:t>       → max ≈ 1000 / 20 = 50 fps; reduce particles  for 60 fps</a:t>
            </a:r>
          </a:p>
        </p:txBody>
      </p:sp>
      <p:sp>
        <p:nvSpPr>
          <p:cNvPr id="11" name="TextBox 10"/>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Worked example based on frame-budget concepts (Card et al. 1991)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Temporal Sampling</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48447" y="1843480"/>
            <a:ext cx="9605896" cy="6287555"/>
          </a:xfrm>
          <a:prstGeom prst="rect">
            <a:avLst/>
          </a:prstGeom>
          <a:noFill/>
        </p:spPr>
        <p:txBody>
          <a:bodyPr wrap="square" lIns="0" tIns="0" rIns="0" bIns="0" anchor="t">
            <a:spAutoFit/>
          </a:bodyPr>
          <a:lstStyle/>
          <a:p>
            <a:pPr>
              <a:lnSpc>
                <a:spcPct val="105000"/>
              </a:lnSpc>
              <a:spcAft>
                <a:spcPts val="700"/>
              </a:spcAft>
              <a:buNone/>
            </a:pPr>
            <a:r>
              <a:rPr sz="2400" b="0" i="0" dirty="0">
                <a:solidFill>
                  <a:srgbClr val="1A1A1A"/>
                </a:solidFill>
                <a:latin typeface="Calibri"/>
              </a:rPr>
              <a:t>Temporal sampling = </a:t>
            </a:r>
            <a:r>
              <a:rPr sz="2400" b="1" i="0" dirty="0">
                <a:solidFill>
                  <a:srgbClr val="1A1A1A"/>
                </a:solidFill>
                <a:latin typeface="Calibri"/>
              </a:rPr>
              <a:t>choosing at which instants time-varying data is measured or displayed</a:t>
            </a:r>
            <a:r>
              <a:rPr sz="2400" b="0" i="0" dirty="0">
                <a:solidFill>
                  <a:srgbClr val="1A1A1A"/>
                </a:solidFill>
                <a:latin typeface="Calibri"/>
              </a:rPr>
              <a:t>.</a:t>
            </a:r>
          </a:p>
          <a:p>
            <a:pPr marL="420000" indent="-340000">
              <a:lnSpc>
                <a:spcPct val="105000"/>
              </a:lnSpc>
              <a:spcAft>
                <a:spcPts val="700"/>
              </a:spcAft>
              <a:buFont typeface="Arial"/>
              <a:buChar char="•"/>
            </a:pPr>
            <a:r>
              <a:rPr sz="2400" b="0" i="0" dirty="0">
                <a:solidFill>
                  <a:srgbClr val="1A1A1A"/>
                </a:solidFill>
                <a:latin typeface="Calibri"/>
              </a:rPr>
              <a:t>Sampling interval </a:t>
            </a:r>
            <a:r>
              <a:rPr sz="2400" b="0" i="0" dirty="0" err="1">
                <a:solidFill>
                  <a:srgbClr val="1A1A1A"/>
                </a:solidFill>
                <a:latin typeface="Calibri"/>
              </a:rPr>
              <a:t>Δt</a:t>
            </a:r>
            <a:r>
              <a:rPr sz="2400" b="0" i="0" dirty="0">
                <a:solidFill>
                  <a:srgbClr val="1A1A1A"/>
                </a:solidFill>
                <a:latin typeface="Calibri"/>
              </a:rPr>
              <a:t>; sampling rate fs = 1/</a:t>
            </a:r>
            <a:r>
              <a:rPr sz="2400" b="0" i="0" dirty="0" err="1">
                <a:solidFill>
                  <a:srgbClr val="1A1A1A"/>
                </a:solidFill>
                <a:latin typeface="Calibri"/>
              </a:rPr>
              <a:t>Δt</a:t>
            </a:r>
            <a:endParaRPr sz="2400" b="0" i="0" dirty="0">
              <a:solidFill>
                <a:srgbClr val="1A1A1A"/>
              </a:solidFill>
              <a:latin typeface="Calibri"/>
            </a:endParaRPr>
          </a:p>
          <a:p>
            <a:pPr lvl="0"/>
            <a:r>
              <a:rPr sz="2400" b="1" i="0" dirty="0">
                <a:solidFill>
                  <a:srgbClr val="1A1A1A"/>
                </a:solidFill>
                <a:latin typeface="Calibri"/>
              </a:rPr>
              <a:t>Nyquist–Shannon:</a:t>
            </a:r>
            <a:r>
              <a:rPr sz="2400" b="0" i="0" dirty="0">
                <a:solidFill>
                  <a:srgbClr val="1A1A1A"/>
                </a:solidFill>
                <a:latin typeface="Calibri"/>
              </a:rPr>
              <a:t> to capture a cycle of frequency f, sample at f</a:t>
            </a:r>
            <a:r>
              <a:rPr sz="2400" b="0" i="0" baseline="-25000" dirty="0">
                <a:solidFill>
                  <a:srgbClr val="1A1A1A"/>
                </a:solidFill>
                <a:latin typeface="Calibri"/>
              </a:rPr>
              <a:t>s</a:t>
            </a:r>
            <a:r>
              <a:rPr sz="2400" b="0" i="0" dirty="0">
                <a:solidFill>
                  <a:srgbClr val="1A1A1A"/>
                </a:solidFill>
                <a:latin typeface="Calibri"/>
              </a:rPr>
              <a:t> &gt; 2f</a:t>
            </a:r>
            <a:r>
              <a:rPr lang="en-US" sz="2400" b="0" i="0" dirty="0">
                <a:solidFill>
                  <a:srgbClr val="1A1A1A"/>
                </a:solidFill>
                <a:latin typeface="Calibri"/>
              </a:rPr>
              <a:t> </a:t>
            </a:r>
          </a:p>
          <a:p>
            <a:pPr lvl="0"/>
            <a:r>
              <a:rPr lang="en-US" sz="2400" dirty="0">
                <a:solidFill>
                  <a:srgbClr val="1A1A1A"/>
                </a:solidFill>
                <a:latin typeface="Calibri"/>
              </a:rPr>
              <a:t>fs</a:t>
            </a:r>
            <a:r>
              <a:rPr lang="en-US" sz="2400" b="0" i="0" dirty="0">
                <a:solidFill>
                  <a:srgbClr val="1A1A1A"/>
                </a:solidFill>
                <a:latin typeface="Calibri"/>
              </a:rPr>
              <a:t> </a:t>
            </a:r>
            <a:r>
              <a:rPr lang="en-IN" sz="2400" dirty="0"/>
              <a:t> = sampling rate</a:t>
            </a:r>
          </a:p>
          <a:p>
            <a:pPr lvl="0"/>
            <a:r>
              <a:rPr lang="en-IN" sz="2400" dirty="0"/>
              <a:t>f = highest frequency present in the signal</a:t>
            </a:r>
          </a:p>
          <a:p>
            <a:pPr marL="420000" indent="-340000">
              <a:lnSpc>
                <a:spcPct val="100000"/>
              </a:lnSpc>
              <a:spcAft>
                <a:spcPts val="700"/>
              </a:spcAft>
              <a:buFont typeface="Arial"/>
              <a:buChar char="•"/>
            </a:pPr>
            <a:r>
              <a:rPr sz="2400" b="1" i="0" dirty="0">
                <a:solidFill>
                  <a:srgbClr val="1A1A1A"/>
                </a:solidFill>
                <a:latin typeface="Calibri"/>
              </a:rPr>
              <a:t>Under-sampling causes aliasing:</a:t>
            </a:r>
            <a:r>
              <a:rPr sz="2400" b="0" i="0" dirty="0">
                <a:solidFill>
                  <a:srgbClr val="1A1A1A"/>
                </a:solidFill>
                <a:latin typeface="Calibri"/>
              </a:rPr>
              <a:t> fast changes appear as slow, false patterns (e.g. ‘wagon-wheel’ effect</a:t>
            </a:r>
            <a:r>
              <a:rPr sz="2400" b="1" i="0" dirty="0">
                <a:solidFill>
                  <a:srgbClr val="1A1A1A"/>
                </a:solidFill>
                <a:latin typeface="Calibri"/>
              </a:rPr>
              <a:t>)</a:t>
            </a:r>
            <a:r>
              <a:rPr lang="en-US" sz="2400" b="1" i="0" dirty="0">
                <a:solidFill>
                  <a:srgbClr val="1A1A1A"/>
                </a:solidFill>
                <a:latin typeface="Calibri"/>
              </a:rPr>
              <a:t> </a:t>
            </a:r>
            <a:r>
              <a:rPr lang="en-IN" sz="2400" b="1" dirty="0"/>
              <a:t>Aliasing occurs when we take samples too slowly to capture how something is actually changing. As a result, the data may show a false pattern.</a:t>
            </a:r>
            <a:endParaRPr sz="2400" b="1" i="0" dirty="0">
              <a:solidFill>
                <a:srgbClr val="1A1A1A"/>
              </a:solidFill>
              <a:latin typeface="Calibri"/>
            </a:endParaRPr>
          </a:p>
          <a:p>
            <a:pPr marL="420000" indent="-340000">
              <a:lnSpc>
                <a:spcPct val="105000"/>
              </a:lnSpc>
              <a:spcAft>
                <a:spcPts val="700"/>
              </a:spcAft>
              <a:buFont typeface="Arial"/>
              <a:buChar char="•"/>
            </a:pPr>
            <a:r>
              <a:rPr sz="2400" b="1" i="0" dirty="0">
                <a:solidFill>
                  <a:srgbClr val="1A1A1A"/>
                </a:solidFill>
                <a:latin typeface="Calibri"/>
              </a:rPr>
              <a:t>Uniform vs irregular sampling</a:t>
            </a:r>
            <a:r>
              <a:rPr sz="2400" b="0" i="0" dirty="0">
                <a:solidFill>
                  <a:srgbClr val="1A1A1A"/>
                </a:solidFill>
                <a:latin typeface="Calibri"/>
              </a:rPr>
              <a:t> – </a:t>
            </a:r>
            <a:r>
              <a:rPr sz="2400" b="0" i="0" dirty="0" err="1">
                <a:solidFill>
                  <a:srgbClr val="1A1A1A"/>
                </a:solidFill>
                <a:latin typeface="Calibri"/>
              </a:rPr>
              <a:t>Munzner</a:t>
            </a:r>
            <a:r>
              <a:rPr sz="2400" b="0" i="0" dirty="0">
                <a:solidFill>
                  <a:srgbClr val="1A1A1A"/>
                </a:solidFill>
                <a:latin typeface="Calibri"/>
              </a:rPr>
              <a:t> notes time–value pairs are often, but not always, uniformly spaced</a:t>
            </a:r>
          </a:p>
          <a:p>
            <a:pPr>
              <a:lnSpc>
                <a:spcPct val="105000"/>
              </a:lnSpc>
              <a:spcBef>
                <a:spcPts val="600"/>
              </a:spcBef>
              <a:spcAft>
                <a:spcPts val="700"/>
              </a:spcAft>
              <a:buNone/>
            </a:pPr>
            <a:r>
              <a:rPr sz="2400" b="1" i="0" dirty="0">
                <a:solidFill>
                  <a:srgbClr val="1F3864"/>
                </a:solidFill>
                <a:latin typeface="Calibri"/>
              </a:rPr>
              <a:t>For animation</a:t>
            </a:r>
          </a:p>
          <a:p>
            <a:pPr marL="420000" indent="-340000">
              <a:lnSpc>
                <a:spcPct val="105000"/>
              </a:lnSpc>
              <a:spcAft>
                <a:spcPts val="700"/>
              </a:spcAft>
              <a:buFont typeface="Arial"/>
              <a:buChar char="•"/>
            </a:pPr>
            <a:r>
              <a:rPr sz="2400" b="0" i="0" dirty="0">
                <a:solidFill>
                  <a:srgbClr val="1A1A1A"/>
                </a:solidFill>
                <a:latin typeface="Calibri"/>
              </a:rPr>
              <a:t>Choose which data steps become keyframes; interpolate between them</a:t>
            </a:r>
          </a:p>
          <a:p>
            <a:pPr marL="420000" indent="-340000">
              <a:lnSpc>
                <a:spcPct val="105000"/>
              </a:lnSpc>
              <a:spcAft>
                <a:spcPts val="700"/>
              </a:spcAft>
              <a:buFont typeface="Arial"/>
              <a:buChar char="•"/>
            </a:pPr>
            <a:r>
              <a:rPr sz="2400" b="0" i="0" dirty="0">
                <a:solidFill>
                  <a:srgbClr val="1A1A1A"/>
                </a:solidFill>
                <a:latin typeface="Calibri"/>
              </a:rPr>
              <a:t>Keyframes should be meaningful chunks, not random samples (</a:t>
            </a:r>
            <a:r>
              <a:rPr sz="2400" b="0" i="0" dirty="0" err="1">
                <a:solidFill>
                  <a:srgbClr val="1A1A1A"/>
                </a:solidFill>
                <a:latin typeface="Calibri"/>
              </a:rPr>
              <a:t>Munzner</a:t>
            </a:r>
            <a:r>
              <a:rPr sz="2400" b="0" i="0" dirty="0">
                <a:solidFill>
                  <a:srgbClr val="1A1A1A"/>
                </a:solidFill>
                <a:latin typeface="Calibri"/>
              </a:rPr>
              <a:t>)</a:t>
            </a:r>
          </a:p>
        </p:txBody>
      </p:sp>
      <p:pic>
        <p:nvPicPr>
          <p:cNvPr id="8" name="Picture 7" descr="aliasing.png"/>
          <p:cNvPicPr>
            <a:picLocks noChangeAspect="1"/>
          </p:cNvPicPr>
          <p:nvPr/>
        </p:nvPicPr>
        <p:blipFill>
          <a:blip r:embed="rId3"/>
          <a:stretch>
            <a:fillRect/>
          </a:stretch>
        </p:blipFill>
        <p:spPr>
          <a:xfrm>
            <a:off x="10595530" y="2045463"/>
            <a:ext cx="6034063" cy="4412305"/>
          </a:xfrm>
          <a:prstGeom prst="rect">
            <a:avLst/>
          </a:prstGeom>
          <a:ln w="12700">
            <a:solidFill>
              <a:srgbClr val="D9D9D9"/>
            </a:solidFill>
          </a:ln>
        </p:spPr>
      </p:pic>
      <p:sp>
        <p:nvSpPr>
          <p:cNvPr id="11" name="TextBox 10">
            <a:extLst>
              <a:ext uri="{FF2B5EF4-FFF2-40B4-BE49-F238E27FC236}">
                <a16:creationId xmlns:a16="http://schemas.microsoft.com/office/drawing/2014/main" id="{8AE8A812-6F78-5E00-803C-615AB5D7DC76}"/>
              </a:ext>
            </a:extLst>
          </p:cNvPr>
          <p:cNvSpPr txBox="1"/>
          <p:nvPr/>
        </p:nvSpPr>
        <p:spPr>
          <a:xfrm>
            <a:off x="6400800" y="845134"/>
            <a:ext cx="9152164" cy="1200329"/>
          </a:xfrm>
          <a:prstGeom prst="rect">
            <a:avLst/>
          </a:prstGeom>
          <a:noFill/>
        </p:spPr>
        <p:txBody>
          <a:bodyPr wrap="square">
            <a:spAutoFit/>
          </a:bodyPr>
          <a:lstStyle/>
          <a:p>
            <a:pPr algn="just">
              <a:buNone/>
            </a:pPr>
            <a:r>
              <a:rPr lang="en-IN" b="1" dirty="0"/>
              <a:t>Temporal sampling means deciding when to collect or display data over time. It is important in data visualization because we cannot always measure or display every instant.</a:t>
            </a:r>
          </a:p>
          <a:p>
            <a:pPr algn="just">
              <a:buNone/>
            </a:pPr>
            <a:r>
              <a:rPr lang="en-IN" b="1" dirty="0"/>
              <a:t>Think of it like taking photographs: do you take one photo every second, every minute, or every hour?</a:t>
            </a:r>
          </a:p>
        </p:txBody>
      </p:sp>
      <p:pic>
        <p:nvPicPr>
          <p:cNvPr id="13" name="Picture 12">
            <a:extLst>
              <a:ext uri="{FF2B5EF4-FFF2-40B4-BE49-F238E27FC236}">
                <a16:creationId xmlns:a16="http://schemas.microsoft.com/office/drawing/2014/main" id="{3B8CA35B-EC3F-73D8-8ED1-7FC528EF7010}"/>
              </a:ext>
            </a:extLst>
          </p:cNvPr>
          <p:cNvPicPr>
            <a:picLocks noChangeAspect="1"/>
          </p:cNvPicPr>
          <p:nvPr/>
        </p:nvPicPr>
        <p:blipFill>
          <a:blip r:embed="rId4"/>
          <a:stretch>
            <a:fillRect/>
          </a:stretch>
        </p:blipFill>
        <p:spPr>
          <a:xfrm>
            <a:off x="10595530" y="6306315"/>
            <a:ext cx="7011366" cy="2004673"/>
          </a:xfrm>
          <a:prstGeom prst="rect">
            <a:avLst/>
          </a:prstGeom>
        </p:spPr>
      </p:pic>
      <p:sp>
        <p:nvSpPr>
          <p:cNvPr id="15" name="TextBox 14">
            <a:extLst>
              <a:ext uri="{FF2B5EF4-FFF2-40B4-BE49-F238E27FC236}">
                <a16:creationId xmlns:a16="http://schemas.microsoft.com/office/drawing/2014/main" id="{AC97AD9C-03D3-C283-0081-B8A36D910521}"/>
              </a:ext>
            </a:extLst>
          </p:cNvPr>
          <p:cNvSpPr txBox="1"/>
          <p:nvPr/>
        </p:nvSpPr>
        <p:spPr>
          <a:xfrm>
            <a:off x="10439400" y="8551193"/>
            <a:ext cx="9152164" cy="1323439"/>
          </a:xfrm>
          <a:prstGeom prst="rect">
            <a:avLst/>
          </a:prstGeom>
          <a:noFill/>
        </p:spPr>
        <p:txBody>
          <a:bodyPr wrap="square">
            <a:spAutoFit/>
          </a:bodyPr>
          <a:lstStyle/>
          <a:p>
            <a:pPr>
              <a:buNone/>
            </a:pPr>
            <a:r>
              <a:rPr lang="en-IN" sz="2000" b="1" dirty="0"/>
              <a:t>Suppose a rotating wheel completes 5 rotations per second.</a:t>
            </a:r>
          </a:p>
          <a:p>
            <a:pPr>
              <a:buNone/>
            </a:pPr>
            <a:r>
              <a:rPr lang="en-IN" sz="2000" b="1" dirty="0"/>
              <a:t>To capture its motion without aliasing, </a:t>
            </a:r>
          </a:p>
          <a:p>
            <a:pPr>
              <a:buNone/>
            </a:pPr>
            <a:r>
              <a:rPr lang="en-IN" sz="2000" b="1" dirty="0"/>
              <a:t>the sampling rate must be greater than:</a:t>
            </a:r>
          </a:p>
          <a:p>
            <a:pPr>
              <a:buNone/>
            </a:pPr>
            <a:r>
              <a:rPr lang="en-IN" sz="2000" b="1" dirty="0" err="1"/>
              <a:t>f_s</a:t>
            </a:r>
            <a:r>
              <a:rPr lang="en-IN" sz="2000" b="1" dirty="0"/>
              <a:t>&gt;2(5)=10samples/second</a:t>
            </a:r>
          </a:p>
        </p:txBody>
      </p:sp>
      <p:pic>
        <p:nvPicPr>
          <p:cNvPr id="17" name="Picture 16">
            <a:extLst>
              <a:ext uri="{FF2B5EF4-FFF2-40B4-BE49-F238E27FC236}">
                <a16:creationId xmlns:a16="http://schemas.microsoft.com/office/drawing/2014/main" id="{A2B56CCC-5000-FE06-50F7-0940F336DDD2}"/>
              </a:ext>
            </a:extLst>
          </p:cNvPr>
          <p:cNvPicPr>
            <a:picLocks noChangeAspect="1"/>
          </p:cNvPicPr>
          <p:nvPr/>
        </p:nvPicPr>
        <p:blipFill>
          <a:blip r:embed="rId5"/>
          <a:stretch>
            <a:fillRect/>
          </a:stretch>
        </p:blipFill>
        <p:spPr>
          <a:xfrm>
            <a:off x="653890" y="8205030"/>
            <a:ext cx="9152164" cy="20046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Numerical 2: Sampling and Aliasing</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Rounded Rectangle 6"/>
          <p:cNvSpPr/>
          <p:nvPr/>
        </p:nvSpPr>
        <p:spPr>
          <a:xfrm>
            <a:off x="681104" y="2150000"/>
            <a:ext cx="15968896" cy="2850000"/>
          </a:xfrm>
          <a:prstGeom prst="roundRect">
            <a:avLst>
              <a:gd name="adj" fmla="val 6000"/>
            </a:avLst>
          </a:prstGeom>
          <a:solidFill>
            <a:srgbClr val="FBEEE4"/>
          </a:solidFill>
          <a:ln w="19050">
            <a:solidFill>
              <a:srgbClr val="DFA26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31104" y="2300000"/>
            <a:ext cx="15468896" cy="2600000"/>
          </a:xfrm>
          <a:prstGeom prst="rect">
            <a:avLst/>
          </a:prstGeom>
          <a:noFill/>
        </p:spPr>
        <p:txBody>
          <a:bodyPr wrap="square" lIns="0" tIns="0" rIns="0" bIns="0" anchor="t">
            <a:spAutoFit/>
          </a:bodyPr>
          <a:lstStyle/>
          <a:p>
            <a:r>
              <a:rPr sz="2700" b="1" i="0" dirty="0">
                <a:solidFill>
                  <a:srgbClr val="C55A11"/>
                </a:solidFill>
                <a:latin typeface="Calibri"/>
              </a:rPr>
              <a:t>Problem</a:t>
            </a:r>
          </a:p>
          <a:p>
            <a:pPr>
              <a:spcAft>
                <a:spcPts val="300"/>
              </a:spcAft>
            </a:pPr>
            <a:r>
              <a:rPr sz="2500" b="0" i="0" dirty="0">
                <a:solidFill>
                  <a:srgbClr val="1A1A1A"/>
                </a:solidFill>
                <a:latin typeface="Calibri"/>
              </a:rPr>
              <a:t>A traffic-sensor signal has its fastest meaningful cycle every 15 minutes.</a:t>
            </a:r>
          </a:p>
          <a:p>
            <a:pPr>
              <a:spcAft>
                <a:spcPts val="300"/>
              </a:spcAft>
            </a:pPr>
            <a:r>
              <a:rPr sz="2500" b="0" i="0" dirty="0">
                <a:solidFill>
                  <a:srgbClr val="1A1A1A"/>
                </a:solidFill>
                <a:latin typeface="Calibri"/>
              </a:rPr>
              <a:t>(a) What is the minimum sampling rate and the maximum sampling interval?</a:t>
            </a:r>
          </a:p>
          <a:p>
            <a:pPr>
              <a:spcAft>
                <a:spcPts val="300"/>
              </a:spcAft>
            </a:pPr>
            <a:r>
              <a:rPr sz="2500" b="0" i="0" dirty="0">
                <a:solidFill>
                  <a:srgbClr val="1A1A1A"/>
                </a:solidFill>
                <a:latin typeface="Calibri"/>
              </a:rPr>
              <a:t>(b) A 50-minute cycle is sampled once per hour. What (aliased) period is seen?</a:t>
            </a:r>
          </a:p>
          <a:p>
            <a:pPr>
              <a:spcAft>
                <a:spcPts val="300"/>
              </a:spcAft>
            </a:pPr>
            <a:r>
              <a:rPr sz="2500" b="0" i="0" dirty="0">
                <a:solidFill>
                  <a:srgbClr val="1A1A1A"/>
                </a:solidFill>
                <a:latin typeface="Calibri"/>
              </a:rPr>
              <a:t>(c) 24 h of this data is replayed as a 12 s animation. What is the time compression?</a:t>
            </a:r>
          </a:p>
        </p:txBody>
      </p:sp>
      <p:sp>
        <p:nvSpPr>
          <p:cNvPr id="9" name="Rounded Rectangle 8"/>
          <p:cNvSpPr/>
          <p:nvPr/>
        </p:nvSpPr>
        <p:spPr>
          <a:xfrm>
            <a:off x="681104" y="5200000"/>
            <a:ext cx="15968896" cy="4400000"/>
          </a:xfrm>
          <a:prstGeom prst="roundRect">
            <a:avLst>
              <a:gd name="adj" fmla="val 6000"/>
            </a:avLst>
          </a:prstGeom>
          <a:solidFill>
            <a:srgbClr val="EAF0FA"/>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IN"/>
          </a:p>
        </p:txBody>
      </p:sp>
      <p:sp>
        <p:nvSpPr>
          <p:cNvPr id="10" name="TextBox 9"/>
          <p:cNvSpPr txBox="1"/>
          <p:nvPr/>
        </p:nvSpPr>
        <p:spPr>
          <a:xfrm>
            <a:off x="931104" y="5350000"/>
            <a:ext cx="15468896" cy="4278094"/>
          </a:xfrm>
          <a:prstGeom prst="rect">
            <a:avLst/>
          </a:prstGeom>
          <a:noFill/>
        </p:spPr>
        <p:txBody>
          <a:bodyPr wrap="square" lIns="0" tIns="0" rIns="0" bIns="0" anchor="t">
            <a:spAutoFit/>
          </a:bodyPr>
          <a:lstStyle/>
          <a:p>
            <a:r>
              <a:rPr sz="2700" b="1" i="0" dirty="0">
                <a:solidFill>
                  <a:srgbClr val="4472C4"/>
                </a:solidFill>
                <a:latin typeface="Calibri"/>
              </a:rPr>
              <a:t>Solution</a:t>
            </a:r>
          </a:p>
          <a:p>
            <a:pPr>
              <a:spcAft>
                <a:spcPts val="400"/>
              </a:spcAft>
            </a:pPr>
            <a:r>
              <a:rPr sz="2500" b="1" i="0" dirty="0">
                <a:solidFill>
                  <a:srgbClr val="1F3864"/>
                </a:solidFill>
                <a:latin typeface="Calibri"/>
              </a:rPr>
              <a:t>(a)</a:t>
            </a:r>
            <a:r>
              <a:rPr sz="2500" b="0" i="0" dirty="0">
                <a:solidFill>
                  <a:srgbClr val="1A1A1A"/>
                </a:solidFill>
                <a:latin typeface="Calibri"/>
              </a:rPr>
              <a:t> </a:t>
            </a:r>
            <a:r>
              <a:rPr sz="2500" b="0" i="0" dirty="0" err="1">
                <a:solidFill>
                  <a:srgbClr val="1A1A1A"/>
                </a:solidFill>
                <a:latin typeface="Calibri"/>
              </a:rPr>
              <a:t>f_max</a:t>
            </a:r>
            <a:r>
              <a:rPr sz="2500" b="0" i="0" dirty="0">
                <a:solidFill>
                  <a:srgbClr val="1A1A1A"/>
                </a:solidFill>
                <a:latin typeface="Calibri"/>
              </a:rPr>
              <a:t> = 1 / </a:t>
            </a:r>
            <a:r>
              <a:rPr lang="en-US" sz="2500" dirty="0">
                <a:solidFill>
                  <a:srgbClr val="1A1A1A"/>
                </a:solidFill>
                <a:latin typeface="Calibri"/>
              </a:rPr>
              <a:t>0.25</a:t>
            </a:r>
            <a:r>
              <a:rPr sz="2500" b="0" i="0" dirty="0">
                <a:solidFill>
                  <a:srgbClr val="1A1A1A"/>
                </a:solidFill>
                <a:latin typeface="Calibri"/>
              </a:rPr>
              <a:t>  = 4 cycles/hour</a:t>
            </a:r>
          </a:p>
          <a:p>
            <a:pPr>
              <a:spcAft>
                <a:spcPts val="400"/>
              </a:spcAft>
            </a:pPr>
            <a:r>
              <a:rPr sz="2500" b="0" i="0" dirty="0">
                <a:solidFill>
                  <a:srgbClr val="1A1A1A"/>
                </a:solidFill>
                <a:latin typeface="Calibri"/>
              </a:rPr>
              <a:t>       Nyquist: fs &gt; 2 × 4 = 8 samples/hour</a:t>
            </a:r>
          </a:p>
          <a:p>
            <a:pPr>
              <a:spcAft>
                <a:spcPts val="400"/>
              </a:spcAft>
            </a:pPr>
            <a:r>
              <a:rPr sz="2500" b="1" i="0" dirty="0">
                <a:solidFill>
                  <a:srgbClr val="1F3864"/>
                </a:solidFill>
                <a:latin typeface="Calibri"/>
              </a:rPr>
              <a:t>(b)</a:t>
            </a:r>
            <a:r>
              <a:rPr sz="2500" b="0" i="0" dirty="0">
                <a:solidFill>
                  <a:srgbClr val="1A1A1A"/>
                </a:solidFill>
                <a:latin typeface="Calibri"/>
              </a:rPr>
              <a:t> f = 60/50 = 1.2 cycles/h;  fs = 1 per h</a:t>
            </a:r>
          </a:p>
          <a:p>
            <a:pPr>
              <a:spcAft>
                <a:spcPts val="400"/>
              </a:spcAft>
            </a:pPr>
            <a:r>
              <a:rPr sz="2500" b="0" i="0" dirty="0">
                <a:solidFill>
                  <a:srgbClr val="1A1A1A"/>
                </a:solidFill>
                <a:latin typeface="Calibri"/>
              </a:rPr>
              <a:t>       aliased f = |1.2 − 1| = 0.2 cycles/h → appears as a 5-hour cycle (false!)</a:t>
            </a:r>
          </a:p>
          <a:p>
            <a:pPr>
              <a:spcAft>
                <a:spcPts val="400"/>
              </a:spcAft>
            </a:pPr>
            <a:r>
              <a:rPr sz="2500" b="1" i="0" dirty="0">
                <a:solidFill>
                  <a:srgbClr val="1F3864"/>
                </a:solidFill>
                <a:latin typeface="Calibri"/>
              </a:rPr>
              <a:t>(c)</a:t>
            </a:r>
            <a:r>
              <a:rPr sz="2500" b="0" i="0" dirty="0">
                <a:solidFill>
                  <a:srgbClr val="1A1A1A"/>
                </a:solidFill>
                <a:latin typeface="Calibri"/>
              </a:rPr>
              <a:t> 24 h = 86,400 s shown in 12 s → 7,200 : 1</a:t>
            </a:r>
          </a:p>
          <a:p>
            <a:pPr>
              <a:spcAft>
                <a:spcPts val="400"/>
              </a:spcAft>
            </a:pPr>
            <a:r>
              <a:rPr sz="2500" b="0" i="0" dirty="0">
                <a:solidFill>
                  <a:srgbClr val="1A1A1A"/>
                </a:solidFill>
                <a:latin typeface="Calibri"/>
              </a:rPr>
              <a:t>       i.e. 1 s of animation = 2 hours of data</a:t>
            </a:r>
            <a:endParaRPr lang="en-US" sz="2500" b="0" i="0" dirty="0">
              <a:solidFill>
                <a:srgbClr val="1A1A1A"/>
              </a:solidFill>
              <a:latin typeface="Calibri"/>
            </a:endParaRPr>
          </a:p>
          <a:p>
            <a:pPr lvl="0"/>
            <a:r>
              <a:rPr lang="en-IN" sz="2800" dirty="0"/>
              <a:t>(f) = Actual signal frequency: How fast the real-world signal repeats.</a:t>
            </a:r>
          </a:p>
          <a:p>
            <a:pPr lvl="0"/>
            <a:r>
              <a:rPr lang="en-IN" sz="2800" dirty="0"/>
              <a:t>(</a:t>
            </a:r>
            <a:r>
              <a:rPr lang="en-IN" sz="2800" dirty="0" err="1"/>
              <a:t>f_s</a:t>
            </a:r>
            <a:r>
              <a:rPr lang="en-IN" sz="2800" dirty="0"/>
              <a:t>) = Sampling frequency (sampling rate): How many times per second or minute we measure that signal.</a:t>
            </a:r>
          </a:p>
          <a:p>
            <a:pPr>
              <a:spcAft>
                <a:spcPts val="400"/>
              </a:spcAft>
            </a:pPr>
            <a:endParaRPr sz="2500" b="0" i="0" dirty="0">
              <a:solidFill>
                <a:srgbClr val="1A1A1A"/>
              </a:solidFill>
              <a:latin typeface="Calibri"/>
            </a:endParaRPr>
          </a:p>
        </p:txBody>
      </p:sp>
      <p:sp>
        <p:nvSpPr>
          <p:cNvPr id="11" name="TextBox 10"/>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Worked example applying the Nyquist–Shannon theorem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417563-5348-91E3-0F03-99CC26F3A1C7}"/>
              </a:ext>
            </a:extLst>
          </p:cNvPr>
          <p:cNvSpPr txBox="1"/>
          <p:nvPr/>
        </p:nvSpPr>
        <p:spPr>
          <a:xfrm>
            <a:off x="838200" y="1104900"/>
            <a:ext cx="9144000" cy="2246769"/>
          </a:xfrm>
          <a:prstGeom prst="rect">
            <a:avLst/>
          </a:prstGeom>
          <a:noFill/>
        </p:spPr>
        <p:txBody>
          <a:bodyPr wrap="square">
            <a:spAutoFit/>
          </a:bodyPr>
          <a:lstStyle/>
          <a:p>
            <a:pPr>
              <a:buNone/>
            </a:pPr>
            <a:r>
              <a:rPr lang="en-IN" sz="2800" b="1" dirty="0"/>
              <a:t>a) Sampling rate and sampling interval</a:t>
            </a:r>
          </a:p>
          <a:p>
            <a:pPr>
              <a:buNone/>
            </a:pPr>
            <a:r>
              <a:rPr lang="en-IN" sz="2800" dirty="0"/>
              <a:t>The traffic signal has a cycle every 15 minutes.</a:t>
            </a:r>
          </a:p>
          <a:p>
            <a:pPr>
              <a:buNone/>
            </a:pPr>
            <a:r>
              <a:rPr lang="en-IN" sz="2800" dirty="0"/>
              <a:t>We calculated:</a:t>
            </a:r>
          </a:p>
          <a:p>
            <a:pPr marL="342900" lvl="0" indent="-342900">
              <a:buFont typeface="Arial" panose="020B0604020202020204" pitchFamily="34" charset="0"/>
              <a:buChar char="•"/>
            </a:pPr>
            <a:r>
              <a:rPr lang="en-IN" sz="2800" dirty="0"/>
              <a:t>Sampling rate: greater than 8 samples/hour</a:t>
            </a:r>
          </a:p>
          <a:p>
            <a:pPr marL="342900" lvl="0" indent="-342900">
              <a:buFont typeface="Arial" panose="020B0604020202020204" pitchFamily="34" charset="0"/>
              <a:buChar char="•"/>
            </a:pPr>
            <a:r>
              <a:rPr lang="en-IN" sz="2800" dirty="0"/>
              <a:t>Sampling interval: less than 7.5 minutes</a:t>
            </a:r>
          </a:p>
        </p:txBody>
      </p:sp>
      <p:pic>
        <p:nvPicPr>
          <p:cNvPr id="5" name="Picture 4">
            <a:extLst>
              <a:ext uri="{FF2B5EF4-FFF2-40B4-BE49-F238E27FC236}">
                <a16:creationId xmlns:a16="http://schemas.microsoft.com/office/drawing/2014/main" id="{69EDF584-8AF6-A9B8-B6CD-B78DBB6FC34F}"/>
              </a:ext>
            </a:extLst>
          </p:cNvPr>
          <p:cNvPicPr>
            <a:picLocks noChangeAspect="1"/>
          </p:cNvPicPr>
          <p:nvPr/>
        </p:nvPicPr>
        <p:blipFill>
          <a:blip r:embed="rId2"/>
          <a:stretch>
            <a:fillRect/>
          </a:stretch>
        </p:blipFill>
        <p:spPr>
          <a:xfrm>
            <a:off x="666088" y="3412432"/>
            <a:ext cx="4744112" cy="1714739"/>
          </a:xfrm>
          <a:prstGeom prst="rect">
            <a:avLst/>
          </a:prstGeom>
        </p:spPr>
      </p:pic>
      <p:sp>
        <p:nvSpPr>
          <p:cNvPr id="7" name="TextBox 6">
            <a:extLst>
              <a:ext uri="{FF2B5EF4-FFF2-40B4-BE49-F238E27FC236}">
                <a16:creationId xmlns:a16="http://schemas.microsoft.com/office/drawing/2014/main" id="{2B4B9D59-75FC-2A43-498E-1F3939F65E76}"/>
              </a:ext>
            </a:extLst>
          </p:cNvPr>
          <p:cNvSpPr txBox="1"/>
          <p:nvPr/>
        </p:nvSpPr>
        <p:spPr>
          <a:xfrm>
            <a:off x="666088" y="5644290"/>
            <a:ext cx="9144000" cy="4401205"/>
          </a:xfrm>
          <a:prstGeom prst="rect">
            <a:avLst/>
          </a:prstGeom>
          <a:noFill/>
        </p:spPr>
        <p:txBody>
          <a:bodyPr wrap="square">
            <a:spAutoFit/>
          </a:bodyPr>
          <a:lstStyle/>
          <a:p>
            <a:pPr marL="342900" lvl="0" indent="-342900">
              <a:buFont typeface="Arial" panose="020B0604020202020204" pitchFamily="34" charset="0"/>
              <a:buChar char="•"/>
            </a:pPr>
            <a:r>
              <a:rPr lang="en-IN" sz="2800" dirty="0"/>
              <a:t>B)</a:t>
            </a:r>
          </a:p>
          <a:p>
            <a:pPr marL="342900" lvl="0" indent="-342900">
              <a:buFont typeface="Arial" panose="020B0604020202020204" pitchFamily="34" charset="0"/>
              <a:buChar char="•"/>
            </a:pPr>
            <a:r>
              <a:rPr lang="en-IN" sz="2800" dirty="0"/>
              <a:t>Actual pattern: one complete cycle every 50 minutes.</a:t>
            </a:r>
          </a:p>
          <a:p>
            <a:pPr marL="342900" lvl="0" indent="-342900">
              <a:buFont typeface="Arial" panose="020B0604020202020204" pitchFamily="34" charset="0"/>
              <a:buChar char="•"/>
            </a:pPr>
            <a:r>
              <a:rPr lang="en-IN" sz="2800" dirty="0"/>
              <a:t>Sensor: one reading every 60 minutes.</a:t>
            </a:r>
          </a:p>
          <a:p>
            <a:pPr marL="342900" lvl="0" indent="-342900">
              <a:buFont typeface="Arial" panose="020B0604020202020204" pitchFamily="34" charset="0"/>
              <a:buChar char="•"/>
            </a:pPr>
            <a:r>
              <a:rPr lang="en-IN" sz="2800" dirty="0"/>
              <a:t>Observed pattern: an apparent cycle every 300 minutes (5 hours).</a:t>
            </a:r>
          </a:p>
          <a:p>
            <a:pPr>
              <a:buNone/>
            </a:pPr>
            <a:r>
              <a:rPr lang="en-IN" sz="2800" dirty="0"/>
              <a:t>This is called aliasing: sampling too slowly makes a fast-changing signal appear to have a different, slower pattern.</a:t>
            </a:r>
          </a:p>
          <a:p>
            <a:pPr>
              <a:buNone/>
            </a:pPr>
            <a:r>
              <a:rPr lang="en-IN" sz="2800" dirty="0"/>
              <a:t>The 5-hour result assumes a regular 50-minute periodic signal and ideal sampling; it describes the apparent frequency, not a genuine change in the traffic itself.</a:t>
            </a:r>
          </a:p>
        </p:txBody>
      </p:sp>
      <p:sp>
        <p:nvSpPr>
          <p:cNvPr id="9" name="TextBox 8">
            <a:extLst>
              <a:ext uri="{FF2B5EF4-FFF2-40B4-BE49-F238E27FC236}">
                <a16:creationId xmlns:a16="http://schemas.microsoft.com/office/drawing/2014/main" id="{B20A5DEE-5DB9-E2BB-482E-15815A8D1FAD}"/>
              </a:ext>
            </a:extLst>
          </p:cNvPr>
          <p:cNvSpPr txBox="1"/>
          <p:nvPr/>
        </p:nvSpPr>
        <p:spPr>
          <a:xfrm>
            <a:off x="7620000" y="1333500"/>
            <a:ext cx="9144000" cy="523220"/>
          </a:xfrm>
          <a:prstGeom prst="rect">
            <a:avLst/>
          </a:prstGeom>
          <a:noFill/>
        </p:spPr>
        <p:txBody>
          <a:bodyPr wrap="square">
            <a:spAutoFit/>
          </a:bodyPr>
          <a:lstStyle/>
          <a:p>
            <a:r>
              <a:rPr lang="en-IN" sz="2800" dirty="0"/>
              <a:t>C  Time compression = 7,200:1</a:t>
            </a:r>
          </a:p>
        </p:txBody>
      </p:sp>
      <p:pic>
        <p:nvPicPr>
          <p:cNvPr id="11" name="Picture 10">
            <a:extLst>
              <a:ext uri="{FF2B5EF4-FFF2-40B4-BE49-F238E27FC236}">
                <a16:creationId xmlns:a16="http://schemas.microsoft.com/office/drawing/2014/main" id="{609B306E-DABE-813A-197D-1535A0D48DEC}"/>
              </a:ext>
            </a:extLst>
          </p:cNvPr>
          <p:cNvPicPr>
            <a:picLocks noChangeAspect="1"/>
          </p:cNvPicPr>
          <p:nvPr/>
        </p:nvPicPr>
        <p:blipFill>
          <a:blip r:embed="rId3"/>
          <a:stretch>
            <a:fillRect/>
          </a:stretch>
        </p:blipFill>
        <p:spPr>
          <a:xfrm>
            <a:off x="7848600" y="1843564"/>
            <a:ext cx="5734850" cy="3258005"/>
          </a:xfrm>
          <a:prstGeom prst="rect">
            <a:avLst/>
          </a:prstGeom>
        </p:spPr>
      </p:pic>
      <p:pic>
        <p:nvPicPr>
          <p:cNvPr id="13" name="Picture 12">
            <a:extLst>
              <a:ext uri="{FF2B5EF4-FFF2-40B4-BE49-F238E27FC236}">
                <a16:creationId xmlns:a16="http://schemas.microsoft.com/office/drawing/2014/main" id="{67F1344B-4BDA-5D73-C4F9-53D0DD6A9923}"/>
              </a:ext>
            </a:extLst>
          </p:cNvPr>
          <p:cNvPicPr>
            <a:picLocks noChangeAspect="1"/>
          </p:cNvPicPr>
          <p:nvPr/>
        </p:nvPicPr>
        <p:blipFill>
          <a:blip r:embed="rId4"/>
          <a:stretch>
            <a:fillRect/>
          </a:stretch>
        </p:blipFill>
        <p:spPr>
          <a:xfrm>
            <a:off x="10232274" y="6690960"/>
            <a:ext cx="7378752" cy="2872140"/>
          </a:xfrm>
          <a:prstGeom prst="rect">
            <a:avLst/>
          </a:prstGeom>
        </p:spPr>
      </p:pic>
    </p:spTree>
    <p:extLst>
      <p:ext uri="{BB962C8B-B14F-4D97-AF65-F5344CB8AC3E}">
        <p14:creationId xmlns:p14="http://schemas.microsoft.com/office/powerpoint/2010/main" val="1695577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Animated Transitions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5053050"/>
          </a:xfrm>
          <a:prstGeom prst="rect">
            <a:avLst/>
          </a:prstGeom>
          <a:noFill/>
        </p:spPr>
        <p:txBody>
          <a:bodyPr wrap="square" lIns="0" tIns="0" rIns="0" bIns="0" anchor="t">
            <a:spAutoFit/>
          </a:bodyPr>
          <a:lstStyle/>
          <a:p>
            <a:pPr>
              <a:lnSpc>
                <a:spcPct val="105000"/>
              </a:lnSpc>
              <a:spcAft>
                <a:spcPts val="700"/>
              </a:spcAft>
              <a:buNone/>
            </a:pPr>
            <a:r>
              <a:rPr sz="2600" b="1" i="0" dirty="0">
                <a:solidFill>
                  <a:srgbClr val="1A1A1A"/>
                </a:solidFill>
                <a:latin typeface="Calibri"/>
              </a:rPr>
              <a:t>A series of frames generated to move smoothly from one state to another – the alternative to a jump cut</a:t>
            </a:r>
            <a:r>
              <a:rPr sz="2600" b="0" i="0" dirty="0">
                <a:solidFill>
                  <a:srgbClr val="1A1A1A"/>
                </a:solidFill>
                <a:latin typeface="Calibri"/>
              </a:rPr>
              <a:t>.</a:t>
            </a:r>
          </a:p>
          <a:p>
            <a:pPr marL="420000" indent="-340000">
              <a:lnSpc>
                <a:spcPct val="105000"/>
              </a:lnSpc>
              <a:spcAft>
                <a:spcPts val="700"/>
              </a:spcAft>
              <a:buFont typeface="Arial"/>
              <a:buChar char="•"/>
            </a:pPr>
            <a:r>
              <a:rPr sz="2600" b="0" i="0" dirty="0">
                <a:solidFill>
                  <a:srgbClr val="1A1A1A"/>
                </a:solidFill>
                <a:latin typeface="Calibri"/>
              </a:rPr>
              <a:t>Used for </a:t>
            </a:r>
            <a:r>
              <a:rPr sz="2600" b="1" i="0" dirty="0">
                <a:solidFill>
                  <a:srgbClr val="1A1A1A"/>
                </a:solidFill>
                <a:latin typeface="Calibri"/>
              </a:rPr>
              <a:t>navigation</a:t>
            </a:r>
            <a:r>
              <a:rPr sz="2600" b="0" i="0" dirty="0">
                <a:solidFill>
                  <a:srgbClr val="1A1A1A"/>
                </a:solidFill>
                <a:latin typeface="Calibri"/>
              </a:rPr>
              <a:t> (camera viewpoint), </a:t>
            </a:r>
            <a:r>
              <a:rPr sz="2600" b="1" i="0" dirty="0">
                <a:solidFill>
                  <a:srgbClr val="1A1A1A"/>
                </a:solidFill>
                <a:latin typeface="Calibri"/>
              </a:rPr>
              <a:t>reordering</a:t>
            </a:r>
            <a:r>
              <a:rPr sz="2600" b="0" i="0" dirty="0">
                <a:solidFill>
                  <a:srgbClr val="1A1A1A"/>
                </a:solidFill>
                <a:latin typeface="Calibri"/>
              </a:rPr>
              <a:t>, </a:t>
            </a:r>
            <a:r>
              <a:rPr sz="2600" b="1" i="0" dirty="0">
                <a:solidFill>
                  <a:srgbClr val="1A1A1A"/>
                </a:solidFill>
                <a:latin typeface="Calibri"/>
              </a:rPr>
              <a:t>filtering</a:t>
            </a:r>
            <a:r>
              <a:rPr sz="2600" b="0" i="0" dirty="0">
                <a:solidFill>
                  <a:srgbClr val="1A1A1A"/>
                </a:solidFill>
                <a:latin typeface="Calibri"/>
              </a:rPr>
              <a:t> (items enter/leave), changing </a:t>
            </a:r>
            <a:r>
              <a:rPr sz="2600" b="1" i="0" dirty="0">
                <a:solidFill>
                  <a:srgbClr val="1A1A1A"/>
                </a:solidFill>
                <a:latin typeface="Calibri"/>
              </a:rPr>
              <a:t>encoding</a:t>
            </a:r>
            <a:r>
              <a:rPr sz="2600" b="0" i="0" dirty="0">
                <a:solidFill>
                  <a:srgbClr val="1A1A1A"/>
                </a:solidFill>
                <a:latin typeface="Calibri"/>
              </a:rPr>
              <a:t>, updating </a:t>
            </a:r>
            <a:r>
              <a:rPr sz="2600" b="1" i="0" dirty="0">
                <a:solidFill>
                  <a:srgbClr val="1A1A1A"/>
                </a:solidFill>
                <a:latin typeface="Calibri"/>
              </a:rPr>
              <a:t>values</a:t>
            </a:r>
          </a:p>
          <a:p>
            <a:pPr marL="420000" indent="-340000">
              <a:lnSpc>
                <a:spcPct val="105000"/>
              </a:lnSpc>
              <a:spcAft>
                <a:spcPts val="700"/>
              </a:spcAft>
              <a:buFont typeface="Arial"/>
              <a:buChar char="•"/>
            </a:pPr>
            <a:r>
              <a:rPr sz="2600" b="1" i="0" dirty="0">
                <a:solidFill>
                  <a:srgbClr val="1A1A1A"/>
                </a:solidFill>
                <a:latin typeface="Calibri"/>
              </a:rPr>
              <a:t>Benefit:</a:t>
            </a:r>
            <a:r>
              <a:rPr sz="2600" b="0" i="0" dirty="0">
                <a:solidFill>
                  <a:srgbClr val="1A1A1A"/>
                </a:solidFill>
                <a:latin typeface="Calibri"/>
              </a:rPr>
              <a:t> </a:t>
            </a:r>
            <a:r>
              <a:rPr sz="2600" b="1" i="0" dirty="0">
                <a:solidFill>
                  <a:srgbClr val="1A1A1A"/>
                </a:solidFill>
                <a:latin typeface="Calibri"/>
              </a:rPr>
              <a:t>keeps context </a:t>
            </a:r>
            <a:r>
              <a:rPr sz="2600" b="0" i="0" dirty="0">
                <a:solidFill>
                  <a:srgbClr val="1A1A1A"/>
                </a:solidFill>
                <a:latin typeface="Calibri"/>
              </a:rPr>
              <a:t>– the eye tracks each item from old to new position instead of using memory</a:t>
            </a:r>
          </a:p>
          <a:p>
            <a:pPr marL="420000" indent="-340000">
              <a:lnSpc>
                <a:spcPct val="105000"/>
              </a:lnSpc>
              <a:spcAft>
                <a:spcPts val="700"/>
              </a:spcAft>
              <a:buFont typeface="Arial"/>
              <a:buChar char="•"/>
            </a:pPr>
            <a:r>
              <a:rPr sz="2600" b="0" i="0" dirty="0">
                <a:solidFill>
                  <a:srgbClr val="1A1A1A"/>
                </a:solidFill>
                <a:latin typeface="Calibri"/>
              </a:rPr>
              <a:t>Most useful when few objects </a:t>
            </a:r>
            <a:r>
              <a:rPr sz="2600" b="1" i="0" dirty="0">
                <a:solidFill>
                  <a:srgbClr val="1A1A1A"/>
                </a:solidFill>
                <a:latin typeface="Calibri"/>
              </a:rPr>
              <a:t>change, or groups move together</a:t>
            </a:r>
          </a:p>
          <a:p>
            <a:pPr marL="420000" indent="-340000">
              <a:lnSpc>
                <a:spcPct val="105000"/>
              </a:lnSpc>
              <a:spcAft>
                <a:spcPts val="700"/>
              </a:spcAft>
              <a:buFont typeface="Arial"/>
              <a:buChar char="•"/>
            </a:pPr>
            <a:r>
              <a:rPr sz="2600" b="0" i="0" dirty="0">
                <a:solidFill>
                  <a:srgbClr val="1A1A1A"/>
                </a:solidFill>
                <a:latin typeface="Calibri"/>
              </a:rPr>
              <a:t>Can be broken into stages; studies show well-designed transitions improve graphical perception of change</a:t>
            </a:r>
          </a:p>
          <a:p>
            <a:pPr>
              <a:lnSpc>
                <a:spcPct val="105000"/>
              </a:lnSpc>
              <a:spcAft>
                <a:spcPts val="700"/>
              </a:spcAft>
              <a:buNone/>
            </a:pPr>
            <a:r>
              <a:rPr sz="2600" b="0" i="0" dirty="0" err="1">
                <a:solidFill>
                  <a:srgbClr val="1A1A1A"/>
                </a:solidFill>
                <a:latin typeface="Calibri"/>
              </a:rPr>
              <a:t>Munzner</a:t>
            </a:r>
            <a:r>
              <a:rPr sz="2600" b="0" i="0" dirty="0">
                <a:solidFill>
                  <a:srgbClr val="1A1A1A"/>
                </a:solidFill>
                <a:latin typeface="Calibri"/>
              </a:rPr>
              <a:t> calls this ‘one of the best-justified uses of animation’.</a:t>
            </a:r>
          </a:p>
        </p:txBody>
      </p:sp>
      <p:pic>
        <p:nvPicPr>
          <p:cNvPr id="8" name="Picture 7" descr="transition_sort.gif"/>
          <p:cNvPicPr>
            <a:picLocks noChangeAspect="1"/>
          </p:cNvPicPr>
          <p:nvPr/>
        </p:nvPicPr>
        <p:blipFill>
          <a:blip r:embed="rId3"/>
          <a:stretch>
            <a:fillRect/>
          </a:stretch>
        </p:blipFill>
        <p:spPr>
          <a:xfrm>
            <a:off x="9950000" y="3781250"/>
            <a:ext cx="7600000" cy="49875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§11.4 Example: Animated Transitions, pp. 248–249; Heer &amp; Robertson 2007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Designing Good Transitions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6659644"/>
          </a:xfrm>
          <a:prstGeom prst="rect">
            <a:avLst/>
          </a:prstGeom>
          <a:noFill/>
        </p:spPr>
        <p:txBody>
          <a:bodyPr wrap="square" lIns="0" tIns="0" rIns="0" bIns="0" anchor="t">
            <a:spAutoFit/>
          </a:bodyPr>
          <a:lstStyle/>
          <a:p>
            <a:pPr>
              <a:lnSpc>
                <a:spcPct val="105000"/>
              </a:lnSpc>
              <a:spcBef>
                <a:spcPts val="600"/>
              </a:spcBef>
              <a:spcAft>
                <a:spcPts val="700"/>
              </a:spcAft>
              <a:buNone/>
            </a:pPr>
            <a:r>
              <a:rPr sz="2600" b="1" i="0" dirty="0">
                <a:solidFill>
                  <a:srgbClr val="1F3864"/>
                </a:solidFill>
                <a:latin typeface="Calibri"/>
              </a:rPr>
              <a:t>Heer &amp; Robertson design principles</a:t>
            </a:r>
          </a:p>
          <a:p>
            <a:pPr marL="420000" indent="-340000">
              <a:lnSpc>
                <a:spcPct val="105000"/>
              </a:lnSpc>
              <a:spcAft>
                <a:spcPts val="700"/>
              </a:spcAft>
              <a:buFont typeface="Arial"/>
              <a:buChar char="•"/>
            </a:pPr>
            <a:r>
              <a:rPr sz="2600" b="1" i="0" dirty="0">
                <a:solidFill>
                  <a:srgbClr val="1A1A1A"/>
                </a:solidFill>
                <a:latin typeface="Calibri"/>
              </a:rPr>
              <a:t>Congruence:</a:t>
            </a:r>
            <a:r>
              <a:rPr sz="2600" b="0" i="0" dirty="0">
                <a:solidFill>
                  <a:srgbClr val="1A1A1A"/>
                </a:solidFill>
                <a:latin typeface="Calibri"/>
              </a:rPr>
              <a:t> keep the mapping between </a:t>
            </a:r>
            <a:r>
              <a:rPr sz="2600" b="1" i="0" dirty="0">
                <a:solidFill>
                  <a:srgbClr val="1A1A1A"/>
                </a:solidFill>
                <a:latin typeface="Calibri"/>
              </a:rPr>
              <a:t>data and marks </a:t>
            </a:r>
            <a:r>
              <a:rPr sz="2600" b="0" i="0" dirty="0">
                <a:solidFill>
                  <a:srgbClr val="1A1A1A"/>
                </a:solidFill>
                <a:latin typeface="Calibri"/>
              </a:rPr>
              <a:t>consistent across states</a:t>
            </a:r>
          </a:p>
          <a:p>
            <a:pPr marL="420000" indent="-340000">
              <a:lnSpc>
                <a:spcPct val="105000"/>
              </a:lnSpc>
              <a:spcAft>
                <a:spcPts val="700"/>
              </a:spcAft>
              <a:buFont typeface="Arial"/>
              <a:buChar char="•"/>
            </a:pPr>
            <a:r>
              <a:rPr sz="2600" b="1" i="0" dirty="0">
                <a:solidFill>
                  <a:srgbClr val="1A1A1A"/>
                </a:solidFill>
                <a:latin typeface="Calibri"/>
              </a:rPr>
              <a:t>Apprehension:</a:t>
            </a:r>
            <a:r>
              <a:rPr sz="2600" b="0" i="0" dirty="0">
                <a:solidFill>
                  <a:srgbClr val="1A1A1A"/>
                </a:solidFill>
                <a:latin typeface="Calibri"/>
              </a:rPr>
              <a:t> keep </a:t>
            </a:r>
            <a:r>
              <a:rPr sz="2600" b="1" i="0" dirty="0">
                <a:solidFill>
                  <a:srgbClr val="1A1A1A"/>
                </a:solidFill>
                <a:latin typeface="Calibri"/>
              </a:rPr>
              <a:t>transitions simple </a:t>
            </a:r>
            <a:r>
              <a:rPr sz="2600" b="0" i="0" dirty="0">
                <a:solidFill>
                  <a:srgbClr val="1A1A1A"/>
                </a:solidFill>
                <a:latin typeface="Calibri"/>
              </a:rPr>
              <a:t>enough to follow</a:t>
            </a:r>
          </a:p>
          <a:p>
            <a:pPr marL="420000" indent="-340000">
              <a:lnSpc>
                <a:spcPct val="105000"/>
              </a:lnSpc>
              <a:spcAft>
                <a:spcPts val="700"/>
              </a:spcAft>
              <a:buFont typeface="Arial"/>
              <a:buChar char="•"/>
            </a:pPr>
            <a:r>
              <a:rPr sz="2600" b="1" i="0" dirty="0">
                <a:solidFill>
                  <a:srgbClr val="1A1A1A"/>
                </a:solidFill>
                <a:latin typeface="Calibri"/>
              </a:rPr>
              <a:t>Staging:</a:t>
            </a:r>
            <a:r>
              <a:rPr sz="2600" b="0" i="0" dirty="0">
                <a:solidFill>
                  <a:srgbClr val="1A1A1A"/>
                </a:solidFill>
                <a:latin typeface="Calibri"/>
              </a:rPr>
              <a:t> do one kind of </a:t>
            </a:r>
            <a:r>
              <a:rPr sz="2600" b="1" i="0" dirty="0">
                <a:solidFill>
                  <a:srgbClr val="1A1A1A"/>
                </a:solidFill>
                <a:latin typeface="Calibri"/>
              </a:rPr>
              <a:t>change per stage </a:t>
            </a:r>
            <a:r>
              <a:rPr sz="2600" b="0" i="0" dirty="0">
                <a:solidFill>
                  <a:srgbClr val="1A1A1A"/>
                </a:solidFill>
                <a:latin typeface="Calibri"/>
              </a:rPr>
              <a:t>(e.g. axis rescale → then mark move)</a:t>
            </a:r>
          </a:p>
          <a:p>
            <a:pPr marL="420000" indent="-340000">
              <a:lnSpc>
                <a:spcPct val="105000"/>
              </a:lnSpc>
              <a:spcAft>
                <a:spcPts val="700"/>
              </a:spcAft>
              <a:buFont typeface="Arial"/>
              <a:buChar char="•"/>
            </a:pPr>
            <a:r>
              <a:rPr sz="2600" b="0" i="0" dirty="0">
                <a:solidFill>
                  <a:srgbClr val="1A1A1A"/>
                </a:solidFill>
                <a:latin typeface="Calibri"/>
              </a:rPr>
              <a:t>Maintain valid data graphics during the transition where possible</a:t>
            </a:r>
          </a:p>
          <a:p>
            <a:pPr marL="420000" indent="-340000">
              <a:lnSpc>
                <a:spcPct val="105000"/>
              </a:lnSpc>
              <a:spcAft>
                <a:spcPts val="700"/>
              </a:spcAft>
              <a:buFont typeface="Arial"/>
              <a:buChar char="•"/>
            </a:pPr>
            <a:r>
              <a:rPr sz="2600" b="1" i="0" dirty="0">
                <a:solidFill>
                  <a:srgbClr val="1A1A1A"/>
                </a:solidFill>
                <a:latin typeface="Calibri"/>
              </a:rPr>
              <a:t>Avoid ambiguity:</a:t>
            </a:r>
            <a:r>
              <a:rPr sz="2600" b="0" i="0" dirty="0">
                <a:solidFill>
                  <a:srgbClr val="1A1A1A"/>
                </a:solidFill>
                <a:latin typeface="Calibri"/>
              </a:rPr>
              <a:t> keep object identity (same mark = same data item)</a:t>
            </a:r>
          </a:p>
          <a:p>
            <a:pPr marL="420000" indent="-340000">
              <a:lnSpc>
                <a:spcPct val="105000"/>
              </a:lnSpc>
              <a:spcAft>
                <a:spcPts val="700"/>
              </a:spcAft>
              <a:buFont typeface="Arial"/>
              <a:buChar char="•"/>
            </a:pPr>
            <a:r>
              <a:rPr sz="2600" b="0" i="0" dirty="0">
                <a:solidFill>
                  <a:srgbClr val="1A1A1A"/>
                </a:solidFill>
                <a:latin typeface="Calibri"/>
              </a:rPr>
              <a:t>Use ease-in/ease-out and keep each stage around 1 s</a:t>
            </a:r>
          </a:p>
          <a:p>
            <a:pPr>
              <a:lnSpc>
                <a:spcPct val="105000"/>
              </a:lnSpc>
              <a:spcBef>
                <a:spcPts val="600"/>
              </a:spcBef>
              <a:spcAft>
                <a:spcPts val="700"/>
              </a:spcAft>
              <a:buNone/>
            </a:pPr>
            <a:r>
              <a:rPr sz="2600" b="1" i="0" dirty="0">
                <a:solidFill>
                  <a:srgbClr val="1F3864"/>
                </a:solidFill>
                <a:latin typeface="Calibri"/>
              </a:rPr>
              <a:t>Jump cut vs transition</a:t>
            </a:r>
          </a:p>
          <a:p>
            <a:pPr marL="420000" indent="-340000">
              <a:lnSpc>
                <a:spcPct val="105000"/>
              </a:lnSpc>
              <a:spcAft>
                <a:spcPts val="700"/>
              </a:spcAft>
              <a:buFont typeface="Arial"/>
              <a:buChar char="•"/>
            </a:pPr>
            <a:r>
              <a:rPr sz="2600" b="1" i="0" dirty="0">
                <a:solidFill>
                  <a:srgbClr val="1A1A1A"/>
                </a:solidFill>
                <a:latin typeface="Calibri"/>
              </a:rPr>
              <a:t>Jump cut: instant but forces viewer to re-find items using memory</a:t>
            </a:r>
          </a:p>
        </p:txBody>
      </p:sp>
      <p:pic>
        <p:nvPicPr>
          <p:cNvPr id="8" name="Picture 7" descr="storyboard.png"/>
          <p:cNvPicPr>
            <a:picLocks noChangeAspect="1"/>
          </p:cNvPicPr>
          <p:nvPr/>
        </p:nvPicPr>
        <p:blipFill>
          <a:blip r:embed="rId3"/>
          <a:stretch>
            <a:fillRect/>
          </a:stretch>
        </p:blipFill>
        <p:spPr>
          <a:xfrm>
            <a:off x="9950000" y="4708846"/>
            <a:ext cx="7600000" cy="3132307"/>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Heer &amp; Robertson, ‘Animated Transitions in Statistical Data Graphics’, IEEE TVCG 13(6), 2007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Numerical 3: Easing an Animated Transition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Rounded Rectangle 6"/>
          <p:cNvSpPr/>
          <p:nvPr/>
        </p:nvSpPr>
        <p:spPr>
          <a:xfrm>
            <a:off x="681104" y="2150000"/>
            <a:ext cx="15968896" cy="2850000"/>
          </a:xfrm>
          <a:prstGeom prst="roundRect">
            <a:avLst>
              <a:gd name="adj" fmla="val 6000"/>
            </a:avLst>
          </a:prstGeom>
          <a:solidFill>
            <a:srgbClr val="FBEEE4"/>
          </a:solidFill>
          <a:ln w="19050">
            <a:solidFill>
              <a:srgbClr val="DFA26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31104" y="2300000"/>
            <a:ext cx="15468896" cy="2600000"/>
          </a:xfrm>
          <a:prstGeom prst="rect">
            <a:avLst/>
          </a:prstGeom>
          <a:noFill/>
        </p:spPr>
        <p:txBody>
          <a:bodyPr wrap="square" lIns="0" tIns="0" rIns="0" bIns="0" anchor="t">
            <a:spAutoFit/>
          </a:bodyPr>
          <a:lstStyle/>
          <a:p>
            <a:r>
              <a:rPr sz="2700" b="1" i="0" dirty="0">
                <a:solidFill>
                  <a:srgbClr val="C55A11"/>
                </a:solidFill>
                <a:latin typeface="Calibri"/>
              </a:rPr>
              <a:t>Problem</a:t>
            </a:r>
          </a:p>
          <a:p>
            <a:pPr>
              <a:spcAft>
                <a:spcPts val="300"/>
              </a:spcAft>
            </a:pPr>
            <a:r>
              <a:rPr sz="2500" b="0" i="0" dirty="0">
                <a:solidFill>
                  <a:srgbClr val="1A1A1A"/>
                </a:solidFill>
                <a:latin typeface="Calibri"/>
              </a:rPr>
              <a:t>A bar moves from x = 100 </a:t>
            </a:r>
            <a:r>
              <a:rPr sz="2500" b="0" i="0" dirty="0" err="1">
                <a:solidFill>
                  <a:srgbClr val="1A1A1A"/>
                </a:solidFill>
                <a:latin typeface="Calibri"/>
              </a:rPr>
              <a:t>px</a:t>
            </a:r>
            <a:r>
              <a:rPr sz="2500" b="0" i="0" dirty="0">
                <a:solidFill>
                  <a:srgbClr val="1A1A1A"/>
                </a:solidFill>
                <a:latin typeface="Calibri"/>
              </a:rPr>
              <a:t> to x = 500 </a:t>
            </a:r>
            <a:r>
              <a:rPr sz="2500" b="0" i="0" dirty="0" err="1">
                <a:solidFill>
                  <a:srgbClr val="1A1A1A"/>
                </a:solidFill>
                <a:latin typeface="Calibri"/>
              </a:rPr>
              <a:t>px</a:t>
            </a:r>
            <a:r>
              <a:rPr sz="2500" b="0" i="0" dirty="0">
                <a:solidFill>
                  <a:srgbClr val="1A1A1A"/>
                </a:solidFill>
                <a:latin typeface="Calibri"/>
              </a:rPr>
              <a:t> in T = 1.0 s, rendered at 30 fps.</a:t>
            </a:r>
          </a:p>
          <a:p>
            <a:pPr>
              <a:spcAft>
                <a:spcPts val="300"/>
              </a:spcAft>
            </a:pPr>
            <a:r>
              <a:rPr sz="2500" b="0" i="0" dirty="0">
                <a:solidFill>
                  <a:srgbClr val="1A1A1A"/>
                </a:solidFill>
                <a:latin typeface="Calibri"/>
              </a:rPr>
              <a:t>Compare linear motion with </a:t>
            </a:r>
            <a:r>
              <a:rPr sz="2500" b="0" i="0" dirty="0" err="1">
                <a:solidFill>
                  <a:srgbClr val="1A1A1A"/>
                </a:solidFill>
                <a:latin typeface="Calibri"/>
              </a:rPr>
              <a:t>smoothstep</a:t>
            </a:r>
            <a:r>
              <a:rPr sz="2500" b="0" i="0" dirty="0">
                <a:solidFill>
                  <a:srgbClr val="1A1A1A"/>
                </a:solidFill>
                <a:latin typeface="Calibri"/>
              </a:rPr>
              <a:t> easing  s(u) = 3u² − 2u³,  u = t/T.</a:t>
            </a:r>
          </a:p>
          <a:p>
            <a:pPr>
              <a:spcAft>
                <a:spcPts val="300"/>
              </a:spcAft>
            </a:pPr>
            <a:r>
              <a:rPr sz="2500" b="0" i="0" dirty="0">
                <a:solidFill>
                  <a:srgbClr val="1A1A1A"/>
                </a:solidFill>
                <a:latin typeface="Calibri"/>
              </a:rPr>
              <a:t>(a) Position at t = 0.25 s for each.  (b) Peak speed of each.</a:t>
            </a:r>
          </a:p>
          <a:p>
            <a:pPr>
              <a:spcAft>
                <a:spcPts val="300"/>
              </a:spcAft>
            </a:pPr>
            <a:r>
              <a:rPr sz="2500" b="0" i="0" dirty="0">
                <a:solidFill>
                  <a:srgbClr val="1A1A1A"/>
                </a:solidFill>
                <a:latin typeface="Calibri"/>
              </a:rPr>
              <a:t>(c) Largest per-frame jump with easing.</a:t>
            </a:r>
          </a:p>
        </p:txBody>
      </p:sp>
      <p:sp>
        <p:nvSpPr>
          <p:cNvPr id="9" name="Rounded Rectangle 8"/>
          <p:cNvSpPr/>
          <p:nvPr/>
        </p:nvSpPr>
        <p:spPr>
          <a:xfrm>
            <a:off x="681104" y="5200000"/>
            <a:ext cx="15968896" cy="4400000"/>
          </a:xfrm>
          <a:prstGeom prst="roundRect">
            <a:avLst>
              <a:gd name="adj" fmla="val 6000"/>
            </a:avLst>
          </a:prstGeom>
          <a:solidFill>
            <a:srgbClr val="EAF0FA"/>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31104" y="5350000"/>
            <a:ext cx="15468896" cy="4100000"/>
          </a:xfrm>
          <a:prstGeom prst="rect">
            <a:avLst/>
          </a:prstGeom>
          <a:noFill/>
        </p:spPr>
        <p:txBody>
          <a:bodyPr wrap="square" lIns="0" tIns="0" rIns="0" bIns="0" anchor="t">
            <a:spAutoFit/>
          </a:bodyPr>
          <a:lstStyle/>
          <a:p>
            <a:r>
              <a:rPr sz="2700" b="1" i="0" dirty="0">
                <a:solidFill>
                  <a:srgbClr val="4472C4"/>
                </a:solidFill>
                <a:latin typeface="Calibri"/>
              </a:rPr>
              <a:t>Solution</a:t>
            </a:r>
          </a:p>
          <a:p>
            <a:pPr>
              <a:spcAft>
                <a:spcPts val="400"/>
              </a:spcAft>
            </a:pPr>
            <a:r>
              <a:rPr sz="2500" b="0" i="0" dirty="0">
                <a:solidFill>
                  <a:srgbClr val="1A1A1A"/>
                </a:solidFill>
                <a:latin typeface="Calibri"/>
              </a:rPr>
              <a:t>Distance D = 500 − 100 = 400 </a:t>
            </a:r>
            <a:r>
              <a:rPr sz="2500" b="0" i="0" dirty="0" err="1">
                <a:solidFill>
                  <a:srgbClr val="1A1A1A"/>
                </a:solidFill>
                <a:latin typeface="Calibri"/>
              </a:rPr>
              <a:t>px</a:t>
            </a:r>
            <a:endParaRPr sz="2500" b="0" i="0" dirty="0">
              <a:solidFill>
                <a:srgbClr val="1A1A1A"/>
              </a:solidFill>
              <a:latin typeface="Calibri"/>
            </a:endParaRPr>
          </a:p>
          <a:p>
            <a:pPr>
              <a:spcAft>
                <a:spcPts val="400"/>
              </a:spcAft>
            </a:pPr>
            <a:r>
              <a:rPr sz="2500" b="1" i="0" dirty="0">
                <a:solidFill>
                  <a:srgbClr val="1F3864"/>
                </a:solidFill>
                <a:latin typeface="Calibri"/>
              </a:rPr>
              <a:t>(a)</a:t>
            </a:r>
            <a:r>
              <a:rPr sz="2500" b="0" i="0" dirty="0">
                <a:solidFill>
                  <a:srgbClr val="1A1A1A"/>
                </a:solidFill>
                <a:latin typeface="Calibri"/>
              </a:rPr>
              <a:t> Linear: x = 100 + 400 × 0.25 = 200 </a:t>
            </a:r>
            <a:r>
              <a:rPr sz="2500" b="0" i="0" dirty="0" err="1">
                <a:solidFill>
                  <a:srgbClr val="1A1A1A"/>
                </a:solidFill>
                <a:latin typeface="Calibri"/>
              </a:rPr>
              <a:t>px</a:t>
            </a:r>
            <a:endParaRPr sz="2500" b="0" i="0" dirty="0">
              <a:solidFill>
                <a:srgbClr val="1A1A1A"/>
              </a:solidFill>
              <a:latin typeface="Calibri"/>
            </a:endParaRPr>
          </a:p>
          <a:p>
            <a:pPr>
              <a:spcAft>
                <a:spcPts val="400"/>
              </a:spcAft>
            </a:pPr>
            <a:r>
              <a:rPr sz="2500" b="0" i="0" dirty="0">
                <a:solidFill>
                  <a:srgbClr val="1A1A1A"/>
                </a:solidFill>
                <a:latin typeface="Calibri"/>
              </a:rPr>
              <a:t>       Easing: s(0.25) = 3(0.0625) − 2(0.015625) = 0.15625 → x = 100 + 62.5 = 162.5 </a:t>
            </a:r>
            <a:r>
              <a:rPr sz="2500" b="0" i="0" dirty="0" err="1">
                <a:solidFill>
                  <a:srgbClr val="1A1A1A"/>
                </a:solidFill>
                <a:latin typeface="Calibri"/>
              </a:rPr>
              <a:t>px</a:t>
            </a:r>
            <a:endParaRPr sz="2500" b="0" i="0" dirty="0">
              <a:solidFill>
                <a:srgbClr val="1A1A1A"/>
              </a:solidFill>
              <a:latin typeface="Calibri"/>
            </a:endParaRPr>
          </a:p>
          <a:p>
            <a:pPr>
              <a:spcAft>
                <a:spcPts val="400"/>
              </a:spcAft>
            </a:pPr>
            <a:r>
              <a:rPr sz="2500" b="1" i="0" dirty="0">
                <a:solidFill>
                  <a:srgbClr val="1F3864"/>
                </a:solidFill>
                <a:latin typeface="Calibri"/>
              </a:rPr>
              <a:t>(b)</a:t>
            </a:r>
            <a:r>
              <a:rPr sz="2500" b="0" i="0" dirty="0">
                <a:solidFill>
                  <a:srgbClr val="1A1A1A"/>
                </a:solidFill>
                <a:latin typeface="Calibri"/>
              </a:rPr>
              <a:t> Linear speed = 400 </a:t>
            </a:r>
            <a:r>
              <a:rPr sz="2500" b="0" i="0" dirty="0" err="1">
                <a:solidFill>
                  <a:srgbClr val="1A1A1A"/>
                </a:solidFill>
                <a:latin typeface="Calibri"/>
              </a:rPr>
              <a:t>px</a:t>
            </a:r>
            <a:r>
              <a:rPr sz="2500" b="0" i="0" dirty="0">
                <a:solidFill>
                  <a:srgbClr val="1A1A1A"/>
                </a:solidFill>
                <a:latin typeface="Calibri"/>
              </a:rPr>
              <a:t>/s (constant)</a:t>
            </a:r>
          </a:p>
          <a:p>
            <a:pPr>
              <a:spcAft>
                <a:spcPts val="400"/>
              </a:spcAft>
            </a:pPr>
            <a:r>
              <a:rPr sz="2500" b="0" i="0" dirty="0">
                <a:solidFill>
                  <a:srgbClr val="1A1A1A"/>
                </a:solidFill>
                <a:latin typeface="Calibri"/>
              </a:rPr>
              <a:t>       Easing: ds/du = 6u(1 − u), max at u = 0.5 → 1.5 → 1.5 × 400 = 600 </a:t>
            </a:r>
            <a:r>
              <a:rPr sz="2500" b="0" i="0" dirty="0" err="1">
                <a:solidFill>
                  <a:srgbClr val="1A1A1A"/>
                </a:solidFill>
                <a:latin typeface="Calibri"/>
              </a:rPr>
              <a:t>px</a:t>
            </a:r>
            <a:r>
              <a:rPr sz="2500" b="0" i="0" dirty="0">
                <a:solidFill>
                  <a:srgbClr val="1A1A1A"/>
                </a:solidFill>
                <a:latin typeface="Calibri"/>
              </a:rPr>
              <a:t>/s</a:t>
            </a:r>
          </a:p>
          <a:p>
            <a:pPr>
              <a:spcAft>
                <a:spcPts val="400"/>
              </a:spcAft>
            </a:pPr>
            <a:r>
              <a:rPr sz="2500" b="1" i="0" dirty="0">
                <a:solidFill>
                  <a:srgbClr val="1F3864"/>
                </a:solidFill>
                <a:latin typeface="Calibri"/>
              </a:rPr>
              <a:t>(c)</a:t>
            </a:r>
            <a:r>
              <a:rPr sz="2500" b="0" i="0" dirty="0">
                <a:solidFill>
                  <a:srgbClr val="1A1A1A"/>
                </a:solidFill>
                <a:latin typeface="Calibri"/>
              </a:rPr>
              <a:t> 600 </a:t>
            </a:r>
            <a:r>
              <a:rPr sz="2500" b="0" i="0" dirty="0" err="1">
                <a:solidFill>
                  <a:srgbClr val="1A1A1A"/>
                </a:solidFill>
                <a:latin typeface="Calibri"/>
              </a:rPr>
              <a:t>px</a:t>
            </a:r>
            <a:r>
              <a:rPr sz="2500" b="0" i="0" dirty="0">
                <a:solidFill>
                  <a:srgbClr val="1A1A1A"/>
                </a:solidFill>
                <a:latin typeface="Calibri"/>
              </a:rPr>
              <a:t>/s ÷ 30 fps = 20 </a:t>
            </a:r>
            <a:r>
              <a:rPr sz="2500" b="0" i="0" dirty="0" err="1">
                <a:solidFill>
                  <a:srgbClr val="1A1A1A"/>
                </a:solidFill>
                <a:latin typeface="Calibri"/>
              </a:rPr>
              <a:t>px</a:t>
            </a:r>
            <a:r>
              <a:rPr sz="2500" b="0" i="0" dirty="0">
                <a:solidFill>
                  <a:srgbClr val="1A1A1A"/>
                </a:solidFill>
                <a:latin typeface="Calibri"/>
              </a:rPr>
              <a:t> per frame (0 </a:t>
            </a:r>
            <a:r>
              <a:rPr sz="2500" b="0" i="0" dirty="0" err="1">
                <a:solidFill>
                  <a:srgbClr val="1A1A1A"/>
                </a:solidFill>
                <a:latin typeface="Calibri"/>
              </a:rPr>
              <a:t>px</a:t>
            </a:r>
            <a:r>
              <a:rPr sz="2500" b="0" i="0" dirty="0">
                <a:solidFill>
                  <a:srgbClr val="1A1A1A"/>
                </a:solidFill>
                <a:latin typeface="Calibri"/>
              </a:rPr>
              <a:t>/frame at start &amp; end → easy to track)</a:t>
            </a:r>
          </a:p>
        </p:txBody>
      </p:sp>
      <p:sp>
        <p:nvSpPr>
          <p:cNvPr id="11" name="TextBox 10"/>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Worked example; slow-in/slow-out from Dragicevic et al. 2011, Heer &amp; Robertson 2007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Change Detection and Change Blindness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6149760"/>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Change blindness: </a:t>
            </a:r>
            <a:r>
              <a:rPr sz="2600" b="1" i="0" dirty="0">
                <a:solidFill>
                  <a:srgbClr val="1A1A1A"/>
                </a:solidFill>
                <a:latin typeface="Calibri"/>
              </a:rPr>
              <a:t>we fail to notice even drastic changes when attention is directed elsewhere</a:t>
            </a:r>
            <a:r>
              <a:rPr sz="2600" b="0" i="0" dirty="0">
                <a:solidFill>
                  <a:srgbClr val="1A1A1A"/>
                </a:solidFill>
                <a:latin typeface="Calibri"/>
              </a:rPr>
              <a:t>.</a:t>
            </a:r>
          </a:p>
          <a:p>
            <a:pPr marL="420000" indent="-340000">
              <a:lnSpc>
                <a:spcPct val="105000"/>
              </a:lnSpc>
              <a:spcAft>
                <a:spcPts val="700"/>
              </a:spcAft>
              <a:buFont typeface="Arial"/>
              <a:buChar char="•"/>
            </a:pPr>
            <a:r>
              <a:rPr sz="2600" b="1" i="0" dirty="0">
                <a:solidFill>
                  <a:srgbClr val="1A1A1A"/>
                </a:solidFill>
                <a:latin typeface="Calibri"/>
              </a:rPr>
              <a:t>Door study:</a:t>
            </a:r>
            <a:r>
              <a:rPr sz="2600" b="0" i="0" dirty="0">
                <a:solidFill>
                  <a:srgbClr val="1A1A1A"/>
                </a:solidFill>
                <a:latin typeface="Calibri"/>
              </a:rPr>
              <a:t> a stranger asking directions was swapped for another person – most people did not notice</a:t>
            </a:r>
          </a:p>
          <a:p>
            <a:pPr marL="420000" indent="-340000">
              <a:lnSpc>
                <a:spcPct val="105000"/>
              </a:lnSpc>
              <a:spcAft>
                <a:spcPts val="700"/>
              </a:spcAft>
              <a:buFont typeface="Arial"/>
              <a:buChar char="•"/>
            </a:pPr>
            <a:r>
              <a:rPr sz="2600" b="1" i="0" dirty="0">
                <a:solidFill>
                  <a:srgbClr val="1A1A1A"/>
                </a:solidFill>
                <a:latin typeface="Calibri"/>
              </a:rPr>
              <a:t>Flicker paradigm:</a:t>
            </a:r>
            <a:r>
              <a:rPr sz="2600" b="0" i="0" dirty="0">
                <a:solidFill>
                  <a:srgbClr val="1A1A1A"/>
                </a:solidFill>
                <a:latin typeface="Calibri"/>
              </a:rPr>
              <a:t> A → blank → B → blank … hides the motion transient, so the change is hard to find</a:t>
            </a:r>
          </a:p>
          <a:p>
            <a:pPr marL="420000" indent="-340000">
              <a:lnSpc>
                <a:spcPct val="105000"/>
              </a:lnSpc>
              <a:spcAft>
                <a:spcPts val="700"/>
              </a:spcAft>
              <a:buFont typeface="Arial"/>
              <a:buChar char="•"/>
            </a:pPr>
            <a:r>
              <a:rPr sz="2600" b="0" i="0" dirty="0">
                <a:solidFill>
                  <a:srgbClr val="1A1A1A"/>
                </a:solidFill>
                <a:latin typeface="Calibri"/>
              </a:rPr>
              <a:t>We don’t hold a detailed internal image of the scene; the eyes fetch information ‘just in time’</a:t>
            </a:r>
          </a:p>
          <a:p>
            <a:pPr>
              <a:lnSpc>
                <a:spcPct val="105000"/>
              </a:lnSpc>
              <a:spcBef>
                <a:spcPts val="600"/>
              </a:spcBef>
              <a:spcAft>
                <a:spcPts val="700"/>
              </a:spcAft>
              <a:buNone/>
            </a:pPr>
            <a:r>
              <a:rPr sz="2600" b="1" i="0" dirty="0">
                <a:solidFill>
                  <a:srgbClr val="1F3864"/>
                </a:solidFill>
                <a:latin typeface="Calibri"/>
              </a:rPr>
              <a:t>Implications for visualization</a:t>
            </a:r>
          </a:p>
          <a:p>
            <a:pPr marL="420000" indent="-340000">
              <a:lnSpc>
                <a:spcPct val="105000"/>
              </a:lnSpc>
              <a:spcAft>
                <a:spcPts val="700"/>
              </a:spcAft>
              <a:buFont typeface="Arial"/>
              <a:buChar char="•"/>
            </a:pPr>
            <a:r>
              <a:rPr sz="2600" b="0" i="0" dirty="0">
                <a:solidFill>
                  <a:srgbClr val="1A1A1A"/>
                </a:solidFill>
                <a:latin typeface="Calibri"/>
              </a:rPr>
              <a:t>Many simultaneous changes across frames will be missed</a:t>
            </a:r>
          </a:p>
          <a:p>
            <a:pPr marL="420000" indent="-340000">
              <a:lnSpc>
                <a:spcPct val="105000"/>
              </a:lnSpc>
              <a:spcAft>
                <a:spcPts val="700"/>
              </a:spcAft>
              <a:buFont typeface="Arial"/>
              <a:buChar char="•"/>
            </a:pPr>
            <a:r>
              <a:rPr sz="2600" b="1" i="0" dirty="0">
                <a:solidFill>
                  <a:srgbClr val="1A1A1A"/>
                </a:solidFill>
                <a:latin typeface="Calibri"/>
              </a:rPr>
              <a:t>Blink comparator:</a:t>
            </a:r>
            <a:r>
              <a:rPr sz="2600" b="0" i="0" dirty="0">
                <a:solidFill>
                  <a:srgbClr val="1A1A1A"/>
                </a:solidFill>
                <a:latin typeface="Calibri"/>
              </a:rPr>
              <a:t> letting users flip between two frames helps spot a localized change</a:t>
            </a:r>
          </a:p>
          <a:p>
            <a:pPr marL="420000" indent="-340000">
              <a:lnSpc>
                <a:spcPct val="105000"/>
              </a:lnSpc>
              <a:spcAft>
                <a:spcPts val="700"/>
              </a:spcAft>
              <a:buFont typeface="Arial"/>
              <a:buChar char="•"/>
            </a:pPr>
            <a:r>
              <a:rPr sz="2600" b="0" i="0" dirty="0">
                <a:solidFill>
                  <a:srgbClr val="1A1A1A"/>
                </a:solidFill>
                <a:latin typeface="Calibri"/>
              </a:rPr>
              <a:t>Highlight what changed; use transitions rather than cuts</a:t>
            </a:r>
          </a:p>
        </p:txBody>
      </p:sp>
      <p:pic>
        <p:nvPicPr>
          <p:cNvPr id="8" name="Picture 7" descr="flicker.gif"/>
          <p:cNvPicPr>
            <a:picLocks noChangeAspect="1"/>
          </p:cNvPicPr>
          <p:nvPr/>
        </p:nvPicPr>
        <p:blipFill>
          <a:blip r:embed="rId3"/>
          <a:stretch>
            <a:fillRect/>
          </a:stretch>
        </p:blipFill>
        <p:spPr>
          <a:xfrm>
            <a:off x="9950000" y="3615000"/>
            <a:ext cx="7600000" cy="5320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§6.5.3, pp. 133–134; Simons &amp; Levin 1998; Rensink, O’Regan &amp; Clark 1997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Animation for Trends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5465984"/>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Trend </a:t>
            </a:r>
            <a:r>
              <a:rPr sz="2600" b="1" i="0" dirty="0">
                <a:solidFill>
                  <a:srgbClr val="1A1A1A"/>
                </a:solidFill>
                <a:latin typeface="Calibri"/>
              </a:rPr>
              <a:t>= direction of change over time </a:t>
            </a:r>
            <a:r>
              <a:rPr sz="2600" b="0" i="0" dirty="0">
                <a:solidFill>
                  <a:srgbClr val="1A1A1A"/>
                </a:solidFill>
                <a:latin typeface="Calibri"/>
              </a:rPr>
              <a:t>(e.g. countries moving toward higher income).</a:t>
            </a:r>
          </a:p>
          <a:p>
            <a:pPr marL="420000" indent="-340000">
              <a:lnSpc>
                <a:spcPct val="105000"/>
              </a:lnSpc>
              <a:spcAft>
                <a:spcPts val="700"/>
              </a:spcAft>
              <a:buFont typeface="Arial"/>
              <a:buChar char="•"/>
            </a:pPr>
            <a:r>
              <a:rPr sz="2600" b="0" i="0" dirty="0">
                <a:solidFill>
                  <a:srgbClr val="1A1A1A"/>
                </a:solidFill>
                <a:latin typeface="Calibri"/>
              </a:rPr>
              <a:t>Animated scatter plots (</a:t>
            </a:r>
            <a:r>
              <a:rPr sz="2600" b="0" i="0" dirty="0" err="1">
                <a:solidFill>
                  <a:srgbClr val="1A1A1A"/>
                </a:solidFill>
                <a:latin typeface="Calibri"/>
              </a:rPr>
              <a:t>Gapminder</a:t>
            </a:r>
            <a:r>
              <a:rPr sz="2600" b="0" i="0" dirty="0">
                <a:solidFill>
                  <a:srgbClr val="1A1A1A"/>
                </a:solidFill>
                <a:latin typeface="Calibri"/>
              </a:rPr>
              <a:t>) are compelling in presentations</a:t>
            </a:r>
          </a:p>
          <a:p>
            <a:pPr marL="420000" indent="-340000">
              <a:lnSpc>
                <a:spcPct val="105000"/>
              </a:lnSpc>
              <a:spcAft>
                <a:spcPts val="700"/>
              </a:spcAft>
              <a:buFont typeface="Arial"/>
              <a:buChar char="•"/>
            </a:pPr>
            <a:r>
              <a:rPr sz="2600" b="0" i="0" dirty="0">
                <a:solidFill>
                  <a:srgbClr val="1A1A1A"/>
                </a:solidFill>
                <a:latin typeface="Calibri"/>
              </a:rPr>
              <a:t>Robertson et al. (2008) compared animation, traces and small multiples:</a:t>
            </a:r>
          </a:p>
          <a:p>
            <a:pPr marL="900000" indent="-340000">
              <a:lnSpc>
                <a:spcPct val="105000"/>
              </a:lnSpc>
              <a:spcAft>
                <a:spcPts val="700"/>
              </a:spcAft>
              <a:buFont typeface="Arial"/>
              <a:buChar char="–"/>
            </a:pPr>
            <a:r>
              <a:rPr sz="2300" b="1" i="0" dirty="0">
                <a:solidFill>
                  <a:srgbClr val="333333"/>
                </a:solidFill>
                <a:latin typeface="Calibri"/>
              </a:rPr>
              <a:t>For analysis, animation was slowest and least accurate</a:t>
            </a:r>
          </a:p>
          <a:p>
            <a:pPr marL="900000" indent="-340000">
              <a:lnSpc>
                <a:spcPct val="105000"/>
              </a:lnSpc>
              <a:spcAft>
                <a:spcPts val="700"/>
              </a:spcAft>
              <a:buFont typeface="Arial"/>
              <a:buChar char="–"/>
            </a:pPr>
            <a:r>
              <a:rPr sz="2300" b="1" i="0" dirty="0">
                <a:solidFill>
                  <a:srgbClr val="333333"/>
                </a:solidFill>
                <a:latin typeface="Calibri"/>
              </a:rPr>
              <a:t>For presentation, animation was engaging and liked by viewers</a:t>
            </a:r>
          </a:p>
          <a:p>
            <a:pPr marL="420000" indent="-340000">
              <a:lnSpc>
                <a:spcPct val="105000"/>
              </a:lnSpc>
              <a:spcAft>
                <a:spcPts val="700"/>
              </a:spcAft>
              <a:buFont typeface="Arial"/>
              <a:buChar char="•"/>
            </a:pPr>
            <a:r>
              <a:rPr sz="2600" b="1" i="0" dirty="0">
                <a:solidFill>
                  <a:srgbClr val="1A1A1A"/>
                </a:solidFill>
                <a:latin typeface="Calibri"/>
              </a:rPr>
              <a:t>Static alternatives:</a:t>
            </a:r>
            <a:r>
              <a:rPr sz="2600" b="0" i="0" dirty="0">
                <a:solidFill>
                  <a:srgbClr val="1A1A1A"/>
                </a:solidFill>
                <a:latin typeface="Calibri"/>
              </a:rPr>
              <a:t> traces (trails) show each item’s whole path in one image; line charts show trends directly</a:t>
            </a:r>
          </a:p>
          <a:p>
            <a:pPr marL="420000" indent="-340000">
              <a:lnSpc>
                <a:spcPct val="105000"/>
              </a:lnSpc>
              <a:spcAft>
                <a:spcPts val="700"/>
              </a:spcAft>
              <a:buFont typeface="Arial"/>
              <a:buChar char="•"/>
            </a:pPr>
            <a:r>
              <a:rPr sz="2600" b="1" i="0" dirty="0">
                <a:solidFill>
                  <a:srgbClr val="1A1A1A"/>
                </a:solidFill>
                <a:latin typeface="Calibri"/>
              </a:rPr>
              <a:t>Wilke:</a:t>
            </a:r>
            <a:r>
              <a:rPr sz="2600" b="0" i="0" dirty="0">
                <a:solidFill>
                  <a:srgbClr val="1A1A1A"/>
                </a:solidFill>
                <a:latin typeface="Calibri"/>
              </a:rPr>
              <a:t> smoothing (moving averages, LOESS) makes the underlying trend easier to see</a:t>
            </a:r>
          </a:p>
        </p:txBody>
      </p:sp>
      <p:pic>
        <p:nvPicPr>
          <p:cNvPr id="8" name="Picture 7" descr="trends_traces.png"/>
          <p:cNvPicPr>
            <a:picLocks noChangeAspect="1"/>
          </p:cNvPicPr>
          <p:nvPr/>
        </p:nvPicPr>
        <p:blipFill>
          <a:blip r:embed="rId3"/>
          <a:stretch>
            <a:fillRect/>
          </a:stretch>
        </p:blipFill>
        <p:spPr>
          <a:xfrm>
            <a:off x="9950000" y="4555360"/>
            <a:ext cx="7600000" cy="3439279"/>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Robertson et al., ‘Effectiveness of Animation in Trend Visualization’, IEEE TVCG 14(6), 2008; Wilke, Fundamentals of Data Visualization (2019) Ch. 14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Animation for Spatial Data</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6149760"/>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For geographic or spatial fields, x and y are already used by space – </a:t>
            </a:r>
            <a:r>
              <a:rPr sz="2600" b="1" i="0" dirty="0">
                <a:solidFill>
                  <a:srgbClr val="1A1A1A"/>
                </a:solidFill>
                <a:latin typeface="Calibri"/>
              </a:rPr>
              <a:t>so time is often mapped to animation.</a:t>
            </a:r>
          </a:p>
          <a:p>
            <a:pPr marL="420000" indent="-340000">
              <a:lnSpc>
                <a:spcPct val="105000"/>
              </a:lnSpc>
              <a:spcAft>
                <a:spcPts val="700"/>
              </a:spcAft>
              <a:buFont typeface="Arial"/>
              <a:buChar char="•"/>
            </a:pPr>
            <a:r>
              <a:rPr sz="2600" b="0" i="0" dirty="0">
                <a:solidFill>
                  <a:srgbClr val="1A1A1A"/>
                </a:solidFill>
                <a:latin typeface="Calibri"/>
              </a:rPr>
              <a:t>Examples: weather radar loops, spread of an epidemic, traffic density, ocean temperature</a:t>
            </a:r>
          </a:p>
          <a:p>
            <a:pPr marL="420000" indent="-340000">
              <a:lnSpc>
                <a:spcPct val="105000"/>
              </a:lnSpc>
              <a:spcAft>
                <a:spcPts val="700"/>
              </a:spcAft>
              <a:buFont typeface="Arial"/>
              <a:buChar char="•"/>
            </a:pPr>
            <a:r>
              <a:rPr sz="2600" b="1" i="0" dirty="0" err="1">
                <a:solidFill>
                  <a:srgbClr val="1A1A1A"/>
                </a:solidFill>
                <a:latin typeface="Calibri"/>
              </a:rPr>
              <a:t>Munzner</a:t>
            </a:r>
            <a:r>
              <a:rPr sz="2600" b="1" i="0" dirty="0">
                <a:solidFill>
                  <a:srgbClr val="1A1A1A"/>
                </a:solidFill>
                <a:latin typeface="Calibri"/>
              </a:rPr>
              <a:t>:</a:t>
            </a:r>
            <a:r>
              <a:rPr sz="2600" b="0" i="0" dirty="0">
                <a:solidFill>
                  <a:srgbClr val="1A1A1A"/>
                </a:solidFill>
                <a:latin typeface="Calibri"/>
              </a:rPr>
              <a:t> time-varying spatial fields, e.g. a medical scan with keys x, y, z, t</a:t>
            </a:r>
          </a:p>
          <a:p>
            <a:pPr marL="420000" indent="-340000">
              <a:lnSpc>
                <a:spcPct val="105000"/>
              </a:lnSpc>
              <a:spcAft>
                <a:spcPts val="700"/>
              </a:spcAft>
              <a:buFont typeface="Arial"/>
              <a:buChar char="•"/>
            </a:pPr>
            <a:r>
              <a:rPr sz="2600" b="1" i="0" dirty="0">
                <a:solidFill>
                  <a:srgbClr val="1A1A1A"/>
                </a:solidFill>
                <a:latin typeface="Calibri"/>
              </a:rPr>
              <a:t>Works well for showing movement and spread of a phenomenon</a:t>
            </a:r>
          </a:p>
          <a:p>
            <a:pPr>
              <a:lnSpc>
                <a:spcPct val="105000"/>
              </a:lnSpc>
              <a:spcBef>
                <a:spcPts val="600"/>
              </a:spcBef>
              <a:spcAft>
                <a:spcPts val="700"/>
              </a:spcAft>
              <a:buNone/>
            </a:pPr>
            <a:r>
              <a:rPr sz="2600" b="1" i="0" dirty="0">
                <a:solidFill>
                  <a:srgbClr val="1F3864"/>
                </a:solidFill>
                <a:latin typeface="Calibri"/>
              </a:rPr>
              <a:t>Cautions</a:t>
            </a:r>
          </a:p>
          <a:p>
            <a:pPr marL="420000" indent="-340000">
              <a:lnSpc>
                <a:spcPct val="105000"/>
              </a:lnSpc>
              <a:spcAft>
                <a:spcPts val="700"/>
              </a:spcAft>
              <a:buFont typeface="Arial"/>
              <a:buChar char="•"/>
            </a:pPr>
            <a:r>
              <a:rPr sz="2600" b="1" i="0" dirty="0">
                <a:solidFill>
                  <a:srgbClr val="1A1A1A"/>
                </a:solidFill>
                <a:latin typeface="Calibri"/>
              </a:rPr>
              <a:t>Hard to compare value</a:t>
            </a:r>
            <a:r>
              <a:rPr sz="2600" b="0" i="0" dirty="0">
                <a:solidFill>
                  <a:srgbClr val="1A1A1A"/>
                </a:solidFill>
                <a:latin typeface="Calibri"/>
              </a:rPr>
              <a:t>s between distant frames</a:t>
            </a:r>
          </a:p>
          <a:p>
            <a:pPr marL="420000" indent="-340000">
              <a:lnSpc>
                <a:spcPct val="105000"/>
              </a:lnSpc>
              <a:spcAft>
                <a:spcPts val="700"/>
              </a:spcAft>
              <a:buFont typeface="Arial"/>
              <a:buChar char="•"/>
            </a:pPr>
            <a:r>
              <a:rPr sz="2600" b="1" i="0" dirty="0">
                <a:solidFill>
                  <a:srgbClr val="1A1A1A"/>
                </a:solidFill>
                <a:latin typeface="Calibri"/>
              </a:rPr>
              <a:t>Keep the </a:t>
            </a:r>
            <a:r>
              <a:rPr sz="2600" b="1" i="0" dirty="0" err="1">
                <a:solidFill>
                  <a:srgbClr val="1A1A1A"/>
                </a:solidFill>
                <a:latin typeface="Calibri"/>
              </a:rPr>
              <a:t>colour</a:t>
            </a:r>
            <a:r>
              <a:rPr sz="2600" b="1" i="0" dirty="0">
                <a:solidFill>
                  <a:srgbClr val="1A1A1A"/>
                </a:solidFill>
                <a:latin typeface="Calibri"/>
              </a:rPr>
              <a:t> scale fixed </a:t>
            </a:r>
            <a:r>
              <a:rPr sz="2600" b="0" i="0" dirty="0">
                <a:solidFill>
                  <a:srgbClr val="1A1A1A"/>
                </a:solidFill>
                <a:latin typeface="Calibri"/>
              </a:rPr>
              <a:t>across all frames</a:t>
            </a:r>
          </a:p>
          <a:p>
            <a:pPr marL="420000" indent="-340000">
              <a:lnSpc>
                <a:spcPct val="105000"/>
              </a:lnSpc>
              <a:spcAft>
                <a:spcPts val="700"/>
              </a:spcAft>
              <a:buFont typeface="Arial"/>
              <a:buChar char="•"/>
            </a:pPr>
            <a:r>
              <a:rPr sz="2600" b="0" i="0" dirty="0">
                <a:solidFill>
                  <a:srgbClr val="1A1A1A"/>
                </a:solidFill>
                <a:latin typeface="Calibri"/>
              </a:rPr>
              <a:t>Offer </a:t>
            </a:r>
            <a:r>
              <a:rPr sz="2600" b="1" i="0" dirty="0">
                <a:solidFill>
                  <a:srgbClr val="1A1A1A"/>
                </a:solidFill>
                <a:latin typeface="Calibri"/>
              </a:rPr>
              <a:t>playback control</a:t>
            </a:r>
            <a:r>
              <a:rPr sz="2600" b="0" i="0" dirty="0">
                <a:solidFill>
                  <a:srgbClr val="1A1A1A"/>
                </a:solidFill>
                <a:latin typeface="Calibri"/>
              </a:rPr>
              <a:t>; consider small-multiple maps for key moments</a:t>
            </a:r>
          </a:p>
        </p:txBody>
      </p:sp>
      <p:pic>
        <p:nvPicPr>
          <p:cNvPr id="8" name="Picture 7" descr="spatial_map.gif"/>
          <p:cNvPicPr>
            <a:picLocks noChangeAspect="1"/>
          </p:cNvPicPr>
          <p:nvPr/>
        </p:nvPicPr>
        <p:blipFill>
          <a:blip r:embed="rId3"/>
          <a:stretch>
            <a:fillRect/>
          </a:stretch>
        </p:blipFill>
        <p:spPr>
          <a:xfrm>
            <a:off x="9950000" y="3662500"/>
            <a:ext cx="7600000" cy="5225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§2.6.2, p. 39; §8 Arrange Spatial Data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Motion and Trajectories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4948919"/>
          </a:xfrm>
          <a:prstGeom prst="rect">
            <a:avLst/>
          </a:prstGeom>
          <a:noFill/>
        </p:spPr>
        <p:txBody>
          <a:bodyPr wrap="square" lIns="0" tIns="0" rIns="0" bIns="0" anchor="t">
            <a:spAutoFit/>
          </a:bodyPr>
          <a:lstStyle/>
          <a:p>
            <a:pPr>
              <a:lnSpc>
                <a:spcPct val="105000"/>
              </a:lnSpc>
              <a:spcAft>
                <a:spcPts val="700"/>
              </a:spcAft>
              <a:buNone/>
            </a:pPr>
            <a:r>
              <a:rPr sz="2600" b="1" i="0" dirty="0">
                <a:solidFill>
                  <a:srgbClr val="1A1A1A"/>
                </a:solidFill>
                <a:latin typeface="Calibri"/>
              </a:rPr>
              <a:t>A trajectory is the path of a moving object: a sequence of (x, y, t) positions.</a:t>
            </a:r>
          </a:p>
          <a:p>
            <a:pPr marL="420000" indent="-340000">
              <a:lnSpc>
                <a:spcPct val="105000"/>
              </a:lnSpc>
              <a:spcAft>
                <a:spcPts val="700"/>
              </a:spcAft>
              <a:buFont typeface="Arial"/>
              <a:buChar char="•"/>
            </a:pPr>
            <a:r>
              <a:rPr sz="2600" b="1" i="0" dirty="0">
                <a:solidFill>
                  <a:srgbClr val="1A1A1A"/>
                </a:solidFill>
                <a:latin typeface="Calibri"/>
              </a:rPr>
              <a:t>Examples: GPS tracks, animal herds (</a:t>
            </a:r>
            <a:r>
              <a:rPr sz="2600" b="1" i="0" dirty="0" err="1">
                <a:solidFill>
                  <a:srgbClr val="1A1A1A"/>
                </a:solidFill>
                <a:latin typeface="Calibri"/>
              </a:rPr>
              <a:t>Munzner’s</a:t>
            </a:r>
            <a:r>
              <a:rPr sz="2600" b="1" i="0" dirty="0">
                <a:solidFill>
                  <a:srgbClr val="1A1A1A"/>
                </a:solidFill>
                <a:latin typeface="Calibri"/>
              </a:rPr>
              <a:t> sensor-network example), hurricanes, players on a field</a:t>
            </a:r>
          </a:p>
          <a:p>
            <a:pPr marL="420000" indent="-340000">
              <a:lnSpc>
                <a:spcPct val="105000"/>
              </a:lnSpc>
              <a:spcAft>
                <a:spcPts val="700"/>
              </a:spcAft>
              <a:buFont typeface="Arial"/>
              <a:buChar char="•"/>
            </a:pPr>
            <a:r>
              <a:rPr sz="2600" b="1" i="0" dirty="0">
                <a:solidFill>
                  <a:srgbClr val="1A1A1A"/>
                </a:solidFill>
                <a:latin typeface="Calibri"/>
              </a:rPr>
              <a:t>Encodings:</a:t>
            </a:r>
          </a:p>
          <a:p>
            <a:pPr marL="900000" indent="-340000">
              <a:lnSpc>
                <a:spcPct val="105000"/>
              </a:lnSpc>
              <a:spcAft>
                <a:spcPts val="700"/>
              </a:spcAft>
              <a:buFont typeface="Arial"/>
              <a:buChar char="–"/>
            </a:pPr>
            <a:r>
              <a:rPr sz="2300" b="1" i="0" dirty="0">
                <a:solidFill>
                  <a:srgbClr val="333333"/>
                </a:solidFill>
                <a:latin typeface="Calibri"/>
              </a:rPr>
              <a:t>Animated moving dots </a:t>
            </a:r>
            <a:r>
              <a:rPr sz="2300" b="0" i="0" dirty="0">
                <a:solidFill>
                  <a:srgbClr val="333333"/>
                </a:solidFill>
                <a:latin typeface="Calibri"/>
              </a:rPr>
              <a:t>– shows speed &amp; order but relies on memory</a:t>
            </a:r>
          </a:p>
          <a:p>
            <a:pPr marL="900000" indent="-340000">
              <a:lnSpc>
                <a:spcPct val="105000"/>
              </a:lnSpc>
              <a:spcAft>
                <a:spcPts val="700"/>
              </a:spcAft>
              <a:buFont typeface="Arial"/>
              <a:buChar char="–"/>
            </a:pPr>
            <a:r>
              <a:rPr sz="2300" b="1" i="0" dirty="0">
                <a:solidFill>
                  <a:srgbClr val="333333"/>
                </a:solidFill>
                <a:latin typeface="Calibri"/>
              </a:rPr>
              <a:t>Static paths / trails </a:t>
            </a:r>
            <a:r>
              <a:rPr sz="2300" b="0" i="0" dirty="0">
                <a:solidFill>
                  <a:srgbClr val="333333"/>
                </a:solidFill>
                <a:latin typeface="Calibri"/>
              </a:rPr>
              <a:t>with arrows or </a:t>
            </a:r>
            <a:r>
              <a:rPr sz="2300" b="0" i="0" dirty="0" err="1">
                <a:solidFill>
                  <a:srgbClr val="333333"/>
                </a:solidFill>
                <a:latin typeface="Calibri"/>
              </a:rPr>
              <a:t>colour</a:t>
            </a:r>
            <a:r>
              <a:rPr sz="2300" b="0" i="0" dirty="0">
                <a:solidFill>
                  <a:srgbClr val="333333"/>
                </a:solidFill>
                <a:latin typeface="Calibri"/>
              </a:rPr>
              <a:t> gradients for direction</a:t>
            </a:r>
          </a:p>
          <a:p>
            <a:pPr marL="900000" indent="-340000">
              <a:lnSpc>
                <a:spcPct val="105000"/>
              </a:lnSpc>
              <a:spcAft>
                <a:spcPts val="700"/>
              </a:spcAft>
              <a:buFont typeface="Arial"/>
              <a:buChar char="–"/>
            </a:pPr>
            <a:r>
              <a:rPr sz="2300" b="1" i="0" dirty="0">
                <a:solidFill>
                  <a:srgbClr val="333333"/>
                </a:solidFill>
                <a:latin typeface="Calibri"/>
              </a:rPr>
              <a:t>Space-time cube</a:t>
            </a:r>
            <a:r>
              <a:rPr sz="2300" b="0" i="0" dirty="0">
                <a:solidFill>
                  <a:srgbClr val="333333"/>
                </a:solidFill>
                <a:latin typeface="Calibri"/>
              </a:rPr>
              <a:t>: x, y on the base, time on the vertical axis</a:t>
            </a:r>
          </a:p>
          <a:p>
            <a:pPr marL="420000" indent="-340000">
              <a:lnSpc>
                <a:spcPct val="105000"/>
              </a:lnSpc>
              <a:spcAft>
                <a:spcPts val="700"/>
              </a:spcAft>
              <a:buFont typeface="Arial"/>
              <a:buChar char="•"/>
            </a:pPr>
            <a:r>
              <a:rPr sz="2600" b="0" i="0" dirty="0">
                <a:solidFill>
                  <a:srgbClr val="1A1A1A"/>
                </a:solidFill>
                <a:latin typeface="Calibri"/>
              </a:rPr>
              <a:t>Direction and ordering must be shown explicitly (arrows, start/end marks, </a:t>
            </a:r>
            <a:r>
              <a:rPr sz="2600" b="0" i="0" dirty="0" err="1">
                <a:solidFill>
                  <a:srgbClr val="1A1A1A"/>
                </a:solidFill>
                <a:latin typeface="Calibri"/>
              </a:rPr>
              <a:t>colour</a:t>
            </a:r>
            <a:r>
              <a:rPr sz="2600" b="0" i="0" dirty="0">
                <a:solidFill>
                  <a:srgbClr val="1A1A1A"/>
                </a:solidFill>
                <a:latin typeface="Calibri"/>
              </a:rPr>
              <a:t> by time)</a:t>
            </a:r>
          </a:p>
        </p:txBody>
      </p:sp>
      <p:pic>
        <p:nvPicPr>
          <p:cNvPr id="8" name="Picture 7" descr="trajectories.png"/>
          <p:cNvPicPr>
            <a:picLocks noChangeAspect="1"/>
          </p:cNvPicPr>
          <p:nvPr/>
        </p:nvPicPr>
        <p:blipFill>
          <a:blip r:embed="rId3"/>
          <a:stretch>
            <a:fillRect/>
          </a:stretch>
        </p:blipFill>
        <p:spPr>
          <a:xfrm>
            <a:off x="9950000" y="4456117"/>
            <a:ext cx="7600000" cy="3637766"/>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§2.6.2.1, p. 39; Aigner et al., Visualization of Time-Oriented Data (2011)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Particle Animation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543357" y="1263263"/>
            <a:ext cx="10481942" cy="9076459"/>
          </a:xfrm>
          <a:prstGeom prst="rect">
            <a:avLst/>
          </a:prstGeom>
          <a:noFill/>
        </p:spPr>
        <p:txBody>
          <a:bodyPr wrap="square" lIns="0" tIns="0" rIns="0" bIns="0" anchor="t">
            <a:spAutoFit/>
          </a:bodyPr>
          <a:lstStyle/>
          <a:p>
            <a:pPr>
              <a:lnSpc>
                <a:spcPct val="105000"/>
              </a:lnSpc>
              <a:spcAft>
                <a:spcPts val="700"/>
              </a:spcAft>
              <a:buNone/>
            </a:pPr>
            <a:r>
              <a:rPr sz="2600" b="1" i="0" dirty="0">
                <a:solidFill>
                  <a:srgbClr val="1A1A1A"/>
                </a:solidFill>
                <a:latin typeface="Calibri"/>
              </a:rPr>
              <a:t>Particles are released in a vector (flow) field and moved along the velocity at each time step.</a:t>
            </a:r>
          </a:p>
          <a:p>
            <a:pPr marL="420000" indent="-340000">
              <a:lnSpc>
                <a:spcPct val="105000"/>
              </a:lnSpc>
              <a:spcAft>
                <a:spcPts val="700"/>
              </a:spcAft>
              <a:buFont typeface="Arial"/>
              <a:buChar char="•"/>
            </a:pPr>
            <a:r>
              <a:rPr sz="2600" b="0" i="0" dirty="0">
                <a:solidFill>
                  <a:srgbClr val="1A1A1A"/>
                </a:solidFill>
                <a:latin typeface="Calibri"/>
              </a:rPr>
              <a:t>Geometric flow idioms trace particle trajectories:</a:t>
            </a:r>
          </a:p>
          <a:p>
            <a:pPr marL="900000" indent="-340000">
              <a:lnSpc>
                <a:spcPct val="105000"/>
              </a:lnSpc>
              <a:spcAft>
                <a:spcPts val="700"/>
              </a:spcAft>
              <a:buFont typeface="Arial"/>
              <a:buChar char="–"/>
            </a:pPr>
            <a:r>
              <a:rPr sz="2300" b="1" i="0" dirty="0">
                <a:solidFill>
                  <a:srgbClr val="333333"/>
                </a:solidFill>
                <a:latin typeface="Calibri"/>
              </a:rPr>
              <a:t>Streamline – tangent to the velocity field at one instant</a:t>
            </a:r>
          </a:p>
          <a:p>
            <a:pPr marL="900000" indent="-340000">
              <a:lnSpc>
                <a:spcPct val="105000"/>
              </a:lnSpc>
              <a:spcAft>
                <a:spcPts val="700"/>
              </a:spcAft>
              <a:buFont typeface="Arial"/>
              <a:buChar char="–"/>
            </a:pPr>
            <a:r>
              <a:rPr sz="2300" b="1" i="0" dirty="0" err="1">
                <a:solidFill>
                  <a:srgbClr val="333333"/>
                </a:solidFill>
                <a:latin typeface="Calibri"/>
              </a:rPr>
              <a:t>Pathline</a:t>
            </a:r>
            <a:r>
              <a:rPr sz="2300" b="1" i="0" dirty="0">
                <a:solidFill>
                  <a:srgbClr val="333333"/>
                </a:solidFill>
                <a:latin typeface="Calibri"/>
              </a:rPr>
              <a:t> – actual route of one particle over time</a:t>
            </a:r>
          </a:p>
          <a:p>
            <a:pPr marL="900000" indent="-340000">
              <a:lnSpc>
                <a:spcPct val="105000"/>
              </a:lnSpc>
              <a:spcAft>
                <a:spcPts val="700"/>
              </a:spcAft>
              <a:buFont typeface="Arial"/>
              <a:buChar char="–"/>
            </a:pPr>
            <a:r>
              <a:rPr sz="2300" b="1" i="0" dirty="0" err="1">
                <a:solidFill>
                  <a:srgbClr val="333333"/>
                </a:solidFill>
                <a:latin typeface="Calibri"/>
              </a:rPr>
              <a:t>Streakline</a:t>
            </a:r>
            <a:r>
              <a:rPr sz="2300" b="1" i="0" dirty="0">
                <a:solidFill>
                  <a:srgbClr val="333333"/>
                </a:solidFill>
                <a:latin typeface="Calibri"/>
              </a:rPr>
              <a:t> – all particles released from one point (smoke trail)</a:t>
            </a:r>
          </a:p>
          <a:p>
            <a:pPr marL="420000" indent="-340000">
              <a:lnSpc>
                <a:spcPct val="105000"/>
              </a:lnSpc>
              <a:spcAft>
                <a:spcPts val="700"/>
              </a:spcAft>
              <a:buFont typeface="Arial"/>
              <a:buChar char="•"/>
            </a:pPr>
            <a:r>
              <a:rPr sz="2600" b="1" i="0" dirty="0">
                <a:solidFill>
                  <a:srgbClr val="1A1A1A"/>
                </a:solidFill>
                <a:latin typeface="Calibri"/>
              </a:rPr>
              <a:t>Steady flow:</a:t>
            </a:r>
            <a:r>
              <a:rPr sz="2600" b="0" i="0" dirty="0">
                <a:solidFill>
                  <a:srgbClr val="1A1A1A"/>
                </a:solidFill>
                <a:latin typeface="Calibri"/>
              </a:rPr>
              <a:t> these lines coincide; unsteady (time-varying) flow: they differ</a:t>
            </a:r>
          </a:p>
          <a:p>
            <a:pPr marL="420000" indent="-340000">
              <a:lnSpc>
                <a:spcPct val="105000"/>
              </a:lnSpc>
              <a:spcAft>
                <a:spcPts val="700"/>
              </a:spcAft>
              <a:buFont typeface="Arial"/>
              <a:buChar char="•"/>
            </a:pPr>
            <a:r>
              <a:rPr sz="2600" b="1" i="0" dirty="0">
                <a:solidFill>
                  <a:srgbClr val="1A1A1A"/>
                </a:solidFill>
                <a:latin typeface="Calibri"/>
              </a:rPr>
              <a:t>Texture flow (LIC</a:t>
            </a:r>
            <a:r>
              <a:rPr sz="2600" b="0" i="0" dirty="0">
                <a:solidFill>
                  <a:srgbClr val="1A1A1A"/>
                </a:solidFill>
                <a:latin typeface="Calibri"/>
              </a:rPr>
              <a:t>) uses dense particle tracing to smear a texture along flow</a:t>
            </a:r>
          </a:p>
          <a:p>
            <a:pPr marL="420000" indent="-340000">
              <a:lnSpc>
                <a:spcPct val="100000"/>
              </a:lnSpc>
              <a:spcAft>
                <a:spcPts val="700"/>
              </a:spcAft>
              <a:buFont typeface="Arial"/>
              <a:buChar char="•"/>
            </a:pPr>
            <a:r>
              <a:rPr sz="2600" b="0" i="0" dirty="0">
                <a:solidFill>
                  <a:srgbClr val="1A1A1A"/>
                </a:solidFill>
                <a:latin typeface="Calibri"/>
              </a:rPr>
              <a:t>Particles are </a:t>
            </a:r>
            <a:r>
              <a:rPr sz="2600" b="1" i="0" dirty="0">
                <a:solidFill>
                  <a:srgbClr val="1A1A1A"/>
                </a:solidFill>
                <a:latin typeface="Calibri"/>
              </a:rPr>
              <a:t>recycled</a:t>
            </a:r>
            <a:r>
              <a:rPr sz="2600" b="0" i="0" dirty="0">
                <a:solidFill>
                  <a:srgbClr val="1A1A1A"/>
                </a:solidFill>
                <a:latin typeface="Calibri"/>
              </a:rPr>
              <a:t> (re-seeded) to keep density even</a:t>
            </a:r>
            <a:r>
              <a:rPr lang="en-US" sz="2600" b="0" i="0" dirty="0">
                <a:solidFill>
                  <a:srgbClr val="1A1A1A"/>
                </a:solidFill>
                <a:latin typeface="Calibri"/>
              </a:rPr>
              <a:t>-</a:t>
            </a:r>
            <a:r>
              <a:rPr lang="en-IN" sz="2800" dirty="0" err="1"/>
              <a:t>xample</a:t>
            </a:r>
            <a:r>
              <a:rPr lang="en-IN" sz="2800" dirty="0"/>
              <a:t>: In an animation of air flowing around an airplane, new particles are continuously introduced so the airflow remains visible instead of the screen gradually becoming empty.</a:t>
            </a:r>
            <a:endParaRPr lang="en-US" sz="2600" b="0" i="0" dirty="0">
              <a:solidFill>
                <a:srgbClr val="1A1A1A"/>
              </a:solidFill>
              <a:latin typeface="Calibri"/>
            </a:endParaRPr>
          </a:p>
          <a:p>
            <a:pPr lvl="0"/>
            <a:r>
              <a:rPr lang="en-IN" sz="2800" b="1" dirty="0"/>
              <a:t>Steady flow: The velocity at each location does not change with time. Streamlines, </a:t>
            </a:r>
            <a:r>
              <a:rPr lang="en-IN" sz="2800" b="1" dirty="0" err="1"/>
              <a:t>pathlines</a:t>
            </a:r>
            <a:r>
              <a:rPr lang="en-IN" sz="2800" b="1" dirty="0"/>
              <a:t>, and </a:t>
            </a:r>
            <a:r>
              <a:rPr lang="en-IN" sz="2800" b="1" dirty="0" err="1"/>
              <a:t>streaklines</a:t>
            </a:r>
            <a:r>
              <a:rPr lang="en-IN" sz="2800" b="1" dirty="0"/>
              <a:t> coincide (assuming the same flow and release setup).</a:t>
            </a:r>
          </a:p>
          <a:p>
            <a:pPr lvl="0"/>
            <a:r>
              <a:rPr lang="en-IN" sz="2800" b="1" dirty="0"/>
              <a:t>Unsteady flow: The velocity changes with time. </a:t>
            </a:r>
            <a:r>
              <a:rPr lang="en-IN" sz="2800" dirty="0"/>
              <a:t>Example: If river water flows at a constant rate, the lines may coincide. If the current changes direction or speed over time, a leaf's path may differ from the flow pattern seen in a single snapshot.</a:t>
            </a:r>
            <a:endParaRPr lang="en-IN" sz="2800" b="1" dirty="0"/>
          </a:p>
          <a:p>
            <a:pPr marL="420000" indent="-340000">
              <a:lnSpc>
                <a:spcPct val="105000"/>
              </a:lnSpc>
              <a:spcAft>
                <a:spcPts val="700"/>
              </a:spcAft>
              <a:buFont typeface="Arial"/>
              <a:buChar char="•"/>
            </a:pPr>
            <a:endParaRPr sz="2600" b="0" i="0" dirty="0">
              <a:solidFill>
                <a:srgbClr val="1A1A1A"/>
              </a:solidFill>
              <a:latin typeface="Calibri"/>
            </a:endParaRPr>
          </a:p>
        </p:txBody>
      </p:sp>
      <p:pic>
        <p:nvPicPr>
          <p:cNvPr id="8" name="Picture 7" descr="particles.gif"/>
          <p:cNvPicPr>
            <a:picLocks noChangeAspect="1"/>
          </p:cNvPicPr>
          <p:nvPr/>
        </p:nvPicPr>
        <p:blipFill>
          <a:blip r:embed="rId3"/>
          <a:stretch>
            <a:fillRect/>
          </a:stretch>
        </p:blipFill>
        <p:spPr>
          <a:xfrm>
            <a:off x="11014413" y="817177"/>
            <a:ext cx="5604294" cy="5189161"/>
          </a:xfrm>
          <a:prstGeom prst="rect">
            <a:avLst/>
          </a:prstGeom>
          <a:ln w="12700">
            <a:solidFill>
              <a:srgbClr val="D9D9D9"/>
            </a:solidFill>
          </a:ln>
        </p:spPr>
      </p:pic>
      <p:pic>
        <p:nvPicPr>
          <p:cNvPr id="10" name="Picture 9" descr="PPT - Vector Field Visualization PowerPoint Presentation, free download - ID:4801950">
            <a:extLst>
              <a:ext uri="{FF2B5EF4-FFF2-40B4-BE49-F238E27FC236}">
                <a16:creationId xmlns:a16="http://schemas.microsoft.com/office/drawing/2014/main" id="{DDBA7DB7-E1F4-95D3-69BF-672D5E7B2A28}"/>
              </a:ext>
            </a:extLst>
          </p:cNvPr>
          <p:cNvPicPr>
            <a:picLocks noChangeAspect="1"/>
          </p:cNvPicPr>
          <p:nvPr/>
        </p:nvPicPr>
        <p:blipFill>
          <a:blip r:embed="rId4"/>
          <a:stretch>
            <a:fillRect/>
          </a:stretch>
        </p:blipFill>
        <p:spPr>
          <a:xfrm>
            <a:off x="11428942" y="6006338"/>
            <a:ext cx="5189765" cy="389232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Numerical 4: Particle Advection (Euler)</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Rounded Rectangle 6"/>
          <p:cNvSpPr/>
          <p:nvPr/>
        </p:nvSpPr>
        <p:spPr>
          <a:xfrm>
            <a:off x="681104" y="2150000"/>
            <a:ext cx="15968896" cy="2850000"/>
          </a:xfrm>
          <a:prstGeom prst="roundRect">
            <a:avLst>
              <a:gd name="adj" fmla="val 6000"/>
            </a:avLst>
          </a:prstGeom>
          <a:solidFill>
            <a:srgbClr val="FBEEE4"/>
          </a:solidFill>
          <a:ln w="19050">
            <a:solidFill>
              <a:srgbClr val="DFA26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31104" y="2300000"/>
            <a:ext cx="15468896" cy="2600000"/>
          </a:xfrm>
          <a:prstGeom prst="rect">
            <a:avLst/>
          </a:prstGeom>
          <a:noFill/>
        </p:spPr>
        <p:txBody>
          <a:bodyPr wrap="square" lIns="0" tIns="0" rIns="0" bIns="0" anchor="t">
            <a:spAutoFit/>
          </a:bodyPr>
          <a:lstStyle/>
          <a:p>
            <a:r>
              <a:rPr sz="2700" b="1" i="0">
                <a:solidFill>
                  <a:srgbClr val="C55A11"/>
                </a:solidFill>
                <a:latin typeface="Calibri"/>
              </a:rPr>
              <a:t>Problem</a:t>
            </a:r>
          </a:p>
          <a:p>
            <a:pPr>
              <a:spcAft>
                <a:spcPts val="300"/>
              </a:spcAft>
            </a:pPr>
            <a:r>
              <a:rPr sz="2500" b="0" i="0">
                <a:solidFill>
                  <a:srgbClr val="1A1A1A"/>
                </a:solidFill>
                <a:latin typeface="Calibri"/>
              </a:rPr>
              <a:t>Velocity field v(x, y) = (−y, x) (rotation about the origin).</a:t>
            </a:r>
          </a:p>
          <a:p>
            <a:pPr>
              <a:spcAft>
                <a:spcPts val="300"/>
              </a:spcAft>
            </a:pPr>
            <a:r>
              <a:rPr sz="2500" b="0" i="0">
                <a:solidFill>
                  <a:srgbClr val="1A1A1A"/>
                </a:solidFill>
                <a:latin typeface="Calibri"/>
              </a:rPr>
              <a:t>A particle starts at p₀ = (1, 0). Use Euler’s method  pₙ₊₁ = pₙ + Δt · v(pₙ)  with Δt = 0.1.</a:t>
            </a:r>
          </a:p>
          <a:p>
            <a:pPr>
              <a:spcAft>
                <a:spcPts val="300"/>
              </a:spcAft>
            </a:pPr>
            <a:r>
              <a:rPr sz="2500" b="0" i="0">
                <a:solidFill>
                  <a:srgbClr val="1A1A1A"/>
                </a:solidFill>
                <a:latin typeface="Calibri"/>
              </a:rPr>
              <a:t>(a) Find p₁, p₂, p₃.  (b) The exact path is the unit circle – what is the error after 3 steps?</a:t>
            </a:r>
          </a:p>
        </p:txBody>
      </p:sp>
      <p:sp>
        <p:nvSpPr>
          <p:cNvPr id="9" name="Rounded Rectangle 8"/>
          <p:cNvSpPr/>
          <p:nvPr/>
        </p:nvSpPr>
        <p:spPr>
          <a:xfrm>
            <a:off x="681104" y="5200000"/>
            <a:ext cx="15968896" cy="4400000"/>
          </a:xfrm>
          <a:prstGeom prst="roundRect">
            <a:avLst>
              <a:gd name="adj" fmla="val 6000"/>
            </a:avLst>
          </a:prstGeom>
          <a:solidFill>
            <a:srgbClr val="EAF0FA"/>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31104" y="5350000"/>
            <a:ext cx="15468896" cy="4100000"/>
          </a:xfrm>
          <a:prstGeom prst="rect">
            <a:avLst/>
          </a:prstGeom>
          <a:noFill/>
        </p:spPr>
        <p:txBody>
          <a:bodyPr wrap="square" lIns="0" tIns="0" rIns="0" bIns="0" anchor="t">
            <a:spAutoFit/>
          </a:bodyPr>
          <a:lstStyle/>
          <a:p>
            <a:r>
              <a:rPr sz="2700" b="1" i="0">
                <a:solidFill>
                  <a:srgbClr val="4472C4"/>
                </a:solidFill>
                <a:latin typeface="Calibri"/>
              </a:rPr>
              <a:t>Solution</a:t>
            </a:r>
          </a:p>
          <a:p>
            <a:pPr>
              <a:spcAft>
                <a:spcPts val="400"/>
              </a:spcAft>
            </a:pPr>
            <a:r>
              <a:rPr sz="2500" b="1" i="0">
                <a:solidFill>
                  <a:srgbClr val="1F3864"/>
                </a:solidFill>
                <a:latin typeface="Calibri"/>
              </a:rPr>
              <a:t>(a)</a:t>
            </a:r>
            <a:r>
              <a:rPr sz="2500" b="0" i="0">
                <a:solidFill>
                  <a:srgbClr val="1A1A1A"/>
                </a:solidFill>
                <a:latin typeface="Calibri"/>
              </a:rPr>
              <a:t> v(p₀) = (0, 1) → p₁ = (1, 0) + 0.1(0, 1) = (1.000, 0.100)</a:t>
            </a:r>
          </a:p>
          <a:p>
            <a:pPr>
              <a:spcAft>
                <a:spcPts val="400"/>
              </a:spcAft>
            </a:pPr>
            <a:r>
              <a:rPr sz="2500" b="0" i="0">
                <a:solidFill>
                  <a:srgbClr val="1A1A1A"/>
                </a:solidFill>
                <a:latin typeface="Calibri"/>
              </a:rPr>
              <a:t>       v(p₁) = (−0.1, 1) → p₂ = (0.990, 0.200)</a:t>
            </a:r>
          </a:p>
          <a:p>
            <a:pPr>
              <a:spcAft>
                <a:spcPts val="400"/>
              </a:spcAft>
            </a:pPr>
            <a:r>
              <a:rPr sz="2500" b="0" i="0">
                <a:solidFill>
                  <a:srgbClr val="1A1A1A"/>
                </a:solidFill>
                <a:latin typeface="Calibri"/>
              </a:rPr>
              <a:t>       v(p₂) = (−0.2, 0.99) → p₃ = (0.970, 0.299)</a:t>
            </a:r>
          </a:p>
          <a:p>
            <a:pPr>
              <a:spcAft>
                <a:spcPts val="400"/>
              </a:spcAft>
            </a:pPr>
            <a:r>
              <a:rPr sz="2500" b="1" i="0">
                <a:solidFill>
                  <a:srgbClr val="1F3864"/>
                </a:solidFill>
                <a:latin typeface="Calibri"/>
              </a:rPr>
              <a:t>(b)</a:t>
            </a:r>
            <a:r>
              <a:rPr sz="2500" b="0" i="0">
                <a:solidFill>
                  <a:srgbClr val="1A1A1A"/>
                </a:solidFill>
                <a:latin typeface="Calibri"/>
              </a:rPr>
              <a:t> |p₃| = √(0.970² + 0.299²) = √1.0303 ≈ 1.015</a:t>
            </a:r>
          </a:p>
          <a:p>
            <a:pPr>
              <a:spcAft>
                <a:spcPts val="400"/>
              </a:spcAft>
            </a:pPr>
            <a:r>
              <a:rPr sz="2500" b="0" i="0">
                <a:solidFill>
                  <a:srgbClr val="1A1A1A"/>
                </a:solidFill>
                <a:latin typeface="Calibri"/>
              </a:rPr>
              <a:t>       → the particle drifts outward by ≈ 1.5 %</a:t>
            </a:r>
          </a:p>
          <a:p>
            <a:pPr>
              <a:spcAft>
                <a:spcPts val="400"/>
              </a:spcAft>
            </a:pPr>
            <a:r>
              <a:rPr sz="2500" b="0" i="0">
                <a:solidFill>
                  <a:srgbClr val="1A1A1A"/>
                </a:solidFill>
                <a:latin typeface="Calibri"/>
              </a:rPr>
              <a:t>       Fix: smaller Δt or higher-order integrators (RK4) for accurate paths</a:t>
            </a:r>
          </a:p>
        </p:txBody>
      </p:sp>
      <p:sp>
        <p:nvSpPr>
          <p:cNvPr id="11" name="TextBox 10"/>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Worked example on geometric flow / particle tracing (Munzner, Visualization Analysis and Design (2014) §8.5.2)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Temporal Visualization Fundamentals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7450000"/>
          </a:xfrm>
          <a:prstGeom prst="rect">
            <a:avLst/>
          </a:prstGeom>
          <a:noFill/>
        </p:spPr>
        <p:txBody>
          <a:bodyPr wrap="square" lIns="0" tIns="0" rIns="0" bIns="0" anchor="t">
            <a:spAutoFit/>
          </a:bodyPr>
          <a:lstStyle/>
          <a:p>
            <a:pPr>
              <a:lnSpc>
                <a:spcPct val="105000"/>
              </a:lnSpc>
              <a:spcAft>
                <a:spcPts val="700"/>
              </a:spcAft>
              <a:buNone/>
            </a:pPr>
            <a:r>
              <a:rPr sz="2600" b="0" i="0">
                <a:solidFill>
                  <a:srgbClr val="1A1A1A"/>
                </a:solidFill>
                <a:latin typeface="Calibri"/>
              </a:rPr>
              <a:t>Time has rich structure that affects how we visualize it.</a:t>
            </a:r>
          </a:p>
          <a:p>
            <a:pPr marL="420000" indent="-340000">
              <a:lnSpc>
                <a:spcPct val="105000"/>
              </a:lnSpc>
              <a:spcAft>
                <a:spcPts val="700"/>
              </a:spcAft>
              <a:buFont typeface="Arial"/>
              <a:buChar char="•"/>
            </a:pPr>
            <a:r>
              <a:rPr sz="2600" b="1" i="0">
                <a:solidFill>
                  <a:srgbClr val="1A1A1A"/>
                </a:solidFill>
                <a:latin typeface="Calibri"/>
              </a:rPr>
              <a:t>Multiscale hierarchy:</a:t>
            </a:r>
            <a:r>
              <a:rPr sz="2600" b="0" i="0">
                <a:solidFill>
                  <a:srgbClr val="1A1A1A"/>
                </a:solidFill>
                <a:latin typeface="Calibri"/>
              </a:rPr>
              <a:t> nanoseconds → hours → decades → millennia</a:t>
            </a:r>
          </a:p>
          <a:p>
            <a:pPr marL="420000" indent="-340000">
              <a:lnSpc>
                <a:spcPct val="105000"/>
              </a:lnSpc>
              <a:spcAft>
                <a:spcPts val="700"/>
              </a:spcAft>
              <a:buFont typeface="Arial"/>
              <a:buChar char="•"/>
            </a:pPr>
            <a:r>
              <a:rPr sz="2600" b="1" i="0">
                <a:solidFill>
                  <a:srgbClr val="1A1A1A"/>
                </a:solidFill>
                <a:latin typeface="Calibri"/>
              </a:rPr>
              <a:t>Scales don’t nest neatly:</a:t>
            </a:r>
            <a:r>
              <a:rPr sz="2600" b="0" i="0">
                <a:solidFill>
                  <a:srgbClr val="1A1A1A"/>
                </a:solidFill>
                <a:latin typeface="Calibri"/>
              </a:rPr>
              <a:t> weeks do not fit into months</a:t>
            </a:r>
          </a:p>
          <a:p>
            <a:pPr marL="420000" indent="-340000">
              <a:lnSpc>
                <a:spcPct val="105000"/>
              </a:lnSpc>
              <a:spcAft>
                <a:spcPts val="700"/>
              </a:spcAft>
              <a:buFont typeface="Arial"/>
              <a:buChar char="•"/>
            </a:pPr>
            <a:r>
              <a:rPr sz="2600" b="1" i="0">
                <a:solidFill>
                  <a:srgbClr val="1A1A1A"/>
                </a:solidFill>
                <a:latin typeface="Calibri"/>
              </a:rPr>
              <a:t>Periodicity:</a:t>
            </a:r>
            <a:r>
              <a:rPr sz="2600" b="0" i="0">
                <a:solidFill>
                  <a:srgbClr val="1A1A1A"/>
                </a:solidFill>
                <a:latin typeface="Calibri"/>
              </a:rPr>
              <a:t> daily, weekly, seasonal cycles; finding periods is a common task</a:t>
            </a:r>
          </a:p>
          <a:p>
            <a:pPr>
              <a:lnSpc>
                <a:spcPct val="105000"/>
              </a:lnSpc>
              <a:spcBef>
                <a:spcPts val="600"/>
              </a:spcBef>
              <a:spcAft>
                <a:spcPts val="700"/>
              </a:spcAft>
              <a:buNone/>
            </a:pPr>
            <a:r>
              <a:rPr sz="2600" b="1" i="0">
                <a:solidFill>
                  <a:srgbClr val="1F3864"/>
                </a:solidFill>
                <a:latin typeface="Calibri"/>
              </a:rPr>
              <a:t>Aigner et al.’s design aspects of time</a:t>
            </a:r>
          </a:p>
          <a:p>
            <a:pPr marL="420000" indent="-340000">
              <a:lnSpc>
                <a:spcPct val="105000"/>
              </a:lnSpc>
              <a:spcAft>
                <a:spcPts val="700"/>
              </a:spcAft>
              <a:buFont typeface="Arial"/>
              <a:buChar char="•"/>
            </a:pPr>
            <a:r>
              <a:rPr sz="2600" b="1" i="0">
                <a:solidFill>
                  <a:srgbClr val="1A1A1A"/>
                </a:solidFill>
                <a:latin typeface="Calibri"/>
              </a:rPr>
              <a:t>Primitives:</a:t>
            </a:r>
            <a:r>
              <a:rPr sz="2600" b="0" i="0">
                <a:solidFill>
                  <a:srgbClr val="1A1A1A"/>
                </a:solidFill>
                <a:latin typeface="Calibri"/>
              </a:rPr>
              <a:t> time points vs time intervals</a:t>
            </a:r>
          </a:p>
          <a:p>
            <a:pPr marL="420000" indent="-340000">
              <a:lnSpc>
                <a:spcPct val="105000"/>
              </a:lnSpc>
              <a:spcAft>
                <a:spcPts val="700"/>
              </a:spcAft>
              <a:buFont typeface="Arial"/>
              <a:buChar char="•"/>
            </a:pPr>
            <a:r>
              <a:rPr sz="2600" b="1" i="0">
                <a:solidFill>
                  <a:srgbClr val="1A1A1A"/>
                </a:solidFill>
                <a:latin typeface="Calibri"/>
              </a:rPr>
              <a:t>Structure:</a:t>
            </a:r>
            <a:r>
              <a:rPr sz="2600" b="0" i="0">
                <a:solidFill>
                  <a:srgbClr val="1A1A1A"/>
                </a:solidFill>
                <a:latin typeface="Calibri"/>
              </a:rPr>
              <a:t> linear, cyclic, branching</a:t>
            </a:r>
          </a:p>
          <a:p>
            <a:pPr marL="420000" indent="-340000">
              <a:lnSpc>
                <a:spcPct val="105000"/>
              </a:lnSpc>
              <a:spcAft>
                <a:spcPts val="700"/>
              </a:spcAft>
              <a:buFont typeface="Arial"/>
              <a:buChar char="•"/>
            </a:pPr>
            <a:r>
              <a:rPr sz="2600" b="1" i="0">
                <a:solidFill>
                  <a:srgbClr val="1A1A1A"/>
                </a:solidFill>
                <a:latin typeface="Calibri"/>
              </a:rPr>
              <a:t>Granularity &amp; scale:</a:t>
            </a:r>
            <a:r>
              <a:rPr sz="2600" b="0" i="0">
                <a:solidFill>
                  <a:srgbClr val="1A1A1A"/>
                </a:solidFill>
                <a:latin typeface="Calibri"/>
              </a:rPr>
              <a:t> discrete units (second, day, year) vs continuous</a:t>
            </a:r>
          </a:p>
        </p:txBody>
      </p:sp>
      <p:pic>
        <p:nvPicPr>
          <p:cNvPr id="8" name="Picture 7" descr="time_primitives.png"/>
          <p:cNvPicPr>
            <a:picLocks noChangeAspect="1"/>
          </p:cNvPicPr>
          <p:nvPr/>
        </p:nvPicPr>
        <p:blipFill>
          <a:blip r:embed="rId3"/>
          <a:stretch>
            <a:fillRect/>
          </a:stretch>
        </p:blipFill>
        <p:spPr>
          <a:xfrm>
            <a:off x="9950000" y="4130365"/>
            <a:ext cx="7600000" cy="428927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§2.6.2 Temporal Semantics, pp. 38–39; Aigner, Miksch, Schumann &amp; Tominski (2011)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Temporal Data and Time-Dependent Data</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Rounded Rectangle 6"/>
          <p:cNvSpPr/>
          <p:nvPr/>
        </p:nvSpPr>
        <p:spPr>
          <a:xfrm>
            <a:off x="681104" y="2150000"/>
            <a:ext cx="7700000" cy="6050000"/>
          </a:xfrm>
          <a:prstGeom prst="roundRect">
            <a:avLst>
              <a:gd name="adj" fmla="val 6000"/>
            </a:avLst>
          </a:prstGeom>
          <a:solidFill>
            <a:srgbClr val="FBEEE4"/>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01104" y="2310000"/>
            <a:ext cx="7260000" cy="4042132"/>
          </a:xfrm>
          <a:prstGeom prst="rect">
            <a:avLst/>
          </a:prstGeom>
          <a:noFill/>
        </p:spPr>
        <p:txBody>
          <a:bodyPr wrap="square" lIns="0" tIns="0" rIns="0" bIns="0" anchor="t">
            <a:spAutoFit/>
          </a:bodyPr>
          <a:lstStyle/>
          <a:p>
            <a:pPr>
              <a:spcAft>
                <a:spcPts val="800"/>
              </a:spcAft>
            </a:pPr>
            <a:r>
              <a:rPr sz="2800" b="1" i="0" dirty="0">
                <a:solidFill>
                  <a:srgbClr val="C55A11"/>
                </a:solidFill>
                <a:latin typeface="Calibri"/>
              </a:rPr>
              <a:t>Temporal attribute</a:t>
            </a:r>
          </a:p>
          <a:p>
            <a:pPr marL="420000" indent="-340000">
              <a:spcAft>
                <a:spcPts val="600"/>
              </a:spcAft>
              <a:buFont typeface="Arial"/>
              <a:buChar char="•"/>
            </a:pPr>
            <a:r>
              <a:rPr sz="2600" b="0" i="0" dirty="0">
                <a:solidFill>
                  <a:srgbClr val="1A1A1A"/>
                </a:solidFill>
                <a:latin typeface="Calibri"/>
              </a:rPr>
              <a:t>Any information related to time</a:t>
            </a:r>
          </a:p>
          <a:p>
            <a:pPr marL="420000" indent="-340000">
              <a:spcAft>
                <a:spcPts val="600"/>
              </a:spcAft>
              <a:buFont typeface="Arial"/>
              <a:buChar char="•"/>
            </a:pPr>
            <a:r>
              <a:rPr sz="2600" b="0" i="0" dirty="0">
                <a:solidFill>
                  <a:srgbClr val="1A1A1A"/>
                </a:solidFill>
                <a:latin typeface="Calibri"/>
              </a:rPr>
              <a:t>Can have value semantics: e.g. duration of a race, date of a transaction</a:t>
            </a:r>
          </a:p>
          <a:p>
            <a:pPr marL="420000" indent="-340000">
              <a:spcAft>
                <a:spcPts val="600"/>
              </a:spcAft>
              <a:buFont typeface="Arial"/>
              <a:buChar char="•"/>
            </a:pPr>
            <a:r>
              <a:rPr sz="2600" b="0" i="0" dirty="0">
                <a:solidFill>
                  <a:srgbClr val="1A1A1A"/>
                </a:solidFill>
                <a:latin typeface="Calibri"/>
              </a:rPr>
              <a:t>Example: horse-racing data with start times and run durations – temporal, but NOT time-varying</a:t>
            </a:r>
          </a:p>
          <a:p>
            <a:pPr marL="420000" indent="-340000">
              <a:spcAft>
                <a:spcPts val="600"/>
              </a:spcAft>
              <a:buFont typeface="Arial"/>
              <a:buChar char="•"/>
            </a:pPr>
            <a:r>
              <a:rPr sz="2600" b="0" i="0" dirty="0">
                <a:solidFill>
                  <a:srgbClr val="1A1A1A"/>
                </a:solidFill>
                <a:latin typeface="Calibri"/>
              </a:rPr>
              <a:t>Usually quantitative; may be treated as ordinal if gaps don’t matter</a:t>
            </a:r>
            <a:endParaRPr lang="en-US" sz="2600" b="0" i="0" dirty="0">
              <a:solidFill>
                <a:srgbClr val="1A1A1A"/>
              </a:solidFill>
              <a:latin typeface="Calibri"/>
            </a:endParaRPr>
          </a:p>
          <a:p>
            <a:pPr marL="420000" indent="-340000">
              <a:spcAft>
                <a:spcPts val="600"/>
              </a:spcAft>
              <a:buFont typeface="Arial"/>
              <a:buChar char="•"/>
            </a:pPr>
            <a:endParaRPr sz="2600" b="0" i="0" dirty="0">
              <a:solidFill>
                <a:srgbClr val="1A1A1A"/>
              </a:solidFill>
              <a:latin typeface="Calibri"/>
            </a:endParaRPr>
          </a:p>
        </p:txBody>
      </p:sp>
      <p:sp>
        <p:nvSpPr>
          <p:cNvPr id="9" name="Rounded Rectangle 8"/>
          <p:cNvSpPr/>
          <p:nvPr/>
        </p:nvSpPr>
        <p:spPr>
          <a:xfrm>
            <a:off x="8681104" y="2150000"/>
            <a:ext cx="7700000" cy="6050000"/>
          </a:xfrm>
          <a:prstGeom prst="roundRect">
            <a:avLst>
              <a:gd name="adj" fmla="val 6000"/>
            </a:avLst>
          </a:prstGeom>
          <a:solidFill>
            <a:srgbClr val="EAF0FA"/>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901104" y="2310000"/>
            <a:ext cx="7260000" cy="5750000"/>
          </a:xfrm>
          <a:prstGeom prst="rect">
            <a:avLst/>
          </a:prstGeom>
          <a:noFill/>
        </p:spPr>
        <p:txBody>
          <a:bodyPr wrap="square" lIns="0" tIns="0" rIns="0" bIns="0" anchor="t">
            <a:spAutoFit/>
          </a:bodyPr>
          <a:lstStyle/>
          <a:p>
            <a:pPr>
              <a:spcAft>
                <a:spcPts val="800"/>
              </a:spcAft>
            </a:pPr>
            <a:r>
              <a:rPr sz="2800" b="1" i="0">
                <a:solidFill>
                  <a:srgbClr val="4472C4"/>
                </a:solidFill>
                <a:latin typeface="Calibri"/>
              </a:rPr>
              <a:t>Time-dependent (time-varying) data</a:t>
            </a:r>
          </a:p>
          <a:p>
            <a:pPr marL="420000" indent="-340000">
              <a:spcAft>
                <a:spcPts val="600"/>
              </a:spcAft>
              <a:buFont typeface="Arial"/>
              <a:buChar char="•"/>
            </a:pPr>
            <a:r>
              <a:rPr sz="2600" b="0" i="0">
                <a:solidFill>
                  <a:srgbClr val="1A1A1A"/>
                </a:solidFill>
                <a:latin typeface="Calibri"/>
              </a:rPr>
              <a:t>Time is an independent KEY attribute</a:t>
            </a:r>
          </a:p>
          <a:p>
            <a:pPr marL="420000" indent="-340000">
              <a:spcAft>
                <a:spcPts val="600"/>
              </a:spcAft>
              <a:buFont typeface="Arial"/>
              <a:buChar char="•"/>
            </a:pPr>
            <a:r>
              <a:rPr sz="2600" b="0" i="0">
                <a:solidFill>
                  <a:srgbClr val="1A1A1A"/>
                </a:solidFill>
                <a:latin typeface="Calibri"/>
              </a:rPr>
              <a:t>Values depend on time: v = f(t)</a:t>
            </a:r>
          </a:p>
          <a:p>
            <a:pPr marL="420000" indent="-340000">
              <a:spcAft>
                <a:spcPts val="600"/>
              </a:spcAft>
              <a:buFont typeface="Arial"/>
              <a:buChar char="•"/>
            </a:pPr>
            <a:r>
              <a:rPr sz="2600" b="0" i="0">
                <a:solidFill>
                  <a:srgbClr val="1A1A1A"/>
                </a:solidFill>
                <a:latin typeface="Calibri"/>
              </a:rPr>
              <a:t>Example: sensor network tracking each animal in a herd every second</a:t>
            </a:r>
          </a:p>
          <a:p>
            <a:pPr marL="420000" indent="-340000">
              <a:spcAft>
                <a:spcPts val="600"/>
              </a:spcAft>
              <a:buFont typeface="Arial"/>
              <a:buChar char="•"/>
            </a:pPr>
            <a:r>
              <a:rPr sz="2600" b="0" i="0">
                <a:solidFill>
                  <a:srgbClr val="1A1A1A"/>
                </a:solidFill>
                <a:latin typeface="Calibri"/>
              </a:rPr>
              <a:t>Time-series = ordered sequence of time–value pairs (a table with time as key)</a:t>
            </a:r>
          </a:p>
          <a:p>
            <a:pPr marL="420000" indent="-340000">
              <a:spcAft>
                <a:spcPts val="600"/>
              </a:spcAft>
              <a:buFont typeface="Arial"/>
              <a:buChar char="•"/>
            </a:pPr>
            <a:r>
              <a:rPr sz="2600" b="0" i="0">
                <a:solidFill>
                  <a:srgbClr val="1A1A1A"/>
                </a:solidFill>
                <a:latin typeface="Calibri"/>
              </a:rPr>
              <a:t>Tasks: find trends, correlations, variation at hourly, daily, weekly, seasonal scales</a:t>
            </a:r>
          </a:p>
        </p:txBody>
      </p:sp>
      <p:sp>
        <p:nvSpPr>
          <p:cNvPr id="11" name="TextBox 10"/>
          <p:cNvSpPr txBox="1"/>
          <p:nvPr/>
        </p:nvSpPr>
        <p:spPr>
          <a:xfrm>
            <a:off x="681104" y="8400000"/>
            <a:ext cx="16068896" cy="1815882"/>
          </a:xfrm>
          <a:prstGeom prst="rect">
            <a:avLst/>
          </a:prstGeom>
          <a:noFill/>
        </p:spPr>
        <p:txBody>
          <a:bodyPr wrap="square" lIns="0" tIns="0" rIns="0" bIns="0" anchor="t">
            <a:spAutoFit/>
          </a:bodyPr>
          <a:lstStyle/>
          <a:p>
            <a:r>
              <a:rPr sz="2300" b="1" i="0" dirty="0">
                <a:solidFill>
                  <a:srgbClr val="C55A11"/>
                </a:solidFill>
                <a:latin typeface="Calibri"/>
              </a:rPr>
              <a:t>Key takeaway: </a:t>
            </a:r>
            <a:r>
              <a:rPr sz="2300" b="0" i="1" dirty="0">
                <a:solidFill>
                  <a:srgbClr val="1F3864"/>
                </a:solidFill>
                <a:latin typeface="Calibri"/>
              </a:rPr>
              <a:t>Whether time is a key or a value needs knowledge of the dataset – it cannot be decided from the data type alone.</a:t>
            </a:r>
            <a:endParaRPr lang="en-US" sz="2300" b="0" i="1" dirty="0">
              <a:solidFill>
                <a:srgbClr val="1F3864"/>
              </a:solidFill>
              <a:latin typeface="Calibri"/>
            </a:endParaRPr>
          </a:p>
          <a:p>
            <a:r>
              <a:rPr lang="en-IN" sz="2400" dirty="0"/>
              <a:t>Simple way to remember</a:t>
            </a:r>
          </a:p>
          <a:p>
            <a:pPr lvl="0"/>
            <a:r>
              <a:rPr lang="en-IN" sz="2400" dirty="0"/>
              <a:t>Temporal attribute: When did it happen, or how long did it take?</a:t>
            </a:r>
          </a:p>
          <a:p>
            <a:pPr lvl="0"/>
            <a:r>
              <a:rPr lang="en-IN" sz="2400" dirty="0"/>
              <a:t>Time-dependent data: What changed as time passed?</a:t>
            </a:r>
          </a:p>
          <a:p>
            <a:endParaRPr sz="2300" b="0" i="1" dirty="0">
              <a:solidFill>
                <a:srgbClr val="1F3864"/>
              </a:solidFill>
              <a:latin typeface="Calibri"/>
            </a:endParaRPr>
          </a:p>
        </p:txBody>
      </p:sp>
      <p:sp>
        <p:nvSpPr>
          <p:cNvPr id="12" name="TextBox 11"/>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§2.6.2 &amp; §2.6.2.1, pp. 38–40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5B165F-6166-5437-6147-62DE0893A3A3}"/>
              </a:ext>
            </a:extLst>
          </p:cNvPr>
          <p:cNvSpPr txBox="1"/>
          <p:nvPr/>
        </p:nvSpPr>
        <p:spPr>
          <a:xfrm>
            <a:off x="762000" y="1104900"/>
            <a:ext cx="9144000" cy="4832092"/>
          </a:xfrm>
          <a:prstGeom prst="rect">
            <a:avLst/>
          </a:prstGeom>
          <a:noFill/>
        </p:spPr>
        <p:txBody>
          <a:bodyPr wrap="square">
            <a:spAutoFit/>
          </a:bodyPr>
          <a:lstStyle/>
          <a:p>
            <a:pPr>
              <a:buNone/>
            </a:pPr>
            <a:r>
              <a:rPr lang="en-IN" sz="2800" dirty="0"/>
              <a:t>Temporal attribute</a:t>
            </a:r>
          </a:p>
          <a:p>
            <a:pPr>
              <a:buNone/>
            </a:pPr>
            <a:r>
              <a:rPr lang="en-IN" sz="2800" dirty="0"/>
              <a:t>Example: Horse racing </a:t>
            </a:r>
          </a:p>
          <a:p>
            <a:pPr>
              <a:buNone/>
            </a:pPr>
            <a:r>
              <a:rPr lang="en-IN" sz="2800" dirty="0"/>
              <a:t>Imagine a horse race with the following information:</a:t>
            </a:r>
          </a:p>
          <a:p>
            <a:pPr marL="342900" lvl="0" indent="-342900">
              <a:buFont typeface="Arial" panose="020B0604020202020204" pitchFamily="34" charset="0"/>
              <a:buChar char="•"/>
            </a:pPr>
            <a:r>
              <a:rPr lang="en-IN" sz="2800" dirty="0"/>
              <a:t>Race start time: 10:00 AM</a:t>
            </a:r>
          </a:p>
          <a:p>
            <a:pPr marL="342900" lvl="0" indent="-342900">
              <a:buFont typeface="Arial" panose="020B0604020202020204" pitchFamily="34" charset="0"/>
              <a:buChar char="•"/>
            </a:pPr>
            <a:r>
              <a:rPr lang="en-IN" sz="2800" dirty="0"/>
              <a:t>Race end time: 10:05 AM</a:t>
            </a:r>
          </a:p>
          <a:p>
            <a:pPr marL="342900" lvl="0" indent="-342900">
              <a:buFont typeface="Arial" panose="020B0604020202020204" pitchFamily="34" charset="0"/>
              <a:buChar char="•"/>
            </a:pPr>
            <a:r>
              <a:rPr lang="en-IN" sz="2800" dirty="0"/>
              <a:t>Race duration: 5 minutes</a:t>
            </a:r>
          </a:p>
          <a:p>
            <a:pPr>
              <a:buNone/>
            </a:pPr>
            <a:r>
              <a:rPr lang="en-IN" sz="2800" dirty="0"/>
              <a:t>These are temporal attributes because they describe the time associated with the race.</a:t>
            </a:r>
          </a:p>
          <a:p>
            <a:pPr>
              <a:buNone/>
            </a:pPr>
            <a:r>
              <a:rPr lang="en-IN" sz="2800" dirty="0"/>
              <a:t>Even though we have time information, we are not tracking how the horse's speed changes every second.</a:t>
            </a:r>
          </a:p>
          <a:p>
            <a:pPr>
              <a:buNone/>
            </a:pPr>
            <a:r>
              <a:rPr lang="en-IN" sz="2800" dirty="0"/>
              <a:t>Key point: Time is just a piece of information in the dataset.</a:t>
            </a:r>
          </a:p>
        </p:txBody>
      </p:sp>
      <p:graphicFrame>
        <p:nvGraphicFramePr>
          <p:cNvPr id="4" name="Table 3">
            <a:extLst>
              <a:ext uri="{FF2B5EF4-FFF2-40B4-BE49-F238E27FC236}">
                <a16:creationId xmlns:a16="http://schemas.microsoft.com/office/drawing/2014/main" id="{1B066936-868E-77B1-D1AF-F7D314B30DF3}"/>
              </a:ext>
            </a:extLst>
          </p:cNvPr>
          <p:cNvGraphicFramePr>
            <a:graphicFrameLocks noGrp="1"/>
          </p:cNvGraphicFramePr>
          <p:nvPr>
            <p:extLst>
              <p:ext uri="{D42A27DB-BD31-4B8C-83A1-F6EECF244321}">
                <p14:modId xmlns:p14="http://schemas.microsoft.com/office/powerpoint/2010/main" val="2214872101"/>
              </p:ext>
            </p:extLst>
          </p:nvPr>
        </p:nvGraphicFramePr>
        <p:xfrm>
          <a:off x="9601200" y="750143"/>
          <a:ext cx="8229600" cy="182880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846430057"/>
                    </a:ext>
                  </a:extLst>
                </a:gridCol>
                <a:gridCol w="4114800">
                  <a:extLst>
                    <a:ext uri="{9D8B030D-6E8A-4147-A177-3AD203B41FA5}">
                      <a16:colId xmlns:a16="http://schemas.microsoft.com/office/drawing/2014/main" val="117992527"/>
                    </a:ext>
                  </a:extLst>
                </a:gridCol>
              </a:tblGrid>
              <a:tr h="0">
                <a:tc>
                  <a:txBody>
                    <a:bodyPr/>
                    <a:lstStyle/>
                    <a:p>
                      <a:pPr>
                        <a:buNone/>
                      </a:pPr>
                      <a:r>
                        <a:rPr lang="en-IN"/>
                        <a:t>Time</a:t>
                      </a:r>
                    </a:p>
                  </a:txBody>
                  <a:tcPr anchor="ctr"/>
                </a:tc>
                <a:tc>
                  <a:txBody>
                    <a:bodyPr/>
                    <a:lstStyle/>
                    <a:p>
                      <a:pPr>
                        <a:buNone/>
                      </a:pPr>
                      <a:r>
                        <a:rPr lang="en-IN"/>
                        <a:t>Horse's speed</a:t>
                      </a:r>
                    </a:p>
                  </a:txBody>
                  <a:tcPr anchor="ctr"/>
                </a:tc>
                <a:extLst>
                  <a:ext uri="{0D108BD9-81ED-4DB2-BD59-A6C34878D82A}">
                    <a16:rowId xmlns:a16="http://schemas.microsoft.com/office/drawing/2014/main" val="869623299"/>
                  </a:ext>
                </a:extLst>
              </a:tr>
              <a:tr h="0">
                <a:tc>
                  <a:txBody>
                    <a:bodyPr/>
                    <a:lstStyle/>
                    <a:p>
                      <a:pPr>
                        <a:buNone/>
                      </a:pPr>
                      <a:r>
                        <a:rPr lang="en-IN"/>
                        <a:t>10:00:00</a:t>
                      </a:r>
                    </a:p>
                  </a:txBody>
                  <a:tcPr anchor="ctr"/>
                </a:tc>
                <a:tc>
                  <a:txBody>
                    <a:bodyPr/>
                    <a:lstStyle/>
                    <a:p>
                      <a:pPr>
                        <a:buNone/>
                      </a:pPr>
                      <a:r>
                        <a:rPr lang="en-IN"/>
                        <a:t>20 km/h</a:t>
                      </a:r>
                    </a:p>
                  </a:txBody>
                  <a:tcPr anchor="ctr"/>
                </a:tc>
                <a:extLst>
                  <a:ext uri="{0D108BD9-81ED-4DB2-BD59-A6C34878D82A}">
                    <a16:rowId xmlns:a16="http://schemas.microsoft.com/office/drawing/2014/main" val="2010060767"/>
                  </a:ext>
                </a:extLst>
              </a:tr>
              <a:tr h="0">
                <a:tc>
                  <a:txBody>
                    <a:bodyPr/>
                    <a:lstStyle/>
                    <a:p>
                      <a:pPr>
                        <a:buNone/>
                      </a:pPr>
                      <a:r>
                        <a:rPr lang="en-IN"/>
                        <a:t>10:00:01</a:t>
                      </a:r>
                    </a:p>
                  </a:txBody>
                  <a:tcPr anchor="ctr"/>
                </a:tc>
                <a:tc>
                  <a:txBody>
                    <a:bodyPr/>
                    <a:lstStyle/>
                    <a:p>
                      <a:pPr>
                        <a:buNone/>
                      </a:pPr>
                      <a:r>
                        <a:rPr lang="en-IN"/>
                        <a:t>25 km/h</a:t>
                      </a:r>
                    </a:p>
                  </a:txBody>
                  <a:tcPr anchor="ctr"/>
                </a:tc>
                <a:extLst>
                  <a:ext uri="{0D108BD9-81ED-4DB2-BD59-A6C34878D82A}">
                    <a16:rowId xmlns:a16="http://schemas.microsoft.com/office/drawing/2014/main" val="3799529892"/>
                  </a:ext>
                </a:extLst>
              </a:tr>
              <a:tr h="0">
                <a:tc>
                  <a:txBody>
                    <a:bodyPr/>
                    <a:lstStyle/>
                    <a:p>
                      <a:pPr>
                        <a:buNone/>
                      </a:pPr>
                      <a:r>
                        <a:rPr lang="en-IN"/>
                        <a:t>10:00:02</a:t>
                      </a:r>
                    </a:p>
                  </a:txBody>
                  <a:tcPr anchor="ctr"/>
                </a:tc>
                <a:tc>
                  <a:txBody>
                    <a:bodyPr/>
                    <a:lstStyle/>
                    <a:p>
                      <a:pPr>
                        <a:buNone/>
                      </a:pPr>
                      <a:r>
                        <a:rPr lang="en-IN"/>
                        <a:t>32 km/h</a:t>
                      </a:r>
                    </a:p>
                  </a:txBody>
                  <a:tcPr anchor="ctr"/>
                </a:tc>
                <a:extLst>
                  <a:ext uri="{0D108BD9-81ED-4DB2-BD59-A6C34878D82A}">
                    <a16:rowId xmlns:a16="http://schemas.microsoft.com/office/drawing/2014/main" val="3211768488"/>
                  </a:ext>
                </a:extLst>
              </a:tr>
              <a:tr h="0">
                <a:tc>
                  <a:txBody>
                    <a:bodyPr/>
                    <a:lstStyle/>
                    <a:p>
                      <a:pPr>
                        <a:buNone/>
                      </a:pPr>
                      <a:r>
                        <a:rPr lang="en-IN"/>
                        <a:t>10:00:03</a:t>
                      </a:r>
                    </a:p>
                  </a:txBody>
                  <a:tcPr anchor="ctr"/>
                </a:tc>
                <a:tc>
                  <a:txBody>
                    <a:bodyPr/>
                    <a:lstStyle/>
                    <a:p>
                      <a:pPr>
                        <a:buNone/>
                      </a:pPr>
                      <a:r>
                        <a:rPr lang="en-IN" dirty="0"/>
                        <a:t>28 km/h</a:t>
                      </a:r>
                    </a:p>
                  </a:txBody>
                  <a:tcPr anchor="ctr"/>
                </a:tc>
                <a:extLst>
                  <a:ext uri="{0D108BD9-81ED-4DB2-BD59-A6C34878D82A}">
                    <a16:rowId xmlns:a16="http://schemas.microsoft.com/office/drawing/2014/main" val="436448575"/>
                  </a:ext>
                </a:extLst>
              </a:tr>
            </a:tbl>
          </a:graphicData>
        </a:graphic>
      </p:graphicFrame>
      <p:sp>
        <p:nvSpPr>
          <p:cNvPr id="6" name="TextBox 5">
            <a:extLst>
              <a:ext uri="{FF2B5EF4-FFF2-40B4-BE49-F238E27FC236}">
                <a16:creationId xmlns:a16="http://schemas.microsoft.com/office/drawing/2014/main" id="{76DF0C27-EAB8-2B26-13BA-10E243D81365}"/>
              </a:ext>
            </a:extLst>
          </p:cNvPr>
          <p:cNvSpPr txBox="1"/>
          <p:nvPr/>
        </p:nvSpPr>
        <p:spPr>
          <a:xfrm>
            <a:off x="9906000" y="3848100"/>
            <a:ext cx="7467600" cy="5693866"/>
          </a:xfrm>
          <a:prstGeom prst="rect">
            <a:avLst/>
          </a:prstGeom>
          <a:noFill/>
        </p:spPr>
        <p:txBody>
          <a:bodyPr wrap="square">
            <a:spAutoFit/>
          </a:bodyPr>
          <a:lstStyle/>
          <a:p>
            <a:pPr>
              <a:buNone/>
            </a:pPr>
            <a:r>
              <a:rPr lang="en-IN" sz="2800" b="1" dirty="0"/>
              <a:t>Time-Dependent Data (Data that changes with time)</a:t>
            </a:r>
          </a:p>
          <a:p>
            <a:pPr>
              <a:buNone/>
            </a:pPr>
            <a:r>
              <a:rPr lang="en-IN" sz="2800" dirty="0"/>
              <a:t>Here, we observe how a value changes as time passes.</a:t>
            </a:r>
          </a:p>
          <a:p>
            <a:pPr>
              <a:buNone/>
            </a:pPr>
            <a:r>
              <a:rPr lang="en-IN" sz="2800" dirty="0"/>
              <a:t>Example: Tracking a horse's speed </a:t>
            </a:r>
          </a:p>
          <a:p>
            <a:pPr>
              <a:buNone/>
            </a:pPr>
            <a:r>
              <a:rPr lang="en-IN" sz="2800" dirty="0"/>
              <a:t>Here, the horse's speed changes every second.</a:t>
            </a:r>
          </a:p>
          <a:p>
            <a:pPr marL="342900" lvl="0" indent="-342900">
              <a:buFont typeface="Arial" panose="020B0604020202020204" pitchFamily="34" charset="0"/>
              <a:buChar char="•"/>
            </a:pPr>
            <a:r>
              <a:rPr lang="en-IN" sz="2800" dirty="0"/>
              <a:t>Time acts as the key to identify when each measurement was taken.</a:t>
            </a:r>
          </a:p>
          <a:p>
            <a:pPr marL="342900" lvl="0" indent="-342900">
              <a:buFont typeface="Arial" panose="020B0604020202020204" pitchFamily="34" charset="0"/>
              <a:buChar char="•"/>
            </a:pPr>
            <a:r>
              <a:rPr lang="en-IN" sz="2800" dirty="0"/>
              <a:t>Speed is the value that changes with time.</a:t>
            </a:r>
          </a:p>
          <a:p>
            <a:pPr marL="342900" lvl="0" indent="-342900">
              <a:buFont typeface="Arial" panose="020B0604020202020204" pitchFamily="34" charset="0"/>
              <a:buChar char="•"/>
            </a:pPr>
            <a:r>
              <a:rPr lang="en-IN" sz="2800" dirty="0"/>
              <a:t>We can plot a graph to understand whether the horse is accelerating or slowing down.</a:t>
            </a:r>
          </a:p>
          <a:p>
            <a:pPr>
              <a:buNone/>
            </a:pPr>
            <a:r>
              <a:rPr lang="en-IN" sz="2800" dirty="0"/>
              <a:t>Key point: We use time to study how data changes over time.</a:t>
            </a:r>
          </a:p>
        </p:txBody>
      </p:sp>
      <p:sp>
        <p:nvSpPr>
          <p:cNvPr id="8" name="TextBox 7">
            <a:extLst>
              <a:ext uri="{FF2B5EF4-FFF2-40B4-BE49-F238E27FC236}">
                <a16:creationId xmlns:a16="http://schemas.microsoft.com/office/drawing/2014/main" id="{D0AB8558-8C5B-EF95-5379-2947318AB4D4}"/>
              </a:ext>
            </a:extLst>
          </p:cNvPr>
          <p:cNvSpPr txBox="1"/>
          <p:nvPr/>
        </p:nvSpPr>
        <p:spPr>
          <a:xfrm>
            <a:off x="457200" y="7416313"/>
            <a:ext cx="9144000" cy="1384995"/>
          </a:xfrm>
          <a:prstGeom prst="rect">
            <a:avLst/>
          </a:prstGeom>
          <a:noFill/>
        </p:spPr>
        <p:txBody>
          <a:bodyPr wrap="square">
            <a:spAutoFit/>
          </a:bodyPr>
          <a:lstStyle/>
          <a:p>
            <a:r>
              <a:rPr lang="en-IN" sz="2800" b="1" dirty="0"/>
              <a:t>A student's date of birth is a temporal attribute, whereas the student's height measured every year is time-dependent data.</a:t>
            </a:r>
          </a:p>
        </p:txBody>
      </p:sp>
    </p:spTree>
    <p:extLst>
      <p:ext uri="{BB962C8B-B14F-4D97-AF65-F5344CB8AC3E}">
        <p14:creationId xmlns:p14="http://schemas.microsoft.com/office/powerpoint/2010/main" val="2229888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Continuous and Discrete Time</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15700000" cy="1422825"/>
          </a:xfrm>
          <a:prstGeom prst="rect">
            <a:avLst/>
          </a:prstGeom>
          <a:noFill/>
        </p:spPr>
        <p:txBody>
          <a:bodyPr wrap="square" lIns="0" tIns="0" rIns="0" bIns="0" anchor="t">
            <a:spAutoFit/>
          </a:bodyPr>
          <a:lstStyle/>
          <a:p>
            <a:pPr marL="420000" indent="-340000">
              <a:lnSpc>
                <a:spcPct val="105000"/>
              </a:lnSpc>
              <a:spcAft>
                <a:spcPts val="700"/>
              </a:spcAft>
              <a:buFont typeface="Arial"/>
              <a:buChar char="•"/>
            </a:pPr>
            <a:r>
              <a:rPr sz="2600" b="1" i="0" dirty="0">
                <a:solidFill>
                  <a:srgbClr val="1A1A1A"/>
                </a:solidFill>
                <a:latin typeface="Calibri"/>
              </a:rPr>
              <a:t>Continuous time:</a:t>
            </a:r>
            <a:r>
              <a:rPr sz="2600" b="0" i="0" dirty="0">
                <a:solidFill>
                  <a:srgbClr val="1A1A1A"/>
                </a:solidFill>
                <a:latin typeface="Calibri"/>
              </a:rPr>
              <a:t> a value exists at every instant (temperature, position); we sample it – connect points with lines</a:t>
            </a:r>
          </a:p>
          <a:p>
            <a:pPr marL="420000" indent="-340000">
              <a:lnSpc>
                <a:spcPct val="105000"/>
              </a:lnSpc>
              <a:spcAft>
                <a:spcPts val="700"/>
              </a:spcAft>
              <a:buFont typeface="Arial"/>
              <a:buChar char="•"/>
            </a:pPr>
            <a:r>
              <a:rPr sz="2600" b="1" i="0" dirty="0">
                <a:solidFill>
                  <a:srgbClr val="1A1A1A"/>
                </a:solidFill>
                <a:latin typeface="Calibri"/>
              </a:rPr>
              <a:t>Discrete time:</a:t>
            </a:r>
            <a:r>
              <a:rPr sz="2600" b="0" i="0" dirty="0">
                <a:solidFill>
                  <a:srgbClr val="1A1A1A"/>
                </a:solidFill>
                <a:latin typeface="Calibri"/>
              </a:rPr>
              <a:t> values exist per unit/bin (monthly sales, yearly counts) – bars or dots are appropriate</a:t>
            </a:r>
          </a:p>
          <a:p>
            <a:pPr marL="420000" indent="-340000">
              <a:lnSpc>
                <a:spcPct val="105000"/>
              </a:lnSpc>
              <a:spcAft>
                <a:spcPts val="700"/>
              </a:spcAft>
              <a:buFont typeface="Arial"/>
              <a:buChar char="•"/>
            </a:pPr>
            <a:r>
              <a:rPr sz="2600" b="1" i="0" dirty="0">
                <a:solidFill>
                  <a:srgbClr val="1A1A1A"/>
                </a:solidFill>
                <a:latin typeface="Calibri"/>
              </a:rPr>
              <a:t>Wilke:</a:t>
            </a:r>
            <a:r>
              <a:rPr sz="2600" b="0" i="0" dirty="0">
                <a:solidFill>
                  <a:srgbClr val="1A1A1A"/>
                </a:solidFill>
                <a:latin typeface="Calibri"/>
              </a:rPr>
              <a:t> </a:t>
            </a:r>
            <a:r>
              <a:rPr sz="2600" b="1" i="0" dirty="0">
                <a:solidFill>
                  <a:srgbClr val="1A1A1A"/>
                </a:solidFill>
                <a:latin typeface="Calibri"/>
              </a:rPr>
              <a:t>connecting points with lines implies a continuous series; don’t draw lines for unordered categories</a:t>
            </a:r>
          </a:p>
        </p:txBody>
      </p:sp>
      <p:pic>
        <p:nvPicPr>
          <p:cNvPr id="8" name="Picture 7" descr="cont_disc.png"/>
          <p:cNvPicPr>
            <a:picLocks noChangeAspect="1"/>
          </p:cNvPicPr>
          <p:nvPr/>
        </p:nvPicPr>
        <p:blipFill>
          <a:blip r:embed="rId3"/>
          <a:stretch>
            <a:fillRect/>
          </a:stretch>
        </p:blipFill>
        <p:spPr>
          <a:xfrm>
            <a:off x="3749825" y="4950000"/>
            <a:ext cx="10731453" cy="4650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§2.6.2; Aigner et al. (2011); Wilke, Fundamentals of Data Visualization (2019) Ch. 13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Events Over Time</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15700000" cy="1842940"/>
          </a:xfrm>
          <a:prstGeom prst="rect">
            <a:avLst/>
          </a:prstGeom>
          <a:noFill/>
        </p:spPr>
        <p:txBody>
          <a:bodyPr wrap="square" lIns="0" tIns="0" rIns="0" bIns="0" anchor="t">
            <a:spAutoFit/>
          </a:bodyPr>
          <a:lstStyle/>
          <a:p>
            <a:pPr marL="420000" indent="-340000">
              <a:lnSpc>
                <a:spcPct val="105000"/>
              </a:lnSpc>
              <a:spcAft>
                <a:spcPts val="700"/>
              </a:spcAft>
              <a:buFont typeface="Arial"/>
              <a:buChar char="•"/>
            </a:pPr>
            <a:r>
              <a:rPr sz="2600" b="0" i="0" dirty="0">
                <a:solidFill>
                  <a:srgbClr val="1A1A1A"/>
                </a:solidFill>
                <a:latin typeface="Calibri"/>
              </a:rPr>
              <a:t>Event = something that happens at a </a:t>
            </a:r>
            <a:r>
              <a:rPr sz="2600" b="1" i="0" dirty="0">
                <a:solidFill>
                  <a:srgbClr val="1A1A1A"/>
                </a:solidFill>
                <a:latin typeface="Calibri"/>
              </a:rPr>
              <a:t>time point </a:t>
            </a:r>
            <a:r>
              <a:rPr sz="2600" b="0" i="0" dirty="0">
                <a:solidFill>
                  <a:srgbClr val="1A1A1A"/>
                </a:solidFill>
                <a:latin typeface="Calibri"/>
              </a:rPr>
              <a:t>(login, error, earthquake) or </a:t>
            </a:r>
            <a:r>
              <a:rPr sz="2600" b="1" i="0" dirty="0">
                <a:solidFill>
                  <a:srgbClr val="1A1A1A"/>
                </a:solidFill>
                <a:latin typeface="Calibri"/>
              </a:rPr>
              <a:t>over an interval </a:t>
            </a:r>
            <a:r>
              <a:rPr sz="2600" b="0" i="0" dirty="0">
                <a:solidFill>
                  <a:srgbClr val="1A1A1A"/>
                </a:solidFill>
                <a:latin typeface="Calibri"/>
              </a:rPr>
              <a:t>(session, illness, project task)</a:t>
            </a:r>
          </a:p>
          <a:p>
            <a:pPr marL="420000" indent="-340000">
              <a:lnSpc>
                <a:spcPct val="105000"/>
              </a:lnSpc>
              <a:spcAft>
                <a:spcPts val="700"/>
              </a:spcAft>
              <a:buFont typeface="Arial"/>
              <a:buChar char="•"/>
            </a:pPr>
            <a:r>
              <a:rPr sz="2600" b="1" i="0" dirty="0">
                <a:solidFill>
                  <a:srgbClr val="1A1A1A"/>
                </a:solidFill>
                <a:latin typeface="Calibri"/>
              </a:rPr>
              <a:t>Visual forms:</a:t>
            </a:r>
            <a:r>
              <a:rPr sz="2600" b="0" i="0" dirty="0">
                <a:solidFill>
                  <a:srgbClr val="1A1A1A"/>
                </a:solidFill>
                <a:latin typeface="Calibri"/>
              </a:rPr>
              <a:t> event strips / rug plots, lollipop timelines, interval bars; counts per bin → histogram over time</a:t>
            </a:r>
          </a:p>
          <a:p>
            <a:pPr marL="420000" indent="-340000">
              <a:lnSpc>
                <a:spcPct val="105000"/>
              </a:lnSpc>
              <a:spcAft>
                <a:spcPts val="700"/>
              </a:spcAft>
              <a:buFont typeface="Arial"/>
              <a:buChar char="•"/>
            </a:pPr>
            <a:r>
              <a:rPr sz="2600" b="1" i="0" dirty="0">
                <a:solidFill>
                  <a:srgbClr val="1A1A1A"/>
                </a:solidFill>
                <a:latin typeface="Calibri"/>
              </a:rPr>
              <a:t>Tasks:</a:t>
            </a:r>
            <a:r>
              <a:rPr sz="2600" b="0" i="0" dirty="0">
                <a:solidFill>
                  <a:srgbClr val="1A1A1A"/>
                </a:solidFill>
                <a:latin typeface="Calibri"/>
              </a:rPr>
              <a:t> find order, frequency, co-occurrence, gaps and bursts; align events to a reference (e.g. ‘time since sign-up’)</a:t>
            </a:r>
          </a:p>
        </p:txBody>
      </p:sp>
      <p:pic>
        <p:nvPicPr>
          <p:cNvPr id="8" name="Picture 7" descr="events.png"/>
          <p:cNvPicPr>
            <a:picLocks noChangeAspect="1"/>
          </p:cNvPicPr>
          <p:nvPr/>
        </p:nvPicPr>
        <p:blipFill>
          <a:blip r:embed="rId3"/>
          <a:stretch>
            <a:fillRect/>
          </a:stretch>
        </p:blipFill>
        <p:spPr>
          <a:xfrm>
            <a:off x="3781457" y="4950000"/>
            <a:ext cx="10668190" cy="4650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Aigner et al., Visualization of Time-Oriented Data (2011); Munzner, Visualization Analysis and Design (2014) §2.6.2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Temporal Encoding</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4889415"/>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How can the time attribute be encoded?</a:t>
            </a:r>
          </a:p>
          <a:p>
            <a:pPr marL="420000" indent="-340000">
              <a:lnSpc>
                <a:spcPct val="105000"/>
              </a:lnSpc>
              <a:spcAft>
                <a:spcPts val="700"/>
              </a:spcAft>
              <a:buFont typeface="Arial"/>
              <a:buChar char="•"/>
            </a:pPr>
            <a:r>
              <a:rPr sz="2600" b="0" i="0" dirty="0">
                <a:solidFill>
                  <a:srgbClr val="1A1A1A"/>
                </a:solidFill>
                <a:latin typeface="Calibri"/>
              </a:rPr>
              <a:t>Horizontal position (most common, most accurate) – </a:t>
            </a:r>
            <a:r>
              <a:rPr sz="2600" b="1" i="0" dirty="0">
                <a:solidFill>
                  <a:srgbClr val="1A1A1A"/>
                </a:solidFill>
                <a:latin typeface="Calibri"/>
              </a:rPr>
              <a:t>line &amp; bar charts</a:t>
            </a:r>
          </a:p>
          <a:p>
            <a:pPr marL="420000" indent="-340000">
              <a:lnSpc>
                <a:spcPct val="105000"/>
              </a:lnSpc>
              <a:spcAft>
                <a:spcPts val="700"/>
              </a:spcAft>
              <a:buFont typeface="Arial"/>
              <a:buChar char="•"/>
            </a:pPr>
            <a:r>
              <a:rPr sz="2600" b="1" i="0" dirty="0">
                <a:solidFill>
                  <a:srgbClr val="1A1A1A"/>
                </a:solidFill>
                <a:latin typeface="Calibri"/>
              </a:rPr>
              <a:t>Angle / radial layout</a:t>
            </a:r>
            <a:r>
              <a:rPr sz="2600" b="0" i="0" dirty="0">
                <a:solidFill>
                  <a:srgbClr val="1A1A1A"/>
                </a:solidFill>
                <a:latin typeface="Calibri"/>
              </a:rPr>
              <a:t> – for cyclic time (hours of day, months)</a:t>
            </a:r>
          </a:p>
          <a:p>
            <a:pPr marL="420000" indent="-340000">
              <a:lnSpc>
                <a:spcPct val="105000"/>
              </a:lnSpc>
              <a:spcAft>
                <a:spcPts val="700"/>
              </a:spcAft>
              <a:buFont typeface="Arial"/>
              <a:buChar char="•"/>
            </a:pPr>
            <a:r>
              <a:rPr sz="2600" b="1" i="0" dirty="0" err="1">
                <a:solidFill>
                  <a:srgbClr val="1A1A1A"/>
                </a:solidFill>
                <a:latin typeface="Calibri"/>
              </a:rPr>
              <a:t>Colour</a:t>
            </a:r>
            <a:r>
              <a:rPr sz="2600" b="0" i="0" dirty="0">
                <a:solidFill>
                  <a:srgbClr val="1A1A1A"/>
                </a:solidFill>
                <a:latin typeface="Calibri"/>
              </a:rPr>
              <a:t> – time as a sequential </a:t>
            </a:r>
            <a:r>
              <a:rPr sz="2600" b="0" i="0" dirty="0" err="1">
                <a:solidFill>
                  <a:srgbClr val="1A1A1A"/>
                </a:solidFill>
                <a:latin typeface="Calibri"/>
              </a:rPr>
              <a:t>colour</a:t>
            </a:r>
            <a:r>
              <a:rPr sz="2600" b="0" i="0" dirty="0">
                <a:solidFill>
                  <a:srgbClr val="1A1A1A"/>
                </a:solidFill>
                <a:latin typeface="Calibri"/>
              </a:rPr>
              <a:t> ramp in a scatter plot</a:t>
            </a:r>
          </a:p>
          <a:p>
            <a:pPr marL="420000" indent="-340000">
              <a:lnSpc>
                <a:spcPct val="105000"/>
              </a:lnSpc>
              <a:spcAft>
                <a:spcPts val="700"/>
              </a:spcAft>
              <a:buFont typeface="Arial"/>
              <a:buChar char="•"/>
            </a:pPr>
            <a:r>
              <a:rPr sz="2600" b="1" i="0" dirty="0">
                <a:solidFill>
                  <a:srgbClr val="1A1A1A"/>
                </a:solidFill>
                <a:latin typeface="Calibri"/>
              </a:rPr>
              <a:t>Order / connection</a:t>
            </a:r>
            <a:r>
              <a:rPr sz="2600" b="0" i="0" dirty="0">
                <a:solidFill>
                  <a:srgbClr val="1A1A1A"/>
                </a:solidFill>
                <a:latin typeface="Calibri"/>
              </a:rPr>
              <a:t> – connected scatter plots</a:t>
            </a:r>
          </a:p>
          <a:p>
            <a:pPr marL="420000" indent="-340000">
              <a:lnSpc>
                <a:spcPct val="105000"/>
              </a:lnSpc>
              <a:spcAft>
                <a:spcPts val="700"/>
              </a:spcAft>
              <a:buFont typeface="Arial"/>
              <a:buChar char="•"/>
            </a:pPr>
            <a:r>
              <a:rPr sz="2600" b="1" i="0" dirty="0">
                <a:solidFill>
                  <a:srgbClr val="1A1A1A"/>
                </a:solidFill>
                <a:latin typeface="Calibri"/>
              </a:rPr>
              <a:t>Animation</a:t>
            </a:r>
            <a:r>
              <a:rPr sz="2600" b="0" i="0" dirty="0">
                <a:solidFill>
                  <a:srgbClr val="1A1A1A"/>
                </a:solidFill>
                <a:latin typeface="Calibri"/>
              </a:rPr>
              <a:t> – time mapped to display time</a:t>
            </a:r>
          </a:p>
          <a:p>
            <a:pPr>
              <a:lnSpc>
                <a:spcPct val="105000"/>
              </a:lnSpc>
              <a:spcBef>
                <a:spcPts val="600"/>
              </a:spcBef>
              <a:spcAft>
                <a:spcPts val="700"/>
              </a:spcAft>
              <a:buNone/>
            </a:pPr>
            <a:r>
              <a:rPr sz="2600" b="1" i="0" dirty="0">
                <a:solidFill>
                  <a:srgbClr val="1F3864"/>
                </a:solidFill>
                <a:latin typeface="Calibri"/>
              </a:rPr>
              <a:t>Guideline</a:t>
            </a:r>
          </a:p>
          <a:p>
            <a:pPr marL="420000" indent="-340000">
              <a:lnSpc>
                <a:spcPct val="105000"/>
              </a:lnSpc>
              <a:spcAft>
                <a:spcPts val="700"/>
              </a:spcAft>
              <a:buFont typeface="Arial"/>
              <a:buChar char="•"/>
            </a:pPr>
            <a:r>
              <a:rPr sz="2600" b="0" i="0" dirty="0">
                <a:solidFill>
                  <a:srgbClr val="1A1A1A"/>
                </a:solidFill>
                <a:latin typeface="Calibri"/>
              </a:rPr>
              <a:t>Position is the most effective channel (</a:t>
            </a:r>
            <a:r>
              <a:rPr sz="2600" b="0" i="0" dirty="0" err="1">
                <a:solidFill>
                  <a:srgbClr val="1A1A1A"/>
                </a:solidFill>
                <a:latin typeface="Calibri"/>
              </a:rPr>
              <a:t>Munzner’s</a:t>
            </a:r>
            <a:r>
              <a:rPr sz="2600" b="0" i="0" dirty="0">
                <a:solidFill>
                  <a:srgbClr val="1A1A1A"/>
                </a:solidFill>
                <a:latin typeface="Calibri"/>
              </a:rPr>
              <a:t> channel ranking); prefer it for detailed comparison over time</a:t>
            </a:r>
          </a:p>
        </p:txBody>
      </p:sp>
      <p:pic>
        <p:nvPicPr>
          <p:cNvPr id="8" name="Picture 7" descr="encodings.png"/>
          <p:cNvPicPr>
            <a:picLocks noChangeAspect="1"/>
          </p:cNvPicPr>
          <p:nvPr/>
        </p:nvPicPr>
        <p:blipFill>
          <a:blip r:embed="rId3"/>
          <a:stretch>
            <a:fillRect/>
          </a:stretch>
        </p:blipFill>
        <p:spPr>
          <a:xfrm>
            <a:off x="9950000" y="3886815"/>
            <a:ext cx="7600000" cy="477637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§5.5 Channel Effectiveness &amp; §2.6.2; Wilke, Fundamentals of Data Visualization (2019) Ch. 13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Time-Series Visualization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15700000" cy="2700000"/>
          </a:xfrm>
          <a:prstGeom prst="rect">
            <a:avLst/>
          </a:prstGeom>
          <a:noFill/>
        </p:spPr>
        <p:txBody>
          <a:bodyPr wrap="square" lIns="0" tIns="0" rIns="0" bIns="0" anchor="t">
            <a:spAutoFit/>
          </a:bodyPr>
          <a:lstStyle/>
          <a:p>
            <a:pPr marL="420000" indent="-340000">
              <a:lnSpc>
                <a:spcPct val="105000"/>
              </a:lnSpc>
              <a:spcAft>
                <a:spcPts val="700"/>
              </a:spcAft>
              <a:buFont typeface="Arial"/>
              <a:buChar char="•"/>
            </a:pPr>
            <a:r>
              <a:rPr sz="2600" b="0" i="0">
                <a:solidFill>
                  <a:srgbClr val="1A1A1A"/>
                </a:solidFill>
                <a:latin typeface="Calibri"/>
              </a:rPr>
              <a:t>Line graph with time on x-axis is the standard; dots + lines for sparse data, lines alone for dense data</a:t>
            </a:r>
          </a:p>
          <a:p>
            <a:pPr marL="420000" indent="-340000">
              <a:lnSpc>
                <a:spcPct val="105000"/>
              </a:lnSpc>
              <a:spcAft>
                <a:spcPts val="700"/>
              </a:spcAft>
              <a:buFont typeface="Arial"/>
              <a:buChar char="•"/>
            </a:pPr>
            <a:r>
              <a:rPr sz="2600" b="1" i="0">
                <a:solidFill>
                  <a:srgbClr val="1A1A1A"/>
                </a:solidFill>
                <a:latin typeface="Calibri"/>
              </a:rPr>
              <a:t>Multiple series:</a:t>
            </a:r>
            <a:r>
              <a:rPr sz="2600" b="0" i="0">
                <a:solidFill>
                  <a:srgbClr val="1A1A1A"/>
                </a:solidFill>
                <a:latin typeface="Calibri"/>
              </a:rPr>
              <a:t> direct labels instead of legends; don’t stack too many lines (use small multiples)</a:t>
            </a:r>
          </a:p>
          <a:p>
            <a:pPr marL="420000" indent="-340000">
              <a:lnSpc>
                <a:spcPct val="105000"/>
              </a:lnSpc>
              <a:spcAft>
                <a:spcPts val="700"/>
              </a:spcAft>
              <a:buFont typeface="Arial"/>
              <a:buChar char="•"/>
            </a:pPr>
            <a:r>
              <a:rPr sz="2600" b="1" i="0">
                <a:solidFill>
                  <a:srgbClr val="1A1A1A"/>
                </a:solidFill>
                <a:latin typeface="Calibri"/>
              </a:rPr>
              <a:t>Connected scatter plot:</a:t>
            </a:r>
            <a:r>
              <a:rPr sz="2600" b="0" i="0">
                <a:solidFill>
                  <a:srgbClr val="1A1A1A"/>
                </a:solidFill>
                <a:latin typeface="Calibri"/>
              </a:rPr>
              <a:t> two variables vs each other, points joined in time order – shows cycles; show direction &amp; start/end</a:t>
            </a:r>
          </a:p>
        </p:txBody>
      </p:sp>
      <p:pic>
        <p:nvPicPr>
          <p:cNvPr id="8" name="Picture 7" descr="timeseries.png"/>
          <p:cNvPicPr>
            <a:picLocks noChangeAspect="1"/>
          </p:cNvPicPr>
          <p:nvPr/>
        </p:nvPicPr>
        <p:blipFill>
          <a:blip r:embed="rId3"/>
          <a:stretch>
            <a:fillRect/>
          </a:stretch>
        </p:blipFill>
        <p:spPr>
          <a:xfrm>
            <a:off x="4144419" y="4950000"/>
            <a:ext cx="9942265" cy="4650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Wilke, Fundamentals of Data Visualization (2019) Ch. 13 ‘Visualizing time series and other functions of an independent variable’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Temporal Aggregation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5045869"/>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Aggregation combines </a:t>
            </a:r>
            <a:r>
              <a:rPr sz="2600" b="1" i="0" dirty="0">
                <a:solidFill>
                  <a:srgbClr val="1A1A1A"/>
                </a:solidFill>
                <a:latin typeface="Calibri"/>
              </a:rPr>
              <a:t>many time steps into fewer summary values.</a:t>
            </a:r>
          </a:p>
          <a:p>
            <a:pPr marL="420000" indent="-340000">
              <a:lnSpc>
                <a:spcPct val="105000"/>
              </a:lnSpc>
              <a:spcAft>
                <a:spcPts val="700"/>
              </a:spcAft>
              <a:buFont typeface="Arial"/>
              <a:buChar char="•"/>
            </a:pPr>
            <a:r>
              <a:rPr sz="2600" b="1" i="0" dirty="0">
                <a:solidFill>
                  <a:srgbClr val="1A1A1A"/>
                </a:solidFill>
                <a:latin typeface="Calibri"/>
              </a:rPr>
              <a:t>Binning to a coarser granularity:</a:t>
            </a:r>
            <a:r>
              <a:rPr sz="2600" b="0" i="0" dirty="0">
                <a:solidFill>
                  <a:srgbClr val="1A1A1A"/>
                </a:solidFill>
                <a:latin typeface="Calibri"/>
              </a:rPr>
              <a:t> hour → day → week → month (sum, mean, max)</a:t>
            </a:r>
          </a:p>
          <a:p>
            <a:pPr marL="420000" indent="-340000">
              <a:lnSpc>
                <a:spcPct val="105000"/>
              </a:lnSpc>
              <a:spcAft>
                <a:spcPts val="700"/>
              </a:spcAft>
              <a:buFont typeface="Arial"/>
              <a:buChar char="•"/>
            </a:pPr>
            <a:r>
              <a:rPr sz="2600" b="1" i="0" dirty="0">
                <a:solidFill>
                  <a:srgbClr val="1A1A1A"/>
                </a:solidFill>
                <a:latin typeface="Calibri"/>
              </a:rPr>
              <a:t>Moving average </a:t>
            </a:r>
            <a:r>
              <a:rPr sz="2600" b="0" i="0" dirty="0">
                <a:solidFill>
                  <a:srgbClr val="1A1A1A"/>
                </a:solidFill>
                <a:latin typeface="Calibri"/>
              </a:rPr>
              <a:t>over a window of k steps smooths noise (Wilke)</a:t>
            </a:r>
          </a:p>
          <a:p>
            <a:pPr marL="900000" indent="-340000">
              <a:lnSpc>
                <a:spcPct val="105000"/>
              </a:lnSpc>
              <a:spcAft>
                <a:spcPts val="700"/>
              </a:spcAft>
              <a:buFont typeface="Arial"/>
              <a:buChar char="–"/>
            </a:pPr>
            <a:r>
              <a:rPr sz="2300" b="1" i="0" dirty="0">
                <a:solidFill>
                  <a:srgbClr val="333333"/>
                </a:solidFill>
                <a:latin typeface="Calibri"/>
              </a:rPr>
              <a:t>Larger window = smoother, but hides short events</a:t>
            </a:r>
          </a:p>
          <a:p>
            <a:pPr marL="900000" indent="-340000">
              <a:lnSpc>
                <a:spcPct val="105000"/>
              </a:lnSpc>
              <a:spcAft>
                <a:spcPts val="700"/>
              </a:spcAft>
              <a:buFont typeface="Arial"/>
              <a:buChar char="–"/>
            </a:pPr>
            <a:r>
              <a:rPr sz="2300" b="1" i="0" dirty="0">
                <a:solidFill>
                  <a:srgbClr val="333333"/>
                </a:solidFill>
                <a:latin typeface="Calibri"/>
              </a:rPr>
              <a:t>Plot the average at the window </a:t>
            </a:r>
            <a:r>
              <a:rPr sz="2300" b="1" i="0" dirty="0" err="1">
                <a:solidFill>
                  <a:srgbClr val="333333"/>
                </a:solidFill>
                <a:latin typeface="Calibri"/>
              </a:rPr>
              <a:t>centre</a:t>
            </a:r>
            <a:r>
              <a:rPr sz="2300" b="1" i="0" dirty="0">
                <a:solidFill>
                  <a:srgbClr val="333333"/>
                </a:solidFill>
                <a:latin typeface="Calibri"/>
              </a:rPr>
              <a:t> to avoid lag</a:t>
            </a:r>
          </a:p>
          <a:p>
            <a:pPr marL="420000" indent="-340000">
              <a:lnSpc>
                <a:spcPct val="105000"/>
              </a:lnSpc>
              <a:spcAft>
                <a:spcPts val="700"/>
              </a:spcAft>
              <a:buFont typeface="Arial"/>
              <a:buChar char="•"/>
            </a:pPr>
            <a:r>
              <a:rPr sz="2600" b="1" i="0" dirty="0" err="1">
                <a:solidFill>
                  <a:srgbClr val="1A1A1A"/>
                </a:solidFill>
                <a:latin typeface="Calibri"/>
              </a:rPr>
              <a:t>Munzner</a:t>
            </a:r>
            <a:r>
              <a:rPr sz="2600" b="1" i="0" dirty="0">
                <a:solidFill>
                  <a:srgbClr val="1A1A1A"/>
                </a:solidFill>
                <a:latin typeface="Calibri"/>
              </a:rPr>
              <a:t>:</a:t>
            </a:r>
            <a:r>
              <a:rPr sz="2600" b="0" i="0" dirty="0">
                <a:solidFill>
                  <a:srgbClr val="1A1A1A"/>
                </a:solidFill>
                <a:latin typeface="Calibri"/>
              </a:rPr>
              <a:t> aggregation is complex for time because units don’t nest (weeks vs months)</a:t>
            </a:r>
          </a:p>
          <a:p>
            <a:pPr marL="420000" indent="-340000">
              <a:lnSpc>
                <a:spcPct val="105000"/>
              </a:lnSpc>
              <a:spcAft>
                <a:spcPts val="700"/>
              </a:spcAft>
              <a:buFont typeface="Arial"/>
              <a:buChar char="•"/>
            </a:pPr>
            <a:r>
              <a:rPr sz="2600" b="1" i="0" dirty="0">
                <a:solidFill>
                  <a:srgbClr val="1A1A1A"/>
                </a:solidFill>
                <a:latin typeface="Calibri"/>
              </a:rPr>
              <a:t>Trade-off:</a:t>
            </a:r>
            <a:r>
              <a:rPr sz="2600" b="0" i="0" dirty="0">
                <a:solidFill>
                  <a:srgbClr val="1A1A1A"/>
                </a:solidFill>
                <a:latin typeface="Calibri"/>
              </a:rPr>
              <a:t> reduces clutter but loses detail</a:t>
            </a:r>
          </a:p>
        </p:txBody>
      </p:sp>
      <p:pic>
        <p:nvPicPr>
          <p:cNvPr id="8" name="Picture 7" descr="aggregation.png"/>
          <p:cNvPicPr>
            <a:picLocks noChangeAspect="1"/>
          </p:cNvPicPr>
          <p:nvPr/>
        </p:nvPicPr>
        <p:blipFill>
          <a:blip r:embed="rId3"/>
          <a:stretch>
            <a:fillRect/>
          </a:stretch>
        </p:blipFill>
        <p:spPr>
          <a:xfrm>
            <a:off x="9950000" y="3459631"/>
            <a:ext cx="7600000" cy="5630738"/>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§2.6.2 &amp; §13.4 Aggregate; Wilke, Fundamentals of Data Visualization (2019) Ch. 14 ‘Visualizing trends’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Numerical 5: Moving Averages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Rounded Rectangle 6"/>
          <p:cNvSpPr/>
          <p:nvPr/>
        </p:nvSpPr>
        <p:spPr>
          <a:xfrm>
            <a:off x="681104" y="2150000"/>
            <a:ext cx="15968896" cy="2850000"/>
          </a:xfrm>
          <a:prstGeom prst="roundRect">
            <a:avLst>
              <a:gd name="adj" fmla="val 6000"/>
            </a:avLst>
          </a:prstGeom>
          <a:solidFill>
            <a:srgbClr val="FBEEE4"/>
          </a:solidFill>
          <a:ln w="19050">
            <a:solidFill>
              <a:srgbClr val="DFA26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31104" y="2300000"/>
            <a:ext cx="15468896" cy="2600000"/>
          </a:xfrm>
          <a:prstGeom prst="rect">
            <a:avLst/>
          </a:prstGeom>
          <a:noFill/>
        </p:spPr>
        <p:txBody>
          <a:bodyPr wrap="square" lIns="0" tIns="0" rIns="0" bIns="0" anchor="t">
            <a:spAutoFit/>
          </a:bodyPr>
          <a:lstStyle/>
          <a:p>
            <a:r>
              <a:rPr sz="2700" b="1" i="0" dirty="0">
                <a:solidFill>
                  <a:srgbClr val="C55A11"/>
                </a:solidFill>
                <a:latin typeface="Calibri"/>
              </a:rPr>
              <a:t>Problem</a:t>
            </a:r>
          </a:p>
          <a:p>
            <a:pPr>
              <a:spcAft>
                <a:spcPts val="300"/>
              </a:spcAft>
            </a:pPr>
            <a:r>
              <a:rPr sz="2500" b="0" i="0" dirty="0">
                <a:solidFill>
                  <a:srgbClr val="1A1A1A"/>
                </a:solidFill>
                <a:latin typeface="Calibri"/>
              </a:rPr>
              <a:t>Daily sales for one week: 12, 15, 11, 18, 20, 14, 16.</a:t>
            </a:r>
          </a:p>
          <a:p>
            <a:pPr>
              <a:spcAft>
                <a:spcPts val="300"/>
              </a:spcAft>
            </a:pPr>
            <a:r>
              <a:rPr sz="2500" b="0" i="0" dirty="0">
                <a:solidFill>
                  <a:srgbClr val="1A1A1A"/>
                </a:solidFill>
                <a:latin typeface="Calibri"/>
              </a:rPr>
              <a:t>(a) Compute the 3-day </a:t>
            </a:r>
            <a:r>
              <a:rPr sz="2500" b="0" i="0" dirty="0" err="1">
                <a:solidFill>
                  <a:srgbClr val="1A1A1A"/>
                </a:solidFill>
                <a:latin typeface="Calibri"/>
              </a:rPr>
              <a:t>centred</a:t>
            </a:r>
            <a:r>
              <a:rPr sz="2500" b="0" i="0" dirty="0">
                <a:solidFill>
                  <a:srgbClr val="1A1A1A"/>
                </a:solidFill>
                <a:latin typeface="Calibri"/>
              </a:rPr>
              <a:t> moving average.  (b) Weekly total and mean.</a:t>
            </a:r>
          </a:p>
          <a:p>
            <a:pPr>
              <a:spcAft>
                <a:spcPts val="300"/>
              </a:spcAft>
            </a:pPr>
            <a:r>
              <a:rPr sz="2500" b="0" i="0" dirty="0">
                <a:solidFill>
                  <a:srgbClr val="1A1A1A"/>
                </a:solidFill>
                <a:latin typeface="Calibri"/>
              </a:rPr>
              <a:t>(c) 3 years of daily data is plotted on a 900-pixel-wide chart. How many data points</a:t>
            </a:r>
          </a:p>
          <a:p>
            <a:pPr>
              <a:spcAft>
                <a:spcPts val="300"/>
              </a:spcAft>
            </a:pPr>
            <a:r>
              <a:rPr sz="2500" b="0" i="0" dirty="0">
                <a:solidFill>
                  <a:srgbClr val="1A1A1A"/>
                </a:solidFill>
                <a:latin typeface="Calibri"/>
              </a:rPr>
              <a:t>per pixel for daily, weekly and monthly aggregation?</a:t>
            </a:r>
          </a:p>
        </p:txBody>
      </p:sp>
      <p:sp>
        <p:nvSpPr>
          <p:cNvPr id="9" name="Rounded Rectangle 8"/>
          <p:cNvSpPr/>
          <p:nvPr/>
        </p:nvSpPr>
        <p:spPr>
          <a:xfrm>
            <a:off x="681104" y="5200000"/>
            <a:ext cx="15968896" cy="4400000"/>
          </a:xfrm>
          <a:prstGeom prst="roundRect">
            <a:avLst>
              <a:gd name="adj" fmla="val 6000"/>
            </a:avLst>
          </a:prstGeom>
          <a:solidFill>
            <a:srgbClr val="EAF0FA"/>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31104" y="5350000"/>
            <a:ext cx="15468896" cy="4100000"/>
          </a:xfrm>
          <a:prstGeom prst="rect">
            <a:avLst/>
          </a:prstGeom>
          <a:noFill/>
        </p:spPr>
        <p:txBody>
          <a:bodyPr wrap="square" lIns="0" tIns="0" rIns="0" bIns="0" anchor="t">
            <a:spAutoFit/>
          </a:bodyPr>
          <a:lstStyle/>
          <a:p>
            <a:r>
              <a:rPr sz="2700" b="1" i="0" dirty="0">
                <a:solidFill>
                  <a:srgbClr val="4472C4"/>
                </a:solidFill>
                <a:latin typeface="Calibri"/>
              </a:rPr>
              <a:t>Solution</a:t>
            </a:r>
          </a:p>
          <a:p>
            <a:pPr>
              <a:spcAft>
                <a:spcPts val="400"/>
              </a:spcAft>
            </a:pPr>
            <a:r>
              <a:rPr sz="2500" b="1" i="0" dirty="0">
                <a:solidFill>
                  <a:srgbClr val="1F3864"/>
                </a:solidFill>
                <a:latin typeface="Calibri"/>
              </a:rPr>
              <a:t>(a)</a:t>
            </a:r>
            <a:r>
              <a:rPr sz="2500" b="0" i="0" dirty="0">
                <a:solidFill>
                  <a:srgbClr val="1A1A1A"/>
                </a:solidFill>
                <a:latin typeface="Calibri"/>
              </a:rPr>
              <a:t> Day 2: (12+15+11)/3 = 12.67    Day 3: (15+11+18)/3 = 14.67</a:t>
            </a:r>
          </a:p>
          <a:p>
            <a:pPr>
              <a:spcAft>
                <a:spcPts val="400"/>
              </a:spcAft>
            </a:pPr>
            <a:r>
              <a:rPr sz="2500" b="0" i="0" dirty="0">
                <a:solidFill>
                  <a:srgbClr val="1A1A1A"/>
                </a:solidFill>
                <a:latin typeface="Calibri"/>
              </a:rPr>
              <a:t>       Day 4: (11+18+20)/3 = 16.33    Day 5: (18+20+14)/3 = 17.33</a:t>
            </a:r>
          </a:p>
          <a:p>
            <a:pPr>
              <a:spcAft>
                <a:spcPts val="400"/>
              </a:spcAft>
            </a:pPr>
            <a:r>
              <a:rPr sz="2500" b="0" i="0" dirty="0">
                <a:solidFill>
                  <a:srgbClr val="1A1A1A"/>
                </a:solidFill>
                <a:latin typeface="Calibri"/>
              </a:rPr>
              <a:t>       Day 6: (20+14+16)/3 = 16.67    (days 1 &amp; 7 undefined)</a:t>
            </a:r>
          </a:p>
          <a:p>
            <a:pPr>
              <a:spcAft>
                <a:spcPts val="400"/>
              </a:spcAft>
            </a:pPr>
            <a:r>
              <a:rPr sz="2500" b="1" i="0" dirty="0">
                <a:solidFill>
                  <a:srgbClr val="1F3864"/>
                </a:solidFill>
                <a:latin typeface="Calibri"/>
              </a:rPr>
              <a:t>(b)</a:t>
            </a:r>
            <a:r>
              <a:rPr sz="2500" b="0" i="0" dirty="0">
                <a:solidFill>
                  <a:srgbClr val="1A1A1A"/>
                </a:solidFill>
                <a:latin typeface="Calibri"/>
              </a:rPr>
              <a:t> Total = 106;  mean = 106 / 7 = 15.14 per day</a:t>
            </a:r>
          </a:p>
          <a:p>
            <a:pPr>
              <a:spcAft>
                <a:spcPts val="400"/>
              </a:spcAft>
            </a:pPr>
            <a:r>
              <a:rPr sz="2500" b="1" i="0" dirty="0">
                <a:solidFill>
                  <a:srgbClr val="1F3864"/>
                </a:solidFill>
                <a:latin typeface="Calibri"/>
              </a:rPr>
              <a:t>(c)</a:t>
            </a:r>
            <a:r>
              <a:rPr sz="2500" b="0" i="0" dirty="0">
                <a:solidFill>
                  <a:srgbClr val="1A1A1A"/>
                </a:solidFill>
                <a:latin typeface="Calibri"/>
              </a:rPr>
              <a:t> Daily 1,095 pts → 1.22 pts/</a:t>
            </a:r>
            <a:r>
              <a:rPr sz="2500" b="0" i="0" dirty="0" err="1">
                <a:solidFill>
                  <a:srgbClr val="1A1A1A"/>
                </a:solidFill>
                <a:latin typeface="Calibri"/>
              </a:rPr>
              <a:t>px</a:t>
            </a:r>
            <a:r>
              <a:rPr sz="2500" b="0" i="0" dirty="0">
                <a:solidFill>
                  <a:srgbClr val="1A1A1A"/>
                </a:solidFill>
                <a:latin typeface="Calibri"/>
              </a:rPr>
              <a:t> (overplotted)</a:t>
            </a:r>
          </a:p>
          <a:p>
            <a:pPr>
              <a:spcAft>
                <a:spcPts val="400"/>
              </a:spcAft>
            </a:pPr>
            <a:r>
              <a:rPr sz="2500" b="0" i="0" dirty="0">
                <a:solidFill>
                  <a:srgbClr val="1A1A1A"/>
                </a:solidFill>
                <a:latin typeface="Calibri"/>
              </a:rPr>
              <a:t>       Weekly ≈ 156 pts → 5.8 </a:t>
            </a:r>
            <a:r>
              <a:rPr sz="2500" b="0" i="0" dirty="0" err="1">
                <a:solidFill>
                  <a:srgbClr val="1A1A1A"/>
                </a:solidFill>
                <a:latin typeface="Calibri"/>
              </a:rPr>
              <a:t>px</a:t>
            </a:r>
            <a:r>
              <a:rPr sz="2500" b="0" i="0" dirty="0">
                <a:solidFill>
                  <a:srgbClr val="1A1A1A"/>
                </a:solidFill>
                <a:latin typeface="Calibri"/>
              </a:rPr>
              <a:t> per point;  Monthly 36 pts → 25 </a:t>
            </a:r>
            <a:r>
              <a:rPr sz="2500" b="0" i="0" dirty="0" err="1">
                <a:solidFill>
                  <a:srgbClr val="1A1A1A"/>
                </a:solidFill>
                <a:latin typeface="Calibri"/>
              </a:rPr>
              <a:t>px</a:t>
            </a:r>
            <a:r>
              <a:rPr sz="2500" b="0" i="0" dirty="0">
                <a:solidFill>
                  <a:srgbClr val="1A1A1A"/>
                </a:solidFill>
                <a:latin typeface="Calibri"/>
              </a:rPr>
              <a:t> per point</a:t>
            </a:r>
          </a:p>
        </p:txBody>
      </p:sp>
      <p:sp>
        <p:nvSpPr>
          <p:cNvPr id="11" name="TextBox 10"/>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Worked example; moving averages as described in Wilke, Fundamentals of Data Visualization (2019) Ch. 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0F227F-1C52-2D1E-6A9D-1C9F1A796030}"/>
              </a:ext>
            </a:extLst>
          </p:cNvPr>
          <p:cNvPicPr>
            <a:picLocks noChangeAspect="1"/>
          </p:cNvPicPr>
          <p:nvPr/>
        </p:nvPicPr>
        <p:blipFill>
          <a:blip r:embed="rId3"/>
          <a:stretch>
            <a:fillRect/>
          </a:stretch>
        </p:blipFill>
        <p:spPr>
          <a:xfrm>
            <a:off x="1600200" y="1257300"/>
            <a:ext cx="5306165" cy="1343212"/>
          </a:xfrm>
          <a:prstGeom prst="rect">
            <a:avLst/>
          </a:prstGeom>
        </p:spPr>
      </p:pic>
      <p:pic>
        <p:nvPicPr>
          <p:cNvPr id="5" name="Picture 4">
            <a:extLst>
              <a:ext uri="{FF2B5EF4-FFF2-40B4-BE49-F238E27FC236}">
                <a16:creationId xmlns:a16="http://schemas.microsoft.com/office/drawing/2014/main" id="{1E6E17B1-9F69-5D57-5520-4F6F49D613DC}"/>
              </a:ext>
            </a:extLst>
          </p:cNvPr>
          <p:cNvPicPr>
            <a:picLocks noChangeAspect="1"/>
          </p:cNvPicPr>
          <p:nvPr/>
        </p:nvPicPr>
        <p:blipFill>
          <a:blip r:embed="rId4"/>
          <a:stretch>
            <a:fillRect/>
          </a:stretch>
        </p:blipFill>
        <p:spPr>
          <a:xfrm>
            <a:off x="685800" y="3771900"/>
            <a:ext cx="9602540" cy="4458322"/>
          </a:xfrm>
          <a:prstGeom prst="rect">
            <a:avLst/>
          </a:prstGeom>
        </p:spPr>
      </p:pic>
      <p:sp>
        <p:nvSpPr>
          <p:cNvPr id="7" name="TextBox 6">
            <a:extLst>
              <a:ext uri="{FF2B5EF4-FFF2-40B4-BE49-F238E27FC236}">
                <a16:creationId xmlns:a16="http://schemas.microsoft.com/office/drawing/2014/main" id="{32C5422D-31D5-6040-7DBE-D96FC1E40D13}"/>
              </a:ext>
            </a:extLst>
          </p:cNvPr>
          <p:cNvSpPr txBox="1"/>
          <p:nvPr/>
        </p:nvSpPr>
        <p:spPr>
          <a:xfrm>
            <a:off x="7696200" y="8115300"/>
            <a:ext cx="9144000" cy="1200329"/>
          </a:xfrm>
          <a:prstGeom prst="rect">
            <a:avLst/>
          </a:prstGeom>
          <a:noFill/>
        </p:spPr>
        <p:txBody>
          <a:bodyPr wrap="square">
            <a:spAutoFit/>
          </a:bodyPr>
          <a:lstStyle/>
          <a:p>
            <a:r>
              <a:rPr lang="en-IN" sz="2400" dirty="0"/>
              <a:t>Daily data has more than one data point per pixel on average, so some points may overlap horizontally. Weekly and monthly aggregation use fewer data points per pixel, making the chart less crowded.</a:t>
            </a:r>
          </a:p>
        </p:txBody>
      </p:sp>
      <p:pic>
        <p:nvPicPr>
          <p:cNvPr id="4" name="Picture 3">
            <a:extLst>
              <a:ext uri="{FF2B5EF4-FFF2-40B4-BE49-F238E27FC236}">
                <a16:creationId xmlns:a16="http://schemas.microsoft.com/office/drawing/2014/main" id="{B5274A64-2E25-6194-BA4F-3AD81561FCDC}"/>
              </a:ext>
            </a:extLst>
          </p:cNvPr>
          <p:cNvPicPr>
            <a:picLocks noChangeAspect="1"/>
          </p:cNvPicPr>
          <p:nvPr/>
        </p:nvPicPr>
        <p:blipFill>
          <a:blip r:embed="rId5"/>
          <a:stretch>
            <a:fillRect/>
          </a:stretch>
        </p:blipFill>
        <p:spPr>
          <a:xfrm>
            <a:off x="9296400" y="492085"/>
            <a:ext cx="8611503" cy="2441615"/>
          </a:xfrm>
          <a:prstGeom prst="rect">
            <a:avLst/>
          </a:prstGeom>
        </p:spPr>
      </p:pic>
    </p:spTree>
    <p:extLst>
      <p:ext uri="{BB962C8B-B14F-4D97-AF65-F5344CB8AC3E}">
        <p14:creationId xmlns:p14="http://schemas.microsoft.com/office/powerpoint/2010/main" val="1765469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Temporal Filtering</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4632935"/>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Filtering </a:t>
            </a:r>
            <a:r>
              <a:rPr sz="2600" b="1" i="0" dirty="0">
                <a:solidFill>
                  <a:srgbClr val="1A1A1A"/>
                </a:solidFill>
                <a:latin typeface="Calibri"/>
              </a:rPr>
              <a:t>removes items outside a chosen time range or condition</a:t>
            </a:r>
            <a:r>
              <a:rPr sz="2600" b="0" i="0" dirty="0">
                <a:solidFill>
                  <a:srgbClr val="1A1A1A"/>
                </a:solidFill>
                <a:latin typeface="Calibri"/>
              </a:rPr>
              <a:t>.</a:t>
            </a:r>
          </a:p>
          <a:p>
            <a:pPr marL="420000" indent="-340000">
              <a:lnSpc>
                <a:spcPct val="105000"/>
              </a:lnSpc>
              <a:spcAft>
                <a:spcPts val="700"/>
              </a:spcAft>
              <a:buFont typeface="Arial"/>
              <a:buChar char="•"/>
            </a:pPr>
            <a:r>
              <a:rPr sz="2600" b="1" i="0" dirty="0">
                <a:solidFill>
                  <a:srgbClr val="1A1A1A"/>
                </a:solidFill>
                <a:latin typeface="Calibri"/>
              </a:rPr>
              <a:t>Time-range selection:</a:t>
            </a:r>
            <a:r>
              <a:rPr sz="2600" b="0" i="0" dirty="0">
                <a:solidFill>
                  <a:srgbClr val="1A1A1A"/>
                </a:solidFill>
                <a:latin typeface="Calibri"/>
              </a:rPr>
              <a:t> sliders, brushing an overview (overview + detail)</a:t>
            </a:r>
          </a:p>
          <a:p>
            <a:pPr marL="420000" indent="-340000">
              <a:lnSpc>
                <a:spcPct val="105000"/>
              </a:lnSpc>
              <a:spcAft>
                <a:spcPts val="700"/>
              </a:spcAft>
              <a:buFont typeface="Arial"/>
              <a:buChar char="•"/>
            </a:pPr>
            <a:r>
              <a:rPr sz="2600" b="1" i="0" dirty="0">
                <a:solidFill>
                  <a:srgbClr val="1A1A1A"/>
                </a:solidFill>
                <a:latin typeface="Calibri"/>
              </a:rPr>
              <a:t>Conditional filters:</a:t>
            </a:r>
            <a:r>
              <a:rPr sz="2600" b="0" i="0" dirty="0">
                <a:solidFill>
                  <a:srgbClr val="1A1A1A"/>
                </a:solidFill>
                <a:latin typeface="Calibri"/>
              </a:rPr>
              <a:t> show only weekends, only peak hours, only events of type X</a:t>
            </a:r>
          </a:p>
          <a:p>
            <a:pPr marL="420000" indent="-340000">
              <a:lnSpc>
                <a:spcPct val="105000"/>
              </a:lnSpc>
              <a:spcAft>
                <a:spcPts val="700"/>
              </a:spcAft>
              <a:buFont typeface="Arial"/>
              <a:buChar char="•"/>
            </a:pPr>
            <a:r>
              <a:rPr sz="2600" b="1" i="0" dirty="0">
                <a:solidFill>
                  <a:srgbClr val="1A1A1A"/>
                </a:solidFill>
                <a:latin typeface="Calibri"/>
              </a:rPr>
              <a:t>Dynamic queries:</a:t>
            </a:r>
            <a:r>
              <a:rPr sz="2600" b="0" i="0" dirty="0">
                <a:solidFill>
                  <a:srgbClr val="1A1A1A"/>
                </a:solidFill>
                <a:latin typeface="Calibri"/>
              </a:rPr>
              <a:t> the view updates immediately as the range changes</a:t>
            </a:r>
          </a:p>
          <a:p>
            <a:pPr marL="420000" indent="-340000">
              <a:lnSpc>
                <a:spcPct val="105000"/>
              </a:lnSpc>
              <a:spcAft>
                <a:spcPts val="700"/>
              </a:spcAft>
              <a:buFont typeface="Arial"/>
              <a:buChar char="•"/>
            </a:pPr>
            <a:r>
              <a:rPr sz="2600" b="1" i="0" dirty="0">
                <a:solidFill>
                  <a:srgbClr val="1A1A1A"/>
                </a:solidFill>
                <a:latin typeface="Calibri"/>
              </a:rPr>
              <a:t>Unlike aggregation, filtering keeps full detail for what remains – but the filtered-out data is hidden</a:t>
            </a:r>
          </a:p>
          <a:p>
            <a:pPr marL="420000" indent="-340000">
              <a:lnSpc>
                <a:spcPct val="105000"/>
              </a:lnSpc>
              <a:spcAft>
                <a:spcPts val="700"/>
              </a:spcAft>
              <a:buFont typeface="Arial"/>
              <a:buChar char="•"/>
            </a:pPr>
            <a:r>
              <a:rPr sz="2600" b="1" i="0" dirty="0">
                <a:solidFill>
                  <a:srgbClr val="1A1A1A"/>
                </a:solidFill>
                <a:latin typeface="Calibri"/>
              </a:rPr>
              <a:t>Follows ‘Overview first, zoom and filter, details on demand’</a:t>
            </a:r>
          </a:p>
        </p:txBody>
      </p:sp>
      <p:pic>
        <p:nvPicPr>
          <p:cNvPr id="8" name="Picture 7" descr="filtering.png"/>
          <p:cNvPicPr>
            <a:picLocks noChangeAspect="1"/>
          </p:cNvPicPr>
          <p:nvPr/>
        </p:nvPicPr>
        <p:blipFill>
          <a:blip r:embed="rId3"/>
          <a:stretch>
            <a:fillRect/>
          </a:stretch>
        </p:blipFill>
        <p:spPr>
          <a:xfrm>
            <a:off x="9950000" y="3751650"/>
            <a:ext cx="7600000" cy="5046699"/>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§13.3 Filter &amp; §6.7 (Shneiderman’s mantra), p. 135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Timeline Visualization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15700000" cy="1422825"/>
          </a:xfrm>
          <a:prstGeom prst="rect">
            <a:avLst/>
          </a:prstGeom>
          <a:noFill/>
        </p:spPr>
        <p:txBody>
          <a:bodyPr wrap="square" lIns="0" tIns="0" rIns="0" bIns="0" anchor="t">
            <a:spAutoFit/>
          </a:bodyPr>
          <a:lstStyle/>
          <a:p>
            <a:pPr marL="420000" indent="-340000">
              <a:lnSpc>
                <a:spcPct val="105000"/>
              </a:lnSpc>
              <a:spcAft>
                <a:spcPts val="700"/>
              </a:spcAft>
              <a:buFont typeface="Arial"/>
              <a:buChar char="•"/>
            </a:pPr>
            <a:r>
              <a:rPr sz="2600" b="1" i="0" dirty="0">
                <a:solidFill>
                  <a:srgbClr val="1A1A1A"/>
                </a:solidFill>
                <a:latin typeface="Calibri"/>
              </a:rPr>
              <a:t>A timeline places events/intervals along a time axis: </a:t>
            </a:r>
            <a:r>
              <a:rPr sz="2600" b="0" i="0" dirty="0">
                <a:solidFill>
                  <a:srgbClr val="1A1A1A"/>
                </a:solidFill>
                <a:latin typeface="Calibri"/>
              </a:rPr>
              <a:t>point events as marks, intervals as bars (Gantt chart)</a:t>
            </a:r>
          </a:p>
          <a:p>
            <a:pPr marL="420000" indent="-340000">
              <a:lnSpc>
                <a:spcPct val="105000"/>
              </a:lnSpc>
              <a:spcAft>
                <a:spcPts val="700"/>
              </a:spcAft>
              <a:buFont typeface="Arial"/>
              <a:buChar char="•"/>
            </a:pPr>
            <a:r>
              <a:rPr sz="2600" b="0" i="0" dirty="0">
                <a:solidFill>
                  <a:srgbClr val="1A1A1A"/>
                </a:solidFill>
                <a:latin typeface="Calibri"/>
              </a:rPr>
              <a:t>Lanes (rows) group events by person, task or category; milestones shown as vertical reference lines</a:t>
            </a:r>
          </a:p>
          <a:p>
            <a:pPr marL="420000" indent="-340000">
              <a:lnSpc>
                <a:spcPct val="105000"/>
              </a:lnSpc>
              <a:spcAft>
                <a:spcPts val="700"/>
              </a:spcAft>
              <a:buFont typeface="Arial"/>
              <a:buChar char="•"/>
            </a:pPr>
            <a:r>
              <a:rPr sz="2600" b="1" i="0" dirty="0">
                <a:solidFill>
                  <a:srgbClr val="1A1A1A"/>
                </a:solidFill>
                <a:latin typeface="Calibri"/>
              </a:rPr>
              <a:t>Layouts:</a:t>
            </a:r>
            <a:r>
              <a:rPr sz="2600" b="0" i="0" dirty="0">
                <a:solidFill>
                  <a:srgbClr val="1A1A1A"/>
                </a:solidFill>
                <a:latin typeface="Calibri"/>
              </a:rPr>
              <a:t> linear (most common), radial/spiral for cyclic patterns; uses: project plans, history, patient records, logs</a:t>
            </a:r>
          </a:p>
        </p:txBody>
      </p:sp>
      <p:pic>
        <p:nvPicPr>
          <p:cNvPr id="8" name="Picture 7" descr="timeline.png"/>
          <p:cNvPicPr>
            <a:picLocks noChangeAspect="1"/>
          </p:cNvPicPr>
          <p:nvPr/>
        </p:nvPicPr>
        <p:blipFill>
          <a:blip r:embed="rId3"/>
          <a:stretch>
            <a:fillRect/>
          </a:stretch>
        </p:blipFill>
        <p:spPr>
          <a:xfrm>
            <a:off x="3935805" y="4950000"/>
            <a:ext cx="10359493" cy="4650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Aigner et al., Visualization of Time-Oriented Data (2011); Munzner, Visualization Analysis and Design (2014) §2.6.2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Playback and Scrubbing</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4632935"/>
          </a:xfrm>
          <a:prstGeom prst="rect">
            <a:avLst/>
          </a:prstGeom>
          <a:noFill/>
        </p:spPr>
        <p:txBody>
          <a:bodyPr wrap="square" lIns="0" tIns="0" rIns="0" bIns="0" anchor="t">
            <a:spAutoFit/>
          </a:bodyPr>
          <a:lstStyle/>
          <a:p>
            <a:pPr>
              <a:lnSpc>
                <a:spcPct val="105000"/>
              </a:lnSpc>
              <a:spcAft>
                <a:spcPts val="700"/>
              </a:spcAft>
              <a:buNone/>
            </a:pPr>
            <a:r>
              <a:rPr sz="2600" b="1" i="0" dirty="0">
                <a:solidFill>
                  <a:srgbClr val="1A1A1A"/>
                </a:solidFill>
                <a:latin typeface="Calibri"/>
              </a:rPr>
              <a:t>Playback = video-style control of an animation: play, pause, stop, rewind, step forward/back.</a:t>
            </a:r>
          </a:p>
          <a:p>
            <a:pPr marL="420000" indent="-340000">
              <a:lnSpc>
                <a:spcPct val="105000"/>
              </a:lnSpc>
              <a:spcAft>
                <a:spcPts val="700"/>
              </a:spcAft>
              <a:buFont typeface="Arial"/>
              <a:buChar char="•"/>
            </a:pPr>
            <a:r>
              <a:rPr sz="2600" b="1" i="0" dirty="0">
                <a:solidFill>
                  <a:srgbClr val="1A1A1A"/>
                </a:solidFill>
                <a:latin typeface="Calibri"/>
              </a:rPr>
              <a:t>Scrubbing</a:t>
            </a:r>
            <a:r>
              <a:rPr sz="2600" b="0" i="0" dirty="0">
                <a:solidFill>
                  <a:srgbClr val="1A1A1A"/>
                </a:solidFill>
                <a:latin typeface="Calibri"/>
              </a:rPr>
              <a:t> = dragging a slider (</a:t>
            </a:r>
            <a:r>
              <a:rPr sz="2600" b="0" i="0" dirty="0" err="1">
                <a:solidFill>
                  <a:srgbClr val="1A1A1A"/>
                </a:solidFill>
                <a:latin typeface="Calibri"/>
              </a:rPr>
              <a:t>playhead</a:t>
            </a:r>
            <a:r>
              <a:rPr sz="2600" b="0" i="0" dirty="0">
                <a:solidFill>
                  <a:srgbClr val="1A1A1A"/>
                </a:solidFill>
                <a:latin typeface="Calibri"/>
              </a:rPr>
              <a:t>) to jump to any time instantly</a:t>
            </a:r>
          </a:p>
          <a:p>
            <a:pPr marL="420000" indent="-340000">
              <a:lnSpc>
                <a:spcPct val="105000"/>
              </a:lnSpc>
              <a:spcAft>
                <a:spcPts val="700"/>
              </a:spcAft>
              <a:buFont typeface="Arial"/>
              <a:buChar char="•"/>
            </a:pPr>
            <a:r>
              <a:rPr sz="2600" b="0" i="0" dirty="0">
                <a:solidFill>
                  <a:srgbClr val="1A1A1A"/>
                </a:solidFill>
                <a:latin typeface="Calibri"/>
              </a:rPr>
              <a:t>Speed control lets users slow down complex parts</a:t>
            </a:r>
          </a:p>
          <a:p>
            <a:pPr marL="420000" indent="-340000">
              <a:lnSpc>
                <a:spcPct val="105000"/>
              </a:lnSpc>
              <a:spcAft>
                <a:spcPts val="700"/>
              </a:spcAft>
              <a:buFont typeface="Arial"/>
              <a:buChar char="•"/>
            </a:pPr>
            <a:r>
              <a:rPr sz="2600" b="0" i="0" dirty="0">
                <a:solidFill>
                  <a:srgbClr val="1A1A1A"/>
                </a:solidFill>
                <a:latin typeface="Calibri"/>
              </a:rPr>
              <a:t>with playback the </a:t>
            </a:r>
            <a:r>
              <a:rPr sz="2600" b="1" i="0" dirty="0">
                <a:solidFill>
                  <a:srgbClr val="1A1A1A"/>
                </a:solidFill>
                <a:latin typeface="Calibri"/>
              </a:rPr>
              <a:t>user controls only the speed</a:t>
            </a:r>
            <a:r>
              <a:rPr sz="2600" b="0" i="0" dirty="0">
                <a:solidFill>
                  <a:srgbClr val="1A1A1A"/>
                </a:solidFill>
                <a:latin typeface="Calibri"/>
              </a:rPr>
              <a:t>, not what happens – it is not full interactive control</a:t>
            </a:r>
          </a:p>
          <a:p>
            <a:pPr marL="420000" indent="-340000">
              <a:lnSpc>
                <a:spcPct val="105000"/>
              </a:lnSpc>
              <a:spcAft>
                <a:spcPts val="700"/>
              </a:spcAft>
              <a:buFont typeface="Arial"/>
              <a:buChar char="•"/>
            </a:pPr>
            <a:r>
              <a:rPr sz="2600" b="1" i="0" dirty="0">
                <a:solidFill>
                  <a:srgbClr val="1A1A1A"/>
                </a:solidFill>
                <a:latin typeface="Calibri"/>
              </a:rPr>
              <a:t>Pausing and replaying </a:t>
            </a:r>
            <a:r>
              <a:rPr sz="2600" b="0" i="0" dirty="0">
                <a:solidFill>
                  <a:srgbClr val="1A1A1A"/>
                </a:solidFill>
                <a:latin typeface="Calibri"/>
              </a:rPr>
              <a:t>is much better than seeing an animation once, but does not fully solve memory problems</a:t>
            </a:r>
          </a:p>
          <a:p>
            <a:pPr marL="420000" indent="-340000">
              <a:lnSpc>
                <a:spcPct val="105000"/>
              </a:lnSpc>
              <a:spcAft>
                <a:spcPts val="700"/>
              </a:spcAft>
              <a:buFont typeface="Arial"/>
              <a:buChar char="•"/>
            </a:pPr>
            <a:r>
              <a:rPr sz="2600" b="0" i="0" dirty="0">
                <a:solidFill>
                  <a:srgbClr val="1A1A1A"/>
                </a:solidFill>
                <a:latin typeface="Calibri"/>
              </a:rPr>
              <a:t>Show the current time clearly (label, </a:t>
            </a:r>
            <a:r>
              <a:rPr sz="2600" b="0" i="0" dirty="0" err="1">
                <a:solidFill>
                  <a:srgbClr val="1A1A1A"/>
                </a:solidFill>
                <a:latin typeface="Calibri"/>
              </a:rPr>
              <a:t>playhead</a:t>
            </a:r>
            <a:r>
              <a:rPr sz="2600" b="0" i="0" dirty="0">
                <a:solidFill>
                  <a:srgbClr val="1A1A1A"/>
                </a:solidFill>
                <a:latin typeface="Calibri"/>
              </a:rPr>
              <a:t> position)</a:t>
            </a:r>
          </a:p>
        </p:txBody>
      </p:sp>
      <p:pic>
        <p:nvPicPr>
          <p:cNvPr id="8" name="Picture 7" descr="playback.gif"/>
          <p:cNvPicPr>
            <a:picLocks noChangeAspect="1"/>
          </p:cNvPicPr>
          <p:nvPr/>
        </p:nvPicPr>
        <p:blipFill>
          <a:blip r:embed="rId3"/>
          <a:stretch>
            <a:fillRect/>
          </a:stretch>
        </p:blipFill>
        <p:spPr>
          <a:xfrm>
            <a:off x="9950000" y="3662500"/>
            <a:ext cx="7600000" cy="5225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§6.5.2, pp. 132–133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Temporal Navigation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15700000" cy="1842940"/>
          </a:xfrm>
          <a:prstGeom prst="rect">
            <a:avLst/>
          </a:prstGeom>
          <a:noFill/>
        </p:spPr>
        <p:txBody>
          <a:bodyPr wrap="square" lIns="0" tIns="0" rIns="0" bIns="0" anchor="t">
            <a:spAutoFit/>
          </a:bodyPr>
          <a:lstStyle/>
          <a:p>
            <a:pPr marL="420000" indent="-340000">
              <a:lnSpc>
                <a:spcPct val="105000"/>
              </a:lnSpc>
              <a:spcAft>
                <a:spcPts val="700"/>
              </a:spcAft>
              <a:buFont typeface="Arial"/>
              <a:buChar char="•"/>
            </a:pPr>
            <a:r>
              <a:rPr sz="2600" b="1" i="0" dirty="0">
                <a:solidFill>
                  <a:srgbClr val="1A1A1A"/>
                </a:solidFill>
                <a:latin typeface="Calibri"/>
              </a:rPr>
              <a:t>Navigate by zooming/panning the time axis, overview + detail, or jumping by calendar units (day, week, month</a:t>
            </a:r>
            <a:r>
              <a:rPr sz="2600" b="0" i="0" dirty="0">
                <a:solidFill>
                  <a:srgbClr val="1A1A1A"/>
                </a:solidFill>
                <a:latin typeface="Calibri"/>
              </a:rPr>
              <a:t>)</a:t>
            </a:r>
          </a:p>
          <a:p>
            <a:pPr marL="420000" indent="-340000">
              <a:lnSpc>
                <a:spcPct val="105000"/>
              </a:lnSpc>
              <a:spcAft>
                <a:spcPts val="700"/>
              </a:spcAft>
              <a:buFont typeface="Arial"/>
              <a:buChar char="•"/>
            </a:pPr>
            <a:r>
              <a:rPr sz="2600" b="0" i="0" dirty="0">
                <a:solidFill>
                  <a:srgbClr val="1A1A1A"/>
                </a:solidFill>
                <a:latin typeface="Calibri"/>
              </a:rPr>
              <a:t>Calendar views &amp; cyclic layouts reveal weekly/seasonal patterns; semantic zoom changes granularity with zoom level</a:t>
            </a:r>
          </a:p>
          <a:p>
            <a:pPr marL="420000" indent="-340000">
              <a:lnSpc>
                <a:spcPct val="105000"/>
              </a:lnSpc>
              <a:spcAft>
                <a:spcPts val="700"/>
              </a:spcAft>
              <a:buFont typeface="Arial"/>
              <a:buChar char="•"/>
            </a:pPr>
            <a:r>
              <a:rPr sz="2600" b="1" i="0" dirty="0">
                <a:solidFill>
                  <a:srgbClr val="1A1A1A"/>
                </a:solidFill>
                <a:latin typeface="Calibri"/>
              </a:rPr>
              <a:t>Eyes beat memory:</a:t>
            </a:r>
            <a:r>
              <a:rPr sz="2600" b="0" i="0" dirty="0">
                <a:solidFill>
                  <a:srgbClr val="1A1A1A"/>
                </a:solidFill>
                <a:latin typeface="Calibri"/>
              </a:rPr>
              <a:t> an overview with the current window marked replaces remembering ‘where am I in time?’</a:t>
            </a:r>
          </a:p>
        </p:txBody>
      </p:sp>
      <p:pic>
        <p:nvPicPr>
          <p:cNvPr id="8" name="Picture 7" descr="calendar.png"/>
          <p:cNvPicPr>
            <a:picLocks noChangeAspect="1"/>
          </p:cNvPicPr>
          <p:nvPr/>
        </p:nvPicPr>
        <p:blipFill>
          <a:blip r:embed="rId3"/>
          <a:stretch>
            <a:fillRect/>
          </a:stretch>
        </p:blipFill>
        <p:spPr>
          <a:xfrm>
            <a:off x="2010067" y="4950000"/>
            <a:ext cx="14210969" cy="4650000"/>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§11.5 Navigate &amp; §6.5 Eyes Beat Memory; Aigner et al. (2011)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Animation Versus Static Views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Rounded Rectangle 6"/>
          <p:cNvSpPr/>
          <p:nvPr/>
        </p:nvSpPr>
        <p:spPr>
          <a:xfrm>
            <a:off x="681104" y="2150000"/>
            <a:ext cx="5400000" cy="6050000"/>
          </a:xfrm>
          <a:prstGeom prst="roundRect">
            <a:avLst>
              <a:gd name="adj" fmla="val 6000"/>
            </a:avLst>
          </a:prstGeom>
          <a:solidFill>
            <a:srgbClr val="FBEEE4"/>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01104" y="2310000"/>
            <a:ext cx="4960000" cy="5750000"/>
          </a:xfrm>
          <a:prstGeom prst="rect">
            <a:avLst/>
          </a:prstGeom>
          <a:noFill/>
        </p:spPr>
        <p:txBody>
          <a:bodyPr wrap="square" lIns="0" tIns="0" rIns="0" bIns="0" anchor="t">
            <a:spAutoFit/>
          </a:bodyPr>
          <a:lstStyle/>
          <a:p>
            <a:pPr>
              <a:spcAft>
                <a:spcPts val="800"/>
              </a:spcAft>
            </a:pPr>
            <a:r>
              <a:rPr sz="2800" b="1" i="0">
                <a:solidFill>
                  <a:srgbClr val="C55A11"/>
                </a:solidFill>
                <a:latin typeface="Calibri"/>
              </a:rPr>
              <a:t>Animation</a:t>
            </a:r>
          </a:p>
          <a:p>
            <a:pPr marL="420000" indent="-340000">
              <a:spcAft>
                <a:spcPts val="600"/>
              </a:spcAft>
              <a:buFont typeface="Arial"/>
              <a:buChar char="•"/>
            </a:pPr>
            <a:r>
              <a:rPr sz="2300" b="0" i="0">
                <a:solidFill>
                  <a:srgbClr val="1A1A1A"/>
                </a:solidFill>
                <a:latin typeface="Calibri"/>
              </a:rPr>
              <a:t>Time → display time</a:t>
            </a:r>
          </a:p>
          <a:p>
            <a:pPr marL="420000" indent="-340000">
              <a:spcAft>
                <a:spcPts val="600"/>
              </a:spcAft>
              <a:buFont typeface="Arial"/>
              <a:buChar char="•"/>
            </a:pPr>
            <a:r>
              <a:rPr sz="2300" b="0" i="0">
                <a:solidFill>
                  <a:srgbClr val="1A1A1A"/>
                </a:solidFill>
                <a:latin typeface="Calibri"/>
              </a:rPr>
              <a:t>Good for transitions and showing that something moves</a:t>
            </a:r>
          </a:p>
          <a:p>
            <a:pPr marL="420000" indent="-340000">
              <a:spcAft>
                <a:spcPts val="600"/>
              </a:spcAft>
              <a:buFont typeface="Arial"/>
              <a:buChar char="•"/>
            </a:pPr>
            <a:r>
              <a:rPr sz="2300" b="0" i="0">
                <a:solidFill>
                  <a:srgbClr val="1A1A1A"/>
                </a:solidFill>
                <a:latin typeface="Calibri"/>
              </a:rPr>
              <a:t>Engaging for storytelling and presentation</a:t>
            </a:r>
          </a:p>
          <a:p>
            <a:pPr marL="420000" indent="-340000">
              <a:spcAft>
                <a:spcPts val="600"/>
              </a:spcAft>
              <a:buFont typeface="Arial"/>
              <a:buChar char="•"/>
            </a:pPr>
            <a:r>
              <a:rPr sz="2300" b="0" i="0">
                <a:solidFill>
                  <a:srgbClr val="1A1A1A"/>
                </a:solidFill>
                <a:latin typeface="Calibri"/>
              </a:rPr>
              <a:t>Relies on working memory to compare frames</a:t>
            </a:r>
          </a:p>
          <a:p>
            <a:pPr marL="420000" indent="-340000">
              <a:spcAft>
                <a:spcPts val="600"/>
              </a:spcAft>
              <a:buFont typeface="Arial"/>
              <a:buChar char="•"/>
            </a:pPr>
            <a:r>
              <a:rPr sz="2300" b="0" i="0">
                <a:solidFill>
                  <a:srgbClr val="1A1A1A"/>
                </a:solidFill>
                <a:latin typeface="Calibri"/>
              </a:rPr>
              <a:t>Cannot be printed; timing controlled by viewer or author</a:t>
            </a:r>
          </a:p>
        </p:txBody>
      </p:sp>
      <p:sp>
        <p:nvSpPr>
          <p:cNvPr id="9" name="Rounded Rectangle 8"/>
          <p:cNvSpPr/>
          <p:nvPr/>
        </p:nvSpPr>
        <p:spPr>
          <a:xfrm>
            <a:off x="6381104" y="2150000"/>
            <a:ext cx="5400000" cy="6050000"/>
          </a:xfrm>
          <a:prstGeom prst="roundRect">
            <a:avLst>
              <a:gd name="adj" fmla="val 6000"/>
            </a:avLst>
          </a:prstGeom>
          <a:solidFill>
            <a:srgbClr val="EAF0FA"/>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601104" y="2310000"/>
            <a:ext cx="4960000" cy="5750000"/>
          </a:xfrm>
          <a:prstGeom prst="rect">
            <a:avLst/>
          </a:prstGeom>
          <a:noFill/>
        </p:spPr>
        <p:txBody>
          <a:bodyPr wrap="square" lIns="0" tIns="0" rIns="0" bIns="0" anchor="t">
            <a:spAutoFit/>
          </a:bodyPr>
          <a:lstStyle/>
          <a:p>
            <a:pPr>
              <a:spcAft>
                <a:spcPts val="800"/>
              </a:spcAft>
            </a:pPr>
            <a:r>
              <a:rPr sz="2800" b="1" i="0">
                <a:solidFill>
                  <a:srgbClr val="4472C4"/>
                </a:solidFill>
                <a:latin typeface="Calibri"/>
              </a:rPr>
              <a:t>Static views</a:t>
            </a:r>
          </a:p>
          <a:p>
            <a:pPr marL="420000" indent="-340000">
              <a:spcAft>
                <a:spcPts val="600"/>
              </a:spcAft>
              <a:buFont typeface="Arial"/>
              <a:buChar char="•"/>
            </a:pPr>
            <a:r>
              <a:rPr sz="2300" b="0" i="0">
                <a:solidFill>
                  <a:srgbClr val="1A1A1A"/>
                </a:solidFill>
                <a:latin typeface="Calibri"/>
              </a:rPr>
              <a:t>Time → position (x-axis), colour, or multiple panels</a:t>
            </a:r>
          </a:p>
          <a:p>
            <a:pPr marL="420000" indent="-340000">
              <a:spcAft>
                <a:spcPts val="600"/>
              </a:spcAft>
              <a:buFont typeface="Arial"/>
              <a:buChar char="•"/>
            </a:pPr>
            <a:r>
              <a:rPr sz="2300" b="0" i="0">
                <a:solidFill>
                  <a:srgbClr val="1A1A1A"/>
                </a:solidFill>
                <a:latin typeface="Calibri"/>
              </a:rPr>
              <a:t>All data visible at once – eyes can compare directly</a:t>
            </a:r>
          </a:p>
          <a:p>
            <a:pPr marL="420000" indent="-340000">
              <a:spcAft>
                <a:spcPts val="600"/>
              </a:spcAft>
              <a:buFont typeface="Arial"/>
              <a:buChar char="•"/>
            </a:pPr>
            <a:r>
              <a:rPr sz="2300" b="0" i="0">
                <a:solidFill>
                  <a:srgbClr val="1A1A1A"/>
                </a:solidFill>
                <a:latin typeface="Calibri"/>
              </a:rPr>
              <a:t>Better for detailed analysis and precise comparison</a:t>
            </a:r>
          </a:p>
          <a:p>
            <a:pPr marL="420000" indent="-340000">
              <a:spcAft>
                <a:spcPts val="600"/>
              </a:spcAft>
              <a:buFont typeface="Arial"/>
              <a:buChar char="•"/>
            </a:pPr>
            <a:r>
              <a:rPr sz="2300" b="0" i="0">
                <a:solidFill>
                  <a:srgbClr val="1A1A1A"/>
                </a:solidFill>
                <a:latin typeface="Calibri"/>
              </a:rPr>
              <a:t>Can be printed, annotated and re-read</a:t>
            </a:r>
          </a:p>
          <a:p>
            <a:pPr marL="420000" indent="-340000">
              <a:spcAft>
                <a:spcPts val="600"/>
              </a:spcAft>
              <a:buFont typeface="Arial"/>
              <a:buChar char="•"/>
            </a:pPr>
            <a:r>
              <a:rPr sz="2300" b="0" i="0">
                <a:solidFill>
                  <a:srgbClr val="1A1A1A"/>
                </a:solidFill>
                <a:latin typeface="Calibri"/>
              </a:rPr>
              <a:t>May become cluttered with many time steps</a:t>
            </a:r>
          </a:p>
        </p:txBody>
      </p:sp>
      <p:pic>
        <p:nvPicPr>
          <p:cNvPr id="11" name="Picture 10" descr="anim_vs_static.png"/>
          <p:cNvPicPr>
            <a:picLocks noChangeAspect="1"/>
          </p:cNvPicPr>
          <p:nvPr/>
        </p:nvPicPr>
        <p:blipFill>
          <a:blip r:embed="rId3"/>
          <a:stretch>
            <a:fillRect/>
          </a:stretch>
        </p:blipFill>
        <p:spPr>
          <a:xfrm>
            <a:off x="12081104" y="3198724"/>
            <a:ext cx="5468896" cy="3952552"/>
          </a:xfrm>
          <a:prstGeom prst="rect">
            <a:avLst/>
          </a:prstGeom>
          <a:ln w="12700">
            <a:solidFill>
              <a:srgbClr val="D9D9D9"/>
            </a:solidFill>
          </a:ln>
        </p:spPr>
      </p:pic>
      <p:sp>
        <p:nvSpPr>
          <p:cNvPr id="12" name="TextBox 11"/>
          <p:cNvSpPr txBox="1"/>
          <p:nvPr/>
        </p:nvSpPr>
        <p:spPr>
          <a:xfrm>
            <a:off x="681104" y="8400000"/>
            <a:ext cx="16068896" cy="707886"/>
          </a:xfrm>
          <a:prstGeom prst="rect">
            <a:avLst/>
          </a:prstGeom>
          <a:noFill/>
        </p:spPr>
        <p:txBody>
          <a:bodyPr wrap="square" lIns="0" tIns="0" rIns="0" bIns="0" anchor="t">
            <a:spAutoFit/>
          </a:bodyPr>
          <a:lstStyle/>
          <a:p>
            <a:r>
              <a:rPr sz="2300" b="1" i="0" dirty="0">
                <a:solidFill>
                  <a:srgbClr val="C55A11"/>
                </a:solidFill>
                <a:latin typeface="Calibri"/>
              </a:rPr>
              <a:t>Key takeaway: </a:t>
            </a:r>
            <a:r>
              <a:rPr sz="2300" b="0" i="1" dirty="0" err="1">
                <a:solidFill>
                  <a:srgbClr val="1F3864"/>
                </a:solidFill>
                <a:latin typeface="Calibri"/>
              </a:rPr>
              <a:t>Munzner</a:t>
            </a:r>
            <a:r>
              <a:rPr sz="2300" b="0" i="1" dirty="0">
                <a:solidFill>
                  <a:srgbClr val="1F3864"/>
                </a:solidFill>
                <a:latin typeface="Calibri"/>
              </a:rPr>
              <a:t>: ‘eyes beat memory’ – </a:t>
            </a:r>
            <a:r>
              <a:rPr sz="2300" b="1" i="1" dirty="0">
                <a:solidFill>
                  <a:srgbClr val="1F3864"/>
                </a:solidFill>
                <a:latin typeface="Calibri"/>
              </a:rPr>
              <a:t>comparing visible views is cheaper than recalling earlier frames. Use animation for transitions, static views for analysis.</a:t>
            </a:r>
          </a:p>
        </p:txBody>
      </p:sp>
      <p:sp>
        <p:nvSpPr>
          <p:cNvPr id="13" name="TextBox 12"/>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§6.5; Tversky et al. 2002; Robertson et al. 2008</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Animation Versus Small Multiples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4632935"/>
          </a:xfrm>
          <a:prstGeom prst="rect">
            <a:avLst/>
          </a:prstGeom>
          <a:noFill/>
        </p:spPr>
        <p:txBody>
          <a:bodyPr wrap="square" lIns="0" tIns="0" rIns="0" bIns="0" anchor="t">
            <a:spAutoFit/>
          </a:bodyPr>
          <a:lstStyle/>
          <a:p>
            <a:pPr>
              <a:lnSpc>
                <a:spcPct val="105000"/>
              </a:lnSpc>
              <a:spcAft>
                <a:spcPts val="700"/>
              </a:spcAft>
              <a:buNone/>
            </a:pPr>
            <a:r>
              <a:rPr sz="2600" b="0" i="0" dirty="0">
                <a:solidFill>
                  <a:srgbClr val="1A1A1A"/>
                </a:solidFill>
                <a:latin typeface="Calibri"/>
              </a:rPr>
              <a:t>Small multiples = a grid of the same chart, one per time step, with shared axes.</a:t>
            </a:r>
          </a:p>
          <a:p>
            <a:pPr marL="420000" indent="-340000">
              <a:lnSpc>
                <a:spcPct val="105000"/>
              </a:lnSpc>
              <a:spcAft>
                <a:spcPts val="700"/>
              </a:spcAft>
              <a:buFont typeface="Arial"/>
              <a:buChar char="•"/>
            </a:pPr>
            <a:r>
              <a:rPr sz="2600" b="0" i="0" dirty="0">
                <a:solidFill>
                  <a:srgbClr val="1A1A1A"/>
                </a:solidFill>
                <a:latin typeface="Calibri"/>
              </a:rPr>
              <a:t>Side by side, all frames can be compared with eye movements instead of memory</a:t>
            </a:r>
          </a:p>
          <a:p>
            <a:pPr marL="420000" indent="-340000">
              <a:lnSpc>
                <a:spcPct val="105000"/>
              </a:lnSpc>
              <a:spcAft>
                <a:spcPts val="700"/>
              </a:spcAft>
              <a:buFont typeface="Arial"/>
              <a:buChar char="•"/>
            </a:pPr>
            <a:r>
              <a:rPr sz="2600" b="1" i="0" dirty="0">
                <a:solidFill>
                  <a:srgbClr val="1A1A1A"/>
                </a:solidFill>
                <a:latin typeface="Calibri"/>
              </a:rPr>
              <a:t>Works for dozens – not hundreds – of frames (display resolution limit)</a:t>
            </a:r>
          </a:p>
          <a:p>
            <a:pPr marL="420000" indent="-340000">
              <a:lnSpc>
                <a:spcPct val="105000"/>
              </a:lnSpc>
              <a:spcAft>
                <a:spcPts val="700"/>
              </a:spcAft>
              <a:buFont typeface="Arial"/>
              <a:buChar char="•"/>
            </a:pPr>
            <a:r>
              <a:rPr sz="2600" b="1" i="0" dirty="0">
                <a:solidFill>
                  <a:srgbClr val="1A1A1A"/>
                </a:solidFill>
                <a:latin typeface="Calibri"/>
              </a:rPr>
              <a:t>Frames should be meaningful chunks, not random keyframes</a:t>
            </a:r>
          </a:p>
          <a:p>
            <a:pPr marL="420000" indent="-340000">
              <a:lnSpc>
                <a:spcPct val="105000"/>
              </a:lnSpc>
              <a:spcAft>
                <a:spcPts val="700"/>
              </a:spcAft>
              <a:buFont typeface="Arial"/>
              <a:buChar char="•"/>
            </a:pPr>
            <a:r>
              <a:rPr sz="2600" b="1" i="0" dirty="0">
                <a:solidFill>
                  <a:srgbClr val="1A1A1A"/>
                </a:solidFill>
                <a:latin typeface="Calibri"/>
              </a:rPr>
              <a:t>Animation still better for showing continuous movement or a single transition</a:t>
            </a:r>
          </a:p>
          <a:p>
            <a:pPr marL="420000" indent="-340000">
              <a:lnSpc>
                <a:spcPct val="105000"/>
              </a:lnSpc>
              <a:spcAft>
                <a:spcPts val="700"/>
              </a:spcAft>
              <a:buFont typeface="Arial"/>
              <a:buChar char="•"/>
            </a:pPr>
            <a:r>
              <a:rPr sz="2600" b="1" i="0" dirty="0">
                <a:solidFill>
                  <a:srgbClr val="1A1A1A"/>
                </a:solidFill>
                <a:latin typeface="Calibri"/>
              </a:rPr>
              <a:t>Wilke:</a:t>
            </a:r>
            <a:r>
              <a:rPr sz="2600" b="0" i="0" dirty="0">
                <a:solidFill>
                  <a:srgbClr val="1A1A1A"/>
                </a:solidFill>
                <a:latin typeface="Calibri"/>
              </a:rPr>
              <a:t> multi-panel figures need consistent axes and ordering</a:t>
            </a:r>
          </a:p>
        </p:txBody>
      </p:sp>
      <p:pic>
        <p:nvPicPr>
          <p:cNvPr id="8" name="Picture 7" descr="small_multiples.png"/>
          <p:cNvPicPr>
            <a:picLocks noChangeAspect="1"/>
          </p:cNvPicPr>
          <p:nvPr/>
        </p:nvPicPr>
        <p:blipFill>
          <a:blip r:embed="rId3"/>
          <a:stretch>
            <a:fillRect/>
          </a:stretch>
        </p:blipFill>
        <p:spPr>
          <a:xfrm>
            <a:off x="9950000" y="4479128"/>
            <a:ext cx="7600000" cy="3591743"/>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§6.5.2 &amp; §12.3.2 Small Multiples; Wilke, Fundamentals of Data Visualization (2019) Ch. 21 ‘Multi-panel figures’; Tufte (1990)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Numerical 6: How Many Small Multiples Fit?</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Rounded Rectangle 6"/>
          <p:cNvSpPr/>
          <p:nvPr/>
        </p:nvSpPr>
        <p:spPr>
          <a:xfrm>
            <a:off x="681104" y="2150000"/>
            <a:ext cx="15968896" cy="2850000"/>
          </a:xfrm>
          <a:prstGeom prst="roundRect">
            <a:avLst>
              <a:gd name="adj" fmla="val 6000"/>
            </a:avLst>
          </a:prstGeom>
          <a:solidFill>
            <a:srgbClr val="FBEEE4"/>
          </a:solidFill>
          <a:ln w="19050">
            <a:solidFill>
              <a:srgbClr val="DFA26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31104" y="2300000"/>
            <a:ext cx="15468896" cy="2069797"/>
          </a:xfrm>
          <a:prstGeom prst="rect">
            <a:avLst/>
          </a:prstGeom>
          <a:noFill/>
        </p:spPr>
        <p:txBody>
          <a:bodyPr wrap="square" lIns="0" tIns="0" rIns="0" bIns="0" anchor="t">
            <a:spAutoFit/>
          </a:bodyPr>
          <a:lstStyle/>
          <a:p>
            <a:r>
              <a:rPr sz="2700" b="1" i="0" dirty="0">
                <a:solidFill>
                  <a:srgbClr val="C55A11"/>
                </a:solidFill>
                <a:latin typeface="Calibri"/>
              </a:rPr>
              <a:t>Problem</a:t>
            </a:r>
          </a:p>
          <a:p>
            <a:pPr>
              <a:spcAft>
                <a:spcPts val="300"/>
              </a:spcAft>
            </a:pPr>
            <a:r>
              <a:rPr sz="2500" b="0" i="0" dirty="0">
                <a:solidFill>
                  <a:srgbClr val="1A1A1A"/>
                </a:solidFill>
                <a:latin typeface="Calibri"/>
              </a:rPr>
              <a:t>A 1920 × 1080 </a:t>
            </a:r>
            <a:r>
              <a:rPr sz="2500" b="0" i="0" dirty="0" err="1">
                <a:solidFill>
                  <a:srgbClr val="1A1A1A"/>
                </a:solidFill>
                <a:latin typeface="Calibri"/>
              </a:rPr>
              <a:t>px</a:t>
            </a:r>
            <a:r>
              <a:rPr sz="2500" b="0" i="0" dirty="0">
                <a:solidFill>
                  <a:srgbClr val="1A1A1A"/>
                </a:solidFill>
                <a:latin typeface="Calibri"/>
              </a:rPr>
              <a:t> screen shows small multiples. Each panel needs at least 200 × 150 </a:t>
            </a:r>
            <a:r>
              <a:rPr sz="2500" b="0" i="0" dirty="0" err="1">
                <a:solidFill>
                  <a:srgbClr val="1A1A1A"/>
                </a:solidFill>
                <a:latin typeface="Calibri"/>
              </a:rPr>
              <a:t>px</a:t>
            </a:r>
            <a:endParaRPr sz="2500" b="0" i="0" dirty="0">
              <a:solidFill>
                <a:srgbClr val="1A1A1A"/>
              </a:solidFill>
              <a:latin typeface="Calibri"/>
            </a:endParaRPr>
          </a:p>
          <a:p>
            <a:pPr>
              <a:spcAft>
                <a:spcPts val="300"/>
              </a:spcAft>
            </a:pPr>
            <a:r>
              <a:rPr sz="2500" b="0" i="0" dirty="0">
                <a:solidFill>
                  <a:srgbClr val="1A1A1A"/>
                </a:solidFill>
                <a:latin typeface="Calibri"/>
              </a:rPr>
              <a:t>plus a 20 </a:t>
            </a:r>
            <a:r>
              <a:rPr sz="2500" b="0" i="0" dirty="0" err="1">
                <a:solidFill>
                  <a:srgbClr val="1A1A1A"/>
                </a:solidFill>
                <a:latin typeface="Calibri"/>
              </a:rPr>
              <a:t>px</a:t>
            </a:r>
            <a:r>
              <a:rPr sz="2500" b="0" i="0" dirty="0">
                <a:solidFill>
                  <a:srgbClr val="1A1A1A"/>
                </a:solidFill>
                <a:latin typeface="Calibri"/>
              </a:rPr>
              <a:t> </a:t>
            </a:r>
            <a:r>
              <a:rPr lang="en-US" sz="2500" b="0" i="0" dirty="0">
                <a:solidFill>
                  <a:srgbClr val="1A1A1A"/>
                </a:solidFill>
                <a:latin typeface="Calibri"/>
              </a:rPr>
              <a:t> </a:t>
            </a:r>
            <a:r>
              <a:rPr sz="2500" b="0" i="0" dirty="0">
                <a:solidFill>
                  <a:srgbClr val="1A1A1A"/>
                </a:solidFill>
                <a:latin typeface="Calibri"/>
              </a:rPr>
              <a:t>in each direction.</a:t>
            </a:r>
          </a:p>
          <a:p>
            <a:pPr>
              <a:spcAft>
                <a:spcPts val="300"/>
              </a:spcAft>
            </a:pPr>
            <a:r>
              <a:rPr sz="2500" b="0" i="0" dirty="0">
                <a:solidFill>
                  <a:srgbClr val="1A1A1A"/>
                </a:solidFill>
                <a:latin typeface="Calibri"/>
              </a:rPr>
              <a:t>(a) How many panels fit?  (b) The data has 60 yearly time steps – does it fit? Suggest options.</a:t>
            </a:r>
          </a:p>
          <a:p>
            <a:pPr>
              <a:spcAft>
                <a:spcPts val="300"/>
              </a:spcAft>
            </a:pPr>
            <a:r>
              <a:rPr sz="2500" b="0" i="0" dirty="0">
                <a:solidFill>
                  <a:srgbClr val="1A1A1A"/>
                </a:solidFill>
                <a:latin typeface="Calibri"/>
              </a:rPr>
              <a:t>(c) If instead animated at 0.5 s per year, how long is the animation?</a:t>
            </a:r>
          </a:p>
        </p:txBody>
      </p:sp>
      <p:sp>
        <p:nvSpPr>
          <p:cNvPr id="9" name="Rounded Rectangle 8"/>
          <p:cNvSpPr/>
          <p:nvPr/>
        </p:nvSpPr>
        <p:spPr>
          <a:xfrm>
            <a:off x="681104" y="5200000"/>
            <a:ext cx="15968896" cy="4400000"/>
          </a:xfrm>
          <a:prstGeom prst="roundRect">
            <a:avLst>
              <a:gd name="adj" fmla="val 6000"/>
            </a:avLst>
          </a:prstGeom>
          <a:solidFill>
            <a:srgbClr val="EAF0FA"/>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31104" y="5350000"/>
            <a:ext cx="15468896" cy="4100000"/>
          </a:xfrm>
          <a:prstGeom prst="rect">
            <a:avLst/>
          </a:prstGeom>
          <a:noFill/>
        </p:spPr>
        <p:txBody>
          <a:bodyPr wrap="square" lIns="0" tIns="0" rIns="0" bIns="0" anchor="t">
            <a:spAutoFit/>
          </a:bodyPr>
          <a:lstStyle/>
          <a:p>
            <a:r>
              <a:rPr sz="2700" b="1" i="0" dirty="0">
                <a:solidFill>
                  <a:srgbClr val="4472C4"/>
                </a:solidFill>
                <a:latin typeface="Calibri"/>
              </a:rPr>
              <a:t>Solution</a:t>
            </a:r>
          </a:p>
          <a:p>
            <a:pPr>
              <a:spcAft>
                <a:spcPts val="400"/>
              </a:spcAft>
            </a:pPr>
            <a:r>
              <a:rPr sz="2500" b="1" i="0" dirty="0">
                <a:solidFill>
                  <a:srgbClr val="1F3864"/>
                </a:solidFill>
                <a:latin typeface="Calibri"/>
              </a:rPr>
              <a:t>(a)</a:t>
            </a:r>
            <a:r>
              <a:rPr sz="2500" b="0" i="0" dirty="0">
                <a:solidFill>
                  <a:srgbClr val="1A1A1A"/>
                </a:solidFill>
                <a:latin typeface="Calibri"/>
              </a:rPr>
              <a:t> Columns = ⌊1920 / (200 + 20)⌋ = ⌊8.73⌋ = 8</a:t>
            </a:r>
          </a:p>
          <a:p>
            <a:pPr>
              <a:spcAft>
                <a:spcPts val="400"/>
              </a:spcAft>
            </a:pPr>
            <a:r>
              <a:rPr sz="2500" b="0" i="0" dirty="0">
                <a:solidFill>
                  <a:srgbClr val="1A1A1A"/>
                </a:solidFill>
                <a:latin typeface="Calibri"/>
              </a:rPr>
              <a:t>       Rows = ⌊1080 / (150 + 20)⌋ = ⌊6.35⌋ = 6  →  8 × 6 = 48 panels</a:t>
            </a:r>
          </a:p>
          <a:p>
            <a:pPr>
              <a:spcAft>
                <a:spcPts val="400"/>
              </a:spcAft>
            </a:pPr>
            <a:r>
              <a:rPr sz="2500" b="1" i="0" dirty="0">
                <a:solidFill>
                  <a:srgbClr val="1F3864"/>
                </a:solidFill>
                <a:latin typeface="Calibri"/>
              </a:rPr>
              <a:t>(b)</a:t>
            </a:r>
            <a:r>
              <a:rPr sz="2500" b="0" i="0" dirty="0">
                <a:solidFill>
                  <a:srgbClr val="1A1A1A"/>
                </a:solidFill>
                <a:latin typeface="Calibri"/>
              </a:rPr>
              <a:t> 60 &gt; 48 → does not fit</a:t>
            </a:r>
          </a:p>
          <a:p>
            <a:pPr>
              <a:spcAft>
                <a:spcPts val="400"/>
              </a:spcAft>
            </a:pPr>
            <a:r>
              <a:rPr sz="2500" b="0" i="0" dirty="0">
                <a:solidFill>
                  <a:srgbClr val="1A1A1A"/>
                </a:solidFill>
                <a:latin typeface="Calibri"/>
              </a:rPr>
              <a:t>       Options: aggregate to 5-year steps (12 panels), filter to key years,</a:t>
            </a:r>
          </a:p>
          <a:p>
            <a:pPr>
              <a:spcAft>
                <a:spcPts val="400"/>
              </a:spcAft>
            </a:pPr>
            <a:r>
              <a:rPr sz="2500" b="0" i="0" dirty="0">
                <a:solidFill>
                  <a:srgbClr val="1A1A1A"/>
                </a:solidFill>
                <a:latin typeface="Calibri"/>
              </a:rPr>
              <a:t>       or shrink panels (loses detail)</a:t>
            </a:r>
          </a:p>
          <a:p>
            <a:pPr>
              <a:spcAft>
                <a:spcPts val="400"/>
              </a:spcAft>
            </a:pPr>
            <a:r>
              <a:rPr sz="2500" b="1" i="0" dirty="0">
                <a:solidFill>
                  <a:srgbClr val="1F3864"/>
                </a:solidFill>
                <a:latin typeface="Calibri"/>
              </a:rPr>
              <a:t>(c)</a:t>
            </a:r>
            <a:r>
              <a:rPr sz="2500" b="0" i="0" dirty="0">
                <a:solidFill>
                  <a:srgbClr val="1A1A1A"/>
                </a:solidFill>
                <a:latin typeface="Calibri"/>
              </a:rPr>
              <a:t> 60 × 0.5 s = 30 s of animation – viewer must remember up to 60 frames</a:t>
            </a:r>
          </a:p>
        </p:txBody>
      </p:sp>
      <p:sp>
        <p:nvSpPr>
          <p:cNvPr id="11" name="TextBox 10"/>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Worked example based on Munzner, Visualization Analysis and Design (2014) §6.5.2 (display-resolution limit on small multiples)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Advantages and Limitations of Animation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Rounded Rectangle 6"/>
          <p:cNvSpPr/>
          <p:nvPr/>
        </p:nvSpPr>
        <p:spPr>
          <a:xfrm>
            <a:off x="681104" y="2150000"/>
            <a:ext cx="7700000" cy="6050000"/>
          </a:xfrm>
          <a:prstGeom prst="roundRect">
            <a:avLst>
              <a:gd name="adj" fmla="val 6000"/>
            </a:avLst>
          </a:prstGeom>
          <a:solidFill>
            <a:srgbClr val="FBEEE4"/>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01104" y="2310000"/>
            <a:ext cx="7260000" cy="5750000"/>
          </a:xfrm>
          <a:prstGeom prst="rect">
            <a:avLst/>
          </a:prstGeom>
          <a:noFill/>
        </p:spPr>
        <p:txBody>
          <a:bodyPr wrap="square" lIns="0" tIns="0" rIns="0" bIns="0" anchor="t">
            <a:spAutoFit/>
          </a:bodyPr>
          <a:lstStyle/>
          <a:p>
            <a:pPr>
              <a:spcAft>
                <a:spcPts val="800"/>
              </a:spcAft>
            </a:pPr>
            <a:r>
              <a:rPr sz="2800" b="1" i="0">
                <a:solidFill>
                  <a:srgbClr val="C55A11"/>
                </a:solidFill>
                <a:latin typeface="Calibri"/>
              </a:rPr>
              <a:t>Advantages</a:t>
            </a:r>
          </a:p>
          <a:p>
            <a:pPr marL="420000" indent="-340000">
              <a:spcAft>
                <a:spcPts val="600"/>
              </a:spcAft>
              <a:buFont typeface="Arial"/>
              <a:buChar char="•"/>
            </a:pPr>
            <a:r>
              <a:rPr sz="2600" b="0" i="0">
                <a:solidFill>
                  <a:srgbClr val="1A1A1A"/>
                </a:solidFill>
                <a:latin typeface="Calibri"/>
              </a:rPr>
              <a:t>Natural (congruent) mapping for change and movement</a:t>
            </a:r>
          </a:p>
          <a:p>
            <a:pPr marL="420000" indent="-340000">
              <a:spcAft>
                <a:spcPts val="600"/>
              </a:spcAft>
              <a:buFont typeface="Arial"/>
              <a:buChar char="•"/>
            </a:pPr>
            <a:r>
              <a:rPr sz="2600" b="0" i="0">
                <a:solidFill>
                  <a:srgbClr val="1A1A1A"/>
                </a:solidFill>
                <a:latin typeface="Calibri"/>
              </a:rPr>
              <a:t>Keeps context during transitions; tracks object identity</a:t>
            </a:r>
          </a:p>
          <a:p>
            <a:pPr marL="420000" indent="-340000">
              <a:spcAft>
                <a:spcPts val="600"/>
              </a:spcAft>
              <a:buFont typeface="Arial"/>
              <a:buChar char="•"/>
            </a:pPr>
            <a:r>
              <a:rPr sz="2600" b="0" i="0">
                <a:solidFill>
                  <a:srgbClr val="1A1A1A"/>
                </a:solidFill>
                <a:latin typeface="Calibri"/>
              </a:rPr>
              <a:t>Motion is highly salient – good for drawing attention</a:t>
            </a:r>
          </a:p>
          <a:p>
            <a:pPr marL="420000" indent="-340000">
              <a:spcAft>
                <a:spcPts val="600"/>
              </a:spcAft>
              <a:buFont typeface="Arial"/>
              <a:buChar char="•"/>
            </a:pPr>
            <a:r>
              <a:rPr sz="2600" b="0" i="0">
                <a:solidFill>
                  <a:srgbClr val="1A1A1A"/>
                </a:solidFill>
                <a:latin typeface="Calibri"/>
              </a:rPr>
              <a:t>Engaging for audiences and storytelling</a:t>
            </a:r>
          </a:p>
          <a:p>
            <a:pPr marL="420000" indent="-340000">
              <a:spcAft>
                <a:spcPts val="600"/>
              </a:spcAft>
              <a:buFont typeface="Arial"/>
              <a:buChar char="•"/>
            </a:pPr>
            <a:r>
              <a:rPr sz="2600" b="0" i="0">
                <a:solidFill>
                  <a:srgbClr val="1A1A1A"/>
                </a:solidFill>
                <a:latin typeface="Calibri"/>
              </a:rPr>
              <a:t>Saves space: one view instead of many panels</a:t>
            </a:r>
          </a:p>
          <a:p>
            <a:pPr marL="420000" indent="-340000">
              <a:spcAft>
                <a:spcPts val="600"/>
              </a:spcAft>
              <a:buFont typeface="Arial"/>
              <a:buChar char="•"/>
            </a:pPr>
            <a:r>
              <a:rPr sz="2600" b="0" i="0">
                <a:solidFill>
                  <a:srgbClr val="1A1A1A"/>
                </a:solidFill>
                <a:latin typeface="Calibri"/>
              </a:rPr>
              <a:t>Can show uncertainty via hypothetical outcome plots (Wilke)</a:t>
            </a:r>
          </a:p>
        </p:txBody>
      </p:sp>
      <p:sp>
        <p:nvSpPr>
          <p:cNvPr id="9" name="Rounded Rectangle 8"/>
          <p:cNvSpPr/>
          <p:nvPr/>
        </p:nvSpPr>
        <p:spPr>
          <a:xfrm>
            <a:off x="8681104" y="2150000"/>
            <a:ext cx="7700000" cy="6050000"/>
          </a:xfrm>
          <a:prstGeom prst="roundRect">
            <a:avLst>
              <a:gd name="adj" fmla="val 6000"/>
            </a:avLst>
          </a:prstGeom>
          <a:solidFill>
            <a:srgbClr val="EAF0FA"/>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901104" y="2310000"/>
            <a:ext cx="7260000" cy="5750000"/>
          </a:xfrm>
          <a:prstGeom prst="rect">
            <a:avLst/>
          </a:prstGeom>
          <a:noFill/>
        </p:spPr>
        <p:txBody>
          <a:bodyPr wrap="square" lIns="0" tIns="0" rIns="0" bIns="0" anchor="t">
            <a:spAutoFit/>
          </a:bodyPr>
          <a:lstStyle/>
          <a:p>
            <a:pPr>
              <a:spcAft>
                <a:spcPts val="800"/>
              </a:spcAft>
            </a:pPr>
            <a:r>
              <a:rPr sz="2800" b="1" i="0">
                <a:solidFill>
                  <a:srgbClr val="4472C4"/>
                </a:solidFill>
                <a:latin typeface="Calibri"/>
              </a:rPr>
              <a:t>Limitations</a:t>
            </a:r>
          </a:p>
          <a:p>
            <a:pPr marL="420000" indent="-340000">
              <a:spcAft>
                <a:spcPts val="600"/>
              </a:spcAft>
              <a:buFont typeface="Arial"/>
              <a:buChar char="•"/>
            </a:pPr>
            <a:r>
              <a:rPr sz="2600" b="0" i="0">
                <a:solidFill>
                  <a:srgbClr val="1A1A1A"/>
                </a:solidFill>
                <a:latin typeface="Calibri"/>
              </a:rPr>
              <a:t>Heavy load on working memory</a:t>
            </a:r>
          </a:p>
          <a:p>
            <a:pPr marL="420000" indent="-340000">
              <a:spcAft>
                <a:spcPts val="600"/>
              </a:spcAft>
              <a:buFont typeface="Arial"/>
              <a:buChar char="•"/>
            </a:pPr>
            <a:r>
              <a:rPr sz="2600" b="0" i="0">
                <a:solidFill>
                  <a:srgbClr val="1A1A1A"/>
                </a:solidFill>
                <a:latin typeface="Calibri"/>
              </a:rPr>
              <a:t>Change blindness – many simultaneous changes are missed</a:t>
            </a:r>
          </a:p>
          <a:p>
            <a:pPr marL="420000" indent="-340000">
              <a:spcAft>
                <a:spcPts val="600"/>
              </a:spcAft>
              <a:buFont typeface="Arial"/>
              <a:buChar char="•"/>
            </a:pPr>
            <a:r>
              <a:rPr sz="2600" b="0" i="0">
                <a:solidFill>
                  <a:srgbClr val="1A1A1A"/>
                </a:solidFill>
                <a:latin typeface="Calibri"/>
              </a:rPr>
              <a:t>Hard to compare non-adjacent frames</a:t>
            </a:r>
          </a:p>
          <a:p>
            <a:pPr marL="420000" indent="-340000">
              <a:spcAft>
                <a:spcPts val="600"/>
              </a:spcAft>
              <a:buFont typeface="Arial"/>
              <a:buChar char="•"/>
            </a:pPr>
            <a:r>
              <a:rPr sz="2600" b="0" i="0">
                <a:solidFill>
                  <a:srgbClr val="1A1A1A"/>
                </a:solidFill>
                <a:latin typeface="Calibri"/>
              </a:rPr>
              <a:t>Slower &amp; less accurate for trend analysis</a:t>
            </a:r>
          </a:p>
          <a:p>
            <a:pPr marL="420000" indent="-340000">
              <a:spcAft>
                <a:spcPts val="600"/>
              </a:spcAft>
              <a:buFont typeface="Arial"/>
              <a:buChar char="•"/>
            </a:pPr>
            <a:r>
              <a:rPr sz="2600" b="0" i="0">
                <a:solidFill>
                  <a:srgbClr val="1A1A1A"/>
                </a:solidFill>
                <a:latin typeface="Calibri"/>
              </a:rPr>
              <a:t>Viewer may miss the moment; needs playback control</a:t>
            </a:r>
          </a:p>
          <a:p>
            <a:pPr marL="420000" indent="-340000">
              <a:spcAft>
                <a:spcPts val="600"/>
              </a:spcAft>
              <a:buFont typeface="Arial"/>
              <a:buChar char="•"/>
            </a:pPr>
            <a:r>
              <a:rPr sz="2600" b="0" i="0">
                <a:solidFill>
                  <a:srgbClr val="1A1A1A"/>
                </a:solidFill>
                <a:latin typeface="Calibri"/>
              </a:rPr>
              <a:t>Not printable; can be distracting or annoying (flicker)</a:t>
            </a:r>
          </a:p>
        </p:txBody>
      </p:sp>
      <p:sp>
        <p:nvSpPr>
          <p:cNvPr id="11" name="TextBox 10"/>
          <p:cNvSpPr txBox="1"/>
          <p:nvPr/>
        </p:nvSpPr>
        <p:spPr>
          <a:xfrm>
            <a:off x="681104" y="8400000"/>
            <a:ext cx="16068896" cy="1150000"/>
          </a:xfrm>
          <a:prstGeom prst="rect">
            <a:avLst/>
          </a:prstGeom>
          <a:noFill/>
        </p:spPr>
        <p:txBody>
          <a:bodyPr wrap="square" lIns="0" tIns="0" rIns="0" bIns="0" anchor="t">
            <a:spAutoFit/>
          </a:bodyPr>
          <a:lstStyle/>
          <a:p>
            <a:r>
              <a:rPr sz="2300" b="1" i="0">
                <a:solidFill>
                  <a:srgbClr val="C55A11"/>
                </a:solidFill>
                <a:latin typeface="Calibri"/>
              </a:rPr>
              <a:t>Key takeaway: </a:t>
            </a:r>
            <a:r>
              <a:rPr sz="2300" b="0" i="1">
                <a:solidFill>
                  <a:srgbClr val="1F3864"/>
                </a:solidFill>
                <a:latin typeface="Calibri"/>
              </a:rPr>
              <a:t>Rule of thumb: animate transitions between a few states; use static or small-multiple views for analysis tasks.</a:t>
            </a:r>
          </a:p>
        </p:txBody>
      </p:sp>
      <p:sp>
        <p:nvSpPr>
          <p:cNvPr id="12" name="TextBox 11"/>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§6.5, §10.4.5; Wilke, Fundamentals of Data Visualization (2019) Ch. 16; Robertson et al. 2008; Tversky et al. 2002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Cognitive Issues in Temporal Visualization</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8950000" cy="6149760"/>
          </a:xfrm>
          <a:prstGeom prst="rect">
            <a:avLst/>
          </a:prstGeom>
          <a:noFill/>
        </p:spPr>
        <p:txBody>
          <a:bodyPr wrap="square" lIns="0" tIns="0" rIns="0" bIns="0" anchor="t">
            <a:spAutoFit/>
          </a:bodyPr>
          <a:lstStyle/>
          <a:p>
            <a:pPr marL="420000" indent="-340000">
              <a:lnSpc>
                <a:spcPct val="105000"/>
              </a:lnSpc>
              <a:spcAft>
                <a:spcPts val="700"/>
              </a:spcAft>
              <a:buFont typeface="Arial"/>
              <a:buChar char="•"/>
            </a:pPr>
            <a:r>
              <a:rPr sz="2600" b="0" i="0" dirty="0">
                <a:solidFill>
                  <a:srgbClr val="1A1A1A"/>
                </a:solidFill>
                <a:latin typeface="Calibri"/>
              </a:rPr>
              <a:t>Working </a:t>
            </a:r>
            <a:r>
              <a:rPr sz="2600" b="1" i="0" dirty="0">
                <a:solidFill>
                  <a:srgbClr val="1A1A1A"/>
                </a:solidFill>
                <a:latin typeface="Calibri"/>
              </a:rPr>
              <a:t>memory</a:t>
            </a:r>
            <a:r>
              <a:rPr sz="2600" b="0" i="0" dirty="0">
                <a:solidFill>
                  <a:srgbClr val="1A1A1A"/>
                </a:solidFill>
                <a:latin typeface="Calibri"/>
              </a:rPr>
              <a:t> is very limited (≈ 3–4 chunks, Cowan) and short-lived (seconds)</a:t>
            </a:r>
          </a:p>
          <a:p>
            <a:pPr marL="420000" indent="-340000">
              <a:lnSpc>
                <a:spcPct val="105000"/>
              </a:lnSpc>
              <a:spcAft>
                <a:spcPts val="700"/>
              </a:spcAft>
              <a:buFont typeface="Arial"/>
              <a:buChar char="•"/>
            </a:pPr>
            <a:r>
              <a:rPr sz="2600" b="1" i="0" dirty="0">
                <a:solidFill>
                  <a:srgbClr val="1A1A1A"/>
                </a:solidFill>
                <a:latin typeface="Calibri"/>
              </a:rPr>
              <a:t>Attention</a:t>
            </a:r>
            <a:r>
              <a:rPr sz="2600" b="0" i="0" dirty="0">
                <a:solidFill>
                  <a:srgbClr val="1A1A1A"/>
                </a:solidFill>
                <a:latin typeface="Calibri"/>
              </a:rPr>
              <a:t> is limited; visual search gets harder with more items; vigilance drops over time</a:t>
            </a:r>
          </a:p>
          <a:p>
            <a:pPr marL="420000" indent="-340000">
              <a:lnSpc>
                <a:spcPct val="105000"/>
              </a:lnSpc>
              <a:spcAft>
                <a:spcPts val="700"/>
              </a:spcAft>
              <a:buFont typeface="Arial"/>
              <a:buChar char="•"/>
            </a:pPr>
            <a:r>
              <a:rPr sz="2600" b="0" i="0" dirty="0">
                <a:solidFill>
                  <a:srgbClr val="1A1A1A"/>
                </a:solidFill>
                <a:latin typeface="Calibri"/>
              </a:rPr>
              <a:t>Change blindness for </a:t>
            </a:r>
            <a:r>
              <a:rPr sz="2600" b="1" i="0" dirty="0">
                <a:solidFill>
                  <a:srgbClr val="1A1A1A"/>
                </a:solidFill>
                <a:latin typeface="Calibri"/>
              </a:rPr>
              <a:t>changes outside the focus of attention</a:t>
            </a:r>
          </a:p>
          <a:p>
            <a:pPr marL="420000" indent="-340000">
              <a:lnSpc>
                <a:spcPct val="105000"/>
              </a:lnSpc>
              <a:spcAft>
                <a:spcPts val="700"/>
              </a:spcAft>
              <a:buFont typeface="Arial"/>
              <a:buChar char="•"/>
            </a:pPr>
            <a:r>
              <a:rPr sz="2600" b="1" i="0" dirty="0">
                <a:solidFill>
                  <a:srgbClr val="1A1A1A"/>
                </a:solidFill>
                <a:latin typeface="Calibri"/>
              </a:rPr>
              <a:t>Motion captures attention involuntarily</a:t>
            </a:r>
            <a:r>
              <a:rPr sz="2600" b="0" i="0" dirty="0">
                <a:solidFill>
                  <a:srgbClr val="1A1A1A"/>
                </a:solidFill>
                <a:latin typeface="Calibri"/>
              </a:rPr>
              <a:t> – distracting if overused</a:t>
            </a:r>
          </a:p>
          <a:p>
            <a:pPr marL="420000" indent="-340000">
              <a:lnSpc>
                <a:spcPct val="105000"/>
              </a:lnSpc>
              <a:spcAft>
                <a:spcPts val="700"/>
              </a:spcAft>
              <a:buFont typeface="Arial"/>
              <a:buChar char="•"/>
            </a:pPr>
            <a:r>
              <a:rPr sz="2600" b="1" i="0" dirty="0">
                <a:solidFill>
                  <a:srgbClr val="1A1A1A"/>
                </a:solidFill>
                <a:latin typeface="Calibri"/>
              </a:rPr>
              <a:t>Confusing order and direction </a:t>
            </a:r>
            <a:r>
              <a:rPr sz="2600" b="0" i="0" dirty="0">
                <a:solidFill>
                  <a:srgbClr val="1A1A1A"/>
                </a:solidFill>
                <a:latin typeface="Calibri"/>
              </a:rPr>
              <a:t>(e.g. in connected scatter plots – Wilke)</a:t>
            </a:r>
          </a:p>
          <a:p>
            <a:pPr marL="420000" indent="-340000">
              <a:lnSpc>
                <a:spcPct val="105000"/>
              </a:lnSpc>
              <a:spcAft>
                <a:spcPts val="700"/>
              </a:spcAft>
              <a:buFont typeface="Arial"/>
              <a:buChar char="•"/>
            </a:pPr>
            <a:r>
              <a:rPr sz="2600" b="1" i="0" dirty="0">
                <a:solidFill>
                  <a:srgbClr val="1A1A1A"/>
                </a:solidFill>
                <a:latin typeface="Calibri"/>
              </a:rPr>
              <a:t>Mental mapping:</a:t>
            </a:r>
            <a:r>
              <a:rPr sz="2600" b="0" i="0" dirty="0">
                <a:solidFill>
                  <a:srgbClr val="1A1A1A"/>
                </a:solidFill>
                <a:latin typeface="Calibri"/>
              </a:rPr>
              <a:t> layout must stay stable between frames</a:t>
            </a:r>
          </a:p>
          <a:p>
            <a:pPr>
              <a:lnSpc>
                <a:spcPct val="105000"/>
              </a:lnSpc>
              <a:spcBef>
                <a:spcPts val="600"/>
              </a:spcBef>
              <a:spcAft>
                <a:spcPts val="700"/>
              </a:spcAft>
              <a:buNone/>
            </a:pPr>
            <a:r>
              <a:rPr sz="2600" b="1" i="0" dirty="0">
                <a:solidFill>
                  <a:srgbClr val="1F3864"/>
                </a:solidFill>
                <a:latin typeface="Calibri"/>
              </a:rPr>
              <a:t>Mitigations</a:t>
            </a:r>
          </a:p>
          <a:p>
            <a:pPr marL="420000" indent="-340000">
              <a:lnSpc>
                <a:spcPct val="105000"/>
              </a:lnSpc>
              <a:spcAft>
                <a:spcPts val="700"/>
              </a:spcAft>
              <a:buFont typeface="Arial"/>
              <a:buChar char="•"/>
            </a:pPr>
            <a:r>
              <a:rPr sz="2600" b="1" i="0" dirty="0">
                <a:solidFill>
                  <a:srgbClr val="1A1A1A"/>
                </a:solidFill>
                <a:latin typeface="Calibri"/>
              </a:rPr>
              <a:t>Few changes at a time, staging, trails, highlighting, pause &amp; replay, small multiples</a:t>
            </a:r>
          </a:p>
        </p:txBody>
      </p:sp>
      <p:pic>
        <p:nvPicPr>
          <p:cNvPr id="8" name="Picture 7" descr="memory.png"/>
          <p:cNvPicPr>
            <a:picLocks noChangeAspect="1"/>
          </p:cNvPicPr>
          <p:nvPr/>
        </p:nvPicPr>
        <p:blipFill>
          <a:blip r:embed="rId3"/>
          <a:stretch>
            <a:fillRect/>
          </a:stretch>
        </p:blipFill>
        <p:spPr>
          <a:xfrm>
            <a:off x="9950000" y="3910860"/>
            <a:ext cx="7600000" cy="4728279"/>
          </a:xfrm>
          <a:prstGeom prst="rect">
            <a:avLst/>
          </a:prstGeom>
          <a:ln w="12700">
            <a:solidFill>
              <a:srgbClr val="D9D9D9"/>
            </a:solidFill>
          </a:ln>
        </p:spPr>
      </p:pic>
      <p:sp>
        <p:nvSpPr>
          <p:cNvPr id="9" name="TextBox 8"/>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§6.5.1–6.5.3, pp. 131–134; Cowan (2001); Wilke, Fundamentals of Data Visualization (2019) Ch. 13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Summary: Design Guidelines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Oval 6"/>
          <p:cNvSpPr/>
          <p:nvPr/>
        </p:nvSpPr>
        <p:spPr>
          <a:xfrm>
            <a:off x="681104" y="2250000"/>
            <a:ext cx="620000" cy="6200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1</a:t>
            </a:r>
          </a:p>
        </p:txBody>
      </p:sp>
      <p:sp>
        <p:nvSpPr>
          <p:cNvPr id="8" name="TextBox 7"/>
          <p:cNvSpPr txBox="1"/>
          <p:nvPr/>
        </p:nvSpPr>
        <p:spPr>
          <a:xfrm>
            <a:off x="1581104" y="2210000"/>
            <a:ext cx="15168896" cy="871250"/>
          </a:xfrm>
          <a:prstGeom prst="rect">
            <a:avLst/>
          </a:prstGeom>
          <a:noFill/>
        </p:spPr>
        <p:txBody>
          <a:bodyPr wrap="square" lIns="0" tIns="0" rIns="0" bIns="0" anchor="ctr">
            <a:spAutoFit/>
          </a:bodyPr>
          <a:lstStyle/>
          <a:p>
            <a:r>
              <a:rPr sz="2700" b="0" i="0">
                <a:solidFill>
                  <a:srgbClr val="1A1A1A"/>
                </a:solidFill>
                <a:latin typeface="Calibri"/>
              </a:rPr>
              <a:t>Decide first whether time needs animation at all – position (x-axis) is usually the best encoding for time</a:t>
            </a:r>
          </a:p>
        </p:txBody>
      </p:sp>
      <p:sp>
        <p:nvSpPr>
          <p:cNvPr id="9" name="Oval 8"/>
          <p:cNvSpPr/>
          <p:nvPr/>
        </p:nvSpPr>
        <p:spPr>
          <a:xfrm>
            <a:off x="681104" y="3181250"/>
            <a:ext cx="620000" cy="6200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2</a:t>
            </a:r>
          </a:p>
        </p:txBody>
      </p:sp>
      <p:sp>
        <p:nvSpPr>
          <p:cNvPr id="10" name="TextBox 9"/>
          <p:cNvSpPr txBox="1"/>
          <p:nvPr/>
        </p:nvSpPr>
        <p:spPr>
          <a:xfrm>
            <a:off x="1581104" y="3141250"/>
            <a:ext cx="15168896" cy="871250"/>
          </a:xfrm>
          <a:prstGeom prst="rect">
            <a:avLst/>
          </a:prstGeom>
          <a:noFill/>
        </p:spPr>
        <p:txBody>
          <a:bodyPr wrap="square" lIns="0" tIns="0" rIns="0" bIns="0" anchor="ctr">
            <a:spAutoFit/>
          </a:bodyPr>
          <a:lstStyle/>
          <a:p>
            <a:r>
              <a:rPr sz="2700" b="0" i="0">
                <a:solidFill>
                  <a:srgbClr val="1A1A1A"/>
                </a:solidFill>
                <a:latin typeface="Calibri"/>
              </a:rPr>
              <a:t>Use animated transitions (≈ 1 s, ease-in/out, staged) to preserve context between states</a:t>
            </a:r>
          </a:p>
        </p:txBody>
      </p:sp>
      <p:sp>
        <p:nvSpPr>
          <p:cNvPr id="11" name="Oval 10"/>
          <p:cNvSpPr/>
          <p:nvPr/>
        </p:nvSpPr>
        <p:spPr>
          <a:xfrm>
            <a:off x="681104" y="4112500"/>
            <a:ext cx="620000" cy="6200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3</a:t>
            </a:r>
          </a:p>
        </p:txBody>
      </p:sp>
      <p:sp>
        <p:nvSpPr>
          <p:cNvPr id="12" name="TextBox 11"/>
          <p:cNvSpPr txBox="1"/>
          <p:nvPr/>
        </p:nvSpPr>
        <p:spPr>
          <a:xfrm>
            <a:off x="1581104" y="4072500"/>
            <a:ext cx="15168896" cy="871250"/>
          </a:xfrm>
          <a:prstGeom prst="rect">
            <a:avLst/>
          </a:prstGeom>
          <a:noFill/>
        </p:spPr>
        <p:txBody>
          <a:bodyPr wrap="square" lIns="0" tIns="0" rIns="0" bIns="0" anchor="ctr">
            <a:spAutoFit/>
          </a:bodyPr>
          <a:lstStyle/>
          <a:p>
            <a:r>
              <a:rPr sz="2700" b="0" i="0">
                <a:solidFill>
                  <a:srgbClr val="1A1A1A"/>
                </a:solidFill>
                <a:latin typeface="Calibri"/>
              </a:rPr>
              <a:t>Use motion sparingly, mainly for highlighting; avoid flicker</a:t>
            </a:r>
          </a:p>
        </p:txBody>
      </p:sp>
      <p:sp>
        <p:nvSpPr>
          <p:cNvPr id="13" name="Oval 12"/>
          <p:cNvSpPr/>
          <p:nvPr/>
        </p:nvSpPr>
        <p:spPr>
          <a:xfrm>
            <a:off x="681104" y="5043750"/>
            <a:ext cx="620000" cy="6200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4</a:t>
            </a:r>
          </a:p>
        </p:txBody>
      </p:sp>
      <p:sp>
        <p:nvSpPr>
          <p:cNvPr id="14" name="TextBox 13"/>
          <p:cNvSpPr txBox="1"/>
          <p:nvPr/>
        </p:nvSpPr>
        <p:spPr>
          <a:xfrm>
            <a:off x="1581104" y="5003750"/>
            <a:ext cx="15168896" cy="871250"/>
          </a:xfrm>
          <a:prstGeom prst="rect">
            <a:avLst/>
          </a:prstGeom>
          <a:noFill/>
        </p:spPr>
        <p:txBody>
          <a:bodyPr wrap="square" lIns="0" tIns="0" rIns="0" bIns="0" anchor="ctr">
            <a:spAutoFit/>
          </a:bodyPr>
          <a:lstStyle/>
          <a:p>
            <a:r>
              <a:rPr sz="2700" b="0" i="0">
                <a:solidFill>
                  <a:srgbClr val="1A1A1A"/>
                </a:solidFill>
                <a:latin typeface="Calibri"/>
              </a:rPr>
              <a:t>Choose sampling and frame rate carefully: sample above 2× the fastest cycle; aim for ≥ 24 fps rendering</a:t>
            </a:r>
          </a:p>
        </p:txBody>
      </p:sp>
      <p:sp>
        <p:nvSpPr>
          <p:cNvPr id="15" name="Oval 14"/>
          <p:cNvSpPr/>
          <p:nvPr/>
        </p:nvSpPr>
        <p:spPr>
          <a:xfrm>
            <a:off x="681104" y="5975000"/>
            <a:ext cx="620000" cy="6200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5</a:t>
            </a:r>
          </a:p>
        </p:txBody>
      </p:sp>
      <p:sp>
        <p:nvSpPr>
          <p:cNvPr id="16" name="TextBox 15"/>
          <p:cNvSpPr txBox="1"/>
          <p:nvPr/>
        </p:nvSpPr>
        <p:spPr>
          <a:xfrm>
            <a:off x="1581104" y="5935000"/>
            <a:ext cx="15168896" cy="871250"/>
          </a:xfrm>
          <a:prstGeom prst="rect">
            <a:avLst/>
          </a:prstGeom>
          <a:noFill/>
        </p:spPr>
        <p:txBody>
          <a:bodyPr wrap="square" lIns="0" tIns="0" rIns="0" bIns="0" anchor="ctr">
            <a:spAutoFit/>
          </a:bodyPr>
          <a:lstStyle/>
          <a:p>
            <a:r>
              <a:rPr sz="2700" b="0" i="0">
                <a:solidFill>
                  <a:srgbClr val="1A1A1A"/>
                </a:solidFill>
                <a:latin typeface="Calibri"/>
              </a:rPr>
              <a:t>Aggregate or filter time to match the question and the available pixels</a:t>
            </a:r>
          </a:p>
        </p:txBody>
      </p:sp>
      <p:sp>
        <p:nvSpPr>
          <p:cNvPr id="17" name="Oval 16"/>
          <p:cNvSpPr/>
          <p:nvPr/>
        </p:nvSpPr>
        <p:spPr>
          <a:xfrm>
            <a:off x="681104" y="6906250"/>
            <a:ext cx="620000" cy="6200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6</a:t>
            </a:r>
          </a:p>
        </p:txBody>
      </p:sp>
      <p:sp>
        <p:nvSpPr>
          <p:cNvPr id="18" name="TextBox 17"/>
          <p:cNvSpPr txBox="1"/>
          <p:nvPr/>
        </p:nvSpPr>
        <p:spPr>
          <a:xfrm>
            <a:off x="1581104" y="6866250"/>
            <a:ext cx="15168896" cy="871250"/>
          </a:xfrm>
          <a:prstGeom prst="rect">
            <a:avLst/>
          </a:prstGeom>
          <a:noFill/>
        </p:spPr>
        <p:txBody>
          <a:bodyPr wrap="square" lIns="0" tIns="0" rIns="0" bIns="0" anchor="ctr">
            <a:spAutoFit/>
          </a:bodyPr>
          <a:lstStyle/>
          <a:p>
            <a:r>
              <a:rPr sz="2700" b="0" i="0">
                <a:solidFill>
                  <a:srgbClr val="1A1A1A"/>
                </a:solidFill>
                <a:latin typeface="Calibri"/>
              </a:rPr>
              <a:t>Give users playback, scrubbing and navigation controls; always show the current time</a:t>
            </a:r>
          </a:p>
        </p:txBody>
      </p:sp>
      <p:sp>
        <p:nvSpPr>
          <p:cNvPr id="19" name="Oval 18"/>
          <p:cNvSpPr/>
          <p:nvPr/>
        </p:nvSpPr>
        <p:spPr>
          <a:xfrm>
            <a:off x="681104" y="7837500"/>
            <a:ext cx="620000" cy="6200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7</a:t>
            </a:r>
          </a:p>
        </p:txBody>
      </p:sp>
      <p:sp>
        <p:nvSpPr>
          <p:cNvPr id="20" name="TextBox 19"/>
          <p:cNvSpPr txBox="1"/>
          <p:nvPr/>
        </p:nvSpPr>
        <p:spPr>
          <a:xfrm>
            <a:off x="1581104" y="7797500"/>
            <a:ext cx="15168896" cy="871250"/>
          </a:xfrm>
          <a:prstGeom prst="rect">
            <a:avLst/>
          </a:prstGeom>
          <a:noFill/>
        </p:spPr>
        <p:txBody>
          <a:bodyPr wrap="square" lIns="0" tIns="0" rIns="0" bIns="0" anchor="ctr">
            <a:spAutoFit/>
          </a:bodyPr>
          <a:lstStyle/>
          <a:p>
            <a:r>
              <a:rPr sz="2700" b="0" i="0">
                <a:solidFill>
                  <a:srgbClr val="1A1A1A"/>
                </a:solidFill>
                <a:latin typeface="Calibri"/>
              </a:rPr>
              <a:t>For analysis and comparison prefer static views, traces or small multiples – eyes beat memory</a:t>
            </a:r>
          </a:p>
        </p:txBody>
      </p:sp>
      <p:sp>
        <p:nvSpPr>
          <p:cNvPr id="21" name="Oval 20"/>
          <p:cNvSpPr/>
          <p:nvPr/>
        </p:nvSpPr>
        <p:spPr>
          <a:xfrm>
            <a:off x="681104" y="8768750"/>
            <a:ext cx="620000" cy="6200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8</a:t>
            </a:r>
          </a:p>
        </p:txBody>
      </p:sp>
      <p:sp>
        <p:nvSpPr>
          <p:cNvPr id="22" name="TextBox 21"/>
          <p:cNvSpPr txBox="1"/>
          <p:nvPr/>
        </p:nvSpPr>
        <p:spPr>
          <a:xfrm>
            <a:off x="1581104" y="8728750"/>
            <a:ext cx="15168896" cy="871250"/>
          </a:xfrm>
          <a:prstGeom prst="rect">
            <a:avLst/>
          </a:prstGeom>
          <a:noFill/>
        </p:spPr>
        <p:txBody>
          <a:bodyPr wrap="square" lIns="0" tIns="0" rIns="0" bIns="0" anchor="ctr">
            <a:spAutoFit/>
          </a:bodyPr>
          <a:lstStyle/>
          <a:p>
            <a:r>
              <a:rPr sz="2700" b="0" i="0">
                <a:solidFill>
                  <a:srgbClr val="1A1A1A"/>
                </a:solidFill>
                <a:latin typeface="Calibri"/>
              </a:rPr>
              <a:t>Keep scales, colours and layouts fixed across frames to support the mental map</a:t>
            </a:r>
          </a:p>
        </p:txBody>
      </p:sp>
      <p:sp>
        <p:nvSpPr>
          <p:cNvPr id="23" name="TextBox 22"/>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Ch. 6, 10, 11, 12, 13; Wilke, Fundamentals of Data Visualization (2019) Ch. 13, 14, 21; Heer &amp; Robertson 2007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22003-CDF1-18BB-67AA-94A90064C9A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DDB58D3-5527-E467-1DB2-356E4802461F}"/>
              </a:ext>
            </a:extLst>
          </p:cNvPr>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a:extLst>
              <a:ext uri="{FF2B5EF4-FFF2-40B4-BE49-F238E27FC236}">
                <a16:creationId xmlns:a16="http://schemas.microsoft.com/office/drawing/2014/main" id="{6E108454-B726-98AF-28AF-1CD9B16D15BF}"/>
              </a:ext>
            </a:extLst>
          </p:cNvPr>
          <p:cNvGrpSpPr/>
          <p:nvPr/>
        </p:nvGrpSpPr>
        <p:grpSpPr>
          <a:xfrm>
            <a:off x="16629593" y="463796"/>
            <a:ext cx="1259415" cy="2331920"/>
            <a:chOff x="0" y="0"/>
            <a:chExt cx="1679219" cy="3109227"/>
          </a:xfrm>
        </p:grpSpPr>
        <p:sp>
          <p:nvSpPr>
            <p:cNvPr id="4" name="Freeform 4">
              <a:extLst>
                <a:ext uri="{FF2B5EF4-FFF2-40B4-BE49-F238E27FC236}">
                  <a16:creationId xmlns:a16="http://schemas.microsoft.com/office/drawing/2014/main" id="{C27A100A-5192-1344-34E1-3D1E2C3F6D3B}"/>
                </a:ext>
              </a:extLst>
            </p:cNvPr>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a:extLst>
              <a:ext uri="{FF2B5EF4-FFF2-40B4-BE49-F238E27FC236}">
                <a16:creationId xmlns:a16="http://schemas.microsoft.com/office/drawing/2014/main" id="{358E3BE5-E20A-CB0E-B3C1-B35868252B38}"/>
              </a:ext>
            </a:extLst>
          </p:cNvPr>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Summary: Design Guidelines</a:t>
            </a:r>
          </a:p>
        </p:txBody>
      </p:sp>
      <p:sp>
        <p:nvSpPr>
          <p:cNvPr id="6" name="TextBox 6">
            <a:extLst>
              <a:ext uri="{FF2B5EF4-FFF2-40B4-BE49-F238E27FC236}">
                <a16:creationId xmlns:a16="http://schemas.microsoft.com/office/drawing/2014/main" id="{5610B4A4-4D30-0DDE-6B02-EB4E2937E9B5}"/>
              </a:ext>
            </a:extLst>
          </p:cNvPr>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Oval 6">
            <a:extLst>
              <a:ext uri="{FF2B5EF4-FFF2-40B4-BE49-F238E27FC236}">
                <a16:creationId xmlns:a16="http://schemas.microsoft.com/office/drawing/2014/main" id="{DE11F3AB-54B0-985D-CE8D-4E61BF267410}"/>
              </a:ext>
            </a:extLst>
          </p:cNvPr>
          <p:cNvSpPr/>
          <p:nvPr/>
        </p:nvSpPr>
        <p:spPr>
          <a:xfrm>
            <a:off x="681104" y="2250000"/>
            <a:ext cx="620000" cy="6200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1</a:t>
            </a:r>
          </a:p>
        </p:txBody>
      </p:sp>
      <p:sp>
        <p:nvSpPr>
          <p:cNvPr id="8" name="TextBox 7">
            <a:extLst>
              <a:ext uri="{FF2B5EF4-FFF2-40B4-BE49-F238E27FC236}">
                <a16:creationId xmlns:a16="http://schemas.microsoft.com/office/drawing/2014/main" id="{F1169BE4-E80B-D404-A761-9BDA94D61038}"/>
              </a:ext>
            </a:extLst>
          </p:cNvPr>
          <p:cNvSpPr txBox="1"/>
          <p:nvPr/>
        </p:nvSpPr>
        <p:spPr>
          <a:xfrm>
            <a:off x="1581104" y="2210000"/>
            <a:ext cx="15168896" cy="871250"/>
          </a:xfrm>
          <a:prstGeom prst="rect">
            <a:avLst/>
          </a:prstGeom>
          <a:noFill/>
        </p:spPr>
        <p:txBody>
          <a:bodyPr wrap="square" lIns="0" tIns="0" rIns="0" bIns="0" anchor="ctr">
            <a:spAutoFit/>
          </a:bodyPr>
          <a:lstStyle/>
          <a:p>
            <a:r>
              <a:rPr sz="2700" b="0" i="0">
                <a:solidFill>
                  <a:srgbClr val="1A1A1A"/>
                </a:solidFill>
                <a:latin typeface="Calibri"/>
              </a:rPr>
              <a:t>Decide first whether time needs animation at all – position (x-axis) is usually the best encoding for time</a:t>
            </a:r>
          </a:p>
        </p:txBody>
      </p:sp>
      <p:sp>
        <p:nvSpPr>
          <p:cNvPr id="9" name="Oval 8">
            <a:extLst>
              <a:ext uri="{FF2B5EF4-FFF2-40B4-BE49-F238E27FC236}">
                <a16:creationId xmlns:a16="http://schemas.microsoft.com/office/drawing/2014/main" id="{22AE53D6-FD7C-4AFC-2FD7-0921DE6E3E7F}"/>
              </a:ext>
            </a:extLst>
          </p:cNvPr>
          <p:cNvSpPr/>
          <p:nvPr/>
        </p:nvSpPr>
        <p:spPr>
          <a:xfrm>
            <a:off x="681104" y="3181250"/>
            <a:ext cx="620000" cy="6200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2</a:t>
            </a:r>
          </a:p>
        </p:txBody>
      </p:sp>
      <p:sp>
        <p:nvSpPr>
          <p:cNvPr id="10" name="TextBox 9">
            <a:extLst>
              <a:ext uri="{FF2B5EF4-FFF2-40B4-BE49-F238E27FC236}">
                <a16:creationId xmlns:a16="http://schemas.microsoft.com/office/drawing/2014/main" id="{03E3660A-F37A-6B16-3857-DCAA0D1ED1E1}"/>
              </a:ext>
            </a:extLst>
          </p:cNvPr>
          <p:cNvSpPr txBox="1"/>
          <p:nvPr/>
        </p:nvSpPr>
        <p:spPr>
          <a:xfrm>
            <a:off x="1581104" y="3141250"/>
            <a:ext cx="15168896" cy="871250"/>
          </a:xfrm>
          <a:prstGeom prst="rect">
            <a:avLst/>
          </a:prstGeom>
          <a:noFill/>
        </p:spPr>
        <p:txBody>
          <a:bodyPr wrap="square" lIns="0" tIns="0" rIns="0" bIns="0" anchor="ctr">
            <a:spAutoFit/>
          </a:bodyPr>
          <a:lstStyle/>
          <a:p>
            <a:r>
              <a:rPr sz="2700" b="0" i="0">
                <a:solidFill>
                  <a:srgbClr val="1A1A1A"/>
                </a:solidFill>
                <a:latin typeface="Calibri"/>
              </a:rPr>
              <a:t>Use animated transitions (≈ 1 s, ease-in/out, staged) to preserve context between states</a:t>
            </a:r>
          </a:p>
        </p:txBody>
      </p:sp>
      <p:sp>
        <p:nvSpPr>
          <p:cNvPr id="11" name="Oval 10">
            <a:extLst>
              <a:ext uri="{FF2B5EF4-FFF2-40B4-BE49-F238E27FC236}">
                <a16:creationId xmlns:a16="http://schemas.microsoft.com/office/drawing/2014/main" id="{89DACF3D-4769-6ECD-B588-2678EF97E2CD}"/>
              </a:ext>
            </a:extLst>
          </p:cNvPr>
          <p:cNvSpPr/>
          <p:nvPr/>
        </p:nvSpPr>
        <p:spPr>
          <a:xfrm>
            <a:off x="681104" y="4112500"/>
            <a:ext cx="620000" cy="6200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3</a:t>
            </a:r>
          </a:p>
        </p:txBody>
      </p:sp>
      <p:sp>
        <p:nvSpPr>
          <p:cNvPr id="12" name="TextBox 11">
            <a:extLst>
              <a:ext uri="{FF2B5EF4-FFF2-40B4-BE49-F238E27FC236}">
                <a16:creationId xmlns:a16="http://schemas.microsoft.com/office/drawing/2014/main" id="{9E408A65-BCA3-71C7-33D7-FF0CB2B2727B}"/>
              </a:ext>
            </a:extLst>
          </p:cNvPr>
          <p:cNvSpPr txBox="1"/>
          <p:nvPr/>
        </p:nvSpPr>
        <p:spPr>
          <a:xfrm>
            <a:off x="1581104" y="4072500"/>
            <a:ext cx="15168896" cy="871250"/>
          </a:xfrm>
          <a:prstGeom prst="rect">
            <a:avLst/>
          </a:prstGeom>
          <a:noFill/>
        </p:spPr>
        <p:txBody>
          <a:bodyPr wrap="square" lIns="0" tIns="0" rIns="0" bIns="0" anchor="ctr">
            <a:spAutoFit/>
          </a:bodyPr>
          <a:lstStyle/>
          <a:p>
            <a:r>
              <a:rPr sz="2700" b="0" i="0">
                <a:solidFill>
                  <a:srgbClr val="1A1A1A"/>
                </a:solidFill>
                <a:latin typeface="Calibri"/>
              </a:rPr>
              <a:t>Use motion sparingly, mainly for highlighting; avoid flicker</a:t>
            </a:r>
          </a:p>
        </p:txBody>
      </p:sp>
      <p:sp>
        <p:nvSpPr>
          <p:cNvPr id="13" name="Oval 12">
            <a:extLst>
              <a:ext uri="{FF2B5EF4-FFF2-40B4-BE49-F238E27FC236}">
                <a16:creationId xmlns:a16="http://schemas.microsoft.com/office/drawing/2014/main" id="{8CA9F1CE-D453-432C-700B-06C94EA61C63}"/>
              </a:ext>
            </a:extLst>
          </p:cNvPr>
          <p:cNvSpPr/>
          <p:nvPr/>
        </p:nvSpPr>
        <p:spPr>
          <a:xfrm>
            <a:off x="681104" y="5043750"/>
            <a:ext cx="620000" cy="6200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4</a:t>
            </a:r>
          </a:p>
        </p:txBody>
      </p:sp>
      <p:sp>
        <p:nvSpPr>
          <p:cNvPr id="14" name="TextBox 13">
            <a:extLst>
              <a:ext uri="{FF2B5EF4-FFF2-40B4-BE49-F238E27FC236}">
                <a16:creationId xmlns:a16="http://schemas.microsoft.com/office/drawing/2014/main" id="{4D44F9ED-6AF4-9DB6-5B86-839F95DC004C}"/>
              </a:ext>
            </a:extLst>
          </p:cNvPr>
          <p:cNvSpPr txBox="1"/>
          <p:nvPr/>
        </p:nvSpPr>
        <p:spPr>
          <a:xfrm>
            <a:off x="1581104" y="5003750"/>
            <a:ext cx="15168896" cy="871250"/>
          </a:xfrm>
          <a:prstGeom prst="rect">
            <a:avLst/>
          </a:prstGeom>
          <a:noFill/>
        </p:spPr>
        <p:txBody>
          <a:bodyPr wrap="square" lIns="0" tIns="0" rIns="0" bIns="0" anchor="ctr">
            <a:spAutoFit/>
          </a:bodyPr>
          <a:lstStyle/>
          <a:p>
            <a:r>
              <a:rPr sz="2700" b="0" i="0">
                <a:solidFill>
                  <a:srgbClr val="1A1A1A"/>
                </a:solidFill>
                <a:latin typeface="Calibri"/>
              </a:rPr>
              <a:t>Choose sampling and frame rate carefully: sample above 2× the fastest cycle; aim for ≥ 24 fps rendering</a:t>
            </a:r>
          </a:p>
        </p:txBody>
      </p:sp>
      <p:sp>
        <p:nvSpPr>
          <p:cNvPr id="15" name="Oval 14">
            <a:extLst>
              <a:ext uri="{FF2B5EF4-FFF2-40B4-BE49-F238E27FC236}">
                <a16:creationId xmlns:a16="http://schemas.microsoft.com/office/drawing/2014/main" id="{4D4FAEBF-22D3-CFAA-C9BA-9EEA949EC837}"/>
              </a:ext>
            </a:extLst>
          </p:cNvPr>
          <p:cNvSpPr/>
          <p:nvPr/>
        </p:nvSpPr>
        <p:spPr>
          <a:xfrm>
            <a:off x="681104" y="5975000"/>
            <a:ext cx="620000" cy="6200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5</a:t>
            </a:r>
          </a:p>
        </p:txBody>
      </p:sp>
      <p:sp>
        <p:nvSpPr>
          <p:cNvPr id="16" name="TextBox 15">
            <a:extLst>
              <a:ext uri="{FF2B5EF4-FFF2-40B4-BE49-F238E27FC236}">
                <a16:creationId xmlns:a16="http://schemas.microsoft.com/office/drawing/2014/main" id="{DE3D8CB1-0BB6-EA91-A4B2-E8107BE85C5F}"/>
              </a:ext>
            </a:extLst>
          </p:cNvPr>
          <p:cNvSpPr txBox="1"/>
          <p:nvPr/>
        </p:nvSpPr>
        <p:spPr>
          <a:xfrm>
            <a:off x="1581104" y="5935000"/>
            <a:ext cx="15168896" cy="871250"/>
          </a:xfrm>
          <a:prstGeom prst="rect">
            <a:avLst/>
          </a:prstGeom>
          <a:noFill/>
        </p:spPr>
        <p:txBody>
          <a:bodyPr wrap="square" lIns="0" tIns="0" rIns="0" bIns="0" anchor="ctr">
            <a:spAutoFit/>
          </a:bodyPr>
          <a:lstStyle/>
          <a:p>
            <a:r>
              <a:rPr sz="2700" b="0" i="0">
                <a:solidFill>
                  <a:srgbClr val="1A1A1A"/>
                </a:solidFill>
                <a:latin typeface="Calibri"/>
              </a:rPr>
              <a:t>Aggregate or filter time to match the question and the available pixels</a:t>
            </a:r>
          </a:p>
        </p:txBody>
      </p:sp>
      <p:sp>
        <p:nvSpPr>
          <p:cNvPr id="17" name="Oval 16">
            <a:extLst>
              <a:ext uri="{FF2B5EF4-FFF2-40B4-BE49-F238E27FC236}">
                <a16:creationId xmlns:a16="http://schemas.microsoft.com/office/drawing/2014/main" id="{4341B609-0EA4-FD5D-7662-ECA2C9A259A5}"/>
              </a:ext>
            </a:extLst>
          </p:cNvPr>
          <p:cNvSpPr/>
          <p:nvPr/>
        </p:nvSpPr>
        <p:spPr>
          <a:xfrm>
            <a:off x="681104" y="6906250"/>
            <a:ext cx="620000" cy="6200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6</a:t>
            </a:r>
          </a:p>
        </p:txBody>
      </p:sp>
      <p:sp>
        <p:nvSpPr>
          <p:cNvPr id="18" name="TextBox 17">
            <a:extLst>
              <a:ext uri="{FF2B5EF4-FFF2-40B4-BE49-F238E27FC236}">
                <a16:creationId xmlns:a16="http://schemas.microsoft.com/office/drawing/2014/main" id="{BB2CF532-C757-1C60-EE03-981736E0086E}"/>
              </a:ext>
            </a:extLst>
          </p:cNvPr>
          <p:cNvSpPr txBox="1"/>
          <p:nvPr/>
        </p:nvSpPr>
        <p:spPr>
          <a:xfrm>
            <a:off x="1581104" y="6866250"/>
            <a:ext cx="15168896" cy="871250"/>
          </a:xfrm>
          <a:prstGeom prst="rect">
            <a:avLst/>
          </a:prstGeom>
          <a:noFill/>
        </p:spPr>
        <p:txBody>
          <a:bodyPr wrap="square" lIns="0" tIns="0" rIns="0" bIns="0" anchor="ctr">
            <a:spAutoFit/>
          </a:bodyPr>
          <a:lstStyle/>
          <a:p>
            <a:r>
              <a:rPr sz="2700" b="0" i="0">
                <a:solidFill>
                  <a:srgbClr val="1A1A1A"/>
                </a:solidFill>
                <a:latin typeface="Calibri"/>
              </a:rPr>
              <a:t>Give users playback, scrubbing and navigation controls; always show the current time</a:t>
            </a:r>
          </a:p>
        </p:txBody>
      </p:sp>
      <p:sp>
        <p:nvSpPr>
          <p:cNvPr id="19" name="Oval 18">
            <a:extLst>
              <a:ext uri="{FF2B5EF4-FFF2-40B4-BE49-F238E27FC236}">
                <a16:creationId xmlns:a16="http://schemas.microsoft.com/office/drawing/2014/main" id="{198E27B7-B1D0-ECDA-865A-9C323E3170DD}"/>
              </a:ext>
            </a:extLst>
          </p:cNvPr>
          <p:cNvSpPr/>
          <p:nvPr/>
        </p:nvSpPr>
        <p:spPr>
          <a:xfrm>
            <a:off x="681104" y="7837500"/>
            <a:ext cx="620000" cy="62000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7</a:t>
            </a:r>
          </a:p>
        </p:txBody>
      </p:sp>
      <p:sp>
        <p:nvSpPr>
          <p:cNvPr id="20" name="TextBox 19">
            <a:extLst>
              <a:ext uri="{FF2B5EF4-FFF2-40B4-BE49-F238E27FC236}">
                <a16:creationId xmlns:a16="http://schemas.microsoft.com/office/drawing/2014/main" id="{03EEECC8-1596-0F21-B988-78440FA7DBC1}"/>
              </a:ext>
            </a:extLst>
          </p:cNvPr>
          <p:cNvSpPr txBox="1"/>
          <p:nvPr/>
        </p:nvSpPr>
        <p:spPr>
          <a:xfrm>
            <a:off x="1581104" y="7797500"/>
            <a:ext cx="15168896" cy="871250"/>
          </a:xfrm>
          <a:prstGeom prst="rect">
            <a:avLst/>
          </a:prstGeom>
          <a:noFill/>
        </p:spPr>
        <p:txBody>
          <a:bodyPr wrap="square" lIns="0" tIns="0" rIns="0" bIns="0" anchor="ctr">
            <a:spAutoFit/>
          </a:bodyPr>
          <a:lstStyle/>
          <a:p>
            <a:r>
              <a:rPr sz="2700" b="0" i="0">
                <a:solidFill>
                  <a:srgbClr val="1A1A1A"/>
                </a:solidFill>
                <a:latin typeface="Calibri"/>
              </a:rPr>
              <a:t>For analysis and comparison prefer static views, traces or small multiples – eyes beat memory</a:t>
            </a:r>
          </a:p>
        </p:txBody>
      </p:sp>
      <p:sp>
        <p:nvSpPr>
          <p:cNvPr id="21" name="Oval 20">
            <a:extLst>
              <a:ext uri="{FF2B5EF4-FFF2-40B4-BE49-F238E27FC236}">
                <a16:creationId xmlns:a16="http://schemas.microsoft.com/office/drawing/2014/main" id="{37798581-ED07-AC97-89AF-D75180030DAB}"/>
              </a:ext>
            </a:extLst>
          </p:cNvPr>
          <p:cNvSpPr/>
          <p:nvPr/>
        </p:nvSpPr>
        <p:spPr>
          <a:xfrm>
            <a:off x="681104" y="8768750"/>
            <a:ext cx="620000" cy="62000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200" b="1" i="0">
                <a:solidFill>
                  <a:srgbClr val="FFFFFF"/>
                </a:solidFill>
                <a:latin typeface="Calibri"/>
              </a:rPr>
              <a:t>8</a:t>
            </a:r>
          </a:p>
        </p:txBody>
      </p:sp>
      <p:sp>
        <p:nvSpPr>
          <p:cNvPr id="22" name="TextBox 21">
            <a:extLst>
              <a:ext uri="{FF2B5EF4-FFF2-40B4-BE49-F238E27FC236}">
                <a16:creationId xmlns:a16="http://schemas.microsoft.com/office/drawing/2014/main" id="{8BDD94A2-6121-6988-DC69-E132404F1F28}"/>
              </a:ext>
            </a:extLst>
          </p:cNvPr>
          <p:cNvSpPr txBox="1"/>
          <p:nvPr/>
        </p:nvSpPr>
        <p:spPr>
          <a:xfrm>
            <a:off x="1581104" y="8728750"/>
            <a:ext cx="15168896" cy="871250"/>
          </a:xfrm>
          <a:prstGeom prst="rect">
            <a:avLst/>
          </a:prstGeom>
          <a:noFill/>
        </p:spPr>
        <p:txBody>
          <a:bodyPr wrap="square" lIns="0" tIns="0" rIns="0" bIns="0" anchor="ctr">
            <a:spAutoFit/>
          </a:bodyPr>
          <a:lstStyle/>
          <a:p>
            <a:r>
              <a:rPr sz="2700" b="0" i="0">
                <a:solidFill>
                  <a:srgbClr val="1A1A1A"/>
                </a:solidFill>
                <a:latin typeface="Calibri"/>
              </a:rPr>
              <a:t>Keep scales, colours and layouts fixed across frames to support the mental map</a:t>
            </a:r>
          </a:p>
        </p:txBody>
      </p:sp>
      <p:sp>
        <p:nvSpPr>
          <p:cNvPr id="23" name="TextBox 22">
            <a:extLst>
              <a:ext uri="{FF2B5EF4-FFF2-40B4-BE49-F238E27FC236}">
                <a16:creationId xmlns:a16="http://schemas.microsoft.com/office/drawing/2014/main" id="{AB6193F8-263E-F33F-1A27-23A4EC8AF540}"/>
              </a:ext>
            </a:extLst>
          </p:cNvPr>
          <p:cNvSpPr txBox="1"/>
          <p:nvPr/>
        </p:nvSpPr>
        <p:spPr>
          <a:xfrm>
            <a:off x="681104" y="9720000"/>
            <a:ext cx="16600000" cy="420000"/>
          </a:xfrm>
          <a:prstGeom prst="rect">
            <a:avLst/>
          </a:prstGeom>
          <a:noFill/>
        </p:spPr>
        <p:txBody>
          <a:bodyPr wrap="square" lIns="0" tIns="0" rIns="0" bIns="0" anchor="b">
            <a:spAutoFit/>
          </a:bodyPr>
          <a:lstStyle/>
          <a:p>
            <a:r>
              <a:rPr sz="1600" b="1" i="0">
                <a:solidFill>
                  <a:srgbClr val="C55A11"/>
                </a:solidFill>
                <a:latin typeface="Calibri"/>
              </a:rPr>
              <a:t>Source: </a:t>
            </a:r>
            <a:r>
              <a:rPr sz="1600" b="0" i="1">
                <a:solidFill>
                  <a:srgbClr val="6B6B6B"/>
                </a:solidFill>
                <a:latin typeface="Calibri"/>
              </a:rPr>
              <a:t>Munzner, Visualization Analysis and Design (2014) Ch. 6, 10, 11, 12, 13; Wilke, Fundamentals of Data Visualization (2019) Ch. 13, 14, 21; Heer &amp; Robertson 2007</a:t>
            </a:r>
          </a:p>
        </p:txBody>
      </p:sp>
    </p:spTree>
    <p:extLst>
      <p:ext uri="{BB962C8B-B14F-4D97-AF65-F5344CB8AC3E}">
        <p14:creationId xmlns:p14="http://schemas.microsoft.com/office/powerpoint/2010/main" val="588393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Sources and References</a:t>
            </a:r>
          </a:p>
        </p:txBody>
      </p:sp>
      <p:sp>
        <p:nvSpPr>
          <p:cNvPr id="6" name="TextBox 6"/>
          <p:cNvSpPr txBox="1"/>
          <p:nvPr/>
        </p:nvSpPr>
        <p:spPr>
          <a:xfrm>
            <a:off x="681104" y="357407"/>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6"/>
          <p:cNvSpPr txBox="1"/>
          <p:nvPr/>
        </p:nvSpPr>
        <p:spPr>
          <a:xfrm>
            <a:off x="681104" y="2150000"/>
            <a:ext cx="16068896" cy="5020220"/>
          </a:xfrm>
          <a:prstGeom prst="rect">
            <a:avLst/>
          </a:prstGeom>
          <a:noFill/>
        </p:spPr>
        <p:txBody>
          <a:bodyPr wrap="square" lIns="0" tIns="0" rIns="0" bIns="0" anchor="t">
            <a:spAutoFit/>
          </a:bodyPr>
          <a:lstStyle/>
          <a:p>
            <a:pPr marL="420000" indent="-340000">
              <a:lnSpc>
                <a:spcPct val="105000"/>
              </a:lnSpc>
              <a:spcAft>
                <a:spcPts val="700"/>
              </a:spcAft>
              <a:buFont typeface="Arial"/>
              <a:buChar char="•"/>
            </a:pPr>
            <a:r>
              <a:rPr sz="3200" b="0" i="0" baseline="-25000" dirty="0">
                <a:solidFill>
                  <a:srgbClr val="1A1A1A"/>
                </a:solidFill>
                <a:latin typeface="Calibri"/>
              </a:rPr>
              <a:t>T. </a:t>
            </a:r>
            <a:r>
              <a:rPr sz="3200" b="0" i="0" baseline="-25000" dirty="0" err="1">
                <a:solidFill>
                  <a:srgbClr val="1A1A1A"/>
                </a:solidFill>
                <a:latin typeface="Calibri"/>
              </a:rPr>
              <a:t>Munzner</a:t>
            </a:r>
            <a:r>
              <a:rPr sz="3200" b="0" i="0" baseline="-25000" dirty="0">
                <a:solidFill>
                  <a:srgbClr val="1A1A1A"/>
                </a:solidFill>
                <a:latin typeface="Calibri"/>
              </a:rPr>
              <a:t>, Visualization Analysis and Design, CRC Press, 2014 – §2.6.2, §5.5, §6.5, §8.5, §10.4.5, §11.4–11.5, §12.3, §13.3–13.4</a:t>
            </a:r>
          </a:p>
          <a:p>
            <a:pPr marL="420000" indent="-340000">
              <a:lnSpc>
                <a:spcPct val="105000"/>
              </a:lnSpc>
              <a:spcAft>
                <a:spcPts val="700"/>
              </a:spcAft>
              <a:buFont typeface="Arial"/>
              <a:buChar char="•"/>
            </a:pPr>
            <a:r>
              <a:rPr sz="3200" b="0" i="0" baseline="-25000" dirty="0">
                <a:solidFill>
                  <a:srgbClr val="1A1A1A"/>
                </a:solidFill>
                <a:latin typeface="Calibri"/>
              </a:rPr>
              <a:t>C. O. Wilke, Fundamentals of Data Visualization, O’Reilly, 2019 – Ch. 13, 14, 16, 21</a:t>
            </a:r>
          </a:p>
          <a:p>
            <a:pPr marL="420000" indent="-340000">
              <a:lnSpc>
                <a:spcPct val="105000"/>
              </a:lnSpc>
              <a:spcAft>
                <a:spcPts val="700"/>
              </a:spcAft>
              <a:buFont typeface="Arial"/>
              <a:buChar char="•"/>
            </a:pPr>
            <a:r>
              <a:rPr sz="3200" b="0" i="0" baseline="-25000" dirty="0">
                <a:solidFill>
                  <a:srgbClr val="1A1A1A"/>
                </a:solidFill>
                <a:latin typeface="Calibri"/>
              </a:rPr>
              <a:t>J. Heer &amp; G. Robertson, “Animated Transitions in Statistical Data Graphics,” IEEE TVCG 13(6), 2007</a:t>
            </a:r>
          </a:p>
          <a:p>
            <a:pPr marL="420000" indent="-340000">
              <a:lnSpc>
                <a:spcPct val="105000"/>
              </a:lnSpc>
              <a:spcAft>
                <a:spcPts val="700"/>
              </a:spcAft>
              <a:buFont typeface="Arial"/>
              <a:buChar char="•"/>
            </a:pPr>
            <a:r>
              <a:rPr sz="3200" b="0" i="0" baseline="-25000" dirty="0">
                <a:solidFill>
                  <a:srgbClr val="1A1A1A"/>
                </a:solidFill>
                <a:latin typeface="Calibri"/>
              </a:rPr>
              <a:t>B. Tversky, J. B. Morrison &amp; M. Bétrancourt, “Animation: can it facilitate?” Int. J. Human-Computer Studies 57, 2002</a:t>
            </a:r>
          </a:p>
          <a:p>
            <a:pPr marL="420000" indent="-340000">
              <a:lnSpc>
                <a:spcPct val="105000"/>
              </a:lnSpc>
              <a:spcAft>
                <a:spcPts val="700"/>
              </a:spcAft>
              <a:buFont typeface="Arial"/>
              <a:buChar char="•"/>
            </a:pPr>
            <a:r>
              <a:rPr sz="3200" b="0" i="0" baseline="-25000" dirty="0">
                <a:solidFill>
                  <a:srgbClr val="1A1A1A"/>
                </a:solidFill>
                <a:latin typeface="Calibri"/>
              </a:rPr>
              <a:t>G. Robertson et al., “Effectiveness of Animation in Trend Visualization,” IEEE TVCG 14(6), 2008</a:t>
            </a:r>
          </a:p>
          <a:p>
            <a:pPr marL="420000" indent="-340000">
              <a:lnSpc>
                <a:spcPct val="105000"/>
              </a:lnSpc>
              <a:spcAft>
                <a:spcPts val="700"/>
              </a:spcAft>
              <a:buFont typeface="Arial"/>
              <a:buChar char="•"/>
            </a:pPr>
            <a:r>
              <a:rPr sz="3200" b="0" i="0" baseline="-25000" dirty="0">
                <a:solidFill>
                  <a:srgbClr val="1A1A1A"/>
                </a:solidFill>
                <a:latin typeface="Calibri"/>
              </a:rPr>
              <a:t>W. Aigner, S. Miksch, H. Schumann &amp; C. </a:t>
            </a:r>
            <a:r>
              <a:rPr sz="3200" b="0" i="0" baseline="-25000" dirty="0" err="1">
                <a:solidFill>
                  <a:srgbClr val="1A1A1A"/>
                </a:solidFill>
                <a:latin typeface="Calibri"/>
              </a:rPr>
              <a:t>Tominski</a:t>
            </a:r>
            <a:r>
              <a:rPr sz="3200" b="0" i="0" baseline="-25000" dirty="0">
                <a:solidFill>
                  <a:srgbClr val="1A1A1A"/>
                </a:solidFill>
                <a:latin typeface="Calibri"/>
              </a:rPr>
              <a:t>, Visualization of Time-Oriented Data, Springer, 2011</a:t>
            </a:r>
          </a:p>
          <a:p>
            <a:pPr marL="420000" indent="-340000">
              <a:lnSpc>
                <a:spcPct val="105000"/>
              </a:lnSpc>
              <a:spcAft>
                <a:spcPts val="700"/>
              </a:spcAft>
              <a:buFont typeface="Arial"/>
              <a:buChar char="•"/>
            </a:pPr>
            <a:r>
              <a:rPr sz="3200" b="0" i="0" baseline="-25000" dirty="0">
                <a:solidFill>
                  <a:srgbClr val="1A1A1A"/>
                </a:solidFill>
                <a:latin typeface="Calibri"/>
              </a:rPr>
              <a:t>D. Simons &amp; D. Levin, “Failure to detect changes to people during a real-world interaction,” Psychonomic Bull. &amp; Rev., 1998</a:t>
            </a:r>
          </a:p>
          <a:p>
            <a:pPr marL="420000" indent="-340000">
              <a:lnSpc>
                <a:spcPct val="105000"/>
              </a:lnSpc>
              <a:spcAft>
                <a:spcPts val="700"/>
              </a:spcAft>
              <a:buFont typeface="Arial"/>
              <a:buChar char="•"/>
            </a:pPr>
            <a:r>
              <a:rPr sz="3200" b="0" i="0" baseline="-25000" dirty="0">
                <a:solidFill>
                  <a:srgbClr val="1A1A1A"/>
                </a:solidFill>
                <a:latin typeface="Calibri"/>
              </a:rPr>
              <a:t>R. Rensink, J. O’Regan &amp; J. Clark, “To see or not to see: the need for attention to perceive changes in scenes,” Psych. Science, 1997</a:t>
            </a:r>
          </a:p>
          <a:p>
            <a:pPr marL="420000" indent="-340000">
              <a:lnSpc>
                <a:spcPct val="105000"/>
              </a:lnSpc>
              <a:spcAft>
                <a:spcPts val="700"/>
              </a:spcAft>
              <a:buFont typeface="Arial"/>
              <a:buChar char="•"/>
            </a:pPr>
            <a:r>
              <a:rPr sz="3200" b="0" i="0" baseline="-25000" dirty="0">
                <a:solidFill>
                  <a:srgbClr val="1A1A1A"/>
                </a:solidFill>
                <a:latin typeface="Calibri"/>
              </a:rPr>
              <a:t>S. Card, G. Robertson &amp; J. Mackinlay, “The Information Visualizer,” CHI 1991;  N. Cowan, “The magical number 4,” BBS, 2001</a:t>
            </a:r>
          </a:p>
          <a:p>
            <a:pPr marL="420000" indent="-340000">
              <a:lnSpc>
                <a:spcPct val="105000"/>
              </a:lnSpc>
              <a:spcAft>
                <a:spcPts val="700"/>
              </a:spcAft>
              <a:buFont typeface="Arial"/>
              <a:buChar char="•"/>
            </a:pPr>
            <a:r>
              <a:rPr sz="3200" b="0" i="0" baseline="-25000" dirty="0">
                <a:solidFill>
                  <a:srgbClr val="1A1A1A"/>
                </a:solidFill>
                <a:latin typeface="Calibri"/>
              </a:rPr>
              <a:t>P. Dragicevic et al., “Temporal distortion for animated transitions,” CHI 2011;  B. Cabral &amp; L. Leedom, “Imaging vector fields using LIC,” SIGGRAPH 1993</a:t>
            </a:r>
          </a:p>
          <a:p>
            <a:pPr marL="80000">
              <a:lnSpc>
                <a:spcPct val="105000"/>
              </a:lnSpc>
              <a:spcAft>
                <a:spcPts val="700"/>
              </a:spcAft>
            </a:pPr>
            <a:endParaRPr sz="3200" b="0" i="0" baseline="-25000" dirty="0">
              <a:solidFill>
                <a:srgbClr val="1A1A1A"/>
              </a:solidFill>
              <a:latin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300000" cy="3943350"/>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1. According to </a:t>
            </a:r>
            <a:r>
              <a:rPr lang="en-US" sz="3200" b="1" dirty="0" err="1">
                <a:solidFill>
                  <a:srgbClr val="000000"/>
                </a:solidFill>
                <a:latin typeface="Calibri (MS) Bold"/>
                <a:ea typeface="Calibri (MS) Bold"/>
                <a:cs typeface="Calibri (MS) Bold"/>
                <a:sym typeface="Calibri (MS) Bold"/>
              </a:rPr>
              <a:t>Munzner</a:t>
            </a:r>
            <a:r>
              <a:rPr lang="en-US" sz="3200" b="1" dirty="0">
                <a:solidFill>
                  <a:srgbClr val="000000"/>
                </a:solidFill>
                <a:latin typeface="Calibri (MS) Bold"/>
                <a:ea typeface="Calibri (MS) Bold"/>
                <a:cs typeface="Calibri (MS) Bold"/>
                <a:sym typeface="Calibri (MS) Bold"/>
              </a:rPr>
              <a:t>, which use of animation is best justified in visualization?</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Narrative storytelling with many simultaneous changes</a:t>
            </a:r>
          </a:p>
          <a:p>
            <a:pPr algn="just">
              <a:lnSpc>
                <a:spcPts val="3840"/>
              </a:lnSpc>
            </a:pPr>
            <a:r>
              <a:rPr lang="en-US" sz="3200" dirty="0">
                <a:solidFill>
                  <a:srgbClr val="000000"/>
                </a:solidFill>
                <a:latin typeface="Calibri (MS)"/>
                <a:ea typeface="Calibri (MS)"/>
                <a:cs typeface="Calibri (MS)"/>
                <a:sym typeface="Calibri (MS)"/>
              </a:rPr>
              <a:t>B. Animated transitions between two states</a:t>
            </a:r>
          </a:p>
          <a:p>
            <a:pPr algn="just">
              <a:lnSpc>
                <a:spcPts val="3840"/>
              </a:lnSpc>
            </a:pPr>
            <a:r>
              <a:rPr lang="en-US" sz="3200" dirty="0">
                <a:solidFill>
                  <a:srgbClr val="000000"/>
                </a:solidFill>
                <a:latin typeface="Calibri (MS)"/>
                <a:ea typeface="Calibri (MS)"/>
                <a:cs typeface="Calibri (MS)"/>
                <a:sym typeface="Calibri (MS)"/>
              </a:rPr>
              <a:t>C. Playing hundreds of frames once without controls</a:t>
            </a:r>
          </a:p>
          <a:p>
            <a:pPr algn="just">
              <a:lnSpc>
                <a:spcPts val="3840"/>
              </a:lnSpc>
            </a:pPr>
            <a:r>
              <a:rPr lang="en-US" sz="3200" dirty="0">
                <a:solidFill>
                  <a:srgbClr val="000000"/>
                </a:solidFill>
                <a:latin typeface="Calibri (MS)"/>
                <a:ea typeface="Calibri (MS)"/>
                <a:cs typeface="Calibri (MS)"/>
                <a:sym typeface="Calibri (MS)"/>
              </a:rPr>
              <a:t>D. Blinking decorations to attract attention</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b="1" dirty="0">
                <a:solidFill>
                  <a:srgbClr val="2E7D32"/>
                </a:solidFill>
                <a:latin typeface="Calibri (MS)"/>
                <a:ea typeface="Calibri (MS)"/>
                <a:cs typeface="Calibri (MS)"/>
                <a:sym typeface="Calibri (MS)"/>
              </a:rPr>
              <a:t>Answer: B</a:t>
            </a:r>
            <a:r>
              <a:rPr lang="en-US" sz="2600" b="0" i="1" dirty="0">
                <a:solidFill>
                  <a:srgbClr val="6B6B6B"/>
                </a:solidFill>
                <a:latin typeface="Calibri (MS)"/>
                <a:ea typeface="Calibri (MS)"/>
                <a:cs typeface="Calibri (MS)"/>
                <a:sym typeface="Calibri (MS)"/>
              </a:rPr>
              <a:t>   </a:t>
            </a:r>
          </a:p>
        </p:txBody>
      </p:sp>
      <p:sp>
        <p:nvSpPr>
          <p:cNvPr id="5" name="TextBox 5"/>
          <p:cNvSpPr txBox="1"/>
          <p:nvPr/>
        </p:nvSpPr>
        <p:spPr>
          <a:xfrm>
            <a:off x="826684" y="419100"/>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barn(inVertical)">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300000" cy="7368171"/>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2. </a:t>
            </a:r>
            <a:r>
              <a:rPr lang="en-US" sz="3200" b="1" dirty="0" err="1">
                <a:solidFill>
                  <a:srgbClr val="000000"/>
                </a:solidFill>
                <a:latin typeface="Calibri (MS) Bold"/>
                <a:ea typeface="Calibri (MS) Bold"/>
                <a:cs typeface="Calibri (MS) Bold"/>
                <a:sym typeface="Calibri (MS) Bold"/>
              </a:rPr>
              <a:t>Munzner</a:t>
            </a:r>
            <a:r>
              <a:rPr lang="en-US" sz="3200" b="1" dirty="0">
                <a:solidFill>
                  <a:srgbClr val="000000"/>
                </a:solidFill>
                <a:latin typeface="Calibri (MS) Bold"/>
                <a:ea typeface="Calibri (MS) Bold"/>
                <a:cs typeface="Calibri (MS) Bold"/>
                <a:sym typeface="Calibri (MS) Bold"/>
              </a:rPr>
              <a:t> classifies the motion channel as which type of channel?</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Magnitude channel</a:t>
            </a:r>
          </a:p>
          <a:p>
            <a:pPr algn="just">
              <a:lnSpc>
                <a:spcPts val="3840"/>
              </a:lnSpc>
            </a:pPr>
            <a:r>
              <a:rPr lang="en-US" sz="3200" dirty="0">
                <a:solidFill>
                  <a:srgbClr val="000000"/>
                </a:solidFill>
                <a:latin typeface="Calibri (MS)"/>
                <a:ea typeface="Calibri (MS)"/>
                <a:cs typeface="Calibri (MS)"/>
                <a:sym typeface="Calibri (MS)"/>
              </a:rPr>
              <a:t>B. Identity channel</a:t>
            </a:r>
          </a:p>
          <a:p>
            <a:pPr algn="just">
              <a:lnSpc>
                <a:spcPts val="3840"/>
              </a:lnSpc>
            </a:pPr>
            <a:r>
              <a:rPr lang="en-US" sz="3200" dirty="0">
                <a:solidFill>
                  <a:srgbClr val="000000"/>
                </a:solidFill>
                <a:latin typeface="Calibri (MS)"/>
                <a:ea typeface="Calibri (MS)"/>
                <a:cs typeface="Calibri (MS)"/>
                <a:sym typeface="Calibri (MS)"/>
              </a:rPr>
              <a:t>C. Spatial position channel</a:t>
            </a:r>
          </a:p>
          <a:p>
            <a:pPr algn="just">
              <a:lnSpc>
                <a:spcPts val="3840"/>
              </a:lnSpc>
            </a:pPr>
            <a:r>
              <a:rPr lang="en-US" sz="3200" dirty="0">
                <a:solidFill>
                  <a:srgbClr val="000000"/>
                </a:solidFill>
                <a:latin typeface="Calibri (MS)"/>
                <a:ea typeface="Calibri (MS)"/>
                <a:cs typeface="Calibri (MS)"/>
                <a:sym typeface="Calibri (MS)"/>
              </a:rPr>
              <a:t>D. Luminance channel</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b="1" dirty="0">
                <a:solidFill>
                  <a:srgbClr val="2E7D32"/>
                </a:solidFill>
                <a:latin typeface="Calibri (MS)"/>
                <a:ea typeface="Calibri (MS)"/>
                <a:cs typeface="Calibri (MS)"/>
                <a:sym typeface="Calibri (MS)"/>
              </a:rPr>
              <a:t>Answer: B</a:t>
            </a:r>
            <a:r>
              <a:rPr lang="en-US" sz="2600" b="0" i="1" dirty="0">
                <a:solidFill>
                  <a:srgbClr val="6B6B6B"/>
                </a:solidFill>
                <a:latin typeface="Calibri (MS)"/>
                <a:ea typeface="Calibri (MS)"/>
                <a:cs typeface="Calibri (MS)"/>
                <a:sym typeface="Calibri (MS)"/>
              </a:rPr>
              <a:t>   </a:t>
            </a:r>
          </a:p>
          <a:p>
            <a:pPr lvl="0"/>
            <a:r>
              <a:rPr lang="en-IN" sz="2800" dirty="0"/>
              <a:t>A. Magnitude channel: Represents quantitative values using visual properties such as length, size, or luminance intensity.</a:t>
            </a:r>
          </a:p>
          <a:p>
            <a:pPr lvl="0"/>
            <a:r>
              <a:rPr lang="en-IN" sz="2800" dirty="0"/>
              <a:t>B. Identity channel: Helps distinguish or identify different objects or entities; motion can help track an object's identity over time.</a:t>
            </a:r>
          </a:p>
          <a:p>
            <a:pPr lvl="0"/>
            <a:r>
              <a:rPr lang="en-IN" sz="2800" dirty="0"/>
              <a:t>C. Spatial position channel: Represents data using the location of an object along spatial axes, such as X, Y, or Z.</a:t>
            </a:r>
          </a:p>
          <a:p>
            <a:pPr lvl="0"/>
            <a:r>
              <a:rPr lang="en-IN" sz="2800" dirty="0"/>
              <a:t>D. Luminance channel: Represents information through the brightness or lightness of a visual mark.</a:t>
            </a:r>
          </a:p>
          <a:p>
            <a:pPr algn="just">
              <a:lnSpc>
                <a:spcPts val="3840"/>
              </a:lnSpc>
              <a:spcBef>
                <a:spcPct val="0"/>
              </a:spcBef>
            </a:pPr>
            <a:endParaRPr lang="en-US" sz="2600" b="0" i="1" dirty="0">
              <a:solidFill>
                <a:srgbClr val="6B6B6B"/>
              </a:solidFill>
              <a:latin typeface="Calibri (MS)"/>
              <a:ea typeface="Calibri (MS)"/>
              <a:cs typeface="Calibri (MS)"/>
              <a:sym typeface="Calibri (MS)"/>
            </a:endParaRPr>
          </a:p>
        </p:txBody>
      </p:sp>
      <p:sp>
        <p:nvSpPr>
          <p:cNvPr id="5" name="TextBox 5"/>
          <p:cNvSpPr txBox="1"/>
          <p:nvPr/>
        </p:nvSpPr>
        <p:spPr>
          <a:xfrm>
            <a:off x="826684" y="419100"/>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barn(inVertical)">
                                      <p:cBhvr>
                                        <p:cTn id="7" dur="500"/>
                                        <p:tgtEl>
                                          <p:spTgt spid="4">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8" end="8"/>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
                                            <p:txEl>
                                              <p:pRg st="9" end="9"/>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
                                            <p:txEl>
                                              <p:pRg st="10" end="10"/>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3"/>
              <a:stretch>
                <a:fillRect r="-1"/>
              </a:stretch>
            </a:blipFill>
          </p:spPr>
          <p:txBody>
            <a:bodyPr/>
            <a:lstStyle/>
            <a:p>
              <a:endParaRPr lang="en-IN"/>
            </a:p>
          </p:txBody>
        </p:sp>
      </p:grpSp>
      <p:sp>
        <p:nvSpPr>
          <p:cNvPr id="4" name="TextBox 4"/>
          <p:cNvSpPr txBox="1"/>
          <p:nvPr/>
        </p:nvSpPr>
        <p:spPr>
          <a:xfrm>
            <a:off x="826684" y="2000643"/>
            <a:ext cx="15300000" cy="4385816"/>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3. A signal’s fastest cycle has frequency 5 Hz. What is the minimum sampling rate to avoid aliasing?</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2.5 Hz</a:t>
            </a:r>
          </a:p>
          <a:p>
            <a:pPr algn="just">
              <a:lnSpc>
                <a:spcPts val="3840"/>
              </a:lnSpc>
            </a:pPr>
            <a:r>
              <a:rPr lang="en-US" sz="3200" dirty="0">
                <a:solidFill>
                  <a:srgbClr val="000000"/>
                </a:solidFill>
                <a:latin typeface="Calibri (MS)"/>
                <a:ea typeface="Calibri (MS)"/>
                <a:cs typeface="Calibri (MS)"/>
                <a:sym typeface="Calibri (MS)"/>
              </a:rPr>
              <a:t>B. 5 Hz</a:t>
            </a:r>
          </a:p>
          <a:p>
            <a:pPr algn="just">
              <a:lnSpc>
                <a:spcPts val="3840"/>
              </a:lnSpc>
            </a:pPr>
            <a:r>
              <a:rPr lang="en-US" sz="3200" dirty="0">
                <a:solidFill>
                  <a:srgbClr val="000000"/>
                </a:solidFill>
                <a:latin typeface="Calibri (MS)"/>
                <a:ea typeface="Calibri (MS)"/>
                <a:cs typeface="Calibri (MS)"/>
                <a:sym typeface="Calibri (MS)"/>
              </a:rPr>
              <a:t>C. More than 10 Hz</a:t>
            </a:r>
          </a:p>
          <a:p>
            <a:pPr algn="just">
              <a:lnSpc>
                <a:spcPts val="3840"/>
              </a:lnSpc>
            </a:pPr>
            <a:r>
              <a:rPr lang="en-US" sz="3200" dirty="0">
                <a:solidFill>
                  <a:srgbClr val="000000"/>
                </a:solidFill>
                <a:latin typeface="Calibri (MS)"/>
                <a:ea typeface="Calibri (MS)"/>
                <a:cs typeface="Calibri (MS)"/>
                <a:sym typeface="Calibri (MS)"/>
              </a:rPr>
              <a:t>D. 1 Hz</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b="1" dirty="0">
                <a:solidFill>
                  <a:srgbClr val="2E7D32"/>
                </a:solidFill>
                <a:latin typeface="Calibri (MS)"/>
                <a:ea typeface="Calibri (MS)"/>
                <a:cs typeface="Calibri (MS)"/>
                <a:sym typeface="Calibri (MS)"/>
              </a:rPr>
              <a:t>Answer: C</a:t>
            </a:r>
            <a:endParaRPr lang="en-US" sz="2600" b="0" i="1" dirty="0">
              <a:solidFill>
                <a:srgbClr val="6B6B6B"/>
              </a:solidFill>
              <a:latin typeface="Calibri (MS)"/>
              <a:ea typeface="Calibri (MS)"/>
              <a:cs typeface="Calibri (MS)"/>
              <a:sym typeface="Calibri (MS)"/>
            </a:endParaRPr>
          </a:p>
        </p:txBody>
      </p:sp>
      <p:sp>
        <p:nvSpPr>
          <p:cNvPr id="5" name="TextBox 5"/>
          <p:cNvSpPr txBox="1"/>
          <p:nvPr/>
        </p:nvSpPr>
        <p:spPr>
          <a:xfrm>
            <a:off x="826684" y="419100"/>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barn(inVertical)">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300000" cy="3943350"/>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4. Failing to notice a large change in a scene when attention is elsewhere is called:</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Motion parallax</a:t>
            </a:r>
          </a:p>
          <a:p>
            <a:pPr algn="just">
              <a:lnSpc>
                <a:spcPts val="3840"/>
              </a:lnSpc>
            </a:pPr>
            <a:r>
              <a:rPr lang="en-US" sz="3200" dirty="0">
                <a:solidFill>
                  <a:srgbClr val="000000"/>
                </a:solidFill>
                <a:latin typeface="Calibri (MS)"/>
                <a:ea typeface="Calibri (MS)"/>
                <a:cs typeface="Calibri (MS)"/>
                <a:sym typeface="Calibri (MS)"/>
              </a:rPr>
              <a:t>B. Change blindness</a:t>
            </a:r>
          </a:p>
          <a:p>
            <a:pPr algn="just">
              <a:lnSpc>
                <a:spcPts val="3840"/>
              </a:lnSpc>
            </a:pPr>
            <a:r>
              <a:rPr lang="en-US" sz="3200" dirty="0">
                <a:solidFill>
                  <a:srgbClr val="000000"/>
                </a:solidFill>
                <a:latin typeface="Calibri (MS)"/>
                <a:ea typeface="Calibri (MS)"/>
                <a:cs typeface="Calibri (MS)"/>
                <a:sym typeface="Calibri (MS)"/>
              </a:rPr>
              <a:t>C. </a:t>
            </a:r>
            <a:r>
              <a:rPr lang="en-US" sz="3200" dirty="0" err="1">
                <a:solidFill>
                  <a:srgbClr val="000000"/>
                </a:solidFill>
                <a:latin typeface="Calibri (MS)"/>
                <a:ea typeface="Calibri (MS)"/>
                <a:cs typeface="Calibri (MS)"/>
                <a:sym typeface="Calibri (MS)"/>
              </a:rPr>
              <a:t>Preattentive</a:t>
            </a:r>
            <a:r>
              <a:rPr lang="en-US" sz="3200" dirty="0">
                <a:solidFill>
                  <a:srgbClr val="000000"/>
                </a:solidFill>
                <a:latin typeface="Calibri (MS)"/>
                <a:ea typeface="Calibri (MS)"/>
                <a:cs typeface="Calibri (MS)"/>
                <a:sym typeface="Calibri (MS)"/>
              </a:rPr>
              <a:t> pop-out</a:t>
            </a:r>
          </a:p>
          <a:p>
            <a:pPr algn="just">
              <a:lnSpc>
                <a:spcPts val="3840"/>
              </a:lnSpc>
            </a:pPr>
            <a:r>
              <a:rPr lang="en-US" sz="3200" dirty="0">
                <a:solidFill>
                  <a:srgbClr val="000000"/>
                </a:solidFill>
                <a:latin typeface="Calibri (MS)"/>
                <a:ea typeface="Calibri (MS)"/>
                <a:cs typeface="Calibri (MS)"/>
                <a:sym typeface="Calibri (MS)"/>
              </a:rPr>
              <a:t>D. Temporal aliasing</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b="1" dirty="0">
                <a:solidFill>
                  <a:srgbClr val="2E7D32"/>
                </a:solidFill>
                <a:latin typeface="Calibri (MS)"/>
                <a:ea typeface="Calibri (MS)"/>
                <a:cs typeface="Calibri (MS)"/>
                <a:sym typeface="Calibri (MS)"/>
              </a:rPr>
              <a:t>Answer: B</a:t>
            </a:r>
            <a:endParaRPr lang="en-US" sz="2600" b="0" i="1" dirty="0">
              <a:solidFill>
                <a:srgbClr val="6B6B6B"/>
              </a:solidFill>
              <a:latin typeface="Calibri (MS)"/>
              <a:ea typeface="Calibri (MS)"/>
              <a:cs typeface="Calibri (MS)"/>
              <a:sym typeface="Calibri (MS)"/>
            </a:endParaRPr>
          </a:p>
        </p:txBody>
      </p:sp>
      <p:sp>
        <p:nvSpPr>
          <p:cNvPr id="5" name="TextBox 5"/>
          <p:cNvSpPr txBox="1"/>
          <p:nvPr/>
        </p:nvSpPr>
        <p:spPr>
          <a:xfrm>
            <a:off x="826684" y="419100"/>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barn(inVertical)">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300000" cy="3943350"/>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5. How many frames are rendered for a 2-second transition at 30 fps?</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15</a:t>
            </a:r>
          </a:p>
          <a:p>
            <a:pPr algn="just">
              <a:lnSpc>
                <a:spcPts val="3840"/>
              </a:lnSpc>
            </a:pPr>
            <a:r>
              <a:rPr lang="en-US" sz="3200" dirty="0">
                <a:solidFill>
                  <a:srgbClr val="000000"/>
                </a:solidFill>
                <a:latin typeface="Calibri (MS)"/>
                <a:ea typeface="Calibri (MS)"/>
                <a:cs typeface="Calibri (MS)"/>
                <a:sym typeface="Calibri (MS)"/>
              </a:rPr>
              <a:t>B. 30</a:t>
            </a:r>
          </a:p>
          <a:p>
            <a:pPr algn="just">
              <a:lnSpc>
                <a:spcPts val="3840"/>
              </a:lnSpc>
            </a:pPr>
            <a:r>
              <a:rPr lang="en-US" sz="3200" dirty="0">
                <a:solidFill>
                  <a:srgbClr val="000000"/>
                </a:solidFill>
                <a:latin typeface="Calibri (MS)"/>
                <a:ea typeface="Calibri (MS)"/>
                <a:cs typeface="Calibri (MS)"/>
                <a:sym typeface="Calibri (MS)"/>
              </a:rPr>
              <a:t>C. 60</a:t>
            </a:r>
          </a:p>
          <a:p>
            <a:pPr algn="just">
              <a:lnSpc>
                <a:spcPts val="3840"/>
              </a:lnSpc>
            </a:pPr>
            <a:r>
              <a:rPr lang="en-US" sz="3200" dirty="0">
                <a:solidFill>
                  <a:srgbClr val="000000"/>
                </a:solidFill>
                <a:latin typeface="Calibri (MS)"/>
                <a:ea typeface="Calibri (MS)"/>
                <a:cs typeface="Calibri (MS)"/>
                <a:sym typeface="Calibri (MS)"/>
              </a:rPr>
              <a:t>D. 120</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b="1" dirty="0">
                <a:solidFill>
                  <a:srgbClr val="2E7D32"/>
                </a:solidFill>
                <a:latin typeface="Calibri (MS)"/>
                <a:ea typeface="Calibri (MS)"/>
                <a:cs typeface="Calibri (MS)"/>
                <a:sym typeface="Calibri (MS)"/>
              </a:rPr>
              <a:t>Answer: C</a:t>
            </a:r>
            <a:r>
              <a:rPr lang="en-US" sz="2600" b="0" i="1" dirty="0">
                <a:solidFill>
                  <a:srgbClr val="6B6B6B"/>
                </a:solidFill>
                <a:latin typeface="Calibri (MS)"/>
                <a:ea typeface="Calibri (MS)"/>
                <a:cs typeface="Calibri (MS)"/>
                <a:sym typeface="Calibri (MS)"/>
              </a:rPr>
              <a:t>   (2 s × 30 fps = 60 frames.)</a:t>
            </a:r>
          </a:p>
        </p:txBody>
      </p:sp>
      <p:sp>
        <p:nvSpPr>
          <p:cNvPr id="5" name="TextBox 5"/>
          <p:cNvSpPr txBox="1"/>
          <p:nvPr/>
        </p:nvSpPr>
        <p:spPr>
          <a:xfrm>
            <a:off x="826684" y="419100"/>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barn(inVertical)">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300000" cy="3943350"/>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6. Robertson et al. (2008) found that, for trend ANALYSIS, animation was:</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Fastest and most accurate</a:t>
            </a:r>
          </a:p>
          <a:p>
            <a:pPr algn="just">
              <a:lnSpc>
                <a:spcPts val="3840"/>
              </a:lnSpc>
            </a:pPr>
            <a:r>
              <a:rPr lang="en-US" sz="3200" dirty="0">
                <a:solidFill>
                  <a:srgbClr val="000000"/>
                </a:solidFill>
                <a:latin typeface="Calibri (MS)"/>
                <a:ea typeface="Calibri (MS)"/>
                <a:cs typeface="Calibri (MS)"/>
                <a:sym typeface="Calibri (MS)"/>
              </a:rPr>
              <a:t>B. Slowest and least accurate, though enjoyed by viewers</a:t>
            </a:r>
          </a:p>
          <a:p>
            <a:pPr algn="just">
              <a:lnSpc>
                <a:spcPts val="3840"/>
              </a:lnSpc>
            </a:pPr>
            <a:r>
              <a:rPr lang="en-US" sz="3200" dirty="0">
                <a:solidFill>
                  <a:srgbClr val="000000"/>
                </a:solidFill>
                <a:latin typeface="Calibri (MS)"/>
                <a:ea typeface="Calibri (MS)"/>
                <a:cs typeface="Calibri (MS)"/>
                <a:sym typeface="Calibri (MS)"/>
              </a:rPr>
              <a:t>C. Identical to small multiples</a:t>
            </a:r>
          </a:p>
          <a:p>
            <a:pPr algn="just">
              <a:lnSpc>
                <a:spcPts val="3840"/>
              </a:lnSpc>
            </a:pPr>
            <a:r>
              <a:rPr lang="en-US" sz="3200" dirty="0">
                <a:solidFill>
                  <a:srgbClr val="000000"/>
                </a:solidFill>
                <a:latin typeface="Calibri (MS)"/>
                <a:ea typeface="Calibri (MS)"/>
                <a:cs typeface="Calibri (MS)"/>
                <a:sym typeface="Calibri (MS)"/>
              </a:rPr>
              <a:t>D. Only useful when printed</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b="1" dirty="0">
                <a:solidFill>
                  <a:srgbClr val="2E7D32"/>
                </a:solidFill>
                <a:latin typeface="Calibri (MS)"/>
                <a:ea typeface="Calibri (MS)"/>
                <a:cs typeface="Calibri (MS)"/>
                <a:sym typeface="Calibri (MS)"/>
              </a:rPr>
              <a:t>Answer: B</a:t>
            </a:r>
            <a:r>
              <a:rPr lang="en-US" sz="2600" b="0" i="1" dirty="0">
                <a:solidFill>
                  <a:srgbClr val="6B6B6B"/>
                </a:solidFill>
                <a:latin typeface="Calibri (MS)"/>
                <a:ea typeface="Calibri (MS)"/>
                <a:cs typeface="Calibri (MS)"/>
                <a:sym typeface="Calibri (MS)"/>
              </a:rPr>
              <a:t>   (Static traces/small multiples were better for analysis.)</a:t>
            </a:r>
          </a:p>
        </p:txBody>
      </p:sp>
      <p:sp>
        <p:nvSpPr>
          <p:cNvPr id="5" name="TextBox 5"/>
          <p:cNvSpPr txBox="1"/>
          <p:nvPr/>
        </p:nvSpPr>
        <p:spPr>
          <a:xfrm>
            <a:off x="826684" y="419100"/>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barn(inVertical)">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300000" cy="3943350"/>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7. In </a:t>
            </a:r>
            <a:r>
              <a:rPr lang="en-US" sz="3200" b="1" dirty="0" err="1">
                <a:solidFill>
                  <a:srgbClr val="000000"/>
                </a:solidFill>
                <a:latin typeface="Calibri (MS) Bold"/>
                <a:ea typeface="Calibri (MS) Bold"/>
                <a:cs typeface="Calibri (MS) Bold"/>
                <a:sym typeface="Calibri (MS) Bold"/>
              </a:rPr>
              <a:t>Munzner’s</a:t>
            </a:r>
            <a:r>
              <a:rPr lang="en-US" sz="3200" b="1" dirty="0">
                <a:solidFill>
                  <a:srgbClr val="000000"/>
                </a:solidFill>
                <a:latin typeface="Calibri (MS) Bold"/>
                <a:ea typeface="Calibri (MS) Bold"/>
                <a:cs typeface="Calibri (MS) Bold"/>
                <a:sym typeface="Calibri (MS) Bold"/>
              </a:rPr>
              <a:t> terms, a time-series dataset is:</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A dataset where time is a value attribute only</a:t>
            </a:r>
          </a:p>
          <a:p>
            <a:pPr algn="just">
              <a:lnSpc>
                <a:spcPts val="3840"/>
              </a:lnSpc>
            </a:pPr>
            <a:r>
              <a:rPr lang="en-US" sz="3200" dirty="0">
                <a:solidFill>
                  <a:srgbClr val="000000"/>
                </a:solidFill>
                <a:latin typeface="Calibri (MS)"/>
                <a:ea typeface="Calibri (MS)"/>
                <a:cs typeface="Calibri (MS)"/>
                <a:sym typeface="Calibri (MS)"/>
              </a:rPr>
              <a:t>B. An ordered sequence of time–value pairs with time as the key</a:t>
            </a:r>
          </a:p>
          <a:p>
            <a:pPr algn="just">
              <a:lnSpc>
                <a:spcPts val="3840"/>
              </a:lnSpc>
            </a:pPr>
            <a:r>
              <a:rPr lang="en-US" sz="3200" dirty="0">
                <a:solidFill>
                  <a:srgbClr val="000000"/>
                </a:solidFill>
                <a:latin typeface="Calibri (MS)"/>
                <a:ea typeface="Calibri (MS)"/>
                <a:cs typeface="Calibri (MS)"/>
                <a:sym typeface="Calibri (MS)"/>
              </a:rPr>
              <a:t>C. A network of time nodes</a:t>
            </a:r>
          </a:p>
          <a:p>
            <a:pPr algn="just">
              <a:lnSpc>
                <a:spcPts val="3840"/>
              </a:lnSpc>
            </a:pPr>
            <a:r>
              <a:rPr lang="en-US" sz="3200" dirty="0">
                <a:solidFill>
                  <a:srgbClr val="000000"/>
                </a:solidFill>
                <a:latin typeface="Calibri (MS)"/>
                <a:ea typeface="Calibri (MS)"/>
                <a:cs typeface="Calibri (MS)"/>
                <a:sym typeface="Calibri (MS)"/>
              </a:rPr>
              <a:t>D. An unordered set of dates</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b="1" dirty="0">
                <a:solidFill>
                  <a:srgbClr val="2E7D32"/>
                </a:solidFill>
                <a:latin typeface="Calibri (MS)"/>
                <a:ea typeface="Calibri (MS)"/>
                <a:cs typeface="Calibri (MS)"/>
                <a:sym typeface="Calibri (MS)"/>
              </a:rPr>
              <a:t>Answer: B</a:t>
            </a:r>
            <a:r>
              <a:rPr lang="en-US" sz="2600" b="0" i="1" dirty="0">
                <a:solidFill>
                  <a:srgbClr val="6B6B6B"/>
                </a:solidFill>
                <a:latin typeface="Calibri (MS)"/>
                <a:ea typeface="Calibri (MS)"/>
                <a:cs typeface="Calibri (MS)"/>
                <a:sym typeface="Calibri (MS)"/>
              </a:rPr>
              <a:t>   </a:t>
            </a:r>
          </a:p>
        </p:txBody>
      </p:sp>
      <p:sp>
        <p:nvSpPr>
          <p:cNvPr id="5" name="TextBox 5"/>
          <p:cNvSpPr txBox="1"/>
          <p:nvPr/>
        </p:nvSpPr>
        <p:spPr>
          <a:xfrm>
            <a:off x="826684" y="419100"/>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barn(inVertical)">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300000" cy="3943350"/>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8. Increasing the window size of a moving average will:</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Add more noise to the curve</a:t>
            </a:r>
          </a:p>
          <a:p>
            <a:pPr algn="just">
              <a:lnSpc>
                <a:spcPts val="3840"/>
              </a:lnSpc>
            </a:pPr>
            <a:r>
              <a:rPr lang="en-US" sz="3200" dirty="0">
                <a:solidFill>
                  <a:srgbClr val="000000"/>
                </a:solidFill>
                <a:latin typeface="Calibri (MS)"/>
                <a:ea typeface="Calibri (MS)"/>
                <a:cs typeface="Calibri (MS)"/>
                <a:sym typeface="Calibri (MS)"/>
              </a:rPr>
              <a:t>B. Smooth more but may hide short-term events</a:t>
            </a:r>
          </a:p>
          <a:p>
            <a:pPr algn="just">
              <a:lnSpc>
                <a:spcPts val="3840"/>
              </a:lnSpc>
            </a:pPr>
            <a:r>
              <a:rPr lang="en-US" sz="3200" dirty="0">
                <a:solidFill>
                  <a:srgbClr val="000000"/>
                </a:solidFill>
                <a:latin typeface="Calibri (MS)"/>
                <a:ea typeface="Calibri (MS)"/>
                <a:cs typeface="Calibri (MS)"/>
                <a:sym typeface="Calibri (MS)"/>
              </a:rPr>
              <a:t>C. Increase the number of data points</a:t>
            </a:r>
          </a:p>
          <a:p>
            <a:pPr algn="just">
              <a:lnSpc>
                <a:spcPts val="3840"/>
              </a:lnSpc>
            </a:pPr>
            <a:r>
              <a:rPr lang="en-US" sz="3200" dirty="0">
                <a:solidFill>
                  <a:srgbClr val="000000"/>
                </a:solidFill>
                <a:latin typeface="Calibri (MS)"/>
                <a:ea typeface="Calibri (MS)"/>
                <a:cs typeface="Calibri (MS)"/>
                <a:sym typeface="Calibri (MS)"/>
              </a:rPr>
              <a:t>D. Convert time to a categorical axis</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b="1" dirty="0">
                <a:solidFill>
                  <a:srgbClr val="2E7D32"/>
                </a:solidFill>
                <a:latin typeface="Calibri (MS)"/>
                <a:ea typeface="Calibri (MS)"/>
                <a:cs typeface="Calibri (MS)"/>
                <a:sym typeface="Calibri (MS)"/>
              </a:rPr>
              <a:t>Answer: B</a:t>
            </a:r>
            <a:r>
              <a:rPr lang="en-US" sz="2600" b="0" i="1" dirty="0">
                <a:solidFill>
                  <a:srgbClr val="6B6B6B"/>
                </a:solidFill>
                <a:latin typeface="Calibri (MS)"/>
                <a:ea typeface="Calibri (MS)"/>
                <a:cs typeface="Calibri (MS)"/>
                <a:sym typeface="Calibri (MS)"/>
              </a:rPr>
              <a:t>   </a:t>
            </a:r>
          </a:p>
        </p:txBody>
      </p:sp>
      <p:sp>
        <p:nvSpPr>
          <p:cNvPr id="5" name="TextBox 5"/>
          <p:cNvSpPr txBox="1"/>
          <p:nvPr/>
        </p:nvSpPr>
        <p:spPr>
          <a:xfrm>
            <a:off x="826684" y="419100"/>
            <a:ext cx="15600000"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barn(inVertical)">
                                      <p:cBhvr>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70764" y="8234553"/>
            <a:ext cx="1600343" cy="1617231"/>
          </a:xfrm>
          <a:custGeom>
            <a:avLst/>
            <a:gdLst/>
            <a:ahLst/>
            <a:cxnLst/>
            <a:rect l="l" t="t" r="r" b="b"/>
            <a:pathLst>
              <a:path w="1600343" h="1617231">
                <a:moveTo>
                  <a:pt x="0" y="0"/>
                </a:moveTo>
                <a:lnTo>
                  <a:pt x="1600342" y="0"/>
                </a:lnTo>
                <a:lnTo>
                  <a:pt x="1600342" y="1617231"/>
                </a:lnTo>
                <a:lnTo>
                  <a:pt x="0" y="16172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AutoShape 3"/>
          <p:cNvSpPr/>
          <p:nvPr/>
        </p:nvSpPr>
        <p:spPr>
          <a:xfrm>
            <a:off x="7260757" y="5576944"/>
            <a:ext cx="6440689" cy="0"/>
          </a:xfrm>
          <a:prstGeom prst="line">
            <a:avLst/>
          </a:prstGeom>
          <a:ln w="28575" cap="rnd">
            <a:solidFill>
              <a:srgbClr val="ED7D31"/>
            </a:solidFill>
            <a:prstDash val="solid"/>
            <a:headEnd type="none" w="sm" len="sm"/>
            <a:tailEnd type="none" w="sm" len="sm"/>
          </a:ln>
        </p:spPr>
        <p:txBody>
          <a:bodyPr/>
          <a:lstStyle/>
          <a:p>
            <a:endParaRPr lang="en-IN"/>
          </a:p>
        </p:txBody>
      </p:sp>
      <p:sp>
        <p:nvSpPr>
          <p:cNvPr id="4" name="Freeform 4"/>
          <p:cNvSpPr/>
          <p:nvPr/>
        </p:nvSpPr>
        <p:spPr>
          <a:xfrm>
            <a:off x="16283549" y="399098"/>
            <a:ext cx="1600343" cy="1617231"/>
          </a:xfrm>
          <a:custGeom>
            <a:avLst/>
            <a:gdLst/>
            <a:ahLst/>
            <a:cxnLst/>
            <a:rect l="l" t="t" r="r" b="b"/>
            <a:pathLst>
              <a:path w="1600343" h="1617231">
                <a:moveTo>
                  <a:pt x="0" y="0"/>
                </a:moveTo>
                <a:lnTo>
                  <a:pt x="1600343" y="0"/>
                </a:lnTo>
                <a:lnTo>
                  <a:pt x="1600343" y="1617230"/>
                </a:lnTo>
                <a:lnTo>
                  <a:pt x="0" y="16172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9144000" y="4695825"/>
            <a:ext cx="2658963" cy="809625"/>
          </a:xfrm>
          <a:prstGeom prst="rect">
            <a:avLst/>
          </a:prstGeom>
        </p:spPr>
        <p:txBody>
          <a:bodyPr lIns="0" tIns="0" rIns="0" bIns="0" rtlCol="0" anchor="t">
            <a:spAutoFit/>
          </a:bodyPr>
          <a:lstStyle/>
          <a:p>
            <a:pPr algn="ctr">
              <a:lnSpc>
                <a:spcPts val="5759"/>
              </a:lnSpc>
            </a:pPr>
            <a:r>
              <a:rPr lang="en-US" sz="4800" b="1">
                <a:solidFill>
                  <a:srgbClr val="2F5597"/>
                </a:solidFill>
                <a:latin typeface="Calibri (MS) Bold"/>
                <a:ea typeface="Calibri (MS) Bold"/>
                <a:cs typeface="Calibri (MS) Bold"/>
                <a:sym typeface="Calibri (MS) Bold"/>
              </a:rPr>
              <a:t>Thank You</a:t>
            </a:r>
          </a:p>
        </p:txBody>
      </p:sp>
      <p:grpSp>
        <p:nvGrpSpPr>
          <p:cNvPr id="6" name="Group 6"/>
          <p:cNvGrpSpPr/>
          <p:nvPr/>
        </p:nvGrpSpPr>
        <p:grpSpPr>
          <a:xfrm>
            <a:off x="2071106" y="1540573"/>
            <a:ext cx="3891710" cy="7205853"/>
            <a:chOff x="0" y="0"/>
            <a:chExt cx="1679219" cy="3109227"/>
          </a:xfrm>
        </p:grpSpPr>
        <p:sp>
          <p:nvSpPr>
            <p:cNvPr id="7" name="Freeform 7"/>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4"/>
              <a:stretch>
                <a:fillRect r="-1"/>
              </a:stretch>
            </a:blipFill>
          </p:spPr>
          <p:txBody>
            <a:bodyPr/>
            <a:lstStyle/>
            <a:p>
              <a:endParaRPr lang="en-IN"/>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TotalTime>
  <Words>7243</Words>
  <Application>Microsoft Office PowerPoint</Application>
  <PresentationFormat>Custom</PresentationFormat>
  <Paragraphs>626</Paragraphs>
  <Slides>52</Slides>
  <Notes>2</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Aptos</vt:lpstr>
      <vt:lpstr>Cambria Math</vt:lpstr>
      <vt:lpstr>Calibri (MS) Bold</vt:lpstr>
      <vt:lpstr>Calibri</vt:lpstr>
      <vt:lpstr>Calibri (MS)</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DV_U2</dc:title>
  <cp:lastModifiedBy>prajwala talanki</cp:lastModifiedBy>
  <cp:revision>2</cp:revision>
  <dcterms:created xsi:type="dcterms:W3CDTF">2006-08-16T00:00:00Z</dcterms:created>
  <dcterms:modified xsi:type="dcterms:W3CDTF">2026-10-15T12:55:07Z</dcterms:modified>
  <dc:identifier>DAHU0vOJTKs</dc:identifier>
</cp:coreProperties>
</file>