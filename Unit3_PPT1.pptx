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328" r:id="rId13"/>
    <p:sldId id="267" r:id="rId14"/>
    <p:sldId id="268" r:id="rId15"/>
    <p:sldId id="269" r:id="rId16"/>
    <p:sldId id="270" r:id="rId17"/>
    <p:sldId id="271" r:id="rId18"/>
    <p:sldId id="272" r:id="rId19"/>
    <p:sldId id="329" r:id="rId20"/>
    <p:sldId id="273" r:id="rId21"/>
    <p:sldId id="274" r:id="rId22"/>
    <p:sldId id="275" r:id="rId23"/>
    <p:sldId id="276" r:id="rId24"/>
    <p:sldId id="277" r:id="rId25"/>
    <p:sldId id="278" r:id="rId26"/>
    <p:sldId id="279" r:id="rId27"/>
    <p:sldId id="330" r:id="rId28"/>
    <p:sldId id="331" r:id="rId29"/>
    <p:sldId id="280" r:id="rId30"/>
    <p:sldId id="281" r:id="rId31"/>
    <p:sldId id="282" r:id="rId32"/>
    <p:sldId id="283" r:id="rId33"/>
    <p:sldId id="284" r:id="rId34"/>
    <p:sldId id="285" r:id="rId35"/>
    <p:sldId id="286" r:id="rId36"/>
    <p:sldId id="287" r:id="rId37"/>
    <p:sldId id="332"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8" r:id="rId68"/>
    <p:sldId id="320" r:id="rId69"/>
    <p:sldId id="322" r:id="rId70"/>
    <p:sldId id="324" r:id="rId71"/>
    <p:sldId id="326" r:id="rId72"/>
    <p:sldId id="327" r:id="rId73"/>
  </p:sldIdLst>
  <p:sldSz cx="18288000" cy="10287000"/>
  <p:notesSz cx="6858000" cy="9144000"/>
  <p:embeddedFontLst>
    <p:embeddedFont>
      <p:font typeface="Arial Bold" panose="020B0704020202020204" pitchFamily="34" charset="0"/>
      <p:regular r:id="rId75"/>
      <p:bold r:id="rId76"/>
    </p:embeddedFont>
    <p:embeddedFont>
      <p:font typeface="Calibri (MS)" panose="020B0604020202020204" charset="0"/>
      <p:regular r:id="rId77"/>
    </p:embeddedFont>
    <p:embeddedFont>
      <p:font typeface="Calibri (MS) Bold" panose="020B0604020202020204" charset="0"/>
      <p:regular r:id="rId78"/>
    </p:embeddedFont>
    <p:embeddedFont>
      <p:font typeface="Calibri (MS) Bold Italics" panose="020B0604020202020204" charset="0"/>
      <p:regular r:id="rId79"/>
    </p:embeddedFont>
    <p:embeddedFont>
      <p:font typeface="Calibri (MS) Italics" panose="020B0604020202020204" charset="0"/>
      <p:regular r:id="rId80"/>
    </p:embeddedFont>
    <p:embeddedFont>
      <p:font typeface="Cambria Math" panose="02040503050406030204" pitchFamily="18" charset="0"/>
      <p:regular r:id="rId81"/>
    </p:embeddedFont>
    <p:embeddedFont>
      <p:font typeface="Canva Sans Bold" panose="020B0604020202020204" charset="0"/>
      <p:regular r:id="rId82"/>
    </p:embeddedFont>
    <p:embeddedFont>
      <p:font typeface="Nunito" pitchFamily="2" charset="0"/>
      <p:regular r:id="rId83"/>
      <p:bold r:id="rId84"/>
      <p:italic r:id="rId85"/>
      <p:boldItalic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5FE549-AD97-4A86-B0DA-CA86025AEDF4}" v="32" dt="2026-10-04T14:12:45.6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3618" autoAdjust="0"/>
  </p:normalViewPr>
  <p:slideViewPr>
    <p:cSldViewPr>
      <p:cViewPr varScale="1">
        <p:scale>
          <a:sx n="35" d="100"/>
          <a:sy n="35" d="100"/>
        </p:scale>
        <p:origin x="11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0.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8.fntdata"/><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jwala talanki" userId="f96f43d5c5067f3b" providerId="LiveId" clId="{4B6E1711-CB52-4CF4-B5ED-8DDF63F8A93D}"/>
    <pc:docChg chg="undo custSel addSld delSld modSld sldOrd">
      <pc:chgData name="prajwala talanki" userId="f96f43d5c5067f3b" providerId="LiveId" clId="{4B6E1711-CB52-4CF4-B5ED-8DDF63F8A93D}" dt="2026-10-04T14:27:31.423" v="506" actId="1076"/>
      <pc:docMkLst>
        <pc:docMk/>
      </pc:docMkLst>
      <pc:sldChg chg="addSp modSp mod">
        <pc:chgData name="prajwala talanki" userId="f96f43d5c5067f3b" providerId="LiveId" clId="{4B6E1711-CB52-4CF4-B5ED-8DDF63F8A93D}" dt="2026-10-04T14:27:31.423" v="506" actId="1076"/>
        <pc:sldMkLst>
          <pc:docMk/>
          <pc:sldMk cId="0" sldId="258"/>
        </pc:sldMkLst>
        <pc:spChg chg="mod">
          <ac:chgData name="prajwala talanki" userId="f96f43d5c5067f3b" providerId="LiveId" clId="{4B6E1711-CB52-4CF4-B5ED-8DDF63F8A93D}" dt="2026-09-22T07:46:39.671" v="5" actId="113"/>
          <ac:spMkLst>
            <pc:docMk/>
            <pc:sldMk cId="0" sldId="258"/>
            <ac:spMk id="5" creationId="{00000000-0000-0000-0000-000000000000}"/>
          </ac:spMkLst>
        </pc:spChg>
        <pc:spChg chg="add mod">
          <ac:chgData name="prajwala talanki" userId="f96f43d5c5067f3b" providerId="LiveId" clId="{4B6E1711-CB52-4CF4-B5ED-8DDF63F8A93D}" dt="2026-10-04T14:27:31.423" v="506" actId="1076"/>
          <ac:spMkLst>
            <pc:docMk/>
            <pc:sldMk cId="0" sldId="258"/>
            <ac:spMk id="9" creationId="{59741FD6-A1C7-B2DE-E671-A2FD19ED3582}"/>
          </ac:spMkLst>
        </pc:spChg>
      </pc:sldChg>
      <pc:sldChg chg="modSp mod">
        <pc:chgData name="prajwala talanki" userId="f96f43d5c5067f3b" providerId="LiveId" clId="{4B6E1711-CB52-4CF4-B5ED-8DDF63F8A93D}" dt="2026-09-22T07:47:45.347" v="22" actId="14100"/>
        <pc:sldMkLst>
          <pc:docMk/>
          <pc:sldMk cId="0" sldId="259"/>
        </pc:sldMkLst>
        <pc:spChg chg="mod">
          <ac:chgData name="prajwala talanki" userId="f96f43d5c5067f3b" providerId="LiveId" clId="{4B6E1711-CB52-4CF4-B5ED-8DDF63F8A93D}" dt="2026-09-22T07:47:45.347" v="22" actId="14100"/>
          <ac:spMkLst>
            <pc:docMk/>
            <pc:sldMk cId="0" sldId="259"/>
            <ac:spMk id="7" creationId="{00000000-0000-0000-0000-000000000000}"/>
          </ac:spMkLst>
        </pc:spChg>
      </pc:sldChg>
      <pc:sldChg chg="addSp modSp mod">
        <pc:chgData name="prajwala talanki" userId="f96f43d5c5067f3b" providerId="LiveId" clId="{4B6E1711-CB52-4CF4-B5ED-8DDF63F8A93D}" dt="2026-09-24T07:51:22.793" v="132" actId="20577"/>
        <pc:sldMkLst>
          <pc:docMk/>
          <pc:sldMk cId="0" sldId="266"/>
        </pc:sldMkLst>
        <pc:spChg chg="mod">
          <ac:chgData name="prajwala talanki" userId="f96f43d5c5067f3b" providerId="LiveId" clId="{4B6E1711-CB52-4CF4-B5ED-8DDF63F8A93D}" dt="2026-09-24T07:50:31.509" v="102" actId="14100"/>
          <ac:spMkLst>
            <pc:docMk/>
            <pc:sldMk cId="0" sldId="266"/>
            <ac:spMk id="6" creationId="{00000000-0000-0000-0000-000000000000}"/>
          </ac:spMkLst>
        </pc:spChg>
        <pc:spChg chg="mod">
          <ac:chgData name="prajwala talanki" userId="f96f43d5c5067f3b" providerId="LiveId" clId="{4B6E1711-CB52-4CF4-B5ED-8DDF63F8A93D}" dt="2026-09-24T07:50:35.445" v="104" actId="14100"/>
          <ac:spMkLst>
            <pc:docMk/>
            <pc:sldMk cId="0" sldId="266"/>
            <ac:spMk id="7" creationId="{00000000-0000-0000-0000-000000000000}"/>
          </ac:spMkLst>
        </pc:spChg>
        <pc:spChg chg="add mod">
          <ac:chgData name="prajwala talanki" userId="f96f43d5c5067f3b" providerId="LiveId" clId="{4B6E1711-CB52-4CF4-B5ED-8DDF63F8A93D}" dt="2026-09-24T07:50:59.116" v="116" actId="20577"/>
          <ac:spMkLst>
            <pc:docMk/>
            <pc:sldMk cId="0" sldId="266"/>
            <ac:spMk id="11" creationId="{4F5614FD-4716-085E-8740-F9C6DC8BCED9}"/>
          </ac:spMkLst>
        </pc:spChg>
        <pc:spChg chg="add mod">
          <ac:chgData name="prajwala talanki" userId="f96f43d5c5067f3b" providerId="LiveId" clId="{4B6E1711-CB52-4CF4-B5ED-8DDF63F8A93D}" dt="2026-09-24T07:51:22.793" v="132" actId="20577"/>
          <ac:spMkLst>
            <pc:docMk/>
            <pc:sldMk cId="0" sldId="266"/>
            <ac:spMk id="13" creationId="{DB2B3F51-121D-C812-24B9-2319E42D8440}"/>
          </ac:spMkLst>
        </pc:spChg>
      </pc:sldChg>
      <pc:sldChg chg="addSp modSp mod">
        <pc:chgData name="prajwala talanki" userId="f96f43d5c5067f3b" providerId="LiveId" clId="{4B6E1711-CB52-4CF4-B5ED-8DDF63F8A93D}" dt="2026-09-24T07:50:14.644" v="101" actId="113"/>
        <pc:sldMkLst>
          <pc:docMk/>
          <pc:sldMk cId="0" sldId="267"/>
        </pc:sldMkLst>
        <pc:spChg chg="add mod">
          <ac:chgData name="prajwala talanki" userId="f96f43d5c5067f3b" providerId="LiveId" clId="{4B6E1711-CB52-4CF4-B5ED-8DDF63F8A93D}" dt="2026-09-24T07:50:14.644" v="101" actId="113"/>
          <ac:spMkLst>
            <pc:docMk/>
            <pc:sldMk cId="0" sldId="267"/>
            <ac:spMk id="10" creationId="{FCB50C5B-202C-5F3D-4246-4D640E26FD9C}"/>
          </ac:spMkLst>
        </pc:spChg>
      </pc:sldChg>
      <pc:sldChg chg="addSp modSp mod">
        <pc:chgData name="prajwala talanki" userId="f96f43d5c5067f3b" providerId="LiveId" clId="{4B6E1711-CB52-4CF4-B5ED-8DDF63F8A93D}" dt="2026-09-24T07:55:59.397" v="155" actId="1076"/>
        <pc:sldMkLst>
          <pc:docMk/>
          <pc:sldMk cId="0" sldId="268"/>
        </pc:sldMkLst>
        <pc:spChg chg="mod">
          <ac:chgData name="prajwala talanki" userId="f96f43d5c5067f3b" providerId="LiveId" clId="{4B6E1711-CB52-4CF4-B5ED-8DDF63F8A93D}" dt="2026-09-24T07:55:27.476" v="153" actId="113"/>
          <ac:spMkLst>
            <pc:docMk/>
            <pc:sldMk cId="0" sldId="268"/>
            <ac:spMk id="7" creationId="{00000000-0000-0000-0000-000000000000}"/>
          </ac:spMkLst>
        </pc:spChg>
        <pc:spChg chg="add mod">
          <ac:chgData name="prajwala talanki" userId="f96f43d5c5067f3b" providerId="LiveId" clId="{4B6E1711-CB52-4CF4-B5ED-8DDF63F8A93D}" dt="2026-09-24T07:54:55.555" v="146" actId="1076"/>
          <ac:spMkLst>
            <pc:docMk/>
            <pc:sldMk cId="0" sldId="268"/>
            <ac:spMk id="9" creationId="{E4DDF498-A3CA-956F-025A-1F559FE10061}"/>
          </ac:spMkLst>
        </pc:spChg>
        <pc:spChg chg="add mod">
          <ac:chgData name="prajwala talanki" userId="f96f43d5c5067f3b" providerId="LiveId" clId="{4B6E1711-CB52-4CF4-B5ED-8DDF63F8A93D}" dt="2026-09-24T07:55:05.020" v="150" actId="14100"/>
          <ac:spMkLst>
            <pc:docMk/>
            <pc:sldMk cId="0" sldId="268"/>
            <ac:spMk id="11" creationId="{507D43B4-5C88-C5AA-E153-B638AC131E34}"/>
          </ac:spMkLst>
        </pc:spChg>
        <pc:spChg chg="add mod">
          <ac:chgData name="prajwala talanki" userId="f96f43d5c5067f3b" providerId="LiveId" clId="{4B6E1711-CB52-4CF4-B5ED-8DDF63F8A93D}" dt="2026-09-24T07:55:59.397" v="155" actId="1076"/>
          <ac:spMkLst>
            <pc:docMk/>
            <pc:sldMk cId="0" sldId="268"/>
            <ac:spMk id="13" creationId="{9427E790-969E-9EAA-375E-4D8E050A8F76}"/>
          </ac:spMkLst>
        </pc:spChg>
      </pc:sldChg>
      <pc:sldChg chg="addSp delSp modSp mod">
        <pc:chgData name="prajwala talanki" userId="f96f43d5c5067f3b" providerId="LiveId" clId="{4B6E1711-CB52-4CF4-B5ED-8DDF63F8A93D}" dt="2026-09-24T08:10:07.669" v="185" actId="403"/>
        <pc:sldMkLst>
          <pc:docMk/>
          <pc:sldMk cId="0" sldId="269"/>
        </pc:sldMkLst>
        <pc:spChg chg="mod">
          <ac:chgData name="prajwala talanki" userId="f96f43d5c5067f3b" providerId="LiveId" clId="{4B6E1711-CB52-4CF4-B5ED-8DDF63F8A93D}" dt="2026-09-24T08:09:53.585" v="180" actId="20578"/>
          <ac:spMkLst>
            <pc:docMk/>
            <pc:sldMk cId="0" sldId="269"/>
            <ac:spMk id="10" creationId="{00000000-0000-0000-0000-000000000000}"/>
          </ac:spMkLst>
        </pc:spChg>
        <pc:spChg chg="add mod">
          <ac:chgData name="prajwala talanki" userId="f96f43d5c5067f3b" providerId="LiveId" clId="{4B6E1711-CB52-4CF4-B5ED-8DDF63F8A93D}" dt="2026-09-24T08:10:07.669" v="185" actId="403"/>
          <ac:spMkLst>
            <pc:docMk/>
            <pc:sldMk cId="0" sldId="269"/>
            <ac:spMk id="12" creationId="{87D1E79D-CC8B-7B48-D65A-CB47DAD583EC}"/>
          </ac:spMkLst>
        </pc:spChg>
        <pc:spChg chg="add mod">
          <ac:chgData name="prajwala talanki" userId="f96f43d5c5067f3b" providerId="LiveId" clId="{4B6E1711-CB52-4CF4-B5ED-8DDF63F8A93D}" dt="2026-09-24T08:09:56.421" v="181" actId="1076"/>
          <ac:spMkLst>
            <pc:docMk/>
            <pc:sldMk cId="0" sldId="269"/>
            <ac:spMk id="20" creationId="{435D703D-AA5B-5A90-226C-A7254CEBA192}"/>
          </ac:spMkLst>
        </pc:spChg>
        <pc:picChg chg="add mod">
          <ac:chgData name="prajwala talanki" userId="f96f43d5c5067f3b" providerId="LiveId" clId="{4B6E1711-CB52-4CF4-B5ED-8DDF63F8A93D}" dt="2026-09-24T08:09:09.747" v="172" actId="1076"/>
          <ac:picMkLst>
            <pc:docMk/>
            <pc:sldMk cId="0" sldId="269"/>
            <ac:picMk id="18" creationId="{0D41422D-4A3A-7E81-DCC2-D0C4B0D4BFA4}"/>
          </ac:picMkLst>
        </pc:picChg>
      </pc:sldChg>
      <pc:sldChg chg="addSp modSp mod">
        <pc:chgData name="prajwala talanki" userId="f96f43d5c5067f3b" providerId="LiveId" clId="{4B6E1711-CB52-4CF4-B5ED-8DDF63F8A93D}" dt="2026-09-24T08:11:30.580" v="190" actId="14100"/>
        <pc:sldMkLst>
          <pc:docMk/>
          <pc:sldMk cId="0" sldId="270"/>
        </pc:sldMkLst>
        <pc:spChg chg="add mod">
          <ac:chgData name="prajwala talanki" userId="f96f43d5c5067f3b" providerId="LiveId" clId="{4B6E1711-CB52-4CF4-B5ED-8DDF63F8A93D}" dt="2026-09-24T08:11:30.580" v="190" actId="14100"/>
          <ac:spMkLst>
            <pc:docMk/>
            <pc:sldMk cId="0" sldId="270"/>
            <ac:spMk id="14" creationId="{428DFF70-2515-36C6-87B6-289A19D4D4F1}"/>
          </ac:spMkLst>
        </pc:spChg>
        <pc:picChg chg="add mod">
          <ac:chgData name="prajwala talanki" userId="f96f43d5c5067f3b" providerId="LiveId" clId="{4B6E1711-CB52-4CF4-B5ED-8DDF63F8A93D}" dt="2026-09-24T08:10:56.709" v="187" actId="1076"/>
          <ac:picMkLst>
            <pc:docMk/>
            <pc:sldMk cId="0" sldId="270"/>
            <ac:picMk id="12" creationId="{13C1BEDB-885F-F9B7-09E7-3DD7E037FE2F}"/>
          </ac:picMkLst>
        </pc:picChg>
      </pc:sldChg>
      <pc:sldChg chg="addSp modSp mod">
        <pc:chgData name="prajwala talanki" userId="f96f43d5c5067f3b" providerId="LiveId" clId="{4B6E1711-CB52-4CF4-B5ED-8DDF63F8A93D}" dt="2026-10-04T13:11:16.877" v="262" actId="1076"/>
        <pc:sldMkLst>
          <pc:docMk/>
          <pc:sldMk cId="0" sldId="271"/>
        </pc:sldMkLst>
        <pc:spChg chg="mod">
          <ac:chgData name="prajwala talanki" userId="f96f43d5c5067f3b" providerId="LiveId" clId="{4B6E1711-CB52-4CF4-B5ED-8DDF63F8A93D}" dt="2026-09-24T08:30:14.760" v="197" actId="404"/>
          <ac:spMkLst>
            <pc:docMk/>
            <pc:sldMk cId="0" sldId="271"/>
            <ac:spMk id="11" creationId="{00000000-0000-0000-0000-000000000000}"/>
          </ac:spMkLst>
        </pc:spChg>
        <pc:spChg chg="mod">
          <ac:chgData name="prajwala talanki" userId="f96f43d5c5067f3b" providerId="LiveId" clId="{4B6E1711-CB52-4CF4-B5ED-8DDF63F8A93D}" dt="2026-09-24T08:32:33.861" v="207" actId="1076"/>
          <ac:spMkLst>
            <pc:docMk/>
            <pc:sldMk cId="0" sldId="271"/>
            <ac:spMk id="12" creationId="{00000000-0000-0000-0000-000000000000}"/>
          </ac:spMkLst>
        </pc:spChg>
        <pc:spChg chg="add mod">
          <ac:chgData name="prajwala talanki" userId="f96f43d5c5067f3b" providerId="LiveId" clId="{4B6E1711-CB52-4CF4-B5ED-8DDF63F8A93D}" dt="2026-09-24T08:30:22.390" v="201" actId="123"/>
          <ac:spMkLst>
            <pc:docMk/>
            <pc:sldMk cId="0" sldId="271"/>
            <ac:spMk id="14" creationId="{87E294ED-8A7F-2B1F-F856-A9B6D8FDEB8E}"/>
          </ac:spMkLst>
        </pc:spChg>
        <pc:spChg chg="add mod">
          <ac:chgData name="prajwala talanki" userId="f96f43d5c5067f3b" providerId="LiveId" clId="{4B6E1711-CB52-4CF4-B5ED-8DDF63F8A93D}" dt="2026-10-04T13:11:16.877" v="262" actId="1076"/>
          <ac:spMkLst>
            <pc:docMk/>
            <pc:sldMk cId="0" sldId="271"/>
            <ac:spMk id="15" creationId="{0ABBB48F-E257-C744-1FAA-57250E8EEA20}"/>
          </ac:spMkLst>
        </pc:spChg>
        <pc:spChg chg="add mod">
          <ac:chgData name="prajwala talanki" userId="f96f43d5c5067f3b" providerId="LiveId" clId="{4B6E1711-CB52-4CF4-B5ED-8DDF63F8A93D}" dt="2026-09-24T08:32:37.476" v="209" actId="123"/>
          <ac:spMkLst>
            <pc:docMk/>
            <pc:sldMk cId="0" sldId="271"/>
            <ac:spMk id="16" creationId="{22FCCF76-DF75-87BE-AE73-B04D855D9C7E}"/>
          </ac:spMkLst>
        </pc:spChg>
        <pc:spChg chg="add mod">
          <ac:chgData name="prajwala talanki" userId="f96f43d5c5067f3b" providerId="LiveId" clId="{4B6E1711-CB52-4CF4-B5ED-8DDF63F8A93D}" dt="2026-09-24T08:33:57.765" v="212" actId="113"/>
          <ac:spMkLst>
            <pc:docMk/>
            <pc:sldMk cId="0" sldId="271"/>
            <ac:spMk id="18" creationId="{DFB3FEC1-060D-96F4-EE5F-22E583621B1C}"/>
          </ac:spMkLst>
        </pc:spChg>
        <pc:spChg chg="add mod">
          <ac:chgData name="prajwala talanki" userId="f96f43d5c5067f3b" providerId="LiveId" clId="{4B6E1711-CB52-4CF4-B5ED-8DDF63F8A93D}" dt="2026-09-24T08:34:54.379" v="217" actId="123"/>
          <ac:spMkLst>
            <pc:docMk/>
            <pc:sldMk cId="0" sldId="271"/>
            <ac:spMk id="20" creationId="{4039E8CB-3B6B-F613-2AF8-5315585291C5}"/>
          </ac:spMkLst>
        </pc:spChg>
      </pc:sldChg>
      <pc:sldChg chg="addSp modSp mod ord">
        <pc:chgData name="prajwala talanki" userId="f96f43d5c5067f3b" providerId="LiveId" clId="{4B6E1711-CB52-4CF4-B5ED-8DDF63F8A93D}" dt="2026-10-04T13:12:29.662" v="272" actId="1076"/>
        <pc:sldMkLst>
          <pc:docMk/>
          <pc:sldMk cId="0" sldId="272"/>
        </pc:sldMkLst>
        <pc:spChg chg="mod">
          <ac:chgData name="prajwala talanki" userId="f96f43d5c5067f3b" providerId="LiveId" clId="{4B6E1711-CB52-4CF4-B5ED-8DDF63F8A93D}" dt="2026-10-04T13:12:26.816" v="271" actId="1076"/>
          <ac:spMkLst>
            <pc:docMk/>
            <pc:sldMk cId="0" sldId="272"/>
            <ac:spMk id="6" creationId="{00000000-0000-0000-0000-000000000000}"/>
          </ac:spMkLst>
        </pc:spChg>
        <pc:picChg chg="add mod">
          <ac:chgData name="prajwala talanki" userId="f96f43d5c5067f3b" providerId="LiveId" clId="{4B6E1711-CB52-4CF4-B5ED-8DDF63F8A93D}" dt="2026-10-04T13:12:29.662" v="272" actId="1076"/>
          <ac:picMkLst>
            <pc:docMk/>
            <pc:sldMk cId="0" sldId="272"/>
            <ac:picMk id="9" creationId="{81F8C675-77B2-5A88-0C4D-A8A20CC3D23E}"/>
          </ac:picMkLst>
        </pc:picChg>
      </pc:sldChg>
      <pc:sldChg chg="addSp modSp mod">
        <pc:chgData name="prajwala talanki" userId="f96f43d5c5067f3b" providerId="LiveId" clId="{4B6E1711-CB52-4CF4-B5ED-8DDF63F8A93D}" dt="2026-10-04T13:18:29.748" v="281" actId="1076"/>
        <pc:sldMkLst>
          <pc:docMk/>
          <pc:sldMk cId="0" sldId="275"/>
        </pc:sldMkLst>
        <pc:spChg chg="mod">
          <ac:chgData name="prajwala talanki" userId="f96f43d5c5067f3b" providerId="LiveId" clId="{4B6E1711-CB52-4CF4-B5ED-8DDF63F8A93D}" dt="2026-09-24T08:41:23.307" v="225" actId="113"/>
          <ac:spMkLst>
            <pc:docMk/>
            <pc:sldMk cId="0" sldId="275"/>
            <ac:spMk id="7" creationId="{00000000-0000-0000-0000-000000000000}"/>
          </ac:spMkLst>
        </pc:spChg>
        <pc:spChg chg="add mod">
          <ac:chgData name="prajwala talanki" userId="f96f43d5c5067f3b" providerId="LiveId" clId="{4B6E1711-CB52-4CF4-B5ED-8DDF63F8A93D}" dt="2026-10-04T13:18:22.051" v="279" actId="1076"/>
          <ac:spMkLst>
            <pc:docMk/>
            <pc:sldMk cId="0" sldId="275"/>
            <ac:spMk id="9" creationId="{4482F415-9CC9-3923-969F-E17F3AB2F170}"/>
          </ac:spMkLst>
        </pc:spChg>
        <pc:spChg chg="add mod">
          <ac:chgData name="prajwala talanki" userId="f96f43d5c5067f3b" providerId="LiveId" clId="{4B6E1711-CB52-4CF4-B5ED-8DDF63F8A93D}" dt="2026-10-04T13:18:26.971" v="280" actId="1076"/>
          <ac:spMkLst>
            <pc:docMk/>
            <pc:sldMk cId="0" sldId="275"/>
            <ac:spMk id="11" creationId="{2BCC3EC0-2E3F-8B52-7841-3E0D8DC71EAD}"/>
          </ac:spMkLst>
        </pc:spChg>
        <pc:graphicFrameChg chg="add mod">
          <ac:chgData name="prajwala talanki" userId="f96f43d5c5067f3b" providerId="LiveId" clId="{4B6E1711-CB52-4CF4-B5ED-8DDF63F8A93D}" dt="2026-10-04T13:18:29.748" v="281" actId="1076"/>
          <ac:graphicFrameMkLst>
            <pc:docMk/>
            <pc:sldMk cId="0" sldId="275"/>
            <ac:graphicFrameMk id="12" creationId="{EE93543B-FC38-A8E5-9E5E-CD140F75C0C1}"/>
          </ac:graphicFrameMkLst>
        </pc:graphicFrameChg>
      </pc:sldChg>
      <pc:sldChg chg="modSp mod">
        <pc:chgData name="prajwala talanki" userId="f96f43d5c5067f3b" providerId="LiveId" clId="{4B6E1711-CB52-4CF4-B5ED-8DDF63F8A93D}" dt="2026-09-24T08:42:16.068" v="226" actId="113"/>
        <pc:sldMkLst>
          <pc:docMk/>
          <pc:sldMk cId="0" sldId="277"/>
        </pc:sldMkLst>
        <pc:spChg chg="mod">
          <ac:chgData name="prajwala talanki" userId="f96f43d5c5067f3b" providerId="LiveId" clId="{4B6E1711-CB52-4CF4-B5ED-8DDF63F8A93D}" dt="2026-09-24T08:42:16.068" v="226" actId="113"/>
          <ac:spMkLst>
            <pc:docMk/>
            <pc:sldMk cId="0" sldId="277"/>
            <ac:spMk id="27" creationId="{00000000-0000-0000-0000-000000000000}"/>
          </ac:spMkLst>
        </pc:spChg>
      </pc:sldChg>
      <pc:sldChg chg="addSp modSp mod">
        <pc:chgData name="prajwala talanki" userId="f96f43d5c5067f3b" providerId="LiveId" clId="{4B6E1711-CB52-4CF4-B5ED-8DDF63F8A93D}" dt="2026-09-24T08:59:18.825" v="237" actId="20577"/>
        <pc:sldMkLst>
          <pc:docMk/>
          <pc:sldMk cId="0" sldId="278"/>
        </pc:sldMkLst>
        <pc:spChg chg="mod">
          <ac:chgData name="prajwala talanki" userId="f96f43d5c5067f3b" providerId="LiveId" clId="{4B6E1711-CB52-4CF4-B5ED-8DDF63F8A93D}" dt="2026-09-24T08:43:48.104" v="232" actId="113"/>
          <ac:spMkLst>
            <pc:docMk/>
            <pc:sldMk cId="0" sldId="278"/>
            <ac:spMk id="7" creationId="{00000000-0000-0000-0000-000000000000}"/>
          </ac:spMkLst>
        </pc:spChg>
        <pc:spChg chg="add mod">
          <ac:chgData name="prajwala talanki" userId="f96f43d5c5067f3b" providerId="LiveId" clId="{4B6E1711-CB52-4CF4-B5ED-8DDF63F8A93D}" dt="2026-09-24T08:59:18.825" v="237" actId="20577"/>
          <ac:spMkLst>
            <pc:docMk/>
            <pc:sldMk cId="0" sldId="278"/>
            <ac:spMk id="9" creationId="{75DBB6BB-AE4C-6850-1A79-30F906654FAE}"/>
          </ac:spMkLst>
        </pc:spChg>
      </pc:sldChg>
      <pc:sldChg chg="addSp modSp mod">
        <pc:chgData name="prajwala talanki" userId="f96f43d5c5067f3b" providerId="LiveId" clId="{4B6E1711-CB52-4CF4-B5ED-8DDF63F8A93D}" dt="2026-09-24T10:42:15.937" v="246" actId="1076"/>
        <pc:sldMkLst>
          <pc:docMk/>
          <pc:sldMk cId="0" sldId="279"/>
        </pc:sldMkLst>
        <pc:spChg chg="mod">
          <ac:chgData name="prajwala talanki" userId="f96f43d5c5067f3b" providerId="LiveId" clId="{4B6E1711-CB52-4CF4-B5ED-8DDF63F8A93D}" dt="2026-09-24T08:44:08.652" v="233" actId="113"/>
          <ac:spMkLst>
            <pc:docMk/>
            <pc:sldMk cId="0" sldId="279"/>
            <ac:spMk id="7" creationId="{00000000-0000-0000-0000-000000000000}"/>
          </ac:spMkLst>
        </pc:spChg>
        <pc:spChg chg="add mod">
          <ac:chgData name="prajwala talanki" userId="f96f43d5c5067f3b" providerId="LiveId" clId="{4B6E1711-CB52-4CF4-B5ED-8DDF63F8A93D}" dt="2026-09-24T10:41:18.954" v="239" actId="1076"/>
          <ac:spMkLst>
            <pc:docMk/>
            <pc:sldMk cId="0" sldId="279"/>
            <ac:spMk id="9" creationId="{90ADF7F5-D6D0-EB45-28F0-EB82AAD923C4}"/>
          </ac:spMkLst>
        </pc:spChg>
        <pc:spChg chg="add mod">
          <ac:chgData name="prajwala talanki" userId="f96f43d5c5067f3b" providerId="LiveId" clId="{4B6E1711-CB52-4CF4-B5ED-8DDF63F8A93D}" dt="2026-09-24T10:41:49.632" v="243" actId="1076"/>
          <ac:spMkLst>
            <pc:docMk/>
            <pc:sldMk cId="0" sldId="279"/>
            <ac:spMk id="13" creationId="{017D36C4-AC96-B4B2-D359-9F0B2EBFCB6B}"/>
          </ac:spMkLst>
        </pc:spChg>
        <pc:spChg chg="add mod">
          <ac:chgData name="prajwala talanki" userId="f96f43d5c5067f3b" providerId="LiveId" clId="{4B6E1711-CB52-4CF4-B5ED-8DDF63F8A93D}" dt="2026-09-24T10:42:00.762" v="245" actId="1076"/>
          <ac:spMkLst>
            <pc:docMk/>
            <pc:sldMk cId="0" sldId="279"/>
            <ac:spMk id="15" creationId="{AC3CE2E5-DF6C-0F11-7391-663A123D48C4}"/>
          </ac:spMkLst>
        </pc:spChg>
        <pc:picChg chg="add mod">
          <ac:chgData name="prajwala talanki" userId="f96f43d5c5067f3b" providerId="LiveId" clId="{4B6E1711-CB52-4CF4-B5ED-8DDF63F8A93D}" dt="2026-09-24T10:42:15.937" v="246" actId="1076"/>
          <ac:picMkLst>
            <pc:docMk/>
            <pc:sldMk cId="0" sldId="279"/>
            <ac:picMk id="11" creationId="{AF33CA28-BD0E-1DB0-50D9-5FAACEE40C87}"/>
          </ac:picMkLst>
        </pc:picChg>
      </pc:sldChg>
      <pc:sldChg chg="modSp modAnim">
        <pc:chgData name="prajwala talanki" userId="f96f43d5c5067f3b" providerId="LiveId" clId="{4B6E1711-CB52-4CF4-B5ED-8DDF63F8A93D}" dt="2026-09-24T10:43:48.074" v="254"/>
        <pc:sldMkLst>
          <pc:docMk/>
          <pc:sldMk cId="0" sldId="280"/>
        </pc:sldMkLst>
        <pc:spChg chg="mod">
          <ac:chgData name="prajwala talanki" userId="f96f43d5c5067f3b" providerId="LiveId" clId="{4B6E1711-CB52-4CF4-B5ED-8DDF63F8A93D}" dt="2026-09-24T10:43:44.205" v="253" actId="20577"/>
          <ac:spMkLst>
            <pc:docMk/>
            <pc:sldMk cId="0" sldId="280"/>
            <ac:spMk id="7" creationId="{00000000-0000-0000-0000-000000000000}"/>
          </ac:spMkLst>
        </pc:spChg>
      </pc:sldChg>
      <pc:sldChg chg="modAnim">
        <pc:chgData name="prajwala talanki" userId="f96f43d5c5067f3b" providerId="LiveId" clId="{4B6E1711-CB52-4CF4-B5ED-8DDF63F8A93D}" dt="2026-09-24T10:46:11.331" v="255"/>
        <pc:sldMkLst>
          <pc:docMk/>
          <pc:sldMk cId="0" sldId="282"/>
        </pc:sldMkLst>
      </pc:sldChg>
      <pc:sldChg chg="modAnim">
        <pc:chgData name="prajwala talanki" userId="f96f43d5c5067f3b" providerId="LiveId" clId="{4B6E1711-CB52-4CF4-B5ED-8DDF63F8A93D}" dt="2026-09-24T10:46:47.464" v="256"/>
        <pc:sldMkLst>
          <pc:docMk/>
          <pc:sldMk cId="0" sldId="284"/>
        </pc:sldMkLst>
      </pc:sldChg>
      <pc:sldChg chg="modAnim">
        <pc:chgData name="prajwala talanki" userId="f96f43d5c5067f3b" providerId="LiveId" clId="{4B6E1711-CB52-4CF4-B5ED-8DDF63F8A93D}" dt="2026-09-24T10:47:04.704" v="258"/>
        <pc:sldMkLst>
          <pc:docMk/>
          <pc:sldMk cId="0" sldId="286"/>
        </pc:sldMkLst>
      </pc:sldChg>
      <pc:sldChg chg="addSp modSp mod">
        <pc:chgData name="prajwala talanki" userId="f96f43d5c5067f3b" providerId="LiveId" clId="{4B6E1711-CB52-4CF4-B5ED-8DDF63F8A93D}" dt="2026-09-24T10:47:46.818" v="260" actId="1076"/>
        <pc:sldMkLst>
          <pc:docMk/>
          <pc:sldMk cId="0" sldId="287"/>
        </pc:sldMkLst>
        <pc:picChg chg="add mod">
          <ac:chgData name="prajwala talanki" userId="f96f43d5c5067f3b" providerId="LiveId" clId="{4B6E1711-CB52-4CF4-B5ED-8DDF63F8A93D}" dt="2026-09-24T10:47:46.818" v="260" actId="1076"/>
          <ac:picMkLst>
            <pc:docMk/>
            <pc:sldMk cId="0" sldId="287"/>
            <ac:picMk id="14" creationId="{3A083466-A8A9-B39A-48DA-62853A9A3D85}"/>
          </ac:picMkLst>
        </pc:picChg>
      </pc:sldChg>
      <pc:sldChg chg="modSp mod">
        <pc:chgData name="prajwala talanki" userId="f96f43d5c5067f3b" providerId="LiveId" clId="{4B6E1711-CB52-4CF4-B5ED-8DDF63F8A93D}" dt="2026-10-04T13:38:08.020" v="324" actId="113"/>
        <pc:sldMkLst>
          <pc:docMk/>
          <pc:sldMk cId="0" sldId="288"/>
        </pc:sldMkLst>
        <pc:spChg chg="mod">
          <ac:chgData name="prajwala talanki" userId="f96f43d5c5067f3b" providerId="LiveId" clId="{4B6E1711-CB52-4CF4-B5ED-8DDF63F8A93D}" dt="2026-10-04T13:38:08.020" v="324" actId="113"/>
          <ac:spMkLst>
            <pc:docMk/>
            <pc:sldMk cId="0" sldId="288"/>
            <ac:spMk id="5" creationId="{00000000-0000-0000-0000-000000000000}"/>
          </ac:spMkLst>
        </pc:spChg>
      </pc:sldChg>
      <pc:sldChg chg="modSp mod">
        <pc:chgData name="prajwala talanki" userId="f96f43d5c5067f3b" providerId="LiveId" clId="{4B6E1711-CB52-4CF4-B5ED-8DDF63F8A93D}" dt="2026-10-04T13:39:20.050" v="328" actId="113"/>
        <pc:sldMkLst>
          <pc:docMk/>
          <pc:sldMk cId="0" sldId="289"/>
        </pc:sldMkLst>
        <pc:spChg chg="mod">
          <ac:chgData name="prajwala talanki" userId="f96f43d5c5067f3b" providerId="LiveId" clId="{4B6E1711-CB52-4CF4-B5ED-8DDF63F8A93D}" dt="2026-10-04T13:38:48.987" v="327" actId="113"/>
          <ac:spMkLst>
            <pc:docMk/>
            <pc:sldMk cId="0" sldId="289"/>
            <ac:spMk id="7" creationId="{00000000-0000-0000-0000-000000000000}"/>
          </ac:spMkLst>
        </pc:spChg>
        <pc:spChg chg="mod">
          <ac:chgData name="prajwala talanki" userId="f96f43d5c5067f3b" providerId="LiveId" clId="{4B6E1711-CB52-4CF4-B5ED-8DDF63F8A93D}" dt="2026-10-04T13:39:20.050" v="328" actId="113"/>
          <ac:spMkLst>
            <pc:docMk/>
            <pc:sldMk cId="0" sldId="289"/>
            <ac:spMk id="13" creationId="{00000000-0000-0000-0000-000000000000}"/>
          </ac:spMkLst>
        </pc:spChg>
      </pc:sldChg>
      <pc:sldChg chg="addSp modSp mod">
        <pc:chgData name="prajwala talanki" userId="f96f43d5c5067f3b" providerId="LiveId" clId="{4B6E1711-CB52-4CF4-B5ED-8DDF63F8A93D}" dt="2026-10-04T13:45:00.601" v="333" actId="1076"/>
        <pc:sldMkLst>
          <pc:docMk/>
          <pc:sldMk cId="0" sldId="292"/>
        </pc:sldMkLst>
        <pc:spChg chg="mod">
          <ac:chgData name="prajwala talanki" userId="f96f43d5c5067f3b" providerId="LiveId" clId="{4B6E1711-CB52-4CF4-B5ED-8DDF63F8A93D}" dt="2026-10-04T13:44:56.533" v="331" actId="1076"/>
          <ac:spMkLst>
            <pc:docMk/>
            <pc:sldMk cId="0" sldId="292"/>
            <ac:spMk id="5" creationId="{00000000-0000-0000-0000-000000000000}"/>
          </ac:spMkLst>
        </pc:spChg>
        <pc:spChg chg="mod">
          <ac:chgData name="prajwala talanki" userId="f96f43d5c5067f3b" providerId="LiveId" clId="{4B6E1711-CB52-4CF4-B5ED-8DDF63F8A93D}" dt="2026-10-04T13:44:21.629" v="330" actId="113"/>
          <ac:spMkLst>
            <pc:docMk/>
            <pc:sldMk cId="0" sldId="292"/>
            <ac:spMk id="7" creationId="{00000000-0000-0000-0000-000000000000}"/>
          </ac:spMkLst>
        </pc:spChg>
        <pc:spChg chg="add mod">
          <ac:chgData name="prajwala talanki" userId="f96f43d5c5067f3b" providerId="LiveId" clId="{4B6E1711-CB52-4CF4-B5ED-8DDF63F8A93D}" dt="2026-10-04T13:45:00.601" v="333" actId="1076"/>
          <ac:spMkLst>
            <pc:docMk/>
            <pc:sldMk cId="0" sldId="292"/>
            <ac:spMk id="11" creationId="{98191C99-4E2E-66CF-3052-E97A2BC64C10}"/>
          </ac:spMkLst>
        </pc:spChg>
      </pc:sldChg>
      <pc:sldChg chg="modSp mod">
        <pc:chgData name="prajwala talanki" userId="f96f43d5c5067f3b" providerId="LiveId" clId="{4B6E1711-CB52-4CF4-B5ED-8DDF63F8A93D}" dt="2026-10-04T13:45:59.129" v="334" actId="113"/>
        <pc:sldMkLst>
          <pc:docMk/>
          <pc:sldMk cId="0" sldId="293"/>
        </pc:sldMkLst>
        <pc:spChg chg="mod">
          <ac:chgData name="prajwala talanki" userId="f96f43d5c5067f3b" providerId="LiveId" clId="{4B6E1711-CB52-4CF4-B5ED-8DDF63F8A93D}" dt="2026-10-04T13:45:59.129" v="334" actId="113"/>
          <ac:spMkLst>
            <pc:docMk/>
            <pc:sldMk cId="0" sldId="293"/>
            <ac:spMk id="5" creationId="{00000000-0000-0000-0000-000000000000}"/>
          </ac:spMkLst>
        </pc:spChg>
      </pc:sldChg>
      <pc:sldChg chg="modSp mod">
        <pc:chgData name="prajwala talanki" userId="f96f43d5c5067f3b" providerId="LiveId" clId="{4B6E1711-CB52-4CF4-B5ED-8DDF63F8A93D}" dt="2026-10-04T13:47:26.224" v="336" actId="113"/>
        <pc:sldMkLst>
          <pc:docMk/>
          <pc:sldMk cId="0" sldId="295"/>
        </pc:sldMkLst>
        <pc:spChg chg="mod">
          <ac:chgData name="prajwala talanki" userId="f96f43d5c5067f3b" providerId="LiveId" clId="{4B6E1711-CB52-4CF4-B5ED-8DDF63F8A93D}" dt="2026-10-04T13:47:26.224" v="336" actId="113"/>
          <ac:spMkLst>
            <pc:docMk/>
            <pc:sldMk cId="0" sldId="295"/>
            <ac:spMk id="5" creationId="{00000000-0000-0000-0000-000000000000}"/>
          </ac:spMkLst>
        </pc:spChg>
      </pc:sldChg>
      <pc:sldChg chg="modSp mod">
        <pc:chgData name="prajwala talanki" userId="f96f43d5c5067f3b" providerId="LiveId" clId="{4B6E1711-CB52-4CF4-B5ED-8DDF63F8A93D}" dt="2026-10-04T13:48:24.438" v="340" actId="113"/>
        <pc:sldMkLst>
          <pc:docMk/>
          <pc:sldMk cId="0" sldId="296"/>
        </pc:sldMkLst>
        <pc:spChg chg="mod">
          <ac:chgData name="prajwala talanki" userId="f96f43d5c5067f3b" providerId="LiveId" clId="{4B6E1711-CB52-4CF4-B5ED-8DDF63F8A93D}" dt="2026-10-04T13:48:24.438" v="340" actId="113"/>
          <ac:spMkLst>
            <pc:docMk/>
            <pc:sldMk cId="0" sldId="296"/>
            <ac:spMk id="5" creationId="{00000000-0000-0000-0000-000000000000}"/>
          </ac:spMkLst>
        </pc:spChg>
      </pc:sldChg>
      <pc:sldChg chg="addSp modSp mod">
        <pc:chgData name="prajwala talanki" userId="f96f43d5c5067f3b" providerId="LiveId" clId="{4B6E1711-CB52-4CF4-B5ED-8DDF63F8A93D}" dt="2026-10-04T13:49:37.934" v="358" actId="20577"/>
        <pc:sldMkLst>
          <pc:docMk/>
          <pc:sldMk cId="0" sldId="297"/>
        </pc:sldMkLst>
        <pc:spChg chg="mod">
          <ac:chgData name="prajwala talanki" userId="f96f43d5c5067f3b" providerId="LiveId" clId="{4B6E1711-CB52-4CF4-B5ED-8DDF63F8A93D}" dt="2026-10-04T13:49:31.151" v="351" actId="20577"/>
          <ac:spMkLst>
            <pc:docMk/>
            <pc:sldMk cId="0" sldId="297"/>
            <ac:spMk id="11" creationId="{00000000-0000-0000-0000-000000000000}"/>
          </ac:spMkLst>
        </pc:spChg>
        <pc:spChg chg="mod">
          <ac:chgData name="prajwala talanki" userId="f96f43d5c5067f3b" providerId="LiveId" clId="{4B6E1711-CB52-4CF4-B5ED-8DDF63F8A93D}" dt="2026-10-04T13:49:37.934" v="358" actId="20577"/>
          <ac:spMkLst>
            <pc:docMk/>
            <pc:sldMk cId="0" sldId="297"/>
            <ac:spMk id="12" creationId="{00000000-0000-0000-0000-000000000000}"/>
          </ac:spMkLst>
        </pc:spChg>
        <pc:spChg chg="add mod">
          <ac:chgData name="prajwala talanki" userId="f96f43d5c5067f3b" providerId="LiveId" clId="{4B6E1711-CB52-4CF4-B5ED-8DDF63F8A93D}" dt="2026-10-04T13:49:14.772" v="346" actId="403"/>
          <ac:spMkLst>
            <pc:docMk/>
            <pc:sldMk cId="0" sldId="297"/>
            <ac:spMk id="15" creationId="{C5FBF846-2701-625F-8398-8CD2D1FE7EE1}"/>
          </ac:spMkLst>
        </pc:spChg>
      </pc:sldChg>
      <pc:sldChg chg="modSp mod modNotesTx">
        <pc:chgData name="prajwala talanki" userId="f96f43d5c5067f3b" providerId="LiveId" clId="{4B6E1711-CB52-4CF4-B5ED-8DDF63F8A93D}" dt="2026-10-04T13:50:18.931" v="386" actId="20577"/>
        <pc:sldMkLst>
          <pc:docMk/>
          <pc:sldMk cId="0" sldId="298"/>
        </pc:sldMkLst>
        <pc:spChg chg="mod">
          <ac:chgData name="prajwala talanki" userId="f96f43d5c5067f3b" providerId="LiveId" clId="{4B6E1711-CB52-4CF4-B5ED-8DDF63F8A93D}" dt="2026-10-04T13:49:59.191" v="359" actId="113"/>
          <ac:spMkLst>
            <pc:docMk/>
            <pc:sldMk cId="0" sldId="298"/>
            <ac:spMk id="5" creationId="{00000000-0000-0000-0000-000000000000}"/>
          </ac:spMkLst>
        </pc:spChg>
      </pc:sldChg>
      <pc:sldChg chg="addSp modSp mod">
        <pc:chgData name="prajwala talanki" userId="f96f43d5c5067f3b" providerId="LiveId" clId="{4B6E1711-CB52-4CF4-B5ED-8DDF63F8A93D}" dt="2026-10-04T13:54:37.073" v="396" actId="1076"/>
        <pc:sldMkLst>
          <pc:docMk/>
          <pc:sldMk cId="0" sldId="300"/>
        </pc:sldMkLst>
        <pc:spChg chg="mod">
          <ac:chgData name="prajwala talanki" userId="f96f43d5c5067f3b" providerId="LiveId" clId="{4B6E1711-CB52-4CF4-B5ED-8DDF63F8A93D}" dt="2026-10-04T13:52:30.933" v="393" actId="1076"/>
          <ac:spMkLst>
            <pc:docMk/>
            <pc:sldMk cId="0" sldId="300"/>
            <ac:spMk id="12" creationId="{00000000-0000-0000-0000-000000000000}"/>
          </ac:spMkLst>
        </pc:spChg>
        <pc:spChg chg="add mod">
          <ac:chgData name="prajwala talanki" userId="f96f43d5c5067f3b" providerId="LiveId" clId="{4B6E1711-CB52-4CF4-B5ED-8DDF63F8A93D}" dt="2026-10-04T13:51:40.016" v="389" actId="113"/>
          <ac:spMkLst>
            <pc:docMk/>
            <pc:sldMk cId="0" sldId="300"/>
            <ac:spMk id="14" creationId="{FC140985-4734-A077-7E3E-9FC58D4C4270}"/>
          </ac:spMkLst>
        </pc:spChg>
        <pc:spChg chg="add mod">
          <ac:chgData name="prajwala talanki" userId="f96f43d5c5067f3b" providerId="LiveId" clId="{4B6E1711-CB52-4CF4-B5ED-8DDF63F8A93D}" dt="2026-10-04T13:52:33.293" v="394" actId="1076"/>
          <ac:spMkLst>
            <pc:docMk/>
            <pc:sldMk cId="0" sldId="300"/>
            <ac:spMk id="16" creationId="{E80B7BE5-313E-97E0-EABF-4FAF31DE62E7}"/>
          </ac:spMkLst>
        </pc:spChg>
        <pc:spChg chg="add mod">
          <ac:chgData name="prajwala talanki" userId="f96f43d5c5067f3b" providerId="LiveId" clId="{4B6E1711-CB52-4CF4-B5ED-8DDF63F8A93D}" dt="2026-10-04T13:54:37.073" v="396" actId="1076"/>
          <ac:spMkLst>
            <pc:docMk/>
            <pc:sldMk cId="0" sldId="300"/>
            <ac:spMk id="18" creationId="{24162686-55AD-DBB7-15D9-C58B850119AD}"/>
          </ac:spMkLst>
        </pc:spChg>
      </pc:sldChg>
      <pc:sldChg chg="modSp mod">
        <pc:chgData name="prajwala talanki" userId="f96f43d5c5067f3b" providerId="LiveId" clId="{4B6E1711-CB52-4CF4-B5ED-8DDF63F8A93D}" dt="2026-10-04T13:55:32.384" v="397" actId="113"/>
        <pc:sldMkLst>
          <pc:docMk/>
          <pc:sldMk cId="0" sldId="302"/>
        </pc:sldMkLst>
        <pc:spChg chg="mod">
          <ac:chgData name="prajwala talanki" userId="f96f43d5c5067f3b" providerId="LiveId" clId="{4B6E1711-CB52-4CF4-B5ED-8DDF63F8A93D}" dt="2026-10-04T13:55:32.384" v="397" actId="113"/>
          <ac:spMkLst>
            <pc:docMk/>
            <pc:sldMk cId="0" sldId="302"/>
            <ac:spMk id="7" creationId="{00000000-0000-0000-0000-000000000000}"/>
          </ac:spMkLst>
        </pc:spChg>
      </pc:sldChg>
      <pc:sldChg chg="addSp modSp mod modNotesTx">
        <pc:chgData name="prajwala talanki" userId="f96f43d5c5067f3b" providerId="LiveId" clId="{4B6E1711-CB52-4CF4-B5ED-8DDF63F8A93D}" dt="2026-10-04T14:02:06.194" v="453" actId="14100"/>
        <pc:sldMkLst>
          <pc:docMk/>
          <pc:sldMk cId="0" sldId="307"/>
        </pc:sldMkLst>
        <pc:spChg chg="mod">
          <ac:chgData name="prajwala talanki" userId="f96f43d5c5067f3b" providerId="LiveId" clId="{4B6E1711-CB52-4CF4-B5ED-8DDF63F8A93D}" dt="2026-10-04T14:00:52.501" v="403" actId="1076"/>
          <ac:spMkLst>
            <pc:docMk/>
            <pc:sldMk cId="0" sldId="307"/>
            <ac:spMk id="5" creationId="{00000000-0000-0000-0000-000000000000}"/>
          </ac:spMkLst>
        </pc:spChg>
        <pc:spChg chg="mod">
          <ac:chgData name="prajwala talanki" userId="f96f43d5c5067f3b" providerId="LiveId" clId="{4B6E1711-CB52-4CF4-B5ED-8DDF63F8A93D}" dt="2026-10-04T13:59:16.930" v="400" actId="113"/>
          <ac:spMkLst>
            <pc:docMk/>
            <pc:sldMk cId="0" sldId="307"/>
            <ac:spMk id="6" creationId="{00000000-0000-0000-0000-000000000000}"/>
          </ac:spMkLst>
        </pc:spChg>
        <pc:spChg chg="add mod">
          <ac:chgData name="prajwala talanki" userId="f96f43d5c5067f3b" providerId="LiveId" clId="{4B6E1711-CB52-4CF4-B5ED-8DDF63F8A93D}" dt="2026-10-04T14:01:05.470" v="411" actId="14100"/>
          <ac:spMkLst>
            <pc:docMk/>
            <pc:sldMk cId="0" sldId="307"/>
            <ac:spMk id="10" creationId="{A7FFA068-06D0-B976-013D-2A5D6323FC1A}"/>
          </ac:spMkLst>
        </pc:spChg>
        <pc:spChg chg="add mod">
          <ac:chgData name="prajwala talanki" userId="f96f43d5c5067f3b" providerId="LiveId" clId="{4B6E1711-CB52-4CF4-B5ED-8DDF63F8A93D}" dt="2026-10-04T14:02:06.194" v="453" actId="14100"/>
          <ac:spMkLst>
            <pc:docMk/>
            <pc:sldMk cId="0" sldId="307"/>
            <ac:spMk id="12" creationId="{219A397C-2FC6-8E53-C8D9-992757F54649}"/>
          </ac:spMkLst>
        </pc:spChg>
      </pc:sldChg>
      <pc:sldChg chg="modSp mod">
        <pc:chgData name="prajwala talanki" userId="f96f43d5c5067f3b" providerId="LiveId" clId="{4B6E1711-CB52-4CF4-B5ED-8DDF63F8A93D}" dt="2026-10-04T14:02:22.328" v="454" actId="113"/>
        <pc:sldMkLst>
          <pc:docMk/>
          <pc:sldMk cId="0" sldId="308"/>
        </pc:sldMkLst>
        <pc:spChg chg="mod">
          <ac:chgData name="prajwala talanki" userId="f96f43d5c5067f3b" providerId="LiveId" clId="{4B6E1711-CB52-4CF4-B5ED-8DDF63F8A93D}" dt="2026-10-04T14:02:22.328" v="454" actId="113"/>
          <ac:spMkLst>
            <pc:docMk/>
            <pc:sldMk cId="0" sldId="308"/>
            <ac:spMk id="5" creationId="{00000000-0000-0000-0000-000000000000}"/>
          </ac:spMkLst>
        </pc:spChg>
      </pc:sldChg>
      <pc:sldChg chg="modSp mod">
        <pc:chgData name="prajwala talanki" userId="f96f43d5c5067f3b" providerId="LiveId" clId="{4B6E1711-CB52-4CF4-B5ED-8DDF63F8A93D}" dt="2026-10-04T14:02:56.071" v="457" actId="113"/>
        <pc:sldMkLst>
          <pc:docMk/>
          <pc:sldMk cId="0" sldId="309"/>
        </pc:sldMkLst>
        <pc:spChg chg="mod">
          <ac:chgData name="prajwala talanki" userId="f96f43d5c5067f3b" providerId="LiveId" clId="{4B6E1711-CB52-4CF4-B5ED-8DDF63F8A93D}" dt="2026-10-04T14:02:56.071" v="457" actId="113"/>
          <ac:spMkLst>
            <pc:docMk/>
            <pc:sldMk cId="0" sldId="309"/>
            <ac:spMk id="5" creationId="{00000000-0000-0000-0000-000000000000}"/>
          </ac:spMkLst>
        </pc:spChg>
      </pc:sldChg>
      <pc:sldChg chg="addSp modSp mod">
        <pc:chgData name="prajwala talanki" userId="f96f43d5c5067f3b" providerId="LiveId" clId="{4B6E1711-CB52-4CF4-B5ED-8DDF63F8A93D}" dt="2026-10-04T14:05:39.503" v="467" actId="113"/>
        <pc:sldMkLst>
          <pc:docMk/>
          <pc:sldMk cId="0" sldId="311"/>
        </pc:sldMkLst>
        <pc:spChg chg="mod">
          <ac:chgData name="prajwala talanki" userId="f96f43d5c5067f3b" providerId="LiveId" clId="{4B6E1711-CB52-4CF4-B5ED-8DDF63F8A93D}" dt="2026-10-04T14:03:57.822" v="461" actId="113"/>
          <ac:spMkLst>
            <pc:docMk/>
            <pc:sldMk cId="0" sldId="311"/>
            <ac:spMk id="5" creationId="{00000000-0000-0000-0000-000000000000}"/>
          </ac:spMkLst>
        </pc:spChg>
        <pc:spChg chg="add mod">
          <ac:chgData name="prajwala talanki" userId="f96f43d5c5067f3b" providerId="LiveId" clId="{4B6E1711-CB52-4CF4-B5ED-8DDF63F8A93D}" dt="2026-10-04T14:05:39.503" v="467" actId="113"/>
          <ac:spMkLst>
            <pc:docMk/>
            <pc:sldMk cId="0" sldId="311"/>
            <ac:spMk id="9" creationId="{82BACFE9-60D6-DB24-6D8C-83AC24B4EC7F}"/>
          </ac:spMkLst>
        </pc:spChg>
      </pc:sldChg>
      <pc:sldChg chg="addSp modSp mod">
        <pc:chgData name="prajwala talanki" userId="f96f43d5c5067f3b" providerId="LiveId" clId="{4B6E1711-CB52-4CF4-B5ED-8DDF63F8A93D}" dt="2026-10-04T14:07:32.660" v="478" actId="1076"/>
        <pc:sldMkLst>
          <pc:docMk/>
          <pc:sldMk cId="0" sldId="312"/>
        </pc:sldMkLst>
        <pc:spChg chg="mod">
          <ac:chgData name="prajwala talanki" userId="f96f43d5c5067f3b" providerId="LiveId" clId="{4B6E1711-CB52-4CF4-B5ED-8DDF63F8A93D}" dt="2026-10-04T14:06:39.032" v="472" actId="113"/>
          <ac:spMkLst>
            <pc:docMk/>
            <pc:sldMk cId="0" sldId="312"/>
            <ac:spMk id="5" creationId="{00000000-0000-0000-0000-000000000000}"/>
          </ac:spMkLst>
        </pc:spChg>
        <pc:spChg chg="add mod">
          <ac:chgData name="prajwala talanki" userId="f96f43d5c5067f3b" providerId="LiveId" clId="{4B6E1711-CB52-4CF4-B5ED-8DDF63F8A93D}" dt="2026-10-04T14:07:32.660" v="478" actId="1076"/>
          <ac:spMkLst>
            <pc:docMk/>
            <pc:sldMk cId="0" sldId="312"/>
            <ac:spMk id="9" creationId="{CB78F772-AF15-0966-E544-61035B38DDC2}"/>
          </ac:spMkLst>
        </pc:spChg>
      </pc:sldChg>
      <pc:sldChg chg="addSp modSp mod">
        <pc:chgData name="prajwala talanki" userId="f96f43d5c5067f3b" providerId="LiveId" clId="{4B6E1711-CB52-4CF4-B5ED-8DDF63F8A93D}" dt="2026-10-04T14:10:41.739" v="498" actId="1076"/>
        <pc:sldMkLst>
          <pc:docMk/>
          <pc:sldMk cId="0" sldId="313"/>
        </pc:sldMkLst>
        <pc:spChg chg="mod">
          <ac:chgData name="prajwala talanki" userId="f96f43d5c5067f3b" providerId="LiveId" clId="{4B6E1711-CB52-4CF4-B5ED-8DDF63F8A93D}" dt="2026-10-04T14:09:49.987" v="492" actId="14100"/>
          <ac:spMkLst>
            <pc:docMk/>
            <pc:sldMk cId="0" sldId="313"/>
            <ac:spMk id="5" creationId="{00000000-0000-0000-0000-000000000000}"/>
          </ac:spMkLst>
        </pc:spChg>
        <pc:spChg chg="mod">
          <ac:chgData name="prajwala talanki" userId="f96f43d5c5067f3b" providerId="LiveId" clId="{4B6E1711-CB52-4CF4-B5ED-8DDF63F8A93D}" dt="2026-10-04T14:09:52.504" v="493" actId="14100"/>
          <ac:spMkLst>
            <pc:docMk/>
            <pc:sldMk cId="0" sldId="313"/>
            <ac:spMk id="6" creationId="{00000000-0000-0000-0000-000000000000}"/>
          </ac:spMkLst>
        </pc:spChg>
        <pc:picChg chg="add mod">
          <ac:chgData name="prajwala talanki" userId="f96f43d5c5067f3b" providerId="LiveId" clId="{4B6E1711-CB52-4CF4-B5ED-8DDF63F8A93D}" dt="2026-10-04T14:10:34.751" v="495" actId="1076"/>
          <ac:picMkLst>
            <pc:docMk/>
            <pc:sldMk cId="0" sldId="313"/>
            <ac:picMk id="11" creationId="{7C53CA6F-3AAE-F7E2-EA69-F43C1D1F2072}"/>
          </ac:picMkLst>
        </pc:picChg>
        <pc:picChg chg="add mod">
          <ac:chgData name="prajwala talanki" userId="f96f43d5c5067f3b" providerId="LiveId" clId="{4B6E1711-CB52-4CF4-B5ED-8DDF63F8A93D}" dt="2026-10-04T14:10:41.739" v="498" actId="1076"/>
          <ac:picMkLst>
            <pc:docMk/>
            <pc:sldMk cId="0" sldId="313"/>
            <ac:picMk id="13" creationId="{931602F3-2938-7138-80F2-F12C02910187}"/>
          </ac:picMkLst>
        </pc:picChg>
      </pc:sldChg>
      <pc:sldChg chg="modSp mod">
        <pc:chgData name="prajwala talanki" userId="f96f43d5c5067f3b" providerId="LiveId" clId="{4B6E1711-CB52-4CF4-B5ED-8DDF63F8A93D}" dt="2026-10-04T14:11:04.923" v="499" actId="113"/>
        <pc:sldMkLst>
          <pc:docMk/>
          <pc:sldMk cId="0" sldId="314"/>
        </pc:sldMkLst>
        <pc:spChg chg="mod">
          <ac:chgData name="prajwala talanki" userId="f96f43d5c5067f3b" providerId="LiveId" clId="{4B6E1711-CB52-4CF4-B5ED-8DDF63F8A93D}" dt="2026-10-04T14:11:04.923" v="499" actId="113"/>
          <ac:spMkLst>
            <pc:docMk/>
            <pc:sldMk cId="0" sldId="314"/>
            <ac:spMk id="5" creationId="{00000000-0000-0000-0000-000000000000}"/>
          </ac:spMkLst>
        </pc:spChg>
      </pc:sldChg>
      <pc:sldChg chg="modAnim">
        <pc:chgData name="prajwala talanki" userId="f96f43d5c5067f3b" providerId="LiveId" clId="{4B6E1711-CB52-4CF4-B5ED-8DDF63F8A93D}" dt="2026-10-04T14:11:51.799" v="500"/>
        <pc:sldMkLst>
          <pc:docMk/>
          <pc:sldMk cId="0" sldId="318"/>
        </pc:sldMkLst>
      </pc:sldChg>
      <pc:sldChg chg="modAnim">
        <pc:chgData name="prajwala talanki" userId="f96f43d5c5067f3b" providerId="LiveId" clId="{4B6E1711-CB52-4CF4-B5ED-8DDF63F8A93D}" dt="2026-10-04T14:12:16.652" v="501"/>
        <pc:sldMkLst>
          <pc:docMk/>
          <pc:sldMk cId="0" sldId="320"/>
        </pc:sldMkLst>
      </pc:sldChg>
      <pc:sldChg chg="modAnim">
        <pc:chgData name="prajwala talanki" userId="f96f43d5c5067f3b" providerId="LiveId" clId="{4B6E1711-CB52-4CF4-B5ED-8DDF63F8A93D}" dt="2026-10-04T14:12:26.311" v="502"/>
        <pc:sldMkLst>
          <pc:docMk/>
          <pc:sldMk cId="0" sldId="322"/>
        </pc:sldMkLst>
      </pc:sldChg>
      <pc:sldChg chg="modAnim">
        <pc:chgData name="prajwala talanki" userId="f96f43d5c5067f3b" providerId="LiveId" clId="{4B6E1711-CB52-4CF4-B5ED-8DDF63F8A93D}" dt="2026-10-04T14:12:29.632" v="503"/>
        <pc:sldMkLst>
          <pc:docMk/>
          <pc:sldMk cId="0" sldId="324"/>
        </pc:sldMkLst>
      </pc:sldChg>
      <pc:sldChg chg="modAnim">
        <pc:chgData name="prajwala talanki" userId="f96f43d5c5067f3b" providerId="LiveId" clId="{4B6E1711-CB52-4CF4-B5ED-8DDF63F8A93D}" dt="2026-10-04T14:12:45.589" v="504"/>
        <pc:sldMkLst>
          <pc:docMk/>
          <pc:sldMk cId="0" sldId="326"/>
        </pc:sldMkLst>
      </pc:sldChg>
      <pc:sldChg chg="addSp delSp modSp add mod">
        <pc:chgData name="prajwala talanki" userId="f96f43d5c5067f3b" providerId="LiveId" clId="{4B6E1711-CB52-4CF4-B5ED-8DDF63F8A93D}" dt="2026-09-24T07:46:52.370" v="96" actId="20577"/>
        <pc:sldMkLst>
          <pc:docMk/>
          <pc:sldMk cId="491087667" sldId="328"/>
        </pc:sldMkLst>
        <pc:spChg chg="add mod">
          <ac:chgData name="prajwala talanki" userId="f96f43d5c5067f3b" providerId="LiveId" clId="{4B6E1711-CB52-4CF4-B5ED-8DDF63F8A93D}" dt="2026-09-24T07:44:05.111" v="34"/>
          <ac:spMkLst>
            <pc:docMk/>
            <pc:sldMk cId="491087667" sldId="328"/>
            <ac:spMk id="13" creationId="{40921789-8AB5-679B-736A-D9CFDC8C3B88}"/>
          </ac:spMkLst>
        </pc:spChg>
        <pc:spChg chg="add mod">
          <ac:chgData name="prajwala talanki" userId="f96f43d5c5067f3b" providerId="LiveId" clId="{4B6E1711-CB52-4CF4-B5ED-8DDF63F8A93D}" dt="2026-09-24T07:44:40.644" v="45"/>
          <ac:spMkLst>
            <pc:docMk/>
            <pc:sldMk cId="491087667" sldId="328"/>
            <ac:spMk id="15" creationId="{931B8318-6FAA-2F2E-F3B3-9574D6BDECDA}"/>
          </ac:spMkLst>
        </pc:spChg>
        <pc:spChg chg="add mod">
          <ac:chgData name="prajwala talanki" userId="f96f43d5c5067f3b" providerId="LiveId" clId="{4B6E1711-CB52-4CF4-B5ED-8DDF63F8A93D}" dt="2026-09-24T07:45:23.846" v="82" actId="20577"/>
          <ac:spMkLst>
            <pc:docMk/>
            <pc:sldMk cId="491087667" sldId="328"/>
            <ac:spMk id="17" creationId="{8A156ED9-CD56-57C0-C314-EA5AD3730435}"/>
          </ac:spMkLst>
        </pc:spChg>
        <pc:spChg chg="add mod">
          <ac:chgData name="prajwala talanki" userId="f96f43d5c5067f3b" providerId="LiveId" clId="{4B6E1711-CB52-4CF4-B5ED-8DDF63F8A93D}" dt="2026-09-24T07:45:39.595" v="85" actId="1076"/>
          <ac:spMkLst>
            <pc:docMk/>
            <pc:sldMk cId="491087667" sldId="328"/>
            <ac:spMk id="19" creationId="{0FD575FD-6402-527D-CE6D-C47BC8DD8380}"/>
          </ac:spMkLst>
        </pc:spChg>
        <pc:spChg chg="add mod">
          <ac:chgData name="prajwala talanki" userId="f96f43d5c5067f3b" providerId="LiveId" clId="{4B6E1711-CB52-4CF4-B5ED-8DDF63F8A93D}" dt="2026-09-24T07:46:04.407" v="88" actId="1076"/>
          <ac:spMkLst>
            <pc:docMk/>
            <pc:sldMk cId="491087667" sldId="328"/>
            <ac:spMk id="21" creationId="{313234D6-C42D-8FC5-C169-938285C7E750}"/>
          </ac:spMkLst>
        </pc:spChg>
        <pc:spChg chg="add mod">
          <ac:chgData name="prajwala talanki" userId="f96f43d5c5067f3b" providerId="LiveId" clId="{4B6E1711-CB52-4CF4-B5ED-8DDF63F8A93D}" dt="2026-09-24T07:46:52.370" v="96" actId="20577"/>
          <ac:spMkLst>
            <pc:docMk/>
            <pc:sldMk cId="491087667" sldId="328"/>
            <ac:spMk id="23" creationId="{7ABEE62C-EA17-BFB6-F635-726E77FDA031}"/>
          </ac:spMkLst>
        </pc:spChg>
        <pc:picChg chg="add mod">
          <ac:chgData name="prajwala talanki" userId="f96f43d5c5067f3b" providerId="LiveId" clId="{4B6E1711-CB52-4CF4-B5ED-8DDF63F8A93D}" dt="2026-09-24T07:43:31.360" v="29" actId="1076"/>
          <ac:picMkLst>
            <pc:docMk/>
            <pc:sldMk cId="491087667" sldId="328"/>
            <ac:picMk id="11" creationId="{19A8B227-8FAB-92E8-E373-3EA529175FAA}"/>
          </ac:picMkLst>
        </pc:picChg>
      </pc:sldChg>
      <pc:sldChg chg="addSp modSp new mod">
        <pc:chgData name="prajwala talanki" userId="f96f43d5c5067f3b" providerId="LiveId" clId="{4B6E1711-CB52-4CF4-B5ED-8DDF63F8A93D}" dt="2026-09-24T08:39:29.403" v="222" actId="1076"/>
        <pc:sldMkLst>
          <pc:docMk/>
          <pc:sldMk cId="17055105" sldId="329"/>
        </pc:sldMkLst>
        <pc:picChg chg="add mod">
          <ac:chgData name="prajwala talanki" userId="f96f43d5c5067f3b" providerId="LiveId" clId="{4B6E1711-CB52-4CF4-B5ED-8DDF63F8A93D}" dt="2026-09-24T08:39:13.944" v="220" actId="1076"/>
          <ac:picMkLst>
            <pc:docMk/>
            <pc:sldMk cId="17055105" sldId="329"/>
            <ac:picMk id="3" creationId="{B952484B-4A2B-4F88-0498-2B2654BD5427}"/>
          </ac:picMkLst>
        </pc:picChg>
        <pc:picChg chg="add mod">
          <ac:chgData name="prajwala talanki" userId="f96f43d5c5067f3b" providerId="LiveId" clId="{4B6E1711-CB52-4CF4-B5ED-8DDF63F8A93D}" dt="2026-09-24T08:39:29.403" v="222" actId="1076"/>
          <ac:picMkLst>
            <pc:docMk/>
            <pc:sldMk cId="17055105" sldId="329"/>
            <ac:picMk id="5" creationId="{1D4C1579-110A-D58F-C50A-ED9517D60624}"/>
          </ac:picMkLst>
        </pc:picChg>
      </pc:sldChg>
      <pc:sldChg chg="addSp modSp new mod setBg">
        <pc:chgData name="prajwala talanki" userId="f96f43d5c5067f3b" providerId="LiveId" clId="{4B6E1711-CB52-4CF4-B5ED-8DDF63F8A93D}" dt="2026-09-24T10:42:50.291" v="250" actId="1035"/>
        <pc:sldMkLst>
          <pc:docMk/>
          <pc:sldMk cId="3719142640" sldId="330"/>
        </pc:sldMkLst>
        <pc:picChg chg="add mod">
          <ac:chgData name="prajwala talanki" userId="f96f43d5c5067f3b" providerId="LiveId" clId="{4B6E1711-CB52-4CF4-B5ED-8DDF63F8A93D}" dt="2026-09-24T10:42:50.291" v="250" actId="1035"/>
          <ac:picMkLst>
            <pc:docMk/>
            <pc:sldMk cId="3719142640" sldId="330"/>
            <ac:picMk id="3" creationId="{7D8DDE87-7CD3-C4B2-137E-158409908F18}"/>
          </ac:picMkLst>
        </pc:picChg>
      </pc:sldChg>
      <pc:sldChg chg="addSp modSp new mod">
        <pc:chgData name="prajwala talanki" userId="f96f43d5c5067f3b" providerId="LiveId" clId="{4B6E1711-CB52-4CF4-B5ED-8DDF63F8A93D}" dt="2026-10-04T13:24:54.281" v="284" actId="1036"/>
        <pc:sldMkLst>
          <pc:docMk/>
          <pc:sldMk cId="1520010861" sldId="331"/>
        </pc:sldMkLst>
        <pc:picChg chg="add mod">
          <ac:chgData name="prajwala talanki" userId="f96f43d5c5067f3b" providerId="LiveId" clId="{4B6E1711-CB52-4CF4-B5ED-8DDF63F8A93D}" dt="2026-10-04T13:24:54.281" v="284" actId="1036"/>
          <ac:picMkLst>
            <pc:docMk/>
            <pc:sldMk cId="1520010861" sldId="331"/>
            <ac:picMk id="3" creationId="{63C50027-F2AD-6A24-D916-BA83F112819F}"/>
          </ac:picMkLst>
        </pc:picChg>
      </pc:sldChg>
      <pc:sldChg chg="addSp delSp modSp add mod">
        <pc:chgData name="prajwala talanki" userId="f96f43d5c5067f3b" providerId="LiveId" clId="{4B6E1711-CB52-4CF4-B5ED-8DDF63F8A93D}" dt="2026-10-04T13:37:08.200" v="318" actId="113"/>
        <pc:sldMkLst>
          <pc:docMk/>
          <pc:sldMk cId="3801074893" sldId="332"/>
        </pc:sldMkLst>
        <pc:spChg chg="del">
          <ac:chgData name="prajwala talanki" userId="f96f43d5c5067f3b" providerId="LiveId" clId="{4B6E1711-CB52-4CF4-B5ED-8DDF63F8A93D}" dt="2026-10-04T13:35:20.292" v="299" actId="478"/>
          <ac:spMkLst>
            <pc:docMk/>
            <pc:sldMk cId="3801074893" sldId="332"/>
            <ac:spMk id="5" creationId="{FB6B0070-98BE-CF61-6EF8-D70F72DE191D}"/>
          </ac:spMkLst>
        </pc:spChg>
        <pc:spChg chg="del">
          <ac:chgData name="prajwala talanki" userId="f96f43d5c5067f3b" providerId="LiveId" clId="{4B6E1711-CB52-4CF4-B5ED-8DDF63F8A93D}" dt="2026-10-04T13:35:16.252" v="296" actId="478"/>
          <ac:spMkLst>
            <pc:docMk/>
            <pc:sldMk cId="3801074893" sldId="332"/>
            <ac:spMk id="6" creationId="{98CD4BB3-4B68-E5BE-876E-32D742E6D8BF}"/>
          </ac:spMkLst>
        </pc:spChg>
        <pc:spChg chg="del">
          <ac:chgData name="prajwala talanki" userId="f96f43d5c5067f3b" providerId="LiveId" clId="{4B6E1711-CB52-4CF4-B5ED-8DDF63F8A93D}" dt="2026-10-04T13:35:14.722" v="295" actId="478"/>
          <ac:spMkLst>
            <pc:docMk/>
            <pc:sldMk cId="3801074893" sldId="332"/>
            <ac:spMk id="7" creationId="{BD389DFA-9AB5-9ECD-771F-F45880BF3DE3}"/>
          </ac:spMkLst>
        </pc:spChg>
        <pc:spChg chg="mod">
          <ac:chgData name="prajwala talanki" userId="f96f43d5c5067f3b" providerId="LiveId" clId="{4B6E1711-CB52-4CF4-B5ED-8DDF63F8A93D}" dt="2026-10-04T13:34:51.279" v="293" actId="20577"/>
          <ac:spMkLst>
            <pc:docMk/>
            <pc:sldMk cId="3801074893" sldId="332"/>
            <ac:spMk id="8" creationId="{594D714B-B915-E927-8EB6-2F5231DC2FC1}"/>
          </ac:spMkLst>
        </pc:spChg>
        <pc:spChg chg="del">
          <ac:chgData name="prajwala talanki" userId="f96f43d5c5067f3b" providerId="LiveId" clId="{4B6E1711-CB52-4CF4-B5ED-8DDF63F8A93D}" dt="2026-10-04T13:35:21.497" v="300" actId="478"/>
          <ac:spMkLst>
            <pc:docMk/>
            <pc:sldMk cId="3801074893" sldId="332"/>
            <ac:spMk id="10" creationId="{3D350FD7-1176-3032-AFB7-6BABAD908BD6}"/>
          </ac:spMkLst>
        </pc:spChg>
        <pc:spChg chg="del">
          <ac:chgData name="prajwala talanki" userId="f96f43d5c5067f3b" providerId="LiveId" clId="{4B6E1711-CB52-4CF4-B5ED-8DDF63F8A93D}" dt="2026-10-04T13:35:17.950" v="297" actId="478"/>
          <ac:spMkLst>
            <pc:docMk/>
            <pc:sldMk cId="3801074893" sldId="332"/>
            <ac:spMk id="11" creationId="{68857EF4-A7CC-676C-8F4C-4406448190C1}"/>
          </ac:spMkLst>
        </pc:spChg>
        <pc:spChg chg="del">
          <ac:chgData name="prajwala talanki" userId="f96f43d5c5067f3b" providerId="LiveId" clId="{4B6E1711-CB52-4CF4-B5ED-8DDF63F8A93D}" dt="2026-10-04T13:35:19.212" v="298" actId="478"/>
          <ac:spMkLst>
            <pc:docMk/>
            <pc:sldMk cId="3801074893" sldId="332"/>
            <ac:spMk id="12" creationId="{1C813CD7-889C-03D1-4309-E07692ECEEE9}"/>
          </ac:spMkLst>
        </pc:spChg>
        <pc:spChg chg="add mod">
          <ac:chgData name="prajwala talanki" userId="f96f43d5c5067f3b" providerId="LiveId" clId="{4B6E1711-CB52-4CF4-B5ED-8DDF63F8A93D}" dt="2026-10-04T13:37:08.200" v="318" actId="113"/>
          <ac:spMkLst>
            <pc:docMk/>
            <pc:sldMk cId="3801074893" sldId="332"/>
            <ac:spMk id="17" creationId="{69C2BF09-AC98-2AEA-AC6A-90CBA4C24952}"/>
          </ac:spMkLst>
        </pc:spChg>
        <pc:spChg chg="add mod">
          <ac:chgData name="prajwala talanki" userId="f96f43d5c5067f3b" providerId="LiveId" clId="{4B6E1711-CB52-4CF4-B5ED-8DDF63F8A93D}" dt="2026-10-04T13:37:04.096" v="317" actId="113"/>
          <ac:spMkLst>
            <pc:docMk/>
            <pc:sldMk cId="3801074893" sldId="332"/>
            <ac:spMk id="19" creationId="{C86E14D5-EE60-2E4F-A814-E1CA9999922B}"/>
          </ac:spMkLst>
        </pc:spChg>
        <pc:picChg chg="del">
          <ac:chgData name="prajwala talanki" userId="f96f43d5c5067f3b" providerId="LiveId" clId="{4B6E1711-CB52-4CF4-B5ED-8DDF63F8A93D}" dt="2026-10-04T13:35:13.621" v="294" actId="478"/>
          <ac:picMkLst>
            <pc:docMk/>
            <pc:sldMk cId="3801074893" sldId="332"/>
            <ac:picMk id="14" creationId="{EA10FC66-089B-568B-7D01-245C84E4E8AA}"/>
          </ac:picMkLst>
        </pc:picChg>
        <pc:picChg chg="add mod">
          <ac:chgData name="prajwala talanki" userId="f96f43d5c5067f3b" providerId="LiveId" clId="{4B6E1711-CB52-4CF4-B5ED-8DDF63F8A93D}" dt="2026-10-04T13:36:55.250" v="315" actId="14100"/>
          <ac:picMkLst>
            <pc:docMk/>
            <pc:sldMk cId="3801074893" sldId="332"/>
            <ac:picMk id="15" creationId="{787879CA-8E33-B68A-632C-362C1775AB2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C943E-9BB9-486B-85C0-8C948A7F05FF}" type="datetimeFigureOut">
              <a:rPr lang="en-IN" smtClean="0"/>
              <a:t>04-10-2026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2251EB-E0A8-4335-952B-3F61EE8CDB8C}" type="slidenum">
              <a:rPr lang="en-IN" smtClean="0"/>
              <a:t>‹#›</a:t>
            </a:fld>
            <a:endParaRPr lang="en-IN"/>
          </a:p>
        </p:txBody>
      </p:sp>
    </p:spTree>
    <p:extLst>
      <p:ext uri="{BB962C8B-B14F-4D97-AF65-F5344CB8AC3E}">
        <p14:creationId xmlns:p14="http://schemas.microsoft.com/office/powerpoint/2010/main" val="173030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Luminance tells us how light or dark something is, considering the colour information</a:t>
            </a:r>
          </a:p>
        </p:txBody>
      </p:sp>
      <p:sp>
        <p:nvSpPr>
          <p:cNvPr id="4" name="Slide Number Placeholder 3"/>
          <p:cNvSpPr>
            <a:spLocks noGrp="1"/>
          </p:cNvSpPr>
          <p:nvPr>
            <p:ph type="sldNum" sz="quarter" idx="5"/>
          </p:nvPr>
        </p:nvSpPr>
        <p:spPr/>
        <p:txBody>
          <a:bodyPr/>
          <a:lstStyle/>
          <a:p>
            <a:fld id="{6C2251EB-E0A8-4335-952B-3F61EE8CDB8C}" type="slidenum">
              <a:rPr lang="en-IN" smtClean="0"/>
              <a:t>16</a:t>
            </a:fld>
            <a:endParaRPr lang="en-IN"/>
          </a:p>
        </p:txBody>
      </p:sp>
    </p:spTree>
    <p:extLst>
      <p:ext uri="{BB962C8B-B14F-4D97-AF65-F5344CB8AC3E}">
        <p14:creationId xmlns:p14="http://schemas.microsoft.com/office/powerpoint/2010/main" val="1105134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IN" dirty="0"/>
              <a:t>I(x, y) is the intensity of the pixel at position (x, y).</a:t>
            </a:r>
          </a:p>
          <a:p>
            <a:pPr lvl="0" rtl="0"/>
            <a:r>
              <a:rPr lang="en-IN" dirty="0"/>
              <a:t>The # symbol means "number of".</a:t>
            </a:r>
          </a:p>
          <a:p>
            <a:pPr lvl="0" rtl="0"/>
            <a:r>
              <a:rPr lang="en-IN" dirty="0"/>
              <a:t>In words: H(k) is the number of pixel positions whose intensity equals k.</a:t>
            </a:r>
          </a:p>
          <a:p>
            <a:endParaRPr lang="en-IN" dirty="0"/>
          </a:p>
        </p:txBody>
      </p:sp>
      <p:sp>
        <p:nvSpPr>
          <p:cNvPr id="4" name="Slide Number Placeholder 3"/>
          <p:cNvSpPr>
            <a:spLocks noGrp="1"/>
          </p:cNvSpPr>
          <p:nvPr>
            <p:ph type="sldNum" sz="quarter" idx="5"/>
          </p:nvPr>
        </p:nvSpPr>
        <p:spPr/>
        <p:txBody>
          <a:bodyPr/>
          <a:lstStyle/>
          <a:p>
            <a:fld id="{6C2251EB-E0A8-4335-952B-3F61EE8CDB8C}" type="slidenum">
              <a:rPr lang="en-IN" smtClean="0"/>
              <a:t>17</a:t>
            </a:fld>
            <a:endParaRPr lang="en-IN"/>
          </a:p>
        </p:txBody>
      </p:sp>
    </p:spTree>
    <p:extLst>
      <p:ext uri="{BB962C8B-B14F-4D97-AF65-F5344CB8AC3E}">
        <p14:creationId xmlns:p14="http://schemas.microsoft.com/office/powerpoint/2010/main" val="2214523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2,073,600 bytes ÷ 1024 = 2025 KB ÷ 1024 ≈ 1.98 MB</a:t>
            </a:r>
          </a:p>
        </p:txBody>
      </p:sp>
      <p:sp>
        <p:nvSpPr>
          <p:cNvPr id="4" name="Slide Number Placeholder 3"/>
          <p:cNvSpPr>
            <a:spLocks noGrp="1"/>
          </p:cNvSpPr>
          <p:nvPr>
            <p:ph type="sldNum" sz="quarter" idx="5"/>
          </p:nvPr>
        </p:nvSpPr>
        <p:spPr/>
        <p:txBody>
          <a:bodyPr/>
          <a:lstStyle/>
          <a:p>
            <a:fld id="{6C2251EB-E0A8-4335-952B-3F61EE8CDB8C}" type="slidenum">
              <a:rPr lang="en-IN" smtClean="0"/>
              <a:t>29</a:t>
            </a:fld>
            <a:endParaRPr lang="en-IN"/>
          </a:p>
        </p:txBody>
      </p:sp>
    </p:spTree>
    <p:extLst>
      <p:ext uri="{BB962C8B-B14F-4D97-AF65-F5344CB8AC3E}">
        <p14:creationId xmlns:p14="http://schemas.microsoft.com/office/powerpoint/2010/main" val="4196745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Aircraft </a:t>
            </a:r>
            <a:r>
              <a:rPr lang="en-US" dirty="0" err="1"/>
              <a:t>manuver</a:t>
            </a:r>
            <a:r>
              <a:rPr lang="en-US" dirty="0"/>
              <a:t> detection</a:t>
            </a:r>
            <a:endParaRPr lang="en-IN" dirty="0"/>
          </a:p>
        </p:txBody>
      </p:sp>
      <p:sp>
        <p:nvSpPr>
          <p:cNvPr id="4" name="Slide Number Placeholder 3"/>
          <p:cNvSpPr>
            <a:spLocks noGrp="1"/>
          </p:cNvSpPr>
          <p:nvPr>
            <p:ph type="sldNum" sz="quarter" idx="5"/>
          </p:nvPr>
        </p:nvSpPr>
        <p:spPr/>
        <p:txBody>
          <a:bodyPr/>
          <a:lstStyle/>
          <a:p>
            <a:fld id="{6C2251EB-E0A8-4335-952B-3F61EE8CDB8C}" type="slidenum">
              <a:rPr lang="en-IN" smtClean="0"/>
              <a:t>48</a:t>
            </a:fld>
            <a:endParaRPr lang="en-IN"/>
          </a:p>
        </p:txBody>
      </p:sp>
    </p:spTree>
    <p:extLst>
      <p:ext uri="{BB962C8B-B14F-4D97-AF65-F5344CB8AC3E}">
        <p14:creationId xmlns:p14="http://schemas.microsoft.com/office/powerpoint/2010/main" val="1318272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cOlour</a:t>
            </a:r>
            <a:r>
              <a:rPr lang="en-US" dirty="0"/>
              <a:t>- 2 possible signals compared </a:t>
            </a:r>
            <a:endParaRPr lang="en-IN" dirty="0"/>
          </a:p>
        </p:txBody>
      </p:sp>
      <p:sp>
        <p:nvSpPr>
          <p:cNvPr id="4" name="Slide Number Placeholder 3"/>
          <p:cNvSpPr>
            <a:spLocks noGrp="1"/>
          </p:cNvSpPr>
          <p:nvPr>
            <p:ph type="sldNum" sz="quarter" idx="5"/>
          </p:nvPr>
        </p:nvSpPr>
        <p:spPr/>
        <p:txBody>
          <a:bodyPr/>
          <a:lstStyle/>
          <a:p>
            <a:fld id="{6C2251EB-E0A8-4335-952B-3F61EE8CDB8C}" type="slidenum">
              <a:rPr lang="en-IN" smtClean="0"/>
              <a:t>57</a:t>
            </a:fld>
            <a:endParaRPr lang="en-IN"/>
          </a:p>
        </p:txBody>
      </p:sp>
    </p:spTree>
    <p:extLst>
      <p:ext uri="{BB962C8B-B14F-4D97-AF65-F5344CB8AC3E}">
        <p14:creationId xmlns:p14="http://schemas.microsoft.com/office/powerpoint/2010/main" val="1506668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www.geeksforgeeks.org/computer-graphics/vector-vs-raster-graphics/"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1.png"/><Relationship Id="rId4" Type="http://schemas.openxmlformats.org/officeDocument/2006/relationships/image" Target="../media/image60.png"/></Relationships>
</file>

<file path=ppt/slides/_rels/slide5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6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95405" y="7042547"/>
            <a:ext cx="11061382" cy="571500"/>
          </a:xfrm>
          <a:prstGeom prst="rect">
            <a:avLst/>
          </a:prstGeom>
        </p:spPr>
        <p:txBody>
          <a:bodyPr lIns="0" tIns="0" rIns="0" bIns="0" rtlCol="0" anchor="t">
            <a:spAutoFit/>
          </a:bodyPr>
          <a:lstStyle/>
          <a:p>
            <a:pPr algn="l">
              <a:lnSpc>
                <a:spcPts val="4320"/>
              </a:lnSpc>
            </a:pPr>
            <a:r>
              <a:rPr lang="en-US" sz="3600" b="1">
                <a:solidFill>
                  <a:srgbClr val="000000"/>
                </a:solidFill>
                <a:latin typeface="Arial Bold"/>
                <a:ea typeface="Arial Bold"/>
                <a:cs typeface="Arial Bold"/>
                <a:sym typeface="Arial Bold"/>
              </a:rPr>
              <a:t>Dr.Prajwala TR (Course Instructor)</a:t>
            </a:r>
          </a:p>
        </p:txBody>
      </p:sp>
      <p:sp>
        <p:nvSpPr>
          <p:cNvPr id="3" name="TextBox 3"/>
          <p:cNvSpPr txBox="1"/>
          <p:nvPr/>
        </p:nvSpPr>
        <p:spPr>
          <a:xfrm>
            <a:off x="5795405" y="7663053"/>
            <a:ext cx="10829677" cy="571500"/>
          </a:xfrm>
          <a:prstGeom prst="rect">
            <a:avLst/>
          </a:prstGeom>
        </p:spPr>
        <p:txBody>
          <a:bodyPr lIns="0" tIns="0" rIns="0" bIns="0" rtlCol="0" anchor="t">
            <a:spAutoFit/>
          </a:bodyPr>
          <a:lstStyle/>
          <a:p>
            <a:pPr algn="l">
              <a:lnSpc>
                <a:spcPts val="4320"/>
              </a:lnSpc>
            </a:pPr>
            <a:r>
              <a:rPr lang="en-US" sz="3600">
                <a:solidFill>
                  <a:srgbClr val="000000"/>
                </a:solidFill>
                <a:latin typeface="Arial"/>
                <a:ea typeface="Arial"/>
                <a:cs typeface="Arial"/>
                <a:sym typeface="Arial"/>
              </a:rPr>
              <a:t>Dept. of CSE, PES University, Bangalore</a:t>
            </a:r>
          </a:p>
        </p:txBody>
      </p:sp>
      <p:sp>
        <p:nvSpPr>
          <p:cNvPr id="4" name="Freeform 4"/>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5" name="AutoShape 5"/>
          <p:cNvSpPr/>
          <p:nvPr/>
        </p:nvSpPr>
        <p:spPr>
          <a:xfrm>
            <a:off x="5795405" y="6622732"/>
            <a:ext cx="12088487" cy="0"/>
          </a:xfrm>
          <a:prstGeom prst="line">
            <a:avLst/>
          </a:prstGeom>
          <a:ln w="28575" cap="rnd">
            <a:solidFill>
              <a:srgbClr val="ED7D31"/>
            </a:solidFill>
            <a:prstDash val="solid"/>
            <a:headEnd type="none" w="sm" len="sm"/>
            <a:tailEnd type="none" w="sm" len="sm"/>
          </a:ln>
        </p:spPr>
        <p:txBody>
          <a:bodyPr/>
          <a:lstStyle/>
          <a:p>
            <a:endParaRPr lang="en-IN"/>
          </a:p>
        </p:txBody>
      </p:sp>
      <p:sp>
        <p:nvSpPr>
          <p:cNvPr id="6" name="Freeform 6"/>
          <p:cNvSpPr/>
          <p:nvPr/>
        </p:nvSpPr>
        <p:spPr>
          <a:xfrm>
            <a:off x="16283549" y="399097"/>
            <a:ext cx="1600343" cy="1617231"/>
          </a:xfrm>
          <a:custGeom>
            <a:avLst/>
            <a:gdLst/>
            <a:ahLst/>
            <a:cxnLst/>
            <a:rect l="l" t="t" r="r" b="b"/>
            <a:pathLst>
              <a:path w="1600343" h="1617231">
                <a:moveTo>
                  <a:pt x="0" y="0"/>
                </a:moveTo>
                <a:lnTo>
                  <a:pt x="1600343" y="0"/>
                </a:lnTo>
                <a:lnTo>
                  <a:pt x="1600343" y="1617231"/>
                </a:lnTo>
                <a:lnTo>
                  <a:pt x="0" y="161723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7" name="TextBox 7"/>
          <p:cNvSpPr txBox="1"/>
          <p:nvPr/>
        </p:nvSpPr>
        <p:spPr>
          <a:xfrm>
            <a:off x="5795405" y="5120729"/>
            <a:ext cx="12088487" cy="704850"/>
          </a:xfrm>
          <a:prstGeom prst="rect">
            <a:avLst/>
          </a:prstGeom>
        </p:spPr>
        <p:txBody>
          <a:bodyPr lIns="0" tIns="0" rIns="0" bIns="0" rtlCol="0" anchor="t">
            <a:spAutoFit/>
          </a:bodyPr>
          <a:lstStyle/>
          <a:p>
            <a:pPr algn="ctr">
              <a:lnSpc>
                <a:spcPts val="4920"/>
              </a:lnSpc>
            </a:pPr>
            <a:r>
              <a:rPr lang="en-US" sz="4100" b="1">
                <a:solidFill>
                  <a:srgbClr val="2F5597"/>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5795405" y="914400"/>
            <a:ext cx="12088487" cy="1809750"/>
          </a:xfrm>
          <a:prstGeom prst="rect">
            <a:avLst/>
          </a:prstGeom>
        </p:spPr>
        <p:txBody>
          <a:bodyPr lIns="0" tIns="0" rIns="0" bIns="0" rtlCol="0" anchor="t">
            <a:spAutoFit/>
          </a:bodyPr>
          <a:lstStyle/>
          <a:p>
            <a:pPr algn="ctr">
              <a:lnSpc>
                <a:spcPts val="6720"/>
              </a:lnSpc>
            </a:pPr>
            <a:r>
              <a:rPr lang="en-US" sz="5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9494406" y="4305272"/>
            <a:ext cx="3663380" cy="685800"/>
          </a:xfrm>
          <a:prstGeom prst="rect">
            <a:avLst/>
          </a:prstGeom>
        </p:spPr>
        <p:txBody>
          <a:bodyPr lIns="0" tIns="0" rIns="0" bIns="0" rtlCol="0" anchor="t">
            <a:spAutoFit/>
          </a:bodyPr>
          <a:lstStyle/>
          <a:p>
            <a:pPr algn="ctr">
              <a:lnSpc>
                <a:spcPts val="4786"/>
              </a:lnSpc>
            </a:pPr>
            <a:r>
              <a:rPr lang="en-US" sz="3988" b="1">
                <a:solidFill>
                  <a:srgbClr val="2F5496"/>
                </a:solidFill>
                <a:latin typeface="Calibri (MS) Bold"/>
                <a:ea typeface="Calibri (MS) Bold"/>
                <a:cs typeface="Calibri (MS) Bold"/>
                <a:sym typeface="Calibri (MS) Bold"/>
              </a:rPr>
              <a:t>(UE24CS342AA9)</a:t>
            </a:r>
          </a:p>
        </p:txBody>
      </p:sp>
      <p:sp>
        <p:nvSpPr>
          <p:cNvPr id="10" name="TextBox 10"/>
          <p:cNvSpPr txBox="1"/>
          <p:nvPr/>
        </p:nvSpPr>
        <p:spPr>
          <a:xfrm>
            <a:off x="5795405" y="3275112"/>
            <a:ext cx="12088487" cy="685800"/>
          </a:xfrm>
          <a:prstGeom prst="rect">
            <a:avLst/>
          </a:prstGeom>
        </p:spPr>
        <p:txBody>
          <a:bodyPr lIns="0" tIns="0" rIns="0" bIns="0" rtlCol="0" anchor="t">
            <a:spAutoFit/>
          </a:bodyPr>
          <a:lstStyle/>
          <a:p>
            <a:pPr algn="ctr">
              <a:lnSpc>
                <a:spcPts val="4786"/>
              </a:lnSpc>
            </a:pPr>
            <a:r>
              <a:rPr lang="en-US" sz="3988" b="1" u="sng">
                <a:solidFill>
                  <a:srgbClr val="2F5496"/>
                </a:solidFill>
                <a:latin typeface="Calibri (MS) Bold"/>
                <a:ea typeface="Calibri (MS) Bold"/>
                <a:cs typeface="Calibri (MS) Bold"/>
                <a:sym typeface="Calibri (MS) Bold"/>
              </a:rPr>
              <a:t>Unit 3 : Multimedia and Interactive Visualization </a:t>
            </a:r>
          </a:p>
        </p:txBody>
      </p:sp>
      <p:grpSp>
        <p:nvGrpSpPr>
          <p:cNvPr id="11" name="Group 11"/>
          <p:cNvGrpSpPr/>
          <p:nvPr/>
        </p:nvGrpSpPr>
        <p:grpSpPr>
          <a:xfrm>
            <a:off x="1028700" y="1028700"/>
            <a:ext cx="3891710" cy="7205853"/>
            <a:chOff x="0" y="0"/>
            <a:chExt cx="1679219" cy="3109227"/>
          </a:xfrm>
        </p:grpSpPr>
        <p:sp>
          <p:nvSpPr>
            <p:cNvPr id="12" name="Freeform 12"/>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Acknowledgement</a:t>
            </a:r>
          </a:p>
        </p:txBody>
      </p:sp>
      <p:sp>
        <p:nvSpPr>
          <p:cNvPr id="4" name="TextBox 4"/>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4188440" cy="1438275"/>
          </a:xfrm>
          <a:prstGeom prst="rect">
            <a:avLst/>
          </a:prstGeom>
        </p:spPr>
        <p:txBody>
          <a:bodyPr lIns="0" tIns="0" rIns="0" bIns="0" rtlCol="0" anchor="t">
            <a:spAutoFit/>
          </a:bodyPr>
          <a:lstStyle/>
          <a:p>
            <a:pPr algn="just">
              <a:lnSpc>
                <a:spcPts val="3600"/>
              </a:lnSpc>
            </a:pPr>
            <a:r>
              <a:rPr lang="en-US" sz="3000">
                <a:solidFill>
                  <a:srgbClr val="000000"/>
                </a:solidFill>
                <a:latin typeface="Calibri (MS)"/>
                <a:ea typeface="Calibri (MS)"/>
                <a:cs typeface="Calibri (MS)"/>
                <a:sym typeface="Calibri (MS)"/>
              </a:rPr>
              <a:t>The slides are prepared from  various resources from the Universities from abroad and India. Also, some material is taken from reliable resources from internet throughout this course.</a:t>
            </a: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
        <p:nvSpPr>
          <p:cNvPr id="3" name="TextBox 3"/>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Lecture Overview</a:t>
            </a:r>
          </a:p>
        </p:txBody>
      </p:sp>
      <p:sp>
        <p:nvSpPr>
          <p:cNvPr id="4" name="TextBox 4"/>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5" name="TextBox 5"/>
          <p:cNvSpPr txBox="1"/>
          <p:nvPr/>
        </p:nvSpPr>
        <p:spPr>
          <a:xfrm>
            <a:off x="681104" y="2201578"/>
            <a:ext cx="15705347" cy="4638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In this lecture, we will cover:</a:t>
            </a:r>
          </a:p>
          <a:p>
            <a:pPr algn="l">
              <a:lnSpc>
                <a:spcPts val="3600"/>
              </a:lnSpc>
            </a:pPr>
            <a:endParaRPr lang="en-US" sz="3000" b="1" dirty="0">
              <a:solidFill>
                <a:srgbClr val="000000"/>
              </a:solidFill>
              <a:latin typeface="Calibri (MS) Bold"/>
              <a:ea typeface="Calibri (MS) Bold"/>
              <a:cs typeface="Calibri (MS) Bold"/>
              <a:sym typeface="Calibri (MS) Bold"/>
            </a:endParaRP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Foundations of </a:t>
            </a:r>
            <a:r>
              <a:rPr lang="en-US" sz="3000" b="1" dirty="0">
                <a:solidFill>
                  <a:srgbClr val="000000"/>
                </a:solidFill>
                <a:latin typeface="Calibri (MS)"/>
                <a:ea typeface="Calibri (MS)"/>
                <a:cs typeface="Calibri (MS)"/>
                <a:sym typeface="Calibri (MS)"/>
              </a:rPr>
              <a:t>multimedia visualization and characteristics of image, video, and audio data</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Image representation </a:t>
            </a:r>
            <a:r>
              <a:rPr lang="en-US" sz="3000" dirty="0">
                <a:solidFill>
                  <a:srgbClr val="000000"/>
                </a:solidFill>
                <a:latin typeface="Calibri (MS)"/>
                <a:ea typeface="Calibri (MS)"/>
                <a:cs typeface="Calibri (MS)"/>
                <a:sym typeface="Calibri (MS)"/>
              </a:rPr>
              <a:t>through pixels, resolution, intensity, contrast, histograms, color channels, and visual features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Image collection</a:t>
            </a:r>
            <a:r>
              <a:rPr lang="en-US" sz="3000" dirty="0">
                <a:solidFill>
                  <a:srgbClr val="000000"/>
                </a:solidFill>
                <a:latin typeface="Calibri (MS)"/>
                <a:ea typeface="Calibri (MS)"/>
                <a:cs typeface="Calibri (MS)"/>
                <a:sym typeface="Calibri (MS)"/>
              </a:rPr>
              <a:t>s, visual comparison, browsing, and rapid image search</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Video visualization </a:t>
            </a:r>
            <a:r>
              <a:rPr lang="en-US" sz="3000" dirty="0">
                <a:solidFill>
                  <a:srgbClr val="000000"/>
                </a:solidFill>
                <a:latin typeface="Calibri (MS)"/>
                <a:ea typeface="Calibri (MS)"/>
                <a:cs typeface="Calibri (MS)"/>
                <a:sym typeface="Calibri (MS)"/>
              </a:rPr>
              <a:t>through frames, frame rate, temporal sampling, keyframes, timelines, motion trajectories, and optical flow</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Audio visualization </a:t>
            </a:r>
            <a:r>
              <a:rPr lang="en-US" sz="3000" dirty="0">
                <a:solidFill>
                  <a:srgbClr val="000000"/>
                </a:solidFill>
                <a:latin typeface="Calibri (MS)"/>
                <a:ea typeface="Calibri (MS)"/>
                <a:cs typeface="Calibri (MS)"/>
                <a:sym typeface="Calibri (MS)"/>
              </a:rPr>
              <a:t>using spectrograms and time–frequency representations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Multimedia integration</a:t>
            </a:r>
            <a:r>
              <a:rPr lang="en-US" sz="3000" dirty="0">
                <a:solidFill>
                  <a:srgbClr val="000000"/>
                </a:solidFill>
                <a:latin typeface="Calibri (MS)"/>
                <a:ea typeface="Calibri (MS)"/>
                <a:cs typeface="Calibri (MS)"/>
                <a:sym typeface="Calibri (MS)"/>
              </a:rPr>
              <a:t>, applications, design trade-offs, and visualization challenges</a:t>
            </a:r>
          </a:p>
        </p:txBody>
      </p:sp>
      <p:grpSp>
        <p:nvGrpSpPr>
          <p:cNvPr id="6" name="Group 6"/>
          <p:cNvGrpSpPr/>
          <p:nvPr/>
        </p:nvGrpSpPr>
        <p:grpSpPr>
          <a:xfrm>
            <a:off x="16629593" y="463796"/>
            <a:ext cx="1259415" cy="2331920"/>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9" name="TextBox 8">
            <a:extLst>
              <a:ext uri="{FF2B5EF4-FFF2-40B4-BE49-F238E27FC236}">
                <a16:creationId xmlns:a16="http://schemas.microsoft.com/office/drawing/2014/main" id="{59741FD6-A1C7-B2DE-E671-A2FD19ED3582}"/>
              </a:ext>
            </a:extLst>
          </p:cNvPr>
          <p:cNvSpPr txBox="1"/>
          <p:nvPr/>
        </p:nvSpPr>
        <p:spPr>
          <a:xfrm>
            <a:off x="1656526" y="7658100"/>
            <a:ext cx="9153144" cy="1200329"/>
          </a:xfrm>
          <a:prstGeom prst="rect">
            <a:avLst/>
          </a:prstGeom>
          <a:noFill/>
        </p:spPr>
        <p:txBody>
          <a:bodyPr wrap="square">
            <a:spAutoFit/>
          </a:bodyPr>
          <a:lstStyle/>
          <a:p>
            <a:r>
              <a:rPr lang="en-IN" dirty="0"/>
              <a:t>Wilke (TB1), Ware (TB3) Ware (TB3) Chapter/Section TB 1 Chapter 7 (Image Histograms), Chapter 27 (Bitmap and Vector Graphics) TB 3 Chapter 1-4, Chapter 6-9 (multimedia content is distributed across different sections) Other Sources: </a:t>
            </a:r>
            <a:r>
              <a:rPr lang="en-IN" dirty="0" err="1"/>
              <a:t>Librosa</a:t>
            </a:r>
            <a:r>
              <a:rPr lang="en-IN" dirty="0"/>
              <a:t> (Audio Visualization), OpenCV documentation (Optical Flow)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620128" cy="4638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Multimedia Visualization</a:t>
            </a:r>
          </a:p>
          <a:p>
            <a:pPr algn="l">
              <a:lnSpc>
                <a:spcPts val="3600"/>
              </a:lnSpc>
            </a:pPr>
            <a:r>
              <a:rPr lang="en-US" sz="3000">
                <a:solidFill>
                  <a:srgbClr val="000000"/>
                </a:solidFill>
                <a:latin typeface="Calibri (MS)"/>
                <a:ea typeface="Calibri (MS)"/>
                <a:cs typeface="Calibri (MS)"/>
                <a:sym typeface="Calibri (MS)"/>
              </a:rPr>
              <a:t>Visualizing information that exists across spatial, temporal, and sensory dimensions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Images → spatial structure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Video → spatial + temporal structure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Audio → temporal + frequency structure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Multimedia → coordinated representations across multiple modalities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Core Idea</a:t>
            </a:r>
          </a:p>
          <a:p>
            <a:pPr algn="l">
              <a:lnSpc>
                <a:spcPts val="3600"/>
              </a:lnSpc>
            </a:pPr>
            <a:r>
              <a:rPr lang="en-US" sz="3000">
                <a:solidFill>
                  <a:srgbClr val="000000"/>
                </a:solidFill>
                <a:latin typeface="Calibri (MS)"/>
                <a:ea typeface="Calibri (MS)"/>
                <a:cs typeface="Calibri (MS)"/>
                <a:sym typeface="Calibri (MS)"/>
              </a:rPr>
              <a:t>Multimedia visualization is not simply “displaying media”; it is transforming perceptually rich media into representations that expose structure, patterns, events, and relationships.</a:t>
            </a:r>
          </a:p>
        </p:txBody>
      </p:sp>
      <p:sp>
        <p:nvSpPr>
          <p:cNvPr id="6" name="Freeform 6"/>
          <p:cNvSpPr/>
          <p:nvPr/>
        </p:nvSpPr>
        <p:spPr>
          <a:xfrm>
            <a:off x="5601449" y="6744093"/>
            <a:ext cx="5779438" cy="3248510"/>
          </a:xfrm>
          <a:custGeom>
            <a:avLst/>
            <a:gdLst/>
            <a:ahLst/>
            <a:cxnLst/>
            <a:rect l="l" t="t" r="r" b="b"/>
            <a:pathLst>
              <a:path w="5779438" h="3248510">
                <a:moveTo>
                  <a:pt x="0" y="0"/>
                </a:moveTo>
                <a:lnTo>
                  <a:pt x="5779438" y="0"/>
                </a:lnTo>
                <a:lnTo>
                  <a:pt x="5779438" y="3248510"/>
                </a:lnTo>
                <a:lnTo>
                  <a:pt x="0" y="3248510"/>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681104" y="958463"/>
            <a:ext cx="14025496" cy="551433"/>
          </a:xfrm>
          <a:prstGeom prst="rect">
            <a:avLst/>
          </a:prstGeom>
        </p:spPr>
        <p:txBody>
          <a:bodyPr wrap="square" lIns="0" tIns="0" rIns="0" bIns="0" rtlCol="0" anchor="t">
            <a:spAutoFit/>
          </a:bodyPr>
          <a:lstStyle/>
          <a:p>
            <a:pPr algn="l">
              <a:lnSpc>
                <a:spcPts val="4320"/>
              </a:lnSpc>
            </a:pPr>
            <a:r>
              <a:rPr lang="en-US" sz="3600" b="1" dirty="0">
                <a:solidFill>
                  <a:srgbClr val="4472C4"/>
                </a:solidFill>
                <a:latin typeface="Calibri (MS) Bold"/>
                <a:ea typeface="Calibri (MS) Bold"/>
                <a:cs typeface="Calibri (MS) Bold"/>
                <a:sym typeface="Calibri (MS) Bold"/>
              </a:rPr>
              <a:t>Multimedia Visualization: Image, Video And Audio (TB 3, 3,4,6,8)</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620128"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From Media To Visual Representation</a:t>
            </a:r>
          </a:p>
          <a:p>
            <a:pPr algn="l">
              <a:lnSpc>
                <a:spcPts val="3600"/>
              </a:lnSpc>
            </a:pPr>
            <a:r>
              <a:rPr lang="en-US" sz="3000">
                <a:solidFill>
                  <a:srgbClr val="000000"/>
                </a:solidFill>
                <a:latin typeface="Calibri (MS)"/>
                <a:ea typeface="Calibri (MS)"/>
                <a:cs typeface="Calibri (MS)"/>
                <a:sym typeface="Calibri (MS)"/>
              </a:rPr>
              <a:t>A useful pipeline:</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What Is Multimedia Visualization?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grpSp>
        <p:nvGrpSpPr>
          <p:cNvPr id="8" name="Group 8"/>
          <p:cNvGrpSpPr/>
          <p:nvPr/>
        </p:nvGrpSpPr>
        <p:grpSpPr>
          <a:xfrm>
            <a:off x="681104" y="3357772"/>
            <a:ext cx="2783805" cy="745013"/>
            <a:chOff x="0" y="0"/>
            <a:chExt cx="947522" cy="253619"/>
          </a:xfrm>
        </p:grpSpPr>
        <p:sp>
          <p:nvSpPr>
            <p:cNvPr id="9" name="Freeform 9"/>
            <p:cNvSpPr/>
            <p:nvPr/>
          </p:nvSpPr>
          <p:spPr>
            <a:xfrm>
              <a:off x="0" y="0"/>
              <a:ext cx="947522" cy="253619"/>
            </a:xfrm>
            <a:custGeom>
              <a:avLst/>
              <a:gdLst/>
              <a:ahLst/>
              <a:cxnLst/>
              <a:rect l="l" t="t" r="r" b="b"/>
              <a:pathLst>
                <a:path w="947522" h="253619">
                  <a:moveTo>
                    <a:pt x="947522" y="63964"/>
                  </a:moveTo>
                  <a:lnTo>
                    <a:pt x="947522" y="189655"/>
                  </a:lnTo>
                  <a:cubicBezTo>
                    <a:pt x="947522" y="224981"/>
                    <a:pt x="918884" y="253619"/>
                    <a:pt x="883557" y="253619"/>
                  </a:cubicBezTo>
                  <a:lnTo>
                    <a:pt x="63964" y="253619"/>
                  </a:lnTo>
                  <a:cubicBezTo>
                    <a:pt x="28638" y="253619"/>
                    <a:pt x="0" y="224981"/>
                    <a:pt x="0" y="189655"/>
                  </a:cubicBezTo>
                  <a:lnTo>
                    <a:pt x="0" y="63964"/>
                  </a:lnTo>
                  <a:cubicBezTo>
                    <a:pt x="0" y="28638"/>
                    <a:pt x="28638" y="0"/>
                    <a:pt x="63964" y="0"/>
                  </a:cubicBezTo>
                  <a:lnTo>
                    <a:pt x="883557" y="0"/>
                  </a:lnTo>
                  <a:cubicBezTo>
                    <a:pt x="918884" y="0"/>
                    <a:pt x="947522" y="28638"/>
                    <a:pt x="947522" y="63964"/>
                  </a:cubicBezTo>
                  <a:close/>
                </a:path>
              </a:pathLst>
            </a:custGeom>
            <a:solidFill>
              <a:srgbClr val="56B4E9"/>
            </a:solidFill>
          </p:spPr>
          <p:txBody>
            <a:bodyPr/>
            <a:lstStyle/>
            <a:p>
              <a:endParaRPr lang="en-IN"/>
            </a:p>
          </p:txBody>
        </p:sp>
        <p:sp>
          <p:nvSpPr>
            <p:cNvPr id="10" name="TextBox 10"/>
            <p:cNvSpPr txBox="1"/>
            <p:nvPr/>
          </p:nvSpPr>
          <p:spPr>
            <a:xfrm>
              <a:off x="0" y="-38100"/>
              <a:ext cx="947522"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Raw Multimedia</a:t>
              </a:r>
            </a:p>
          </p:txBody>
        </p:sp>
      </p:grpSp>
      <p:grpSp>
        <p:nvGrpSpPr>
          <p:cNvPr id="11" name="Group 11"/>
          <p:cNvGrpSpPr/>
          <p:nvPr/>
        </p:nvGrpSpPr>
        <p:grpSpPr>
          <a:xfrm>
            <a:off x="7584000" y="3286518"/>
            <a:ext cx="2039165" cy="963722"/>
            <a:chOff x="0" y="0"/>
            <a:chExt cx="694069" cy="328072"/>
          </a:xfrm>
        </p:grpSpPr>
        <p:sp>
          <p:nvSpPr>
            <p:cNvPr id="12" name="Freeform 12"/>
            <p:cNvSpPr/>
            <p:nvPr/>
          </p:nvSpPr>
          <p:spPr>
            <a:xfrm>
              <a:off x="0" y="0"/>
              <a:ext cx="694069" cy="328072"/>
            </a:xfrm>
            <a:custGeom>
              <a:avLst/>
              <a:gdLst/>
              <a:ahLst/>
              <a:cxnLst/>
              <a:rect l="l" t="t" r="r" b="b"/>
              <a:pathLst>
                <a:path w="694069" h="328072">
                  <a:moveTo>
                    <a:pt x="694069" y="87322"/>
                  </a:moveTo>
                  <a:lnTo>
                    <a:pt x="694069" y="240750"/>
                  </a:lnTo>
                  <a:cubicBezTo>
                    <a:pt x="694069" y="263910"/>
                    <a:pt x="684869" y="286120"/>
                    <a:pt x="668493" y="302496"/>
                  </a:cubicBezTo>
                  <a:cubicBezTo>
                    <a:pt x="652117" y="318872"/>
                    <a:pt x="629906" y="328072"/>
                    <a:pt x="606747" y="328072"/>
                  </a:cubicBezTo>
                  <a:lnTo>
                    <a:pt x="87322" y="328072"/>
                  </a:lnTo>
                  <a:cubicBezTo>
                    <a:pt x="64163" y="328072"/>
                    <a:pt x="41952" y="318872"/>
                    <a:pt x="25576" y="302496"/>
                  </a:cubicBezTo>
                  <a:cubicBezTo>
                    <a:pt x="9200" y="286120"/>
                    <a:pt x="0" y="263910"/>
                    <a:pt x="0" y="240750"/>
                  </a:cubicBezTo>
                  <a:lnTo>
                    <a:pt x="0" y="87322"/>
                  </a:lnTo>
                  <a:cubicBezTo>
                    <a:pt x="0" y="64163"/>
                    <a:pt x="9200" y="41952"/>
                    <a:pt x="25576" y="25576"/>
                  </a:cubicBezTo>
                  <a:cubicBezTo>
                    <a:pt x="41952" y="9200"/>
                    <a:pt x="64163" y="0"/>
                    <a:pt x="87322" y="0"/>
                  </a:cubicBezTo>
                  <a:lnTo>
                    <a:pt x="606747" y="0"/>
                  </a:lnTo>
                  <a:cubicBezTo>
                    <a:pt x="654974" y="0"/>
                    <a:pt x="694069" y="39095"/>
                    <a:pt x="694069" y="87322"/>
                  </a:cubicBezTo>
                  <a:close/>
                </a:path>
              </a:pathLst>
            </a:custGeom>
            <a:solidFill>
              <a:srgbClr val="56B4E9"/>
            </a:solidFill>
          </p:spPr>
          <p:txBody>
            <a:bodyPr/>
            <a:lstStyle/>
            <a:p>
              <a:endParaRPr lang="en-IN"/>
            </a:p>
          </p:txBody>
        </p:sp>
        <p:sp>
          <p:nvSpPr>
            <p:cNvPr id="13" name="TextBox 13"/>
            <p:cNvSpPr txBox="1"/>
            <p:nvPr/>
          </p:nvSpPr>
          <p:spPr>
            <a:xfrm>
              <a:off x="0" y="-38100"/>
              <a:ext cx="694069" cy="366172"/>
            </a:xfrm>
            <a:prstGeom prst="rect">
              <a:avLst/>
            </a:prstGeom>
          </p:spPr>
          <p:txBody>
            <a:bodyPr lIns="50800" tIns="50800" rIns="50800" bIns="50800" rtlCol="0" anchor="ctr"/>
            <a:lstStyle/>
            <a:p>
              <a:pPr algn="ctr">
                <a:lnSpc>
                  <a:spcPts val="3359"/>
                </a:lnSpc>
              </a:pPr>
              <a:r>
                <a:rPr lang="en-US" sz="2400" b="1">
                  <a:solidFill>
                    <a:srgbClr val="000000"/>
                  </a:solidFill>
                  <a:latin typeface="Canva Sans Bold"/>
                  <a:ea typeface="Canva Sans Bold"/>
                  <a:cs typeface="Canva Sans Bold"/>
                  <a:sym typeface="Canva Sans Bold"/>
                </a:rPr>
                <a:t>Visual</a:t>
              </a:r>
            </a:p>
            <a:p>
              <a:pPr algn="ctr">
                <a:lnSpc>
                  <a:spcPts val="3359"/>
                </a:lnSpc>
                <a:spcBef>
                  <a:spcPct val="0"/>
                </a:spcBef>
              </a:pPr>
              <a:r>
                <a:rPr lang="en-US" sz="2400" b="1">
                  <a:solidFill>
                    <a:srgbClr val="000000"/>
                  </a:solidFill>
                  <a:latin typeface="Canva Sans Bold"/>
                  <a:ea typeface="Canva Sans Bold"/>
                  <a:cs typeface="Canva Sans Bold"/>
                  <a:sym typeface="Canva Sans Bold"/>
                </a:rPr>
                <a:t>Encoding</a:t>
              </a:r>
            </a:p>
          </p:txBody>
        </p:sp>
      </p:grpSp>
      <p:grpSp>
        <p:nvGrpSpPr>
          <p:cNvPr id="14" name="Group 14"/>
          <p:cNvGrpSpPr/>
          <p:nvPr/>
        </p:nvGrpSpPr>
        <p:grpSpPr>
          <a:xfrm>
            <a:off x="4247304" y="3376822"/>
            <a:ext cx="2598636" cy="745013"/>
            <a:chOff x="0" y="0"/>
            <a:chExt cx="884496" cy="253619"/>
          </a:xfrm>
        </p:grpSpPr>
        <p:sp>
          <p:nvSpPr>
            <p:cNvPr id="15" name="Freeform 15"/>
            <p:cNvSpPr/>
            <p:nvPr/>
          </p:nvSpPr>
          <p:spPr>
            <a:xfrm>
              <a:off x="0" y="0"/>
              <a:ext cx="884496" cy="253619"/>
            </a:xfrm>
            <a:custGeom>
              <a:avLst/>
              <a:gdLst/>
              <a:ahLst/>
              <a:cxnLst/>
              <a:rect l="l" t="t" r="r" b="b"/>
              <a:pathLst>
                <a:path w="884496" h="253619">
                  <a:moveTo>
                    <a:pt x="884496" y="68522"/>
                  </a:moveTo>
                  <a:lnTo>
                    <a:pt x="884496" y="185097"/>
                  </a:lnTo>
                  <a:cubicBezTo>
                    <a:pt x="884496" y="222941"/>
                    <a:pt x="853817" y="253619"/>
                    <a:pt x="815974" y="253619"/>
                  </a:cubicBezTo>
                  <a:lnTo>
                    <a:pt x="68522" y="253619"/>
                  </a:lnTo>
                  <a:cubicBezTo>
                    <a:pt x="30678" y="253619"/>
                    <a:pt x="0" y="222941"/>
                    <a:pt x="0" y="185097"/>
                  </a:cubicBezTo>
                  <a:lnTo>
                    <a:pt x="0" y="68522"/>
                  </a:lnTo>
                  <a:cubicBezTo>
                    <a:pt x="0" y="30678"/>
                    <a:pt x="30678" y="0"/>
                    <a:pt x="68522" y="0"/>
                  </a:cubicBezTo>
                  <a:lnTo>
                    <a:pt x="815974" y="0"/>
                  </a:lnTo>
                  <a:cubicBezTo>
                    <a:pt x="834147" y="0"/>
                    <a:pt x="851576" y="7219"/>
                    <a:pt x="864426" y="20070"/>
                  </a:cubicBezTo>
                  <a:cubicBezTo>
                    <a:pt x="877277" y="32920"/>
                    <a:pt x="884496" y="50349"/>
                    <a:pt x="884496" y="68522"/>
                  </a:cubicBezTo>
                  <a:close/>
                </a:path>
              </a:pathLst>
            </a:custGeom>
            <a:solidFill>
              <a:srgbClr val="56B4E9"/>
            </a:solidFill>
          </p:spPr>
          <p:txBody>
            <a:bodyPr/>
            <a:lstStyle/>
            <a:p>
              <a:endParaRPr lang="en-IN"/>
            </a:p>
          </p:txBody>
        </p:sp>
        <p:sp>
          <p:nvSpPr>
            <p:cNvPr id="16" name="TextBox 16"/>
            <p:cNvSpPr txBox="1"/>
            <p:nvPr/>
          </p:nvSpPr>
          <p:spPr>
            <a:xfrm>
              <a:off x="0" y="-38100"/>
              <a:ext cx="884496"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Representation</a:t>
              </a:r>
            </a:p>
          </p:txBody>
        </p:sp>
      </p:grpSp>
      <p:grpSp>
        <p:nvGrpSpPr>
          <p:cNvPr id="17" name="Group 17"/>
          <p:cNvGrpSpPr/>
          <p:nvPr/>
        </p:nvGrpSpPr>
        <p:grpSpPr>
          <a:xfrm>
            <a:off x="10361225" y="3414922"/>
            <a:ext cx="2169863" cy="745013"/>
            <a:chOff x="0" y="0"/>
            <a:chExt cx="738555" cy="253619"/>
          </a:xfrm>
        </p:grpSpPr>
        <p:sp>
          <p:nvSpPr>
            <p:cNvPr id="18" name="Freeform 18"/>
            <p:cNvSpPr/>
            <p:nvPr/>
          </p:nvSpPr>
          <p:spPr>
            <a:xfrm>
              <a:off x="0" y="0"/>
              <a:ext cx="738555" cy="253619"/>
            </a:xfrm>
            <a:custGeom>
              <a:avLst/>
              <a:gdLst/>
              <a:ahLst/>
              <a:cxnLst/>
              <a:rect l="l" t="t" r="r" b="b"/>
              <a:pathLst>
                <a:path w="738555" h="253619">
                  <a:moveTo>
                    <a:pt x="738555" y="82062"/>
                  </a:moveTo>
                  <a:lnTo>
                    <a:pt x="738555" y="171557"/>
                  </a:lnTo>
                  <a:cubicBezTo>
                    <a:pt x="738555" y="193321"/>
                    <a:pt x="729909" y="214194"/>
                    <a:pt x="714519" y="229583"/>
                  </a:cubicBezTo>
                  <a:cubicBezTo>
                    <a:pt x="699130" y="244973"/>
                    <a:pt x="678257" y="253619"/>
                    <a:pt x="656492" y="253619"/>
                  </a:cubicBezTo>
                  <a:lnTo>
                    <a:pt x="82062" y="253619"/>
                  </a:lnTo>
                  <a:cubicBezTo>
                    <a:pt x="60298" y="253619"/>
                    <a:pt x="39425" y="244973"/>
                    <a:pt x="24036" y="229583"/>
                  </a:cubicBezTo>
                  <a:cubicBezTo>
                    <a:pt x="8646" y="214194"/>
                    <a:pt x="0" y="193321"/>
                    <a:pt x="0" y="171557"/>
                  </a:cubicBezTo>
                  <a:lnTo>
                    <a:pt x="0" y="82062"/>
                  </a:lnTo>
                  <a:cubicBezTo>
                    <a:pt x="0" y="60298"/>
                    <a:pt x="8646" y="39425"/>
                    <a:pt x="24036" y="24036"/>
                  </a:cubicBezTo>
                  <a:cubicBezTo>
                    <a:pt x="39425" y="8646"/>
                    <a:pt x="60298" y="0"/>
                    <a:pt x="82062" y="0"/>
                  </a:cubicBezTo>
                  <a:lnTo>
                    <a:pt x="656492" y="0"/>
                  </a:lnTo>
                  <a:cubicBezTo>
                    <a:pt x="701814" y="0"/>
                    <a:pt x="738555" y="36741"/>
                    <a:pt x="738555" y="82062"/>
                  </a:cubicBezTo>
                  <a:close/>
                </a:path>
              </a:pathLst>
            </a:custGeom>
            <a:solidFill>
              <a:srgbClr val="56B4E9"/>
            </a:solidFill>
          </p:spPr>
          <p:txBody>
            <a:bodyPr/>
            <a:lstStyle/>
            <a:p>
              <a:endParaRPr lang="en-IN"/>
            </a:p>
          </p:txBody>
        </p:sp>
        <p:sp>
          <p:nvSpPr>
            <p:cNvPr id="19" name="TextBox 19"/>
            <p:cNvSpPr txBox="1"/>
            <p:nvPr/>
          </p:nvSpPr>
          <p:spPr>
            <a:xfrm>
              <a:off x="0" y="-38100"/>
              <a:ext cx="738555"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Perception</a:t>
              </a:r>
            </a:p>
          </p:txBody>
        </p:sp>
      </p:grpSp>
      <p:grpSp>
        <p:nvGrpSpPr>
          <p:cNvPr id="20" name="Group 20"/>
          <p:cNvGrpSpPr/>
          <p:nvPr/>
        </p:nvGrpSpPr>
        <p:grpSpPr>
          <a:xfrm>
            <a:off x="13269149" y="3433972"/>
            <a:ext cx="2436209" cy="745013"/>
            <a:chOff x="0" y="0"/>
            <a:chExt cx="829211" cy="253619"/>
          </a:xfrm>
        </p:grpSpPr>
        <p:sp>
          <p:nvSpPr>
            <p:cNvPr id="21" name="Freeform 21"/>
            <p:cNvSpPr/>
            <p:nvPr/>
          </p:nvSpPr>
          <p:spPr>
            <a:xfrm>
              <a:off x="0" y="0"/>
              <a:ext cx="829211" cy="253619"/>
            </a:xfrm>
            <a:custGeom>
              <a:avLst/>
              <a:gdLst/>
              <a:ahLst/>
              <a:cxnLst/>
              <a:rect l="l" t="t" r="r" b="b"/>
              <a:pathLst>
                <a:path w="829211" h="253619">
                  <a:moveTo>
                    <a:pt x="829211" y="73091"/>
                  </a:moveTo>
                  <a:lnTo>
                    <a:pt x="829211" y="180528"/>
                  </a:lnTo>
                  <a:cubicBezTo>
                    <a:pt x="829211" y="220895"/>
                    <a:pt x="796487" y="253619"/>
                    <a:pt x="756120" y="253619"/>
                  </a:cubicBezTo>
                  <a:lnTo>
                    <a:pt x="73091" y="253619"/>
                  </a:lnTo>
                  <a:cubicBezTo>
                    <a:pt x="32724" y="253619"/>
                    <a:pt x="0" y="220895"/>
                    <a:pt x="0" y="180528"/>
                  </a:cubicBezTo>
                  <a:lnTo>
                    <a:pt x="0" y="73091"/>
                  </a:lnTo>
                  <a:cubicBezTo>
                    <a:pt x="0" y="32724"/>
                    <a:pt x="32724" y="0"/>
                    <a:pt x="73091" y="0"/>
                  </a:cubicBezTo>
                  <a:lnTo>
                    <a:pt x="756120" y="0"/>
                  </a:lnTo>
                  <a:cubicBezTo>
                    <a:pt x="796487" y="0"/>
                    <a:pt x="829211" y="32724"/>
                    <a:pt x="829211" y="73091"/>
                  </a:cubicBezTo>
                  <a:close/>
                </a:path>
              </a:pathLst>
            </a:custGeom>
            <a:solidFill>
              <a:srgbClr val="56B4E9"/>
            </a:solidFill>
          </p:spPr>
          <p:txBody>
            <a:bodyPr/>
            <a:lstStyle/>
            <a:p>
              <a:endParaRPr lang="en-IN"/>
            </a:p>
          </p:txBody>
        </p:sp>
        <p:sp>
          <p:nvSpPr>
            <p:cNvPr id="22" name="TextBox 22"/>
            <p:cNvSpPr txBox="1"/>
            <p:nvPr/>
          </p:nvSpPr>
          <p:spPr>
            <a:xfrm>
              <a:off x="0" y="-38100"/>
              <a:ext cx="829211"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Interpretation</a:t>
              </a:r>
            </a:p>
          </p:txBody>
        </p:sp>
      </p:grpSp>
      <p:sp>
        <p:nvSpPr>
          <p:cNvPr id="23" name="AutoShape 23"/>
          <p:cNvSpPr/>
          <p:nvPr/>
        </p:nvSpPr>
        <p:spPr>
          <a:xfrm flipV="1">
            <a:off x="3464719" y="3749329"/>
            <a:ext cx="782788" cy="0"/>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4" name="AutoShape 24"/>
          <p:cNvSpPr/>
          <p:nvPr/>
        </p:nvSpPr>
        <p:spPr>
          <a:xfrm flipV="1">
            <a:off x="6845940" y="3768379"/>
            <a:ext cx="738060" cy="0"/>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5" name="AutoShape 25"/>
          <p:cNvSpPr/>
          <p:nvPr/>
        </p:nvSpPr>
        <p:spPr>
          <a:xfrm flipV="1">
            <a:off x="9623165" y="3787429"/>
            <a:ext cx="738060" cy="0"/>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6" name="AutoShape 26"/>
          <p:cNvSpPr/>
          <p:nvPr/>
        </p:nvSpPr>
        <p:spPr>
          <a:xfrm flipV="1">
            <a:off x="12531089" y="3806479"/>
            <a:ext cx="738060" cy="0"/>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7" name="TextBox 27"/>
          <p:cNvSpPr txBox="1"/>
          <p:nvPr/>
        </p:nvSpPr>
        <p:spPr>
          <a:xfrm>
            <a:off x="681104" y="4440740"/>
            <a:ext cx="4358512" cy="5095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Raw data</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Pixel arrays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Frame sequences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Audio samples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Representation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Intensity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Color</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Motion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Frequency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Derived features</a:t>
            </a:r>
          </a:p>
        </p:txBody>
      </p:sp>
      <p:sp>
        <p:nvSpPr>
          <p:cNvPr id="28" name="TextBox 28"/>
          <p:cNvSpPr txBox="1"/>
          <p:nvPr/>
        </p:nvSpPr>
        <p:spPr>
          <a:xfrm>
            <a:off x="5546622" y="4440740"/>
            <a:ext cx="4358512" cy="5553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Visualization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Images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Timelines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Histograms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Trajectories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Spectrograms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Perception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Detect patterns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Compare regions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Identify objects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Detect changes</a:t>
            </a:r>
          </a:p>
        </p:txBody>
      </p:sp>
      <p:sp>
        <p:nvSpPr>
          <p:cNvPr id="29" name="TextBox 29"/>
          <p:cNvSpPr txBox="1"/>
          <p:nvPr/>
        </p:nvSpPr>
        <p:spPr>
          <a:xfrm>
            <a:off x="10128741" y="4440740"/>
            <a:ext cx="4358512" cy="2352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Interpretation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Events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Trends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Anomalies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Relationships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7101727" cy="7839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single photograph may contain: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Thousands or millions of spatial samples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Multiple color/intensity channels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Local edges and textures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Objects and spatial relationships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 video adds: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Time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Motion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Temporal changes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Events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Audio adds: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Amplitude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Frequency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Temporal structure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Spectral characteristics</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Why Visualize Multimedia Data?</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8025944" y="2048268"/>
            <a:ext cx="8360535" cy="7381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Visualization reduces the problem.</a:t>
            </a:r>
          </a:p>
          <a:p>
            <a:pPr algn="l">
              <a:lnSpc>
                <a:spcPts val="3600"/>
              </a:lnSpc>
            </a:pPr>
            <a:r>
              <a:rPr lang="en-US" sz="3000">
                <a:solidFill>
                  <a:srgbClr val="000000"/>
                </a:solidFill>
                <a:latin typeface="Calibri (MS)"/>
                <a:ea typeface="Calibri (MS)"/>
                <a:cs typeface="Calibri (MS)"/>
                <a:sym typeface="Calibri (MS)"/>
              </a:rPr>
              <a:t>Instead of inspecting every raw sample, visualization can expose:</a:t>
            </a:r>
          </a:p>
          <a:p>
            <a:pPr algn="l">
              <a:lnSpc>
                <a:spcPts val="3600"/>
              </a:lnSpc>
            </a:pPr>
            <a:r>
              <a:rPr lang="en-US" sz="3000" b="1" i="1">
                <a:solidFill>
                  <a:srgbClr val="000000"/>
                </a:solidFill>
                <a:latin typeface="Calibri (MS) Bold Italics"/>
                <a:ea typeface="Calibri (MS) Bold Italics"/>
                <a:cs typeface="Calibri (MS) Bold Italics"/>
                <a:sym typeface="Calibri (MS) Bold Italics"/>
              </a:rPr>
              <a:t>Structure → Pattern → Change → Event → Meaning</a:t>
            </a:r>
          </a:p>
          <a:p>
            <a:pPr algn="l">
              <a:lnSpc>
                <a:spcPts val="3600"/>
              </a:lnSpc>
            </a:pPr>
            <a:endParaRPr lang="en-US" sz="3000" b="1" i="1">
              <a:solidFill>
                <a:srgbClr val="000000"/>
              </a:solidFill>
              <a:latin typeface="Calibri (MS) Bold Italics"/>
              <a:ea typeface="Calibri (MS) Bold Italics"/>
              <a:cs typeface="Calibri (MS) Bold Italics"/>
              <a:sym typeface="Calibri (MS) Bold Italics"/>
            </a:endParaRPr>
          </a:p>
          <a:p>
            <a:pPr algn="l">
              <a:lnSpc>
                <a:spcPts val="3600"/>
              </a:lnSpc>
            </a:pPr>
            <a:r>
              <a:rPr lang="en-US" sz="3000">
                <a:solidFill>
                  <a:srgbClr val="000000"/>
                </a:solidFill>
                <a:latin typeface="Calibri (MS)"/>
                <a:ea typeface="Calibri (MS)"/>
                <a:cs typeface="Calibri (MS)"/>
                <a:sym typeface="Calibri (MS)"/>
              </a:rPr>
              <a:t>Example:</a:t>
            </a:r>
          </a:p>
          <a:p>
            <a:pPr algn="l">
              <a:lnSpc>
                <a:spcPts val="3600"/>
              </a:lnSpc>
            </a:pPr>
            <a:r>
              <a:rPr lang="en-US" sz="3000">
                <a:solidFill>
                  <a:srgbClr val="000000"/>
                </a:solidFill>
                <a:latin typeface="Calibri (MS)"/>
                <a:ea typeface="Calibri (MS)"/>
                <a:cs typeface="Calibri (MS)"/>
                <a:sym typeface="Calibri (MS)"/>
              </a:rPr>
              <a:t>A 30-minute surveillance video may contain millions of individual pixels across thousands of frames.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 visualization might reduce this to:</a:t>
            </a:r>
          </a:p>
          <a:p>
            <a:pPr algn="l">
              <a:lnSpc>
                <a:spcPts val="3600"/>
              </a:lnSpc>
            </a:pPr>
            <a:r>
              <a:rPr lang="en-US" sz="3000" i="1">
                <a:solidFill>
                  <a:srgbClr val="000000"/>
                </a:solidFill>
                <a:latin typeface="Calibri (MS) Italics"/>
                <a:ea typeface="Calibri (MS) Italics"/>
                <a:cs typeface="Calibri (MS) Italics"/>
                <a:sym typeface="Calibri (MS) Italics"/>
              </a:rPr>
              <a:t>timeline + activity intensity + representative frames + motion trajectories</a:t>
            </a:r>
          </a:p>
          <a:p>
            <a:pPr algn="l">
              <a:lnSpc>
                <a:spcPts val="3600"/>
              </a:lnSpc>
            </a:pPr>
            <a:endParaRPr lang="en-US" sz="3000" i="1">
              <a:solidFill>
                <a:srgbClr val="000000"/>
              </a:solidFill>
              <a:latin typeface="Calibri (MS) Italics"/>
              <a:ea typeface="Calibri (MS) Italics"/>
              <a:cs typeface="Calibri (MS) Italics"/>
              <a:sym typeface="Calibri (MS) Italics"/>
            </a:endParaRPr>
          </a:p>
          <a:p>
            <a:pPr algn="l">
              <a:lnSpc>
                <a:spcPts val="3600"/>
              </a:lnSpc>
            </a:pPr>
            <a:r>
              <a:rPr lang="en-US" sz="3000">
                <a:solidFill>
                  <a:srgbClr val="000000"/>
                </a:solidFill>
                <a:latin typeface="Calibri (MS)"/>
                <a:ea typeface="Calibri (MS)"/>
                <a:cs typeface="Calibri (MS)"/>
                <a:sym typeface="Calibri (MS)"/>
              </a:rPr>
              <a:t>This is the central motivation for the rest of the unit.</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t>
            </a:r>
            <a:r>
              <a:rPr lang="en-US" sz="3000" i="1">
                <a:solidFill>
                  <a:srgbClr val="000000"/>
                </a:solidFill>
                <a:latin typeface="Calibri (MS) Italics"/>
                <a:ea typeface="Calibri (MS) Italics"/>
                <a:cs typeface="Calibri (MS) Italics"/>
                <a:sym typeface="Calibri (MS) Italics"/>
              </a:rPr>
              <a:t>Multimedia is high-dimensional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Multimedia Data Characteristics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graphicFrame>
        <p:nvGraphicFramePr>
          <p:cNvPr id="7" name="Table 7"/>
          <p:cNvGraphicFramePr>
            <a:graphicFrameLocks noGrp="1"/>
          </p:cNvGraphicFramePr>
          <p:nvPr/>
        </p:nvGraphicFramePr>
        <p:xfrm>
          <a:off x="681104" y="2114943"/>
          <a:ext cx="11785092" cy="3514725"/>
        </p:xfrm>
        <a:graphic>
          <a:graphicData uri="http://schemas.openxmlformats.org/drawingml/2006/table">
            <a:tbl>
              <a:tblPr/>
              <a:tblGrid>
                <a:gridCol w="3928364">
                  <a:extLst>
                    <a:ext uri="{9D8B030D-6E8A-4147-A177-3AD203B41FA5}">
                      <a16:colId xmlns:a16="http://schemas.microsoft.com/office/drawing/2014/main" val="20000"/>
                    </a:ext>
                  </a:extLst>
                </a:gridCol>
                <a:gridCol w="3928364">
                  <a:extLst>
                    <a:ext uri="{9D8B030D-6E8A-4147-A177-3AD203B41FA5}">
                      <a16:colId xmlns:a16="http://schemas.microsoft.com/office/drawing/2014/main" val="20001"/>
                    </a:ext>
                  </a:extLst>
                </a:gridCol>
                <a:gridCol w="3928364">
                  <a:extLst>
                    <a:ext uri="{9D8B030D-6E8A-4147-A177-3AD203B41FA5}">
                      <a16:colId xmlns:a16="http://schemas.microsoft.com/office/drawing/2014/main" val="20002"/>
                    </a:ext>
                  </a:extLst>
                </a:gridCol>
              </a:tblGrid>
              <a:tr h="702945">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Modality</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Primary Structure</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Typical Variables</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extLst>
                  <a:ext uri="{0D108BD9-81ED-4DB2-BD59-A6C34878D82A}">
                    <a16:rowId xmlns:a16="http://schemas.microsoft.com/office/drawing/2014/main" val="10000"/>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Image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Spatial</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x, y, intensity, colour</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Video</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Spatial + Temporal</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x, y, t, motion</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Audio</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Temporal + Spectral</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t, amplitude, frequency</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2945">
                <a:tc>
                  <a:txBody>
                    <a:bodyPr/>
                    <a:lstStyle/>
                    <a:p>
                      <a:pPr algn="l">
                        <a:lnSpc>
                          <a:spcPts val="3613"/>
                        </a:lnSpc>
                        <a:defRPr/>
                      </a:pPr>
                      <a:r>
                        <a:rPr lang="en-US" sz="2599">
                          <a:solidFill>
                            <a:srgbClr val="000000"/>
                          </a:solidFill>
                          <a:latin typeface="Calibri (MS)"/>
                          <a:ea typeface="Calibri (MS)"/>
                          <a:cs typeface="Calibri (MS)"/>
                          <a:sym typeface="Calibri (MS)"/>
                        </a:rPr>
                        <a:t>Multimedia</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Cross-Modal</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x, y, t, frequency, modality</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extBox 8"/>
          <p:cNvSpPr txBox="1"/>
          <p:nvPr/>
        </p:nvSpPr>
        <p:spPr>
          <a:xfrm>
            <a:off x="681104" y="6090880"/>
            <a:ext cx="11785093" cy="18954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Three Fundamental Dimensions:</a:t>
            </a:r>
          </a:p>
          <a:p>
            <a:pPr algn="l">
              <a:lnSpc>
                <a:spcPts val="3600"/>
              </a:lnSpc>
            </a:pPr>
            <a:r>
              <a:rPr lang="en-US" sz="3000" b="1">
                <a:solidFill>
                  <a:srgbClr val="000000"/>
                </a:solidFill>
                <a:latin typeface="Calibri (MS) Bold"/>
                <a:ea typeface="Calibri (MS) Bold"/>
                <a:cs typeface="Calibri (MS) Bold"/>
                <a:sym typeface="Calibri (MS) Bold"/>
              </a:rPr>
              <a:t>Spatial</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Where is something?</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How is information distributed across an image?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Multimedia Data Characteristics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701392" cy="5553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Temporal</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When did something happen?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How does information change?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Spectral</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Which frequencies are present?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How is signal energy distributed across frequency?</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The key challenge: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Multimedia visualization must preserve the structure that is meaningful to the modality.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 spatial image should not be reduced to a simple scalar summary; similarly, an audio signal cannot be adequately represented only by its overall amplitude.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5915418"/>
            <a:ext cx="4014085" cy="1983705"/>
          </a:xfrm>
          <a:custGeom>
            <a:avLst/>
            <a:gdLst/>
            <a:ahLst/>
            <a:cxnLst/>
            <a:rect l="l" t="t" r="r" b="b"/>
            <a:pathLst>
              <a:path w="4014085" h="1983705">
                <a:moveTo>
                  <a:pt x="0" y="0"/>
                </a:moveTo>
                <a:lnTo>
                  <a:pt x="4014085" y="0"/>
                </a:lnTo>
                <a:lnTo>
                  <a:pt x="4014085" y="1983705"/>
                </a:lnTo>
                <a:lnTo>
                  <a:pt x="0" y="1983705"/>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As Data: From Pixels To Visual Representation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2048268"/>
            <a:ext cx="6551330" cy="2809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 Image Is A 2D Sampled Signal</a:t>
            </a:r>
          </a:p>
          <a:p>
            <a:pPr algn="l">
              <a:lnSpc>
                <a:spcPts val="3600"/>
              </a:lnSpc>
            </a:pPr>
            <a:r>
              <a:rPr lang="en-US" sz="3000">
                <a:solidFill>
                  <a:srgbClr val="000000"/>
                </a:solidFill>
                <a:latin typeface="Calibri (MS)"/>
                <a:ea typeface="Calibri (MS)"/>
                <a:cs typeface="Calibri (MS)"/>
                <a:sym typeface="Calibri (MS)"/>
              </a:rPr>
              <a:t>Represent an image as: </a:t>
            </a:r>
            <a:r>
              <a:rPr lang="en-US" sz="3000" i="1">
                <a:solidFill>
                  <a:srgbClr val="000000"/>
                </a:solidFill>
                <a:latin typeface="Calibri (MS) Italics"/>
                <a:ea typeface="Calibri (MS) Italics"/>
                <a:cs typeface="Calibri (MS) Italics"/>
                <a:sym typeface="Calibri (MS) Italics"/>
              </a:rPr>
              <a:t>I(x,y)</a:t>
            </a:r>
          </a:p>
          <a:p>
            <a:pPr algn="l">
              <a:lnSpc>
                <a:spcPts val="3600"/>
              </a:lnSpc>
            </a:pPr>
            <a:r>
              <a:rPr lang="en-US" sz="3000" i="1">
                <a:solidFill>
                  <a:srgbClr val="000000"/>
                </a:solidFill>
                <a:latin typeface="Calibri (MS) Italics"/>
                <a:ea typeface="Calibri (MS) Italics"/>
                <a:cs typeface="Calibri (MS) Italics"/>
                <a:sym typeface="Calibri (MS) Italics"/>
              </a:rPr>
              <a:t>where: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x → horizontal spatial coordinate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y → vertical spatial coordinate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I → measured intensity/value</a:t>
            </a:r>
          </a:p>
        </p:txBody>
      </p:sp>
      <p:sp>
        <p:nvSpPr>
          <p:cNvPr id="9" name="TextBox 9"/>
          <p:cNvSpPr txBox="1"/>
          <p:nvPr/>
        </p:nvSpPr>
        <p:spPr>
          <a:xfrm>
            <a:off x="681104" y="5334393"/>
            <a:ext cx="3086217"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For a colour image:</a:t>
            </a:r>
          </a:p>
        </p:txBody>
      </p:sp>
      <p:sp>
        <p:nvSpPr>
          <p:cNvPr id="10" name="TextBox 10"/>
          <p:cNvSpPr txBox="1"/>
          <p:nvPr/>
        </p:nvSpPr>
        <p:spPr>
          <a:xfrm>
            <a:off x="8828529" y="2048268"/>
            <a:ext cx="7489798" cy="6924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Visualization Questions</a:t>
            </a:r>
          </a:p>
          <a:p>
            <a:pPr algn="l">
              <a:lnSpc>
                <a:spcPts val="3600"/>
              </a:lnSpc>
            </a:pPr>
            <a:r>
              <a:rPr lang="en-US" sz="3000">
                <a:solidFill>
                  <a:srgbClr val="000000"/>
                </a:solidFill>
                <a:latin typeface="Calibri (MS)"/>
                <a:ea typeface="Calibri (MS)"/>
                <a:cs typeface="Calibri (MS)"/>
                <a:sym typeface="Calibri (MS)"/>
              </a:rPr>
              <a:t>Instead of asking only:</a:t>
            </a:r>
          </a:p>
          <a:p>
            <a:pPr algn="l">
              <a:lnSpc>
                <a:spcPts val="3600"/>
              </a:lnSpc>
            </a:pPr>
            <a:r>
              <a:rPr lang="en-US" sz="3000">
                <a:solidFill>
                  <a:srgbClr val="000000"/>
                </a:solidFill>
                <a:latin typeface="Calibri (MS)"/>
                <a:ea typeface="Calibri (MS)"/>
                <a:cs typeface="Calibri (MS)"/>
                <a:sym typeface="Calibri (MS)"/>
              </a:rPr>
              <a:t>“What does the image look like?”</a:t>
            </a:r>
          </a:p>
          <a:p>
            <a:pPr algn="l">
              <a:lnSpc>
                <a:spcPts val="3600"/>
              </a:lnSpc>
            </a:pPr>
            <a:r>
              <a:rPr lang="en-US" sz="3000">
                <a:solidFill>
                  <a:srgbClr val="000000"/>
                </a:solidFill>
                <a:latin typeface="Calibri (MS)"/>
                <a:ea typeface="Calibri (MS)"/>
                <a:cs typeface="Calibri (MS)"/>
                <a:sym typeface="Calibri (MS)"/>
              </a:rPr>
              <a:t>Ask:</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Where are high/low intensity regions?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Where does intensity change rapidly?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Which colors dominate?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Where are structures concentrated?</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Are there repeated patterns?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Which regions are visually salient?</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i="1">
                <a:solidFill>
                  <a:srgbClr val="000000"/>
                </a:solidFill>
                <a:latin typeface="Calibri (MS) Italics"/>
                <a:ea typeface="Calibri (MS) Italics"/>
                <a:cs typeface="Calibri (MS) Italics"/>
                <a:sym typeface="Calibri (MS) Italics"/>
              </a:rPr>
              <a:t>💡</a:t>
            </a:r>
            <a:r>
              <a:rPr lang="en-US" sz="3000">
                <a:solidFill>
                  <a:srgbClr val="000000"/>
                </a:solidFill>
                <a:latin typeface="Calibri (MS)"/>
                <a:ea typeface="Calibri (MS)"/>
                <a:cs typeface="Calibri (MS)"/>
                <a:sym typeface="Calibri (MS)"/>
              </a:rPr>
              <a:t>The image itself is already a visualization of underlying measurements. The task may therefore be to construct </a:t>
            </a:r>
            <a:r>
              <a:rPr lang="en-US" sz="3000" i="1">
                <a:solidFill>
                  <a:srgbClr val="000000"/>
                </a:solidFill>
                <a:latin typeface="Calibri (MS) Italics"/>
                <a:ea typeface="Calibri (MS) Italics"/>
                <a:cs typeface="Calibri (MS) Italics"/>
                <a:sym typeface="Calibri (MS) Italics"/>
              </a:rPr>
              <a:t>secondary</a:t>
            </a:r>
            <a:r>
              <a:rPr lang="en-US" sz="3000">
                <a:solidFill>
                  <a:srgbClr val="000000"/>
                </a:solidFill>
                <a:latin typeface="Calibri (MS)"/>
                <a:ea typeface="Calibri (MS)"/>
                <a:cs typeface="Calibri (MS)"/>
                <a:sym typeface="Calibri (MS)"/>
              </a:rPr>
              <a:t> visualizations of the image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3286518"/>
            <a:ext cx="8224803" cy="812199"/>
          </a:xfrm>
          <a:custGeom>
            <a:avLst/>
            <a:gdLst/>
            <a:ahLst/>
            <a:cxnLst/>
            <a:rect l="l" t="t" r="r" b="b"/>
            <a:pathLst>
              <a:path w="8224803" h="812199">
                <a:moveTo>
                  <a:pt x="0" y="0"/>
                </a:moveTo>
                <a:lnTo>
                  <a:pt x="8224803" y="0"/>
                </a:lnTo>
                <a:lnTo>
                  <a:pt x="8224803" y="812199"/>
                </a:lnTo>
                <a:lnTo>
                  <a:pt x="0" y="812199"/>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Raster Images, Pixels And Image Resolution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2048268"/>
            <a:ext cx="15665297"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Raster Representation</a:t>
            </a:r>
          </a:p>
          <a:p>
            <a:pPr algn="l">
              <a:lnSpc>
                <a:spcPts val="3600"/>
              </a:lnSpc>
            </a:pPr>
            <a:r>
              <a:rPr lang="en-US" sz="3000">
                <a:solidFill>
                  <a:srgbClr val="000000"/>
                </a:solidFill>
                <a:latin typeface="Calibri (MS)"/>
                <a:ea typeface="Calibri (MS)"/>
                <a:cs typeface="Calibri (MS)"/>
                <a:sym typeface="Calibri (MS)"/>
              </a:rPr>
              <a:t>A raster image represents a rectangular spatial domain using a discrete grid:</a:t>
            </a:r>
          </a:p>
        </p:txBody>
      </p:sp>
      <p:sp>
        <p:nvSpPr>
          <p:cNvPr id="9" name="TextBox 9"/>
          <p:cNvSpPr txBox="1"/>
          <p:nvPr/>
        </p:nvSpPr>
        <p:spPr>
          <a:xfrm>
            <a:off x="9252443" y="3248025"/>
            <a:ext cx="7202402" cy="1895475"/>
          </a:xfrm>
          <a:prstGeom prst="rect">
            <a:avLst/>
          </a:prstGeom>
        </p:spPr>
        <p:txBody>
          <a:bodyPr lIns="0" tIns="0" rIns="0" bIns="0" rtlCol="0" anchor="t">
            <a:spAutoFit/>
          </a:bodyPr>
          <a:lstStyle/>
          <a:p>
            <a:pPr algn="l">
              <a:lnSpc>
                <a:spcPts val="3600"/>
              </a:lnSpc>
            </a:pPr>
            <a:r>
              <a:rPr lang="en-US" sz="3000" i="1">
                <a:solidFill>
                  <a:srgbClr val="000000"/>
                </a:solidFill>
                <a:latin typeface="Calibri (MS) Italics"/>
                <a:ea typeface="Calibri (MS) Italics"/>
                <a:cs typeface="Calibri (MS) Italics"/>
                <a:sym typeface="Calibri (MS) Italics"/>
              </a:rPr>
              <a:t>where: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W = image width in pixels</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H = image height in pixels</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W × H = total number of pixels</a:t>
            </a:r>
          </a:p>
        </p:txBody>
      </p:sp>
      <p:sp>
        <p:nvSpPr>
          <p:cNvPr id="10" name="TextBox 10"/>
          <p:cNvSpPr txBox="1"/>
          <p:nvPr/>
        </p:nvSpPr>
        <p:spPr>
          <a:xfrm>
            <a:off x="681104" y="5334000"/>
            <a:ext cx="15665297" cy="4638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Spatial resolution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Number of samples across the image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eg: 1920 × 1080</a:t>
            </a:r>
          </a:p>
          <a:p>
            <a:pPr algn="l">
              <a:lnSpc>
                <a:spcPts val="3600"/>
              </a:lnSpc>
            </a:pPr>
            <a:r>
              <a:rPr lang="en-US" sz="3000" b="1">
                <a:solidFill>
                  <a:srgbClr val="000000"/>
                </a:solidFill>
                <a:latin typeface="Calibri (MS) Bold"/>
                <a:ea typeface="Calibri (MS) Bold"/>
                <a:cs typeface="Calibri (MS) Bold"/>
                <a:sym typeface="Calibri (MS) Bold"/>
              </a:rPr>
              <a:t>Pixel density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Pixels per physical distance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eg: PPI</a:t>
            </a:r>
          </a:p>
          <a:p>
            <a:pPr algn="l">
              <a:lnSpc>
                <a:spcPts val="3600"/>
              </a:lnSpc>
            </a:pPr>
            <a:r>
              <a:rPr lang="en-US" sz="3000" b="1">
                <a:solidFill>
                  <a:srgbClr val="000000"/>
                </a:solidFill>
                <a:latin typeface="Calibri (MS) Bold"/>
                <a:ea typeface="Calibri (MS) Bold"/>
                <a:cs typeface="Calibri (MS) Bold"/>
                <a:sym typeface="Calibri (MS) Bold"/>
              </a:rPr>
              <a:t>Display resolution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Number of physical display pixels</a:t>
            </a:r>
          </a:p>
          <a:p>
            <a:pPr algn="l">
              <a:lnSpc>
                <a:spcPts val="3600"/>
              </a:lnSpc>
            </a:pPr>
            <a:r>
              <a:rPr lang="en-US" sz="3000" b="1">
                <a:solidFill>
                  <a:srgbClr val="000000"/>
                </a:solidFill>
                <a:latin typeface="Calibri (MS) Bold"/>
                <a:ea typeface="Calibri (MS) Bold"/>
                <a:cs typeface="Calibri (MS) Bold"/>
                <a:sym typeface="Calibri (MS) Bold"/>
              </a:rPr>
              <a:t>Perceptual resolution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How much spatial detail the observer can actually discriminate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2114943"/>
            <a:ext cx="9044203" cy="7284844"/>
          </a:xfrm>
          <a:custGeom>
            <a:avLst/>
            <a:gdLst/>
            <a:ahLst/>
            <a:cxnLst/>
            <a:rect l="l" t="t" r="r" b="b"/>
            <a:pathLst>
              <a:path w="9044203" h="7284844">
                <a:moveTo>
                  <a:pt x="0" y="0"/>
                </a:moveTo>
                <a:lnTo>
                  <a:pt x="9044203" y="0"/>
                </a:lnTo>
                <a:lnTo>
                  <a:pt x="9044203" y="7284844"/>
                </a:lnTo>
                <a:lnTo>
                  <a:pt x="0" y="7284844"/>
                </a:lnTo>
                <a:lnTo>
                  <a:pt x="0" y="0"/>
                </a:lnTo>
                <a:close/>
              </a:path>
            </a:pathLst>
          </a:custGeom>
          <a:blipFill>
            <a:blip r:embed="rId3"/>
            <a:stretch>
              <a:fillRect/>
            </a:stretch>
          </a:blipFill>
        </p:spPr>
        <p:txBody>
          <a:bodyPr/>
          <a:lstStyle/>
          <a:p>
            <a:endParaRPr lang="en-IN"/>
          </a:p>
        </p:txBody>
      </p:sp>
      <p:sp>
        <p:nvSpPr>
          <p:cNvPr id="6" name="Freeform 6"/>
          <p:cNvSpPr/>
          <p:nvPr/>
        </p:nvSpPr>
        <p:spPr>
          <a:xfrm>
            <a:off x="10528060" y="2114944"/>
            <a:ext cx="3360643" cy="2331910"/>
          </a:xfrm>
          <a:custGeom>
            <a:avLst/>
            <a:gdLst/>
            <a:ahLst/>
            <a:cxnLst/>
            <a:rect l="l" t="t" r="r" b="b"/>
            <a:pathLst>
              <a:path w="5724858" h="3817765">
                <a:moveTo>
                  <a:pt x="0" y="0"/>
                </a:moveTo>
                <a:lnTo>
                  <a:pt x="5724858" y="0"/>
                </a:lnTo>
                <a:lnTo>
                  <a:pt x="5724858" y="3817765"/>
                </a:lnTo>
                <a:lnTo>
                  <a:pt x="0" y="3817765"/>
                </a:lnTo>
                <a:lnTo>
                  <a:pt x="0" y="0"/>
                </a:lnTo>
                <a:close/>
              </a:path>
            </a:pathLst>
          </a:custGeom>
          <a:blipFill>
            <a:blip r:embed="rId4"/>
            <a:stretch>
              <a:fillRect/>
            </a:stretch>
          </a:blipFill>
        </p:spPr>
        <p:txBody>
          <a:bodyPr/>
          <a:lstStyle/>
          <a:p>
            <a:endParaRPr lang="en-IN"/>
          </a:p>
        </p:txBody>
      </p:sp>
      <p:sp>
        <p:nvSpPr>
          <p:cNvPr id="7" name="Freeform 7"/>
          <p:cNvSpPr/>
          <p:nvPr/>
        </p:nvSpPr>
        <p:spPr>
          <a:xfrm>
            <a:off x="10189675" y="5010065"/>
            <a:ext cx="3145325" cy="2190836"/>
          </a:xfrm>
          <a:custGeom>
            <a:avLst/>
            <a:gdLst/>
            <a:ahLst/>
            <a:cxnLst/>
            <a:rect l="l" t="t" r="r" b="b"/>
            <a:pathLst>
              <a:path w="4553044" h="3645281">
                <a:moveTo>
                  <a:pt x="0" y="0"/>
                </a:moveTo>
                <a:lnTo>
                  <a:pt x="4553044" y="0"/>
                </a:lnTo>
                <a:lnTo>
                  <a:pt x="4553044" y="3645281"/>
                </a:lnTo>
                <a:lnTo>
                  <a:pt x="0" y="3645281"/>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Raster Versus Vector: Beyond The Basic Definition</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1" name="TextBox 10">
            <a:extLst>
              <a:ext uri="{FF2B5EF4-FFF2-40B4-BE49-F238E27FC236}">
                <a16:creationId xmlns:a16="http://schemas.microsoft.com/office/drawing/2014/main" id="{4F5614FD-4716-085E-8740-F9C6DC8BCED9}"/>
              </a:ext>
            </a:extLst>
          </p:cNvPr>
          <p:cNvSpPr txBox="1"/>
          <p:nvPr/>
        </p:nvSpPr>
        <p:spPr>
          <a:xfrm>
            <a:off x="14137753" y="2701741"/>
            <a:ext cx="3469143" cy="2862322"/>
          </a:xfrm>
          <a:prstGeom prst="rect">
            <a:avLst/>
          </a:prstGeom>
          <a:noFill/>
        </p:spPr>
        <p:txBody>
          <a:bodyPr wrap="square">
            <a:spAutoFit/>
          </a:bodyPr>
          <a:lstStyle/>
          <a:p>
            <a:pPr>
              <a:buNone/>
            </a:pPr>
            <a:r>
              <a:rPr lang="en-IN" b="1" dirty="0"/>
              <a:t>Raster  Examples:</a:t>
            </a:r>
            <a:r>
              <a:rPr lang="en-IN" dirty="0"/>
              <a:t> photographs, satellite images, medical images, camera images.</a:t>
            </a:r>
          </a:p>
          <a:p>
            <a:pPr>
              <a:buNone/>
            </a:pPr>
            <a:r>
              <a:rPr lang="en-IN" dirty="0"/>
              <a:t>Why important:</a:t>
            </a:r>
          </a:p>
          <a:p>
            <a:pPr marL="342900" lvl="0" indent="-342900">
              <a:buFont typeface="Arial" panose="020B0604020202020204" pitchFamily="34" charset="0"/>
              <a:buChar char="•"/>
            </a:pPr>
            <a:r>
              <a:rPr lang="en-IN" dirty="0"/>
              <a:t>Captures </a:t>
            </a:r>
            <a:r>
              <a:rPr lang="en-IN" b="1" dirty="0"/>
              <a:t>fine visual details</a:t>
            </a:r>
            <a:r>
              <a:rPr lang="en-IN" dirty="0"/>
              <a:t>, textures, colours and intensity. </a:t>
            </a:r>
          </a:p>
          <a:p>
            <a:pPr marL="342900" lvl="0" indent="-342900">
              <a:buFont typeface="Arial" panose="020B0604020202020204" pitchFamily="34" charset="0"/>
              <a:buChar char="•"/>
            </a:pPr>
            <a:r>
              <a:rPr lang="en-IN" dirty="0"/>
              <a:t>Suitable when the information is naturally sampled over space. </a:t>
            </a:r>
          </a:p>
          <a:p>
            <a:pPr marL="342900" lvl="0" indent="-342900">
              <a:buFont typeface="Arial" panose="020B0604020202020204" pitchFamily="34" charset="0"/>
              <a:buChar char="•"/>
            </a:pPr>
            <a:r>
              <a:rPr lang="en-IN" dirty="0"/>
              <a:t>Quality depends on </a:t>
            </a:r>
            <a:r>
              <a:rPr lang="en-IN" b="1" dirty="0"/>
              <a:t>resolution</a:t>
            </a:r>
            <a:endParaRPr lang="en-IN" dirty="0"/>
          </a:p>
        </p:txBody>
      </p:sp>
      <p:sp>
        <p:nvSpPr>
          <p:cNvPr id="13" name="TextBox 12">
            <a:extLst>
              <a:ext uri="{FF2B5EF4-FFF2-40B4-BE49-F238E27FC236}">
                <a16:creationId xmlns:a16="http://schemas.microsoft.com/office/drawing/2014/main" id="{DB2B3F51-121D-C812-24B9-2319E42D8440}"/>
              </a:ext>
            </a:extLst>
          </p:cNvPr>
          <p:cNvSpPr txBox="1"/>
          <p:nvPr/>
        </p:nvSpPr>
        <p:spPr>
          <a:xfrm>
            <a:off x="8915400" y="7704856"/>
            <a:ext cx="9152164" cy="1477328"/>
          </a:xfrm>
          <a:prstGeom prst="rect">
            <a:avLst/>
          </a:prstGeom>
          <a:noFill/>
        </p:spPr>
        <p:txBody>
          <a:bodyPr wrap="square">
            <a:spAutoFit/>
          </a:bodyPr>
          <a:lstStyle/>
          <a:p>
            <a:pPr>
              <a:buNone/>
            </a:pPr>
            <a:r>
              <a:rPr lang="en-IN" b="1" dirty="0"/>
              <a:t>Vector Examples:</a:t>
            </a:r>
            <a:r>
              <a:rPr lang="en-IN" dirty="0"/>
              <a:t> logos, maps, diagrams, icons, geometric drawings.</a:t>
            </a:r>
          </a:p>
          <a:p>
            <a:pPr>
              <a:buNone/>
            </a:pPr>
            <a:r>
              <a:rPr lang="en-IN" dirty="0"/>
              <a:t>Why important:</a:t>
            </a:r>
          </a:p>
          <a:p>
            <a:pPr marL="342900" lvl="0" indent="-342900">
              <a:buFont typeface="Arial" panose="020B0604020202020204" pitchFamily="34" charset="0"/>
              <a:buChar char="•"/>
            </a:pPr>
            <a:r>
              <a:rPr lang="en-IN" dirty="0"/>
              <a:t>Can be </a:t>
            </a:r>
            <a:r>
              <a:rPr lang="en-IN" b="1" dirty="0"/>
              <a:t>scaled up or down</a:t>
            </a:r>
            <a:r>
              <a:rPr lang="en-IN" dirty="0"/>
              <a:t> without inherently losing geometric precision. </a:t>
            </a:r>
          </a:p>
          <a:p>
            <a:pPr marL="342900" lvl="0" indent="-342900">
              <a:buFont typeface="Arial" panose="020B0604020202020204" pitchFamily="34" charset="0"/>
              <a:buChar char="•"/>
            </a:pPr>
            <a:r>
              <a:rPr lang="en-IN" dirty="0"/>
              <a:t>Excellent for lines, boundaries, shapes and diagrams. </a:t>
            </a:r>
          </a:p>
          <a:p>
            <a:pPr marL="342900" lvl="0" indent="-342900">
              <a:buFont typeface="Arial" panose="020B0604020202020204" pitchFamily="34" charset="0"/>
              <a:buChar char="•"/>
            </a:pPr>
            <a:r>
              <a:rPr lang="en-IN" dirty="0"/>
              <a:t>Often more compact when the graphic contains relatively few simple objects.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20C2C-5009-C28A-931F-8841867AD7B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B5E5EA4-E7B7-9E7C-6D0E-1C743EE2F93E}"/>
              </a:ext>
            </a:extLst>
          </p:cNvPr>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a:extLst>
              <a:ext uri="{FF2B5EF4-FFF2-40B4-BE49-F238E27FC236}">
                <a16:creationId xmlns:a16="http://schemas.microsoft.com/office/drawing/2014/main" id="{6872A6F9-2153-46CE-F7D9-E286E9D63F15}"/>
              </a:ext>
            </a:extLst>
          </p:cNvPr>
          <p:cNvGrpSpPr/>
          <p:nvPr/>
        </p:nvGrpSpPr>
        <p:grpSpPr>
          <a:xfrm>
            <a:off x="16629593" y="463796"/>
            <a:ext cx="1259415" cy="2331920"/>
            <a:chOff x="0" y="0"/>
            <a:chExt cx="1679219" cy="3109227"/>
          </a:xfrm>
        </p:grpSpPr>
        <p:sp>
          <p:nvSpPr>
            <p:cNvPr id="4" name="Freeform 4">
              <a:extLst>
                <a:ext uri="{FF2B5EF4-FFF2-40B4-BE49-F238E27FC236}">
                  <a16:creationId xmlns:a16="http://schemas.microsoft.com/office/drawing/2014/main" id="{12D164F1-5BB1-DA6F-3D0F-DBC053D1CBDA}"/>
                </a:ext>
              </a:extLst>
            </p:cNvPr>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8" name="TextBox 8">
            <a:extLst>
              <a:ext uri="{FF2B5EF4-FFF2-40B4-BE49-F238E27FC236}">
                <a16:creationId xmlns:a16="http://schemas.microsoft.com/office/drawing/2014/main" id="{19506CC3-1C4C-B8DC-75B1-F9BED3B086FE}"/>
              </a:ext>
            </a:extLst>
          </p:cNvPr>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Raster Versus Vector: Beyond The Basic Definition</a:t>
            </a:r>
          </a:p>
        </p:txBody>
      </p:sp>
      <p:sp>
        <p:nvSpPr>
          <p:cNvPr id="9" name="TextBox 9">
            <a:extLst>
              <a:ext uri="{FF2B5EF4-FFF2-40B4-BE49-F238E27FC236}">
                <a16:creationId xmlns:a16="http://schemas.microsoft.com/office/drawing/2014/main" id="{3196786A-F9A1-0978-9DFD-69E424CCEBAA}"/>
              </a:ext>
            </a:extLst>
          </p:cNvPr>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pic>
        <p:nvPicPr>
          <p:cNvPr id="11" name="Picture 10">
            <a:extLst>
              <a:ext uri="{FF2B5EF4-FFF2-40B4-BE49-F238E27FC236}">
                <a16:creationId xmlns:a16="http://schemas.microsoft.com/office/drawing/2014/main" id="{19A8B227-8FAB-92E8-E373-3EA529175FAA}"/>
              </a:ext>
            </a:extLst>
          </p:cNvPr>
          <p:cNvPicPr>
            <a:picLocks noChangeAspect="1"/>
          </p:cNvPicPr>
          <p:nvPr/>
        </p:nvPicPr>
        <p:blipFill>
          <a:blip r:embed="rId3"/>
          <a:stretch>
            <a:fillRect/>
          </a:stretch>
        </p:blipFill>
        <p:spPr>
          <a:xfrm>
            <a:off x="415340" y="2091684"/>
            <a:ext cx="10545647" cy="4982270"/>
          </a:xfrm>
          <a:prstGeom prst="rect">
            <a:avLst/>
          </a:prstGeom>
        </p:spPr>
      </p:pic>
      <p:sp>
        <p:nvSpPr>
          <p:cNvPr id="13" name="TextBox 12">
            <a:extLst>
              <a:ext uri="{FF2B5EF4-FFF2-40B4-BE49-F238E27FC236}">
                <a16:creationId xmlns:a16="http://schemas.microsoft.com/office/drawing/2014/main" id="{40921789-8AB5-679B-736A-D9CFDC8C3B88}"/>
              </a:ext>
            </a:extLst>
          </p:cNvPr>
          <p:cNvSpPr txBox="1"/>
          <p:nvPr/>
        </p:nvSpPr>
        <p:spPr>
          <a:xfrm>
            <a:off x="11734800" y="2566753"/>
            <a:ext cx="4800600" cy="1708160"/>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IN" sz="1800" b="1" i="0" spc="10">
                <a:solidFill>
                  <a:schemeClr val="tx1"/>
                </a:solidFill>
                <a:effectLst/>
                <a:latin typeface="+mn-lt"/>
              </a:rPr>
              <a:t>1. Pixel:</a:t>
            </a:r>
            <a:endParaRPr lang="en-IN" sz="1800" b="1" i="0" spc="0">
              <a:solidFill>
                <a:schemeClr val="tx1"/>
              </a:solidFill>
              <a:effectLst/>
              <a:latin typeface="+mn-lt"/>
            </a:endParaRPr>
          </a:p>
          <a:p>
            <a:pPr marL="0" marR="0" indent="0" algn="just" rtl="0" fontAlgn="base">
              <a:spcAft>
                <a:spcPts val="750"/>
              </a:spcAft>
              <a:buNone/>
            </a:pPr>
            <a:r>
              <a:rPr lang="en-IN" sz="1800" b="0" i="0" spc="12">
                <a:solidFill>
                  <a:schemeClr val="tx1"/>
                </a:solidFill>
                <a:effectLst/>
                <a:latin typeface="+mn-lt"/>
              </a:rPr>
              <a:t>In Computer graphics, a pixel, dot, or picture element is a physical point in a picture. A pixel is simply the smallest addressable element of a picture represented on a screen</a:t>
            </a:r>
            <a:endParaRPr lang="en-IN" sz="1350" b="0" i="0" spc="10" dirty="0">
              <a:solidFill>
                <a:srgbClr val="273239"/>
              </a:solidFill>
              <a:effectLst/>
              <a:latin typeface="Nunito" pitchFamily="2" charset="0"/>
            </a:endParaRPr>
          </a:p>
        </p:txBody>
      </p:sp>
      <p:sp>
        <p:nvSpPr>
          <p:cNvPr id="15" name="TextBox 14">
            <a:extLst>
              <a:ext uri="{FF2B5EF4-FFF2-40B4-BE49-F238E27FC236}">
                <a16:creationId xmlns:a16="http://schemas.microsoft.com/office/drawing/2014/main" id="{931B8318-6FAA-2F2E-F3B3-9574D6BDECDA}"/>
              </a:ext>
            </a:extLst>
          </p:cNvPr>
          <p:cNvSpPr txBox="1"/>
          <p:nvPr/>
        </p:nvSpPr>
        <p:spPr>
          <a:xfrm>
            <a:off x="11696700" y="4639130"/>
            <a:ext cx="5372100" cy="1708160"/>
          </a:xfrm>
          <a:prstGeom prst="rect">
            <a:avLst/>
          </a:prstGeom>
          <a:noFill/>
        </p:spPr>
        <p:txBody>
          <a:bodyPr wrap="square">
            <a:spAutoFit/>
          </a:bodyPr>
          <a:lstStyle/>
          <a:p>
            <a:pPr marL="0" marR="0" indent="0" algn="l" fontAlgn="base">
              <a:lnSpc>
                <a:spcPct val="100000"/>
              </a:lnSpc>
              <a:spcBef>
                <a:spcPts val="1800"/>
              </a:spcBef>
              <a:spcAft>
                <a:spcPts val="1800"/>
              </a:spcAft>
              <a:buNone/>
            </a:pPr>
            <a:r>
              <a:rPr lang="en-IN" sz="1800" b="1" i="0" spc="10">
                <a:solidFill>
                  <a:schemeClr val="tx1"/>
                </a:solidFill>
                <a:effectLst/>
                <a:latin typeface="+mn-lt"/>
              </a:rPr>
              <a:t> 2. Bitmap:</a:t>
            </a:r>
            <a:endParaRPr lang="en-IN" sz="1800" b="1" i="0" spc="0">
              <a:solidFill>
                <a:schemeClr val="tx1"/>
              </a:solidFill>
              <a:effectLst/>
              <a:latin typeface="+mn-lt"/>
            </a:endParaRPr>
          </a:p>
          <a:p>
            <a:pPr marL="0" marR="0" indent="0" algn="just" rtl="0" fontAlgn="base">
              <a:spcAft>
                <a:spcPts val="750"/>
              </a:spcAft>
              <a:buNone/>
            </a:pPr>
            <a:r>
              <a:rPr lang="en-IN" sz="1800" b="0" i="0" spc="12">
                <a:solidFill>
                  <a:schemeClr val="tx1"/>
                </a:solidFill>
                <a:effectLst/>
                <a:latin typeface="+mn-lt"/>
              </a:rPr>
              <a:t>In computer graphics, a bitmap is a mapping from some domain (for example, a range of integers) to bits, that is, values which are zero or one. It is also called a bit array or bitmap index. </a:t>
            </a:r>
            <a:endParaRPr lang="en-IN" sz="1350" b="0" i="0" spc="10" dirty="0">
              <a:solidFill>
                <a:srgbClr val="273239"/>
              </a:solidFill>
              <a:effectLst/>
              <a:latin typeface="Nunito" pitchFamily="2" charset="0"/>
            </a:endParaRPr>
          </a:p>
        </p:txBody>
      </p:sp>
      <p:sp>
        <p:nvSpPr>
          <p:cNvPr id="17" name="TextBox 16">
            <a:extLst>
              <a:ext uri="{FF2B5EF4-FFF2-40B4-BE49-F238E27FC236}">
                <a16:creationId xmlns:a16="http://schemas.microsoft.com/office/drawing/2014/main" id="{8A156ED9-CD56-57C0-C314-EA5AD3730435}"/>
              </a:ext>
            </a:extLst>
          </p:cNvPr>
          <p:cNvSpPr txBox="1"/>
          <p:nvPr/>
        </p:nvSpPr>
        <p:spPr>
          <a:xfrm>
            <a:off x="681104" y="7595151"/>
            <a:ext cx="4127047" cy="2444259"/>
          </a:xfrm>
          <a:prstGeom prst="rect">
            <a:avLst/>
          </a:prstGeom>
          <a:noFill/>
        </p:spPr>
        <p:txBody>
          <a:bodyPr wrap="square">
            <a:spAutoFit/>
          </a:bodyPr>
          <a:lstStyle/>
          <a:p>
            <a:pPr marL="0" marR="0" indent="0" algn="l" fontAlgn="base">
              <a:lnSpc>
                <a:spcPct val="100000"/>
              </a:lnSpc>
              <a:buNone/>
            </a:pPr>
            <a:r>
              <a:rPr lang="en-IN" sz="1800" b="1" i="0" spc="10" dirty="0">
                <a:solidFill>
                  <a:schemeClr val="tx1"/>
                </a:solidFill>
                <a:effectLst/>
                <a:latin typeface="+mn-lt"/>
              </a:rPr>
              <a:t>3.Raster Graphics</a:t>
            </a:r>
            <a:endParaRPr lang="en-IN" sz="1800" b="1" i="0" spc="0" dirty="0">
              <a:solidFill>
                <a:schemeClr val="tx1"/>
              </a:solidFill>
              <a:effectLst/>
              <a:latin typeface="+mn-lt"/>
            </a:endParaRPr>
          </a:p>
          <a:p>
            <a:pPr marL="0" marR="0" indent="0" algn="just" rtl="0" fontAlgn="base">
              <a:spcAft>
                <a:spcPts val="750"/>
              </a:spcAft>
              <a:buNone/>
            </a:pPr>
            <a:r>
              <a:rPr lang="en-IN" sz="1800" b="0" i="0" spc="12" dirty="0">
                <a:solidFill>
                  <a:schemeClr val="tx1"/>
                </a:solidFill>
                <a:effectLst/>
                <a:latin typeface="+mn-lt"/>
              </a:rPr>
              <a:t>Raster images use bit maps to store information. This means a large file needs a large bitmap.</a:t>
            </a:r>
          </a:p>
          <a:p>
            <a:pPr algn="just" fontAlgn="base">
              <a:spcAft>
                <a:spcPts val="750"/>
              </a:spcAft>
            </a:pPr>
            <a:r>
              <a:rPr lang="en-IN" dirty="0"/>
              <a:t>As an example, a 640 x 480 image requires information to be stored for 307,200 pixels</a:t>
            </a:r>
          </a:p>
          <a:p>
            <a:pPr algn="just" fontAlgn="base">
              <a:spcAft>
                <a:spcPts val="750"/>
              </a:spcAft>
            </a:pPr>
            <a:r>
              <a:rPr lang="en-IN" sz="1350" b="0" i="0" spc="10" dirty="0">
                <a:solidFill>
                  <a:srgbClr val="273239"/>
                </a:solidFill>
                <a:effectLst/>
                <a:latin typeface="Nunito" pitchFamily="2" charset="0"/>
              </a:rPr>
              <a:t>Eg: selfi</a:t>
            </a:r>
            <a:r>
              <a:rPr lang="en-IN" sz="1350" spc="10" dirty="0">
                <a:solidFill>
                  <a:srgbClr val="273239"/>
                </a:solidFill>
                <a:latin typeface="Nunito" pitchFamily="2" charset="0"/>
              </a:rPr>
              <a:t>e in raster image</a:t>
            </a:r>
            <a:endParaRPr lang="en-IN" sz="1350" b="0" i="0" spc="10" dirty="0">
              <a:solidFill>
                <a:srgbClr val="273239"/>
              </a:solidFill>
              <a:effectLst/>
              <a:latin typeface="Nunito" pitchFamily="2" charset="0"/>
            </a:endParaRPr>
          </a:p>
        </p:txBody>
      </p:sp>
      <p:sp>
        <p:nvSpPr>
          <p:cNvPr id="19" name="TextBox 18">
            <a:extLst>
              <a:ext uri="{FF2B5EF4-FFF2-40B4-BE49-F238E27FC236}">
                <a16:creationId xmlns:a16="http://schemas.microsoft.com/office/drawing/2014/main" id="{0FD575FD-6402-527D-CE6D-C47BC8DD8380}"/>
              </a:ext>
            </a:extLst>
          </p:cNvPr>
          <p:cNvSpPr txBox="1"/>
          <p:nvPr/>
        </p:nvSpPr>
        <p:spPr>
          <a:xfrm>
            <a:off x="6216769" y="7595151"/>
            <a:ext cx="4127047" cy="1754326"/>
          </a:xfrm>
          <a:prstGeom prst="rect">
            <a:avLst/>
          </a:prstGeom>
          <a:noFill/>
        </p:spPr>
        <p:txBody>
          <a:bodyPr wrap="square">
            <a:spAutoFit/>
          </a:bodyPr>
          <a:lstStyle/>
          <a:p>
            <a:pPr marL="0" marR="0" indent="0" algn="l" fontAlgn="base">
              <a:lnSpc>
                <a:spcPct val="100000"/>
              </a:lnSpc>
              <a:buNone/>
            </a:pPr>
            <a:r>
              <a:rPr lang="en-IN" sz="1800" b="1" i="0" spc="10" dirty="0">
                <a:solidFill>
                  <a:schemeClr val="tx1"/>
                </a:solidFill>
                <a:effectLst/>
                <a:latin typeface="+mn-lt"/>
              </a:rPr>
              <a:t>Vector Graphics</a:t>
            </a:r>
            <a:endParaRPr lang="en-IN" sz="1800" b="1" i="0" spc="0" dirty="0">
              <a:solidFill>
                <a:schemeClr val="tx1"/>
              </a:solidFill>
              <a:effectLst/>
              <a:latin typeface="+mn-lt"/>
            </a:endParaRPr>
          </a:p>
          <a:p>
            <a:pPr marL="0" marR="0" indent="0" algn="just" rtl="0" fontAlgn="base">
              <a:spcAft>
                <a:spcPts val="750"/>
              </a:spcAft>
              <a:buNone/>
            </a:pPr>
            <a:r>
              <a:rPr lang="en-IN" sz="1800" b="0" i="0" spc="12" dirty="0">
                <a:solidFill>
                  <a:schemeClr val="tx1"/>
                </a:solidFill>
                <a:effectLst/>
                <a:latin typeface="+mn-lt"/>
              </a:rPr>
              <a:t>Making use of sequential commands or mathematical statements or programs which place lines or shapes in a 2-D or 3-D environment is referred to as Vector Graphics. </a:t>
            </a:r>
            <a:endParaRPr lang="en-IN" sz="1350" b="0" i="0" spc="10" dirty="0">
              <a:solidFill>
                <a:srgbClr val="273239"/>
              </a:solidFill>
              <a:effectLst/>
              <a:latin typeface="Nunito" pitchFamily="2" charset="0"/>
            </a:endParaRPr>
          </a:p>
        </p:txBody>
      </p:sp>
      <p:sp>
        <p:nvSpPr>
          <p:cNvPr id="21" name="TextBox 20">
            <a:extLst>
              <a:ext uri="{FF2B5EF4-FFF2-40B4-BE49-F238E27FC236}">
                <a16:creationId xmlns:a16="http://schemas.microsoft.com/office/drawing/2014/main" id="{313234D6-C42D-8FC5-C169-938285C7E750}"/>
              </a:ext>
            </a:extLst>
          </p:cNvPr>
          <p:cNvSpPr txBox="1"/>
          <p:nvPr/>
        </p:nvSpPr>
        <p:spPr>
          <a:xfrm>
            <a:off x="11685814" y="6960749"/>
            <a:ext cx="5270047" cy="1477328"/>
          </a:xfrm>
          <a:prstGeom prst="rect">
            <a:avLst/>
          </a:prstGeom>
          <a:noFill/>
        </p:spPr>
        <p:txBody>
          <a:bodyPr wrap="square">
            <a:spAutoFit/>
          </a:bodyPr>
          <a:lstStyle/>
          <a:p>
            <a:pPr marL="0" marR="0" indent="0" algn="l" fontAlgn="base">
              <a:lnSpc>
                <a:spcPct val="100000"/>
              </a:lnSpc>
              <a:buNone/>
            </a:pPr>
            <a:r>
              <a:rPr lang="en-IN" sz="1800" b="1" i="0" spc="10" dirty="0">
                <a:solidFill>
                  <a:schemeClr val="tx1"/>
                </a:solidFill>
                <a:effectLst/>
                <a:latin typeface="+mn-lt"/>
              </a:rPr>
              <a:t>Conversions</a:t>
            </a:r>
            <a:endParaRPr lang="en-IN" sz="1800" b="1" i="0" spc="0" dirty="0">
              <a:solidFill>
                <a:schemeClr val="tx1"/>
              </a:solidFill>
              <a:effectLst/>
              <a:latin typeface="+mn-lt"/>
            </a:endParaRPr>
          </a:p>
          <a:p>
            <a:pPr marL="342900" marR="0" lvl="0" indent="-342900" algn="l" fontAlgn="base">
              <a:spcAft>
                <a:spcPts val="1800"/>
              </a:spcAft>
              <a:buFont typeface="+mj-lt"/>
              <a:buAutoNum type="arabicPeriod"/>
            </a:pPr>
            <a:r>
              <a:rPr lang="en-IN" sz="1800" b="1" i="0" spc="10" dirty="0">
                <a:solidFill>
                  <a:schemeClr val="tx1"/>
                </a:solidFill>
                <a:effectLst/>
                <a:latin typeface="+mn-lt"/>
              </a:rPr>
              <a:t>Vector to Raster:</a:t>
            </a:r>
            <a:r>
              <a:rPr lang="en-IN" sz="1800" b="0" i="0" spc="12" dirty="0">
                <a:solidFill>
                  <a:schemeClr val="tx1"/>
                </a:solidFill>
                <a:effectLst/>
                <a:latin typeface="+mn-lt"/>
              </a:rPr>
              <a:t> Printers and display devices are raster devices. As a result, we need to convert vector images to raster format before they can be used </a:t>
            </a:r>
            <a:r>
              <a:rPr lang="en-IN" sz="1800" b="0" i="0" spc="12" dirty="0" err="1">
                <a:solidFill>
                  <a:schemeClr val="tx1"/>
                </a:solidFill>
                <a:effectLst/>
                <a:latin typeface="+mn-lt"/>
              </a:rPr>
              <a:t>i.e</a:t>
            </a:r>
            <a:r>
              <a:rPr lang="en-IN" sz="1800" b="0" i="0" spc="12" dirty="0">
                <a:solidFill>
                  <a:schemeClr val="tx1"/>
                </a:solidFill>
                <a:effectLst/>
                <a:latin typeface="+mn-lt"/>
              </a:rPr>
              <a:t> displayed or printed.</a:t>
            </a:r>
            <a:endParaRPr lang="en-IN" sz="1350" b="0" i="0" spc="10" dirty="0">
              <a:solidFill>
                <a:srgbClr val="273239"/>
              </a:solidFill>
              <a:effectLst/>
              <a:latin typeface="Nunito" pitchFamily="2" charset="0"/>
            </a:endParaRPr>
          </a:p>
        </p:txBody>
      </p:sp>
      <p:sp>
        <p:nvSpPr>
          <p:cNvPr id="23" name="TextBox 22">
            <a:extLst>
              <a:ext uri="{FF2B5EF4-FFF2-40B4-BE49-F238E27FC236}">
                <a16:creationId xmlns:a16="http://schemas.microsoft.com/office/drawing/2014/main" id="{7ABEE62C-EA17-BFB6-F635-726E77FDA031}"/>
              </a:ext>
            </a:extLst>
          </p:cNvPr>
          <p:cNvSpPr txBox="1"/>
          <p:nvPr/>
        </p:nvSpPr>
        <p:spPr>
          <a:xfrm>
            <a:off x="11702143" y="8610813"/>
            <a:ext cx="5773189" cy="1477328"/>
          </a:xfrm>
          <a:prstGeom prst="rect">
            <a:avLst/>
          </a:prstGeom>
          <a:noFill/>
        </p:spPr>
        <p:txBody>
          <a:bodyPr wrap="square">
            <a:spAutoFit/>
          </a:bodyPr>
          <a:lstStyle/>
          <a:p>
            <a:r>
              <a:rPr lang="en-IN" sz="1800" b="1" i="0" spc="10">
                <a:solidFill>
                  <a:schemeClr val="tx1"/>
                </a:solidFill>
                <a:effectLst/>
                <a:latin typeface="+mn-lt"/>
              </a:rPr>
              <a:t>2. Raster </a:t>
            </a:r>
            <a:r>
              <a:rPr lang="en-IN" sz="1800" b="1" i="0" spc="10" dirty="0">
                <a:solidFill>
                  <a:schemeClr val="tx1"/>
                </a:solidFill>
                <a:effectLst/>
                <a:latin typeface="+mn-lt"/>
              </a:rPr>
              <a:t>to Vector:</a:t>
            </a:r>
            <a:r>
              <a:rPr lang="en-IN" sz="1800" b="0" i="0" spc="12" dirty="0">
                <a:solidFill>
                  <a:schemeClr val="tx1"/>
                </a:solidFill>
                <a:effectLst/>
                <a:latin typeface="+mn-lt"/>
              </a:rPr>
              <a:t> Image tracing in computing can be referred to as vectorization and it's simply the conversion of raster images to vector images. An interesting application of vectorization is to update images and recover work.</a:t>
            </a:r>
            <a:endParaRPr lang="en-IN" dirty="0"/>
          </a:p>
        </p:txBody>
      </p:sp>
    </p:spTree>
    <p:extLst>
      <p:ext uri="{BB962C8B-B14F-4D97-AF65-F5344CB8AC3E}">
        <p14:creationId xmlns:p14="http://schemas.microsoft.com/office/powerpoint/2010/main" val="491087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2114943"/>
            <a:ext cx="14432811" cy="7446716"/>
          </a:xfrm>
          <a:custGeom>
            <a:avLst/>
            <a:gdLst/>
            <a:ahLst/>
            <a:cxnLst/>
            <a:rect l="l" t="t" r="r" b="b"/>
            <a:pathLst>
              <a:path w="14432811" h="7446716">
                <a:moveTo>
                  <a:pt x="0" y="0"/>
                </a:moveTo>
                <a:lnTo>
                  <a:pt x="14432811" y="0"/>
                </a:lnTo>
                <a:lnTo>
                  <a:pt x="14432811" y="7446716"/>
                </a:lnTo>
                <a:lnTo>
                  <a:pt x="0" y="7446716"/>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Raster Versus Vector: Beyond The Basic Definition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9552134"/>
            <a:ext cx="14432811" cy="523875"/>
          </a:xfrm>
          <a:prstGeom prst="rect">
            <a:avLst/>
          </a:prstGeom>
        </p:spPr>
        <p:txBody>
          <a:bodyPr lIns="0" tIns="0" rIns="0" bIns="0" rtlCol="0" anchor="t">
            <a:spAutoFit/>
          </a:bodyPr>
          <a:lstStyle/>
          <a:p>
            <a:pPr algn="l">
              <a:lnSpc>
                <a:spcPts val="3600"/>
              </a:lnSpc>
            </a:pPr>
            <a:r>
              <a:rPr lang="en-US" sz="3000" i="1" dirty="0">
                <a:solidFill>
                  <a:srgbClr val="000000"/>
                </a:solidFill>
                <a:latin typeface="Calibri (MS) Italics"/>
                <a:ea typeface="Calibri (MS) Italics"/>
                <a:cs typeface="Calibri (MS) Italics"/>
                <a:sym typeface="Calibri (MS) Italics"/>
              </a:rPr>
              <a:t>Source: </a:t>
            </a:r>
            <a:r>
              <a:rPr lang="en-US" sz="3000" i="1" u="sng" dirty="0">
                <a:solidFill>
                  <a:srgbClr val="000000"/>
                </a:solidFill>
                <a:latin typeface="Calibri (MS) Italics"/>
                <a:ea typeface="Calibri (MS) Italics"/>
                <a:cs typeface="Calibri (MS) Italics"/>
                <a:sym typeface="Calibri (MS) Italics"/>
                <a:hlinkClick r:id="rId4" tooltip="https://www.geeksforgeeks.org/computer-graphics/vector-vs-raster-graphics/"/>
              </a:rPr>
              <a:t>https://www.geeksforgeeks.org/computer-graphics/vector-vs-raster-graphics/</a:t>
            </a:r>
          </a:p>
        </p:txBody>
      </p:sp>
      <p:sp>
        <p:nvSpPr>
          <p:cNvPr id="10" name="TextBox 9">
            <a:extLst>
              <a:ext uri="{FF2B5EF4-FFF2-40B4-BE49-F238E27FC236}">
                <a16:creationId xmlns:a16="http://schemas.microsoft.com/office/drawing/2014/main" id="{FCB50C5B-202C-5F3D-4246-4D640E26FD9C}"/>
              </a:ext>
            </a:extLst>
          </p:cNvPr>
          <p:cNvSpPr txBox="1"/>
          <p:nvPr/>
        </p:nvSpPr>
        <p:spPr>
          <a:xfrm>
            <a:off x="10668000" y="805870"/>
            <a:ext cx="4863860" cy="923330"/>
          </a:xfrm>
          <a:prstGeom prst="rect">
            <a:avLst/>
          </a:prstGeom>
          <a:noFill/>
        </p:spPr>
        <p:txBody>
          <a:bodyPr wrap="square">
            <a:spAutoFit/>
          </a:bodyPr>
          <a:lstStyle/>
          <a:p>
            <a:r>
              <a:rPr lang="en-IN" b="1" dirty="0"/>
              <a:t>Raster tells us "what is present at each pixel," while vector tells us "what shapes/objects exist and where they 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Raster Versus Vector: Beyond The Basic Definition</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5" y="2048268"/>
            <a:ext cx="10367896" cy="7386638"/>
          </a:xfrm>
          <a:prstGeom prst="rect">
            <a:avLst/>
          </a:prstGeom>
        </p:spPr>
        <p:txBody>
          <a:bodyPr wrap="square"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Why This Matters For Visualization</a:t>
            </a:r>
          </a:p>
          <a:p>
            <a:pPr algn="l">
              <a:lnSpc>
                <a:spcPts val="3600"/>
              </a:lnSpc>
            </a:pPr>
            <a:r>
              <a:rPr lang="en-US" sz="3000" dirty="0">
                <a:solidFill>
                  <a:srgbClr val="000000"/>
                </a:solidFill>
                <a:latin typeface="Calibri (MS)"/>
                <a:ea typeface="Calibri (MS)"/>
                <a:cs typeface="Calibri (MS)"/>
                <a:sym typeface="Calibri (MS)"/>
              </a:rPr>
              <a:t>When scaling a raster image: </a:t>
            </a:r>
            <a:r>
              <a:rPr lang="en-US" sz="3000" b="1" dirty="0">
                <a:solidFill>
                  <a:srgbClr val="000000"/>
                </a:solidFill>
                <a:latin typeface="Calibri (MS) Bold"/>
                <a:ea typeface="Calibri (MS) Bold"/>
                <a:cs typeface="Calibri (MS) Bold"/>
                <a:sym typeface="Calibri (MS) Bold"/>
              </a:rPr>
              <a:t>new pixels ← interpolation</a:t>
            </a:r>
          </a:p>
          <a:p>
            <a:pPr algn="l">
              <a:lnSpc>
                <a:spcPts val="3600"/>
              </a:lnSpc>
            </a:pPr>
            <a:r>
              <a:rPr lang="en-US" sz="3000" dirty="0">
                <a:solidFill>
                  <a:srgbClr val="000000"/>
                </a:solidFill>
                <a:latin typeface="Calibri (MS)"/>
                <a:ea typeface="Calibri (MS)"/>
                <a:cs typeface="Calibri (MS)"/>
                <a:sym typeface="Calibri (MS)"/>
              </a:rPr>
              <a:t>Information that was never sampled cannot simply be recovered.</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For vector graphics: </a:t>
            </a:r>
            <a:r>
              <a:rPr lang="en-US" sz="3000" b="1" dirty="0">
                <a:solidFill>
                  <a:srgbClr val="000000"/>
                </a:solidFill>
                <a:latin typeface="Calibri (MS) Bold"/>
                <a:ea typeface="Calibri (MS) Bold"/>
                <a:cs typeface="Calibri (MS) Bold"/>
                <a:sym typeface="Calibri (MS) Bold"/>
              </a:rPr>
              <a:t>geometry → new rasterization</a:t>
            </a:r>
          </a:p>
          <a:p>
            <a:pPr algn="l">
              <a:lnSpc>
                <a:spcPts val="3600"/>
              </a:lnSpc>
            </a:pPr>
            <a:r>
              <a:rPr lang="en-US" sz="3000" dirty="0">
                <a:solidFill>
                  <a:srgbClr val="000000"/>
                </a:solidFill>
                <a:latin typeface="Calibri (MS)"/>
                <a:ea typeface="Calibri (MS)"/>
                <a:cs typeface="Calibri (MS)"/>
                <a:sym typeface="Calibri (MS)"/>
              </a:rPr>
              <a:t>Therefore, scaling does not inherently reduce geometric precision.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But there is a trade-off:</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Vector complexity can become </a:t>
            </a:r>
            <a:r>
              <a:rPr lang="en-US" sz="3000" b="1" dirty="0">
                <a:solidFill>
                  <a:srgbClr val="000000"/>
                </a:solidFill>
                <a:latin typeface="Calibri (MS)"/>
                <a:ea typeface="Calibri (MS)"/>
                <a:cs typeface="Calibri (MS)"/>
                <a:sym typeface="Calibri (MS)"/>
              </a:rPr>
              <a:t>expensive</a:t>
            </a:r>
            <a:r>
              <a:rPr lang="en-US" sz="3000" dirty="0">
                <a:solidFill>
                  <a:srgbClr val="000000"/>
                </a:solidFill>
                <a:latin typeface="Calibri (MS)"/>
                <a:ea typeface="Calibri (MS)"/>
                <a:cs typeface="Calibri (MS)"/>
                <a:sym typeface="Calibri (MS)"/>
              </a:rPr>
              <a:t> when the number of </a:t>
            </a:r>
            <a:r>
              <a:rPr lang="en-US" sz="3000" b="1" dirty="0">
                <a:solidFill>
                  <a:srgbClr val="000000"/>
                </a:solidFill>
                <a:latin typeface="Calibri (MS)"/>
                <a:ea typeface="Calibri (MS)"/>
                <a:cs typeface="Calibri (MS)"/>
                <a:sym typeface="Calibri (MS)"/>
              </a:rPr>
              <a:t>graphical primitives becomes enormous</a:t>
            </a:r>
            <a:r>
              <a:rPr lang="en-US" sz="3000" dirty="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Complex vector graphics can become </a:t>
            </a:r>
            <a:r>
              <a:rPr lang="en-US" sz="3000" b="1" dirty="0">
                <a:solidFill>
                  <a:srgbClr val="000000"/>
                </a:solidFill>
                <a:latin typeface="Calibri (MS)"/>
                <a:ea typeface="Calibri (MS)"/>
                <a:cs typeface="Calibri (MS)"/>
                <a:sym typeface="Calibri (MS)"/>
              </a:rPr>
              <a:t>very large and slow to render, </a:t>
            </a:r>
            <a:r>
              <a:rPr lang="en-US" sz="3000" dirty="0">
                <a:solidFill>
                  <a:srgbClr val="000000"/>
                </a:solidFill>
                <a:latin typeface="Calibri (MS)"/>
                <a:ea typeface="Calibri (MS)"/>
                <a:cs typeface="Calibri (MS)"/>
                <a:sym typeface="Calibri (MS)"/>
              </a:rPr>
              <a:t>while simple vector graphics can be more compact than equivalent bitmaps. </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Takeaway: Resolution independence is a property of the representation—not a guarantee of unlimited visual detail.</a:t>
            </a:r>
          </a:p>
        </p:txBody>
      </p:sp>
      <p:sp>
        <p:nvSpPr>
          <p:cNvPr id="9" name="TextBox 8">
            <a:extLst>
              <a:ext uri="{FF2B5EF4-FFF2-40B4-BE49-F238E27FC236}">
                <a16:creationId xmlns:a16="http://schemas.microsoft.com/office/drawing/2014/main" id="{E4DDF498-A3CA-956F-025A-1F559FE10061}"/>
              </a:ext>
            </a:extLst>
          </p:cNvPr>
          <p:cNvSpPr txBox="1"/>
          <p:nvPr/>
        </p:nvSpPr>
        <p:spPr>
          <a:xfrm>
            <a:off x="11575068" y="662207"/>
            <a:ext cx="4572000" cy="4154984"/>
          </a:xfrm>
          <a:prstGeom prst="rect">
            <a:avLst/>
          </a:prstGeom>
          <a:noFill/>
        </p:spPr>
        <p:txBody>
          <a:bodyPr wrap="square">
            <a:spAutoFit/>
          </a:bodyPr>
          <a:lstStyle/>
          <a:p>
            <a:pPr>
              <a:buNone/>
            </a:pPr>
            <a:r>
              <a:rPr lang="en-IN" sz="2400" dirty="0"/>
              <a:t>Suppose the original image is:</a:t>
            </a:r>
          </a:p>
          <a:p>
            <a:pPr>
              <a:buNone/>
            </a:pPr>
            <a:r>
              <a:rPr lang="en-IN" sz="2400" b="1" dirty="0"/>
              <a:t>4 × 4 pixels</a:t>
            </a:r>
            <a:endParaRPr lang="en-IN" sz="2400" dirty="0"/>
          </a:p>
          <a:p>
            <a:pPr>
              <a:buNone/>
            </a:pPr>
            <a:r>
              <a:rPr lang="en-IN" sz="2400" dirty="0"/>
              <a:t>and you enlarge it to:</a:t>
            </a:r>
          </a:p>
          <a:p>
            <a:pPr>
              <a:buNone/>
            </a:pPr>
            <a:r>
              <a:rPr lang="en-IN" sz="2400" b="1" dirty="0"/>
              <a:t>8 × 8 pixels</a:t>
            </a:r>
            <a:endParaRPr lang="en-IN" sz="2400" dirty="0"/>
          </a:p>
          <a:p>
            <a:pPr>
              <a:buNone/>
            </a:pPr>
            <a:r>
              <a:rPr lang="en-IN" sz="2400" dirty="0"/>
              <a:t>The computer now needs </a:t>
            </a:r>
            <a:r>
              <a:rPr lang="en-IN" sz="2400" b="1" dirty="0"/>
              <a:t>64 pixels</a:t>
            </a:r>
            <a:r>
              <a:rPr lang="en-IN" sz="2400" dirty="0"/>
              <a:t>, but the original image only had </a:t>
            </a:r>
            <a:r>
              <a:rPr lang="en-IN" sz="2400" b="1" dirty="0"/>
              <a:t>16 pixels</a:t>
            </a:r>
            <a:r>
              <a:rPr lang="en-IN" sz="2400" dirty="0"/>
              <a:t>.</a:t>
            </a:r>
          </a:p>
          <a:p>
            <a:pPr>
              <a:buNone/>
            </a:pPr>
            <a:r>
              <a:rPr lang="en-IN" sz="2400" dirty="0"/>
              <a:t>So it has to </a:t>
            </a:r>
            <a:r>
              <a:rPr lang="en-IN" sz="2400" b="1" dirty="0"/>
              <a:t>estimate the values of the new pixels</a:t>
            </a:r>
            <a:r>
              <a:rPr lang="en-IN" sz="2400" dirty="0"/>
              <a:t> from nearby existing pixels. This process is called </a:t>
            </a:r>
            <a:r>
              <a:rPr lang="en-IN" sz="2400" b="1" dirty="0"/>
              <a:t>interpolation</a:t>
            </a:r>
            <a:r>
              <a:rPr lang="en-IN" sz="2400" dirty="0"/>
              <a:t>.</a:t>
            </a:r>
          </a:p>
        </p:txBody>
      </p:sp>
      <p:sp>
        <p:nvSpPr>
          <p:cNvPr id="11" name="TextBox 10">
            <a:extLst>
              <a:ext uri="{FF2B5EF4-FFF2-40B4-BE49-F238E27FC236}">
                <a16:creationId xmlns:a16="http://schemas.microsoft.com/office/drawing/2014/main" id="{507D43B4-5C88-C5AA-E153-B638AC131E34}"/>
              </a:ext>
            </a:extLst>
          </p:cNvPr>
          <p:cNvSpPr txBox="1"/>
          <p:nvPr/>
        </p:nvSpPr>
        <p:spPr>
          <a:xfrm>
            <a:off x="11803667" y="5418247"/>
            <a:ext cx="6085321" cy="3785652"/>
          </a:xfrm>
          <a:prstGeom prst="rect">
            <a:avLst/>
          </a:prstGeom>
          <a:noFill/>
        </p:spPr>
        <p:txBody>
          <a:bodyPr wrap="square">
            <a:spAutoFit/>
          </a:bodyPr>
          <a:lstStyle/>
          <a:p>
            <a:pPr>
              <a:buNone/>
            </a:pPr>
            <a:r>
              <a:rPr lang="en-IN" sz="2400" dirty="0"/>
              <a:t>For example, it may store:</a:t>
            </a:r>
          </a:p>
          <a:p>
            <a:pPr>
              <a:buNone/>
            </a:pPr>
            <a:r>
              <a:rPr lang="en-IN" sz="2400" dirty="0"/>
              <a:t>Draw a circle with centre (100,100) and radius 50.</a:t>
            </a:r>
          </a:p>
          <a:p>
            <a:pPr>
              <a:buNone/>
            </a:pPr>
            <a:r>
              <a:rPr lang="en-IN" sz="2400" dirty="0"/>
              <a:t>If you enlarge it, the computer doesn't have to invent new geometric information.</a:t>
            </a:r>
          </a:p>
          <a:p>
            <a:pPr>
              <a:buNone/>
            </a:pPr>
            <a:r>
              <a:rPr lang="en-IN" sz="2400" dirty="0"/>
              <a:t>It simply uses the </a:t>
            </a:r>
            <a:r>
              <a:rPr lang="en-IN" sz="2400" b="1" dirty="0"/>
              <a:t>same mathematical description</a:t>
            </a:r>
            <a:r>
              <a:rPr lang="en-IN" sz="2400" dirty="0"/>
              <a:t> and renders it at the new size.</a:t>
            </a:r>
          </a:p>
          <a:p>
            <a:pPr>
              <a:buNone/>
            </a:pPr>
            <a:r>
              <a:rPr lang="en-IN" sz="2400" dirty="0"/>
              <a:t>So:</a:t>
            </a:r>
          </a:p>
          <a:p>
            <a:pPr>
              <a:buNone/>
            </a:pPr>
            <a:r>
              <a:rPr lang="en-IN" sz="2400" b="1" dirty="0"/>
              <a:t>Vector → resize geometry → rasterize again → display</a:t>
            </a:r>
            <a:endParaRPr lang="en-IN" sz="2400" dirty="0"/>
          </a:p>
        </p:txBody>
      </p:sp>
      <p:sp>
        <p:nvSpPr>
          <p:cNvPr id="13" name="TextBox 12">
            <a:extLst>
              <a:ext uri="{FF2B5EF4-FFF2-40B4-BE49-F238E27FC236}">
                <a16:creationId xmlns:a16="http://schemas.microsoft.com/office/drawing/2014/main" id="{9427E790-969E-9EAA-375E-4D8E050A8F76}"/>
              </a:ext>
            </a:extLst>
          </p:cNvPr>
          <p:cNvSpPr txBox="1"/>
          <p:nvPr/>
        </p:nvSpPr>
        <p:spPr>
          <a:xfrm>
            <a:off x="8443845" y="9343290"/>
            <a:ext cx="9152164" cy="923330"/>
          </a:xfrm>
          <a:prstGeom prst="rect">
            <a:avLst/>
          </a:prstGeom>
          <a:noFill/>
        </p:spPr>
        <p:txBody>
          <a:bodyPr wrap="square">
            <a:spAutoFit/>
          </a:bodyPr>
          <a:lstStyle/>
          <a:p>
            <a:r>
              <a:rPr lang="en-IN" dirty="0"/>
              <a:t>Raster has a fixed set of sampled pixels. When enlarged, it has to estimate missing pixels. Vector stores geometry, so it can recreate the geometry at a new size. But vector is not infinitely efficient—very complex vector drawings can also become large and slow.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4247776" y="2654152"/>
            <a:ext cx="3973904" cy="807531"/>
          </a:xfrm>
          <a:custGeom>
            <a:avLst/>
            <a:gdLst/>
            <a:ahLst/>
            <a:cxnLst/>
            <a:rect l="l" t="t" r="r" b="b"/>
            <a:pathLst>
              <a:path w="3973904" h="807531">
                <a:moveTo>
                  <a:pt x="0" y="0"/>
                </a:moveTo>
                <a:lnTo>
                  <a:pt x="3973905" y="0"/>
                </a:lnTo>
                <a:lnTo>
                  <a:pt x="3973905" y="807532"/>
                </a:lnTo>
                <a:lnTo>
                  <a:pt x="0" y="807532"/>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Pixel Values And Image Intensity</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2048268"/>
            <a:ext cx="3971296" cy="523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Pixel Value ≠ Brightness</a:t>
            </a:r>
          </a:p>
        </p:txBody>
      </p:sp>
      <p:sp>
        <p:nvSpPr>
          <p:cNvPr id="9" name="TextBox 9"/>
          <p:cNvSpPr txBox="1"/>
          <p:nvPr/>
        </p:nvSpPr>
        <p:spPr>
          <a:xfrm>
            <a:off x="681104" y="2762643"/>
            <a:ext cx="3566672" cy="5238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For a grayscale image:</a:t>
            </a:r>
          </a:p>
        </p:txBody>
      </p:sp>
      <p:sp>
        <p:nvSpPr>
          <p:cNvPr id="10" name="TextBox 10"/>
          <p:cNvSpPr txBox="1"/>
          <p:nvPr/>
        </p:nvSpPr>
        <p:spPr>
          <a:xfrm>
            <a:off x="681104" y="3652184"/>
            <a:ext cx="15605258" cy="6467475"/>
          </a:xfrm>
          <a:prstGeom prst="rect">
            <a:avLst/>
          </a:prstGeom>
        </p:spPr>
        <p:txBody>
          <a:bodyPr lIns="0" tIns="0" rIns="0" bIns="0" rtlCol="0" anchor="t">
            <a:spAutoFit/>
          </a:bodyPr>
          <a:lstStyle/>
          <a:p>
            <a:pPr algn="l">
              <a:lnSpc>
                <a:spcPts val="3600"/>
              </a:lnSpc>
              <a:spcBef>
                <a:spcPct val="0"/>
              </a:spcBef>
            </a:pPr>
            <a:r>
              <a:rPr lang="en-US" sz="3000" dirty="0">
                <a:solidFill>
                  <a:srgbClr val="000000"/>
                </a:solidFill>
                <a:latin typeface="Calibri (MS)"/>
                <a:ea typeface="Calibri (MS)"/>
                <a:cs typeface="Calibri (MS)"/>
                <a:sym typeface="Calibri (MS)"/>
              </a:rPr>
              <a:t>The pixel value represents an encoded measurement/intensity.</a:t>
            </a:r>
          </a:p>
          <a:p>
            <a:pPr algn="l">
              <a:lnSpc>
                <a:spcPts val="3600"/>
              </a:lnSpc>
              <a:spcBef>
                <a:spcPct val="0"/>
              </a:spcBef>
            </a:pPr>
            <a:r>
              <a:rPr lang="en-US" sz="3000" dirty="0">
                <a:solidFill>
                  <a:srgbClr val="000000"/>
                </a:solidFill>
                <a:latin typeface="Calibri (MS)"/>
                <a:ea typeface="Calibri (MS)"/>
                <a:cs typeface="Calibri (MS)"/>
                <a:sym typeface="Calibri (MS)"/>
              </a:rPr>
              <a:t>For RGB: </a:t>
            </a:r>
            <a:r>
              <a:rPr lang="en-US" sz="3000" i="1" dirty="0">
                <a:solidFill>
                  <a:srgbClr val="000000"/>
                </a:solidFill>
                <a:latin typeface="Calibri (MS) Italics"/>
                <a:ea typeface="Calibri (MS) Italics"/>
                <a:cs typeface="Calibri (MS) Italics"/>
                <a:sym typeface="Calibri (MS) Italics"/>
              </a:rPr>
              <a:t>P = (R, G, B)</a:t>
            </a:r>
          </a:p>
          <a:p>
            <a:pPr algn="l">
              <a:lnSpc>
                <a:spcPts val="3600"/>
              </a:lnSpc>
              <a:spcBef>
                <a:spcPct val="0"/>
              </a:spcBef>
            </a:pPr>
            <a:r>
              <a:rPr lang="en-US" sz="3000" dirty="0">
                <a:solidFill>
                  <a:srgbClr val="000000"/>
                </a:solidFill>
                <a:latin typeface="Calibri (MS)"/>
                <a:ea typeface="Calibri (MS)"/>
                <a:cs typeface="Calibri (MS)"/>
                <a:sym typeface="Calibri (MS)"/>
              </a:rPr>
              <a:t>Each pixel contains multiple channel values.</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b="1" dirty="0">
                <a:solidFill>
                  <a:srgbClr val="000000"/>
                </a:solidFill>
                <a:latin typeface="Calibri (MS) Bold"/>
                <a:ea typeface="Calibri (MS) Bold"/>
                <a:cs typeface="Calibri (MS) Bold"/>
                <a:sym typeface="Calibri (MS) Bold"/>
              </a:rPr>
              <a:t>From Pixels To Intensity</a:t>
            </a:r>
          </a:p>
          <a:p>
            <a:pPr algn="l">
              <a:lnSpc>
                <a:spcPts val="3600"/>
              </a:lnSpc>
              <a:spcBef>
                <a:spcPct val="0"/>
              </a:spcBef>
            </a:pPr>
            <a:r>
              <a:rPr lang="en-US" sz="3000" dirty="0">
                <a:solidFill>
                  <a:srgbClr val="000000"/>
                </a:solidFill>
                <a:latin typeface="Calibri (MS)"/>
                <a:ea typeface="Calibri (MS)"/>
                <a:cs typeface="Calibri (MS)"/>
                <a:sym typeface="Calibri (MS)"/>
              </a:rPr>
              <a:t>A color image can be represented through:</a:t>
            </a:r>
          </a:p>
          <a:p>
            <a:pPr marL="647700" lvl="1" indent="-323850"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Red channel</a:t>
            </a:r>
          </a:p>
          <a:p>
            <a:pPr marL="647700" lvl="1" indent="-323850"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Green channel</a:t>
            </a:r>
          </a:p>
          <a:p>
            <a:pPr marL="647700" lvl="1" indent="-323850"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Blue channel</a:t>
            </a:r>
          </a:p>
          <a:p>
            <a:pPr marL="647700" lvl="1" indent="-323850" algn="l">
              <a:lnSpc>
                <a:spcPts val="3600"/>
              </a:lnSpc>
              <a:spcBef>
                <a:spcPct val="0"/>
              </a:spcBef>
              <a:buFont typeface="Arial"/>
              <a:buChar char="•"/>
            </a:pPr>
            <a:r>
              <a:rPr lang="en-US" sz="3000" dirty="0">
                <a:solidFill>
                  <a:srgbClr val="000000"/>
                </a:solidFill>
                <a:latin typeface="Calibri (MS)"/>
                <a:ea typeface="Calibri (MS)"/>
                <a:cs typeface="Calibri (MS)"/>
                <a:sym typeface="Calibri (MS)"/>
              </a:rPr>
              <a:t>Luminance/intensity representation</a:t>
            </a:r>
          </a:p>
          <a:p>
            <a:pPr algn="l">
              <a:lnSpc>
                <a:spcPts val="3600"/>
              </a:lnSpc>
              <a:spcBef>
                <a:spcPct val="0"/>
              </a:spcBef>
            </a:pPr>
            <a:r>
              <a:rPr lang="en-US" sz="3000" dirty="0">
                <a:solidFill>
                  <a:srgbClr val="000000"/>
                </a:solidFill>
                <a:latin typeface="Calibri (MS)"/>
                <a:ea typeface="Calibri (MS)"/>
                <a:cs typeface="Calibri (MS)"/>
                <a:sym typeface="Calibri (MS)"/>
              </a:rPr>
              <a:t>Conceptually: </a:t>
            </a:r>
            <a:r>
              <a:rPr lang="en-US" sz="3000" i="1" dirty="0">
                <a:solidFill>
                  <a:srgbClr val="000000"/>
                </a:solidFill>
                <a:latin typeface="Calibri (MS) Italics"/>
                <a:ea typeface="Calibri (MS) Italics"/>
                <a:cs typeface="Calibri (MS) Italics"/>
                <a:sym typeface="Calibri (MS) Italics"/>
              </a:rPr>
              <a:t>RGB → luminance</a:t>
            </a:r>
          </a:p>
          <a:p>
            <a:pPr algn="l">
              <a:lnSpc>
                <a:spcPts val="3600"/>
              </a:lnSpc>
              <a:spcBef>
                <a:spcPct val="0"/>
              </a:spcBef>
            </a:pPr>
            <a:endParaRPr lang="en-US" sz="3000" i="1" dirty="0">
              <a:solidFill>
                <a:srgbClr val="000000"/>
              </a:solidFill>
              <a:latin typeface="Calibri (MS) Italics"/>
              <a:ea typeface="Calibri (MS) Italics"/>
              <a:cs typeface="Calibri (MS) Italics"/>
              <a:sym typeface="Calibri (MS) Italics"/>
            </a:endParaRPr>
          </a:p>
          <a:p>
            <a:pPr algn="l">
              <a:lnSpc>
                <a:spcPts val="3600"/>
              </a:lnSpc>
              <a:spcBef>
                <a:spcPct val="0"/>
              </a:spcBef>
            </a:pPr>
            <a:r>
              <a:rPr lang="en-US" sz="3000" dirty="0">
                <a:solidFill>
                  <a:srgbClr val="000000"/>
                </a:solidFill>
                <a:latin typeface="Calibri (MS)"/>
                <a:ea typeface="Calibri (MS)"/>
                <a:cs typeface="Calibri (MS)"/>
                <a:sym typeface="Calibri (MS)"/>
              </a:rPr>
              <a:t>💡</a:t>
            </a:r>
            <a:r>
              <a:rPr lang="en-US" sz="3000" i="1" dirty="0">
                <a:solidFill>
                  <a:srgbClr val="000000"/>
                </a:solidFill>
                <a:latin typeface="Calibri (MS) Italics"/>
                <a:ea typeface="Calibri (MS) Italics"/>
                <a:cs typeface="Calibri (MS) Italics"/>
                <a:sym typeface="Calibri (MS) Italics"/>
              </a:rPr>
              <a:t>Two images can have identical spatial structure but very different perceptual readability if their luminance distributions differ.</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7D1E79D-CC8B-7B48-D65A-CB47DAD583EC}"/>
                  </a:ext>
                </a:extLst>
              </p:cNvPr>
              <p:cNvSpPr txBox="1"/>
              <p:nvPr/>
            </p:nvSpPr>
            <p:spPr>
              <a:xfrm>
                <a:off x="10717199" y="1975918"/>
                <a:ext cx="6889697" cy="5262979"/>
              </a:xfrm>
              <a:prstGeom prst="rect">
                <a:avLst/>
              </a:prstGeom>
              <a:noFill/>
            </p:spPr>
            <p:txBody>
              <a:bodyPr wrap="square">
                <a:spAutoFit/>
              </a:bodyPr>
              <a:lstStyle/>
              <a:p>
                <a:pPr>
                  <a:buNone/>
                </a:pPr>
                <a:r>
                  <a:rPr lang="en-IN" sz="2400" dirty="0"/>
                  <a:t>For a grayscale image, each pixel has </a:t>
                </a:r>
                <a:r>
                  <a:rPr lang="en-IN" sz="2400" b="1" dirty="0"/>
                  <a:t>one numerical value</a:t>
                </a:r>
                <a:r>
                  <a:rPr lang="en-IN" sz="2400" dirty="0"/>
                  <a:t>.</a:t>
                </a:r>
              </a:p>
              <a:p>
                <a:pPr>
                  <a:buNone/>
                </a:pPr>
                <a:r>
                  <a:rPr lang="en-IN" sz="2400" dirty="0"/>
                  <a:t>For example, with 8-bit grayscale:</a:t>
                </a:r>
              </a:p>
              <a:p>
                <a:pPr marL="342900" lvl="0" indent="-342900">
                  <a:buFont typeface="Arial" panose="020B0604020202020204" pitchFamily="34" charset="0"/>
                  <a:buChar char="•"/>
                </a:pPr>
                <a:r>
                  <a:rPr lang="en-IN" sz="2400" dirty="0">
                    <a:latin typeface="+mn-lt"/>
                  </a:rPr>
                  <a:t>0</a:t>
                </a:r>
                <a:r>
                  <a:rPr lang="en-IN" sz="2400" dirty="0"/>
                  <a:t> → very low intensity </a:t>
                </a:r>
              </a:p>
              <a:p>
                <a:pPr marL="342900" lvl="0" indent="-342900">
                  <a:buFont typeface="Arial" panose="020B0604020202020204" pitchFamily="34" charset="0"/>
                  <a:buChar char="•"/>
                </a:pPr>
                <a:r>
                  <a:rPr lang="en-IN" sz="2400" dirty="0">
                    <a:latin typeface="+mn-lt"/>
                  </a:rPr>
                  <a:t>128</a:t>
                </a:r>
                <a:r>
                  <a:rPr lang="en-IN" sz="2400" dirty="0"/>
                  <a:t> → intermediate intensity </a:t>
                </a:r>
              </a:p>
              <a:p>
                <a:pPr marL="342900" lvl="0" indent="-342900">
                  <a:buFont typeface="Arial" panose="020B0604020202020204" pitchFamily="34" charset="0"/>
                  <a:buChar char="•"/>
                </a:pPr>
                <a:r>
                  <a:rPr lang="en-IN" sz="2400" dirty="0">
                    <a:latin typeface="+mn-lt"/>
                  </a:rPr>
                  <a:t>255</a:t>
                </a:r>
                <a:r>
                  <a:rPr lang="en-IN" sz="2400" dirty="0"/>
                  <a:t> → high intensity </a:t>
                </a:r>
              </a:p>
              <a:p>
                <a:pPr>
                  <a:buNone/>
                </a:pPr>
                <a:r>
                  <a:rPr lang="en-IN" sz="2400" dirty="0"/>
                  <a:t>So the pixel value is basically </a:t>
                </a:r>
                <a:r>
                  <a:rPr lang="en-IN" sz="2400" b="1" dirty="0"/>
                  <a:t>data stored by the image</a:t>
                </a:r>
                <a:r>
                  <a:rPr lang="en-IN" sz="2400" dirty="0"/>
                  <a:t>.</a:t>
                </a:r>
              </a:p>
              <a:p>
                <a:pPr>
                  <a:buNone/>
                </a:pPr>
                <a:r>
                  <a:rPr lang="en-IN" sz="2400" dirty="0"/>
                  <a:t>For a colour image, one pixel has three values:</a:t>
                </a:r>
              </a:p>
              <a:p>
                <a:pPr>
                  <a:buNone/>
                </a:pPr>
                <a14:m>
                  <m:oMathPara xmlns:m="http://schemas.openxmlformats.org/officeDocument/2006/math">
                    <m:oMath>
                      <m:r>
                        <a:rPr lang="en-IN" sz="2400" i="1">
                          <a:latin typeface="Cambria Math" panose="02040503050406030204" pitchFamily="18" charset="0"/>
                        </a:rPr>
                        <m:t>𝑃</m:t>
                      </m:r>
                      <m:r>
                        <a:rPr lang="en-IN" sz="2400" i="0">
                          <a:latin typeface="Cambria Math" panose="02040503050406030204" pitchFamily="18" charset="0"/>
                        </a:rPr>
                        <m:t>=</m:t>
                      </m:r>
                      <m:d>
                        <m:dPr>
                          <m:sepChr m:val=","/>
                          <m:ctrlPr>
                            <a:rPr lang="en-IN" sz="2400" i="1">
                              <a:latin typeface="Cambria Math" panose="02040503050406030204" pitchFamily="18" charset="0"/>
                            </a:rPr>
                          </m:ctrlPr>
                        </m:dPr>
                        <m:e>
                          <m:r>
                            <a:rPr lang="en-IN" sz="2400" i="1">
                              <a:latin typeface="Cambria Math" panose="02040503050406030204" pitchFamily="18" charset="0"/>
                            </a:rPr>
                            <m:t>𝑅</m:t>
                          </m:r>
                        </m:e>
                        <m:e>
                          <m:r>
                            <a:rPr lang="en-IN" sz="2400" i="1">
                              <a:latin typeface="Cambria Math" panose="02040503050406030204" pitchFamily="18" charset="0"/>
                            </a:rPr>
                            <m:t>𝐺</m:t>
                          </m:r>
                        </m:e>
                        <m:e>
                          <m:r>
                            <a:rPr lang="en-IN" sz="2400" i="1">
                              <a:latin typeface="Cambria Math" panose="02040503050406030204" pitchFamily="18" charset="0"/>
                            </a:rPr>
                            <m:t>𝐵</m:t>
                          </m:r>
                        </m:e>
                      </m:d>
                    </m:oMath>
                  </m:oMathPara>
                </a14:m>
                <a:endParaRPr lang="en-IN" sz="2400" dirty="0"/>
              </a:p>
              <a:p>
                <a:pPr>
                  <a:buNone/>
                </a:pPr>
                <a:r>
                  <a:rPr lang="en-IN" sz="2400" dirty="0"/>
                  <a:t>For example:</a:t>
                </a:r>
              </a:p>
              <a:p>
                <a:pPr>
                  <a:buNone/>
                </a:pPr>
                <a14:m>
                  <m:oMathPara xmlns:m="http://schemas.openxmlformats.org/officeDocument/2006/math">
                    <m:oMath>
                      <m:r>
                        <a:rPr lang="en-IN" sz="2400" i="1">
                          <a:latin typeface="Cambria Math" panose="02040503050406030204" pitchFamily="18" charset="0"/>
                        </a:rPr>
                        <m:t>𝑃</m:t>
                      </m:r>
                      <m:r>
                        <a:rPr lang="en-IN" sz="2400" i="0">
                          <a:latin typeface="Cambria Math" panose="02040503050406030204" pitchFamily="18" charset="0"/>
                        </a:rPr>
                        <m:t>=</m:t>
                      </m:r>
                      <m:d>
                        <m:dPr>
                          <m:sepChr m:val=","/>
                          <m:ctrlPr>
                            <a:rPr lang="en-IN" sz="2400" i="0">
                              <a:latin typeface="Cambria Math" panose="02040503050406030204" pitchFamily="18" charset="0"/>
                            </a:rPr>
                          </m:ctrlPr>
                        </m:dPr>
                        <m:e>
                          <m:r>
                            <a:rPr lang="en-IN" sz="2400" i="0">
                              <a:latin typeface="Cambria Math" panose="02040503050406030204" pitchFamily="18" charset="0"/>
                            </a:rPr>
                            <m:t>255</m:t>
                          </m:r>
                        </m:e>
                        <m:e>
                          <m:r>
                            <a:rPr lang="en-IN" sz="2400" i="0">
                              <a:latin typeface="Cambria Math" panose="02040503050406030204" pitchFamily="18" charset="0"/>
                            </a:rPr>
                            <m:t>0</m:t>
                          </m:r>
                        </m:e>
                        <m:e>
                          <m:r>
                            <a:rPr lang="en-IN" sz="2400" i="0">
                              <a:latin typeface="Cambria Math" panose="02040503050406030204" pitchFamily="18" charset="0"/>
                            </a:rPr>
                            <m:t>0</m:t>
                          </m:r>
                        </m:e>
                      </m:d>
                    </m:oMath>
                  </m:oMathPara>
                </a14:m>
                <a:endParaRPr lang="en-IN" sz="2400" dirty="0"/>
              </a:p>
              <a:p>
                <a:pPr>
                  <a:buNone/>
                </a:pPr>
                <a:r>
                  <a:rPr lang="en-IN" sz="2400" dirty="0"/>
                  <a:t>means the pixel has a high </a:t>
                </a:r>
                <a:r>
                  <a:rPr lang="en-IN" sz="2400" b="1" dirty="0"/>
                  <a:t>Red</a:t>
                </a:r>
                <a:r>
                  <a:rPr lang="en-IN" sz="2400" dirty="0"/>
                  <a:t> component and zero Green and Blue components.</a:t>
                </a:r>
              </a:p>
            </p:txBody>
          </p:sp>
        </mc:Choice>
        <mc:Fallback xmlns="">
          <p:sp>
            <p:nvSpPr>
              <p:cNvPr id="12" name="TextBox 11">
                <a:extLst>
                  <a:ext uri="{FF2B5EF4-FFF2-40B4-BE49-F238E27FC236}">
                    <a16:creationId xmlns:a16="http://schemas.microsoft.com/office/drawing/2014/main" id="{87D1E79D-CC8B-7B48-D65A-CB47DAD583EC}"/>
                  </a:ext>
                </a:extLst>
              </p:cNvPr>
              <p:cNvSpPr txBox="1">
                <a:spLocks noRot="1" noChangeAspect="1" noMove="1" noResize="1" noEditPoints="1" noAdjustHandles="1" noChangeArrowheads="1" noChangeShapeType="1" noTextEdit="1"/>
              </p:cNvSpPr>
              <p:nvPr/>
            </p:nvSpPr>
            <p:spPr>
              <a:xfrm>
                <a:off x="10717199" y="1975918"/>
                <a:ext cx="6889697" cy="5262979"/>
              </a:xfrm>
              <a:prstGeom prst="rect">
                <a:avLst/>
              </a:prstGeom>
              <a:blipFill>
                <a:blip r:embed="rId4"/>
                <a:stretch>
                  <a:fillRect l="-1327" t="-927" b="-1738"/>
                </a:stretch>
              </a:blipFill>
            </p:spPr>
            <p:txBody>
              <a:bodyPr/>
              <a:lstStyle/>
              <a:p>
                <a:r>
                  <a:rPr lang="en-IN">
                    <a:noFill/>
                  </a:rPr>
                  <a:t> </a:t>
                </a:r>
              </a:p>
            </p:txBody>
          </p:sp>
        </mc:Fallback>
      </mc:AlternateContent>
      <p:pic>
        <p:nvPicPr>
          <p:cNvPr id="18" name="Picture 17">
            <a:extLst>
              <a:ext uri="{FF2B5EF4-FFF2-40B4-BE49-F238E27FC236}">
                <a16:creationId xmlns:a16="http://schemas.microsoft.com/office/drawing/2014/main" id="{0D41422D-4A3A-7E81-DCC2-D0C4B0D4BFA4}"/>
              </a:ext>
            </a:extLst>
          </p:cNvPr>
          <p:cNvPicPr>
            <a:picLocks noChangeAspect="1"/>
          </p:cNvPicPr>
          <p:nvPr/>
        </p:nvPicPr>
        <p:blipFill>
          <a:blip r:embed="rId5"/>
          <a:stretch>
            <a:fillRect/>
          </a:stretch>
        </p:blipFill>
        <p:spPr>
          <a:xfrm>
            <a:off x="7846291" y="7391739"/>
            <a:ext cx="3479347" cy="1726342"/>
          </a:xfrm>
          <a:prstGeom prst="rect">
            <a:avLst/>
          </a:prstGeom>
        </p:spPr>
      </p:pic>
      <p:sp>
        <p:nvSpPr>
          <p:cNvPr id="20" name="TextBox 19">
            <a:extLst>
              <a:ext uri="{FF2B5EF4-FFF2-40B4-BE49-F238E27FC236}">
                <a16:creationId xmlns:a16="http://schemas.microsoft.com/office/drawing/2014/main" id="{435D703D-AA5B-5A90-226C-A7254CEBA192}"/>
              </a:ext>
            </a:extLst>
          </p:cNvPr>
          <p:cNvSpPr txBox="1"/>
          <p:nvPr/>
        </p:nvSpPr>
        <p:spPr>
          <a:xfrm>
            <a:off x="12115800" y="7195498"/>
            <a:ext cx="5181600" cy="1631216"/>
          </a:xfrm>
          <a:prstGeom prst="rect">
            <a:avLst/>
          </a:prstGeom>
          <a:noFill/>
        </p:spPr>
        <p:txBody>
          <a:bodyPr wrap="square">
            <a:spAutoFit/>
          </a:bodyPr>
          <a:lstStyle/>
          <a:p>
            <a:pPr algn="just"/>
            <a:r>
              <a:rPr lang="en-IN" sz="2000" b="1" dirty="0"/>
              <a:t>The pixel value is what the computer stores. Brightness is what our eyes perceive. RGB tells us the colour components, while luminance gives us information related to the light level that strongly affects visual readability.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5" name="Freeform 5"/>
          <p:cNvSpPr/>
          <p:nvPr/>
        </p:nvSpPr>
        <p:spPr>
          <a:xfrm>
            <a:off x="9797338" y="5477268"/>
            <a:ext cx="4087996" cy="1675645"/>
          </a:xfrm>
          <a:custGeom>
            <a:avLst/>
            <a:gdLst/>
            <a:ahLst/>
            <a:cxnLst/>
            <a:rect l="l" t="t" r="r" b="b"/>
            <a:pathLst>
              <a:path w="4087996" h="1675645">
                <a:moveTo>
                  <a:pt x="0" y="0"/>
                </a:moveTo>
                <a:lnTo>
                  <a:pt x="4087996" y="0"/>
                </a:lnTo>
                <a:lnTo>
                  <a:pt x="4087996" y="1675645"/>
                </a:lnTo>
                <a:lnTo>
                  <a:pt x="0" y="1675645"/>
                </a:lnTo>
                <a:lnTo>
                  <a:pt x="0" y="0"/>
                </a:lnTo>
                <a:close/>
              </a:path>
            </a:pathLst>
          </a:custGeom>
          <a:blipFill>
            <a:blip r:embed="rId4"/>
            <a:stretch>
              <a:fillRect/>
            </a:stretch>
          </a:blipFill>
        </p:spPr>
        <p:txBody>
          <a:bodyPr/>
          <a:lstStyle/>
          <a:p>
            <a:endParaRPr lang="en-IN"/>
          </a:p>
        </p:txBody>
      </p:sp>
      <p:sp>
        <p:nvSpPr>
          <p:cNvPr id="6" name="Freeform 6"/>
          <p:cNvSpPr/>
          <p:nvPr/>
        </p:nvSpPr>
        <p:spPr>
          <a:xfrm>
            <a:off x="9797338" y="7410088"/>
            <a:ext cx="5001073" cy="1639503"/>
          </a:xfrm>
          <a:custGeom>
            <a:avLst/>
            <a:gdLst/>
            <a:ahLst/>
            <a:cxnLst/>
            <a:rect l="l" t="t" r="r" b="b"/>
            <a:pathLst>
              <a:path w="5001073" h="1639503">
                <a:moveTo>
                  <a:pt x="0" y="0"/>
                </a:moveTo>
                <a:lnTo>
                  <a:pt x="5001073" y="0"/>
                </a:lnTo>
                <a:lnTo>
                  <a:pt x="5001073" y="1639503"/>
                </a:lnTo>
                <a:lnTo>
                  <a:pt x="0" y="1639503"/>
                </a:lnTo>
                <a:lnTo>
                  <a:pt x="0" y="0"/>
                </a:lnTo>
                <a:close/>
              </a:path>
            </a:pathLst>
          </a:custGeom>
          <a:blipFill>
            <a:blip r:embed="rId5"/>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Intensity, Brightness And Contrast</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2048268"/>
            <a:ext cx="15605258" cy="3267075"/>
          </a:xfrm>
          <a:prstGeom prst="rect">
            <a:avLst/>
          </a:prstGeom>
        </p:spPr>
        <p:txBody>
          <a:bodyPr lIns="0" tIns="0" rIns="0" bIns="0" rtlCol="0" anchor="t">
            <a:spAutoFit/>
          </a:bodyPr>
          <a:lstStyle/>
          <a:p>
            <a:pPr algn="l">
              <a:lnSpc>
                <a:spcPts val="3600"/>
              </a:lnSpc>
              <a:spcBef>
                <a:spcPct val="0"/>
              </a:spcBef>
            </a:pPr>
            <a:r>
              <a:rPr lang="en-US" sz="3000" b="1">
                <a:solidFill>
                  <a:srgbClr val="000000"/>
                </a:solidFill>
                <a:latin typeface="Calibri (MS) Bold"/>
                <a:ea typeface="Calibri (MS) Bold"/>
                <a:cs typeface="Calibri (MS) Bold"/>
                <a:sym typeface="Calibri (MS) Bold"/>
              </a:rPr>
              <a:t>Intensity: </a:t>
            </a:r>
            <a:r>
              <a:rPr lang="en-US" sz="3000">
                <a:solidFill>
                  <a:srgbClr val="000000"/>
                </a:solidFill>
                <a:latin typeface="Calibri (MS)"/>
                <a:ea typeface="Calibri (MS)"/>
                <a:cs typeface="Calibri (MS)"/>
                <a:sym typeface="Calibri (MS)"/>
              </a:rPr>
              <a:t>A numerical property of the image signal.</a:t>
            </a:r>
          </a:p>
          <a:p>
            <a:pPr algn="l">
              <a:lnSpc>
                <a:spcPts val="3600"/>
              </a:lnSpc>
              <a:spcBef>
                <a:spcPct val="0"/>
              </a:spcBef>
            </a:pPr>
            <a:r>
              <a:rPr lang="en-US" sz="3000" b="1">
                <a:solidFill>
                  <a:srgbClr val="000000"/>
                </a:solidFill>
                <a:latin typeface="Calibri (MS) Bold"/>
                <a:ea typeface="Calibri (MS) Bold"/>
                <a:cs typeface="Calibri (MS) Bold"/>
                <a:sym typeface="Calibri (MS) Bold"/>
              </a:rPr>
              <a:t>Luminance:</a:t>
            </a:r>
            <a:r>
              <a:rPr lang="en-US" sz="3000">
                <a:solidFill>
                  <a:srgbClr val="000000"/>
                </a:solidFill>
                <a:latin typeface="Calibri (MS)"/>
                <a:ea typeface="Calibri (MS)"/>
                <a:cs typeface="Calibri (MS)"/>
                <a:sym typeface="Calibri (MS)"/>
              </a:rPr>
              <a:t> Physically/perceptually meaningful light level associated with the display.</a:t>
            </a:r>
          </a:p>
          <a:p>
            <a:pPr algn="l">
              <a:lnSpc>
                <a:spcPts val="3600"/>
              </a:lnSpc>
              <a:spcBef>
                <a:spcPct val="0"/>
              </a:spcBef>
            </a:pPr>
            <a:r>
              <a:rPr lang="en-US" sz="3000" b="1">
                <a:solidFill>
                  <a:srgbClr val="000000"/>
                </a:solidFill>
                <a:latin typeface="Calibri (MS) Bold"/>
                <a:ea typeface="Calibri (MS) Bold"/>
                <a:cs typeface="Calibri (MS) Bold"/>
                <a:sym typeface="Calibri (MS) Bold"/>
              </a:rPr>
              <a:t>Brightness:</a:t>
            </a:r>
            <a:r>
              <a:rPr lang="en-US" sz="3000">
                <a:solidFill>
                  <a:srgbClr val="000000"/>
                </a:solidFill>
                <a:latin typeface="Calibri (MS)"/>
                <a:ea typeface="Calibri (MS)"/>
                <a:cs typeface="Calibri (MS)"/>
                <a:sym typeface="Calibri (MS)"/>
              </a:rPr>
              <a:t> Perceived amount of light from a self-luminous source.</a:t>
            </a:r>
          </a:p>
          <a:p>
            <a:pPr algn="l">
              <a:lnSpc>
                <a:spcPts val="3600"/>
              </a:lnSpc>
              <a:spcBef>
                <a:spcPct val="0"/>
              </a:spcBef>
            </a:pPr>
            <a:r>
              <a:rPr lang="en-US" sz="3000" b="1">
                <a:solidFill>
                  <a:srgbClr val="000000"/>
                </a:solidFill>
                <a:latin typeface="Calibri (MS) Bold"/>
                <a:ea typeface="Calibri (MS) Bold"/>
                <a:cs typeface="Calibri (MS) Bold"/>
                <a:sym typeface="Calibri (MS) Bold"/>
              </a:rPr>
              <a:t>Lightness:</a:t>
            </a:r>
            <a:r>
              <a:rPr lang="en-US" sz="3000">
                <a:solidFill>
                  <a:srgbClr val="000000"/>
                </a:solidFill>
                <a:latin typeface="Calibri (MS)"/>
                <a:ea typeface="Calibri (MS)"/>
                <a:cs typeface="Calibri (MS)"/>
                <a:sym typeface="Calibri (MS)"/>
              </a:rPr>
              <a:t> Perceived surface property relative to its visual context.</a:t>
            </a:r>
          </a:p>
          <a:p>
            <a:pPr algn="l">
              <a:lnSpc>
                <a:spcPts val="3600"/>
              </a:lnSpc>
              <a:spcBef>
                <a:spcPct val="0"/>
              </a:spcBef>
            </a:pPr>
            <a:endParaRPr lang="en-US" sz="3000">
              <a:solidFill>
                <a:srgbClr val="000000"/>
              </a:solidFill>
              <a:latin typeface="Calibri (MS)"/>
              <a:ea typeface="Calibri (MS)"/>
              <a:cs typeface="Calibri (MS)"/>
              <a:sym typeface="Calibri (MS)"/>
            </a:endParaRPr>
          </a:p>
          <a:p>
            <a:pPr algn="l">
              <a:lnSpc>
                <a:spcPts val="3600"/>
              </a:lnSpc>
              <a:spcBef>
                <a:spcPct val="0"/>
              </a:spcBef>
            </a:pPr>
            <a:r>
              <a:rPr lang="en-US" sz="3000">
                <a:solidFill>
                  <a:srgbClr val="000000"/>
                </a:solidFill>
                <a:latin typeface="Calibri (MS)"/>
                <a:ea typeface="Calibri (MS)"/>
                <a:cs typeface="Calibri (MS)"/>
                <a:sym typeface="Calibri (MS)"/>
              </a:rPr>
              <a:t>Ware emphasizes that early visual processing responds strongly to differences, rather than simply measuring absolute light levels.</a:t>
            </a:r>
          </a:p>
        </p:txBody>
      </p:sp>
      <p:sp>
        <p:nvSpPr>
          <p:cNvPr id="10" name="TextBox 10"/>
          <p:cNvSpPr txBox="1"/>
          <p:nvPr/>
        </p:nvSpPr>
        <p:spPr>
          <a:xfrm>
            <a:off x="681104" y="5505843"/>
            <a:ext cx="9116234" cy="41814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Contrast</a:t>
            </a:r>
          </a:p>
          <a:p>
            <a:pPr algn="l">
              <a:lnSpc>
                <a:spcPts val="3600"/>
              </a:lnSpc>
            </a:pPr>
            <a:r>
              <a:rPr lang="en-US" sz="3000">
                <a:solidFill>
                  <a:srgbClr val="000000"/>
                </a:solidFill>
                <a:latin typeface="Calibri (MS)"/>
                <a:ea typeface="Calibri (MS)"/>
                <a:cs typeface="Calibri (MS)"/>
                <a:sym typeface="Calibri (MS)"/>
              </a:rPr>
              <a:t>A simple luminance contrast measure can be expressed as: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Contrast controls: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Edge visibility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Feature discrimination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Texture perception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Object boundaries</a:t>
            </a:r>
          </a:p>
          <a:p>
            <a:pPr marL="647700" lvl="1" indent="-323850" algn="l">
              <a:lnSpc>
                <a:spcPts val="3600"/>
              </a:lnSpc>
              <a:spcBef>
                <a:spcPct val="0"/>
              </a:spcBef>
              <a:buFont typeface="Arial"/>
              <a:buChar char="•"/>
            </a:pPr>
            <a:r>
              <a:rPr lang="en-US" sz="3000">
                <a:solidFill>
                  <a:srgbClr val="000000"/>
                </a:solidFill>
                <a:latin typeface="Calibri (MS)"/>
                <a:ea typeface="Calibri (MS)"/>
                <a:cs typeface="Calibri (MS)"/>
                <a:sym typeface="Calibri (MS)"/>
              </a:rPr>
              <a:t>Fine-detail readability</a:t>
            </a:r>
          </a:p>
        </p:txBody>
      </p:sp>
      <p:pic>
        <p:nvPicPr>
          <p:cNvPr id="12" name="Picture 11">
            <a:extLst>
              <a:ext uri="{FF2B5EF4-FFF2-40B4-BE49-F238E27FC236}">
                <a16:creationId xmlns:a16="http://schemas.microsoft.com/office/drawing/2014/main" id="{13C1BEDB-885F-F9B7-09E7-3DD7E037FE2F}"/>
              </a:ext>
            </a:extLst>
          </p:cNvPr>
          <p:cNvPicPr>
            <a:picLocks noChangeAspect="1"/>
          </p:cNvPicPr>
          <p:nvPr/>
        </p:nvPicPr>
        <p:blipFill>
          <a:blip r:embed="rId6"/>
          <a:stretch>
            <a:fillRect/>
          </a:stretch>
        </p:blipFill>
        <p:spPr>
          <a:xfrm>
            <a:off x="5617445" y="7795635"/>
            <a:ext cx="4105848" cy="2076740"/>
          </a:xfrm>
          <a:prstGeom prst="rect">
            <a:avLst/>
          </a:prstGeom>
        </p:spPr>
      </p:pic>
      <p:sp>
        <p:nvSpPr>
          <p:cNvPr id="14" name="TextBox 13">
            <a:extLst>
              <a:ext uri="{FF2B5EF4-FFF2-40B4-BE49-F238E27FC236}">
                <a16:creationId xmlns:a16="http://schemas.microsoft.com/office/drawing/2014/main" id="{428DFF70-2515-36C6-87B6-289A19D4D4F1}"/>
              </a:ext>
            </a:extLst>
          </p:cNvPr>
          <p:cNvSpPr txBox="1"/>
          <p:nvPr/>
        </p:nvSpPr>
        <p:spPr>
          <a:xfrm>
            <a:off x="14097000" y="5110852"/>
            <a:ext cx="3791989" cy="1754326"/>
          </a:xfrm>
          <a:prstGeom prst="rect">
            <a:avLst/>
          </a:prstGeom>
          <a:noFill/>
        </p:spPr>
        <p:txBody>
          <a:bodyPr wrap="square">
            <a:spAutoFit/>
          </a:bodyPr>
          <a:lstStyle/>
          <a:p>
            <a:r>
              <a:rPr lang="en-IN" b="1" dirty="0"/>
              <a:t>Pixel value = number stored by the computer</a:t>
            </a:r>
            <a:br>
              <a:rPr lang="en-IN" dirty="0"/>
            </a:br>
            <a:r>
              <a:rPr lang="en-IN" b="1" dirty="0"/>
              <a:t>Luminance = light level represented by the image</a:t>
            </a:r>
            <a:br>
              <a:rPr lang="en-IN" dirty="0"/>
            </a:br>
            <a:r>
              <a:rPr lang="en-IN" b="1" dirty="0"/>
              <a:t>Brightness = how bright we perceive it</a:t>
            </a:r>
            <a:r>
              <a:rPr lang="en-IN" dirty="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5" name="Freeform 5"/>
          <p:cNvSpPr/>
          <p:nvPr/>
        </p:nvSpPr>
        <p:spPr>
          <a:xfrm>
            <a:off x="4908865" y="2665554"/>
            <a:ext cx="5676889" cy="717525"/>
          </a:xfrm>
          <a:custGeom>
            <a:avLst/>
            <a:gdLst/>
            <a:ahLst/>
            <a:cxnLst/>
            <a:rect l="l" t="t" r="r" b="b"/>
            <a:pathLst>
              <a:path w="5676889" h="717525">
                <a:moveTo>
                  <a:pt x="0" y="0"/>
                </a:moveTo>
                <a:lnTo>
                  <a:pt x="5676888" y="0"/>
                </a:lnTo>
                <a:lnTo>
                  <a:pt x="5676888" y="717525"/>
                </a:lnTo>
                <a:lnTo>
                  <a:pt x="0" y="717525"/>
                </a:lnTo>
                <a:lnTo>
                  <a:pt x="0" y="0"/>
                </a:lnTo>
                <a:close/>
              </a:path>
            </a:pathLst>
          </a:custGeom>
          <a:blipFill>
            <a:blip r:embed="rId4"/>
            <a:stretch>
              <a:fillRect/>
            </a:stretch>
          </a:blipFill>
        </p:spPr>
        <p:txBody>
          <a:bodyPr/>
          <a:lstStyle/>
          <a:p>
            <a:endParaRPr lang="en-IN"/>
          </a:p>
        </p:txBody>
      </p:sp>
      <p:sp>
        <p:nvSpPr>
          <p:cNvPr id="6" name="Freeform 6"/>
          <p:cNvSpPr/>
          <p:nvPr/>
        </p:nvSpPr>
        <p:spPr>
          <a:xfrm>
            <a:off x="4908865" y="3383079"/>
            <a:ext cx="2604524" cy="1145991"/>
          </a:xfrm>
          <a:custGeom>
            <a:avLst/>
            <a:gdLst/>
            <a:ahLst/>
            <a:cxnLst/>
            <a:rect l="l" t="t" r="r" b="b"/>
            <a:pathLst>
              <a:path w="2604524" h="1145991">
                <a:moveTo>
                  <a:pt x="0" y="0"/>
                </a:moveTo>
                <a:lnTo>
                  <a:pt x="2604524" y="0"/>
                </a:lnTo>
                <a:lnTo>
                  <a:pt x="2604524" y="1145990"/>
                </a:lnTo>
                <a:lnTo>
                  <a:pt x="0" y="1145990"/>
                </a:lnTo>
                <a:lnTo>
                  <a:pt x="0" y="0"/>
                </a:lnTo>
                <a:close/>
              </a:path>
            </a:pathLst>
          </a:custGeom>
          <a:blipFill>
            <a:blip r:embed="rId5"/>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Histograms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2048268"/>
            <a:ext cx="15605258" cy="523875"/>
          </a:xfrm>
          <a:prstGeom prst="rect">
            <a:avLst/>
          </a:prstGeom>
        </p:spPr>
        <p:txBody>
          <a:bodyPr lIns="0" tIns="0" rIns="0" bIns="0" rtlCol="0" anchor="t">
            <a:spAutoFit/>
          </a:bodyPr>
          <a:lstStyle/>
          <a:p>
            <a:pPr algn="l">
              <a:lnSpc>
                <a:spcPts val="3600"/>
              </a:lnSpc>
              <a:spcBef>
                <a:spcPct val="0"/>
              </a:spcBef>
            </a:pPr>
            <a:r>
              <a:rPr lang="en-US" sz="3000">
                <a:solidFill>
                  <a:srgbClr val="000000"/>
                </a:solidFill>
                <a:latin typeface="Calibri (MS)"/>
                <a:ea typeface="Calibri (MS)"/>
                <a:cs typeface="Calibri (MS)"/>
                <a:sym typeface="Calibri (MS)"/>
              </a:rPr>
              <a:t>An image histogram is a a graph that plots the frequency of pixel intensity values in an digital image.</a:t>
            </a:r>
          </a:p>
        </p:txBody>
      </p:sp>
      <p:sp>
        <p:nvSpPr>
          <p:cNvPr id="10" name="TextBox 10"/>
          <p:cNvSpPr txBox="1"/>
          <p:nvPr/>
        </p:nvSpPr>
        <p:spPr>
          <a:xfrm>
            <a:off x="681104" y="2729041"/>
            <a:ext cx="4161086" cy="1438275"/>
          </a:xfrm>
          <a:prstGeom prst="rect">
            <a:avLst/>
          </a:prstGeom>
        </p:spPr>
        <p:txBody>
          <a:bodyPr lIns="0" tIns="0" rIns="0" bIns="0" rtlCol="0" anchor="t">
            <a:spAutoFit/>
          </a:bodyPr>
          <a:lstStyle/>
          <a:p>
            <a:pPr algn="l">
              <a:lnSpc>
                <a:spcPts val="3600"/>
              </a:lnSpc>
              <a:spcBef>
                <a:spcPct val="0"/>
              </a:spcBef>
            </a:pPr>
            <a:r>
              <a:rPr lang="en-US" sz="3000" dirty="0">
                <a:solidFill>
                  <a:srgbClr val="000000"/>
                </a:solidFill>
                <a:latin typeface="Calibri (MS)"/>
                <a:ea typeface="Calibri (MS)"/>
                <a:cs typeface="Calibri (MS)"/>
                <a:sym typeface="Calibri (MS)"/>
              </a:rPr>
              <a:t>For an image with N pixels:</a:t>
            </a:r>
          </a:p>
          <a:p>
            <a:pPr algn="l">
              <a:lnSpc>
                <a:spcPts val="3600"/>
              </a:lnSpc>
              <a:spcBef>
                <a:spcPct val="0"/>
              </a:spcBef>
            </a:pPr>
            <a:endParaRPr lang="en-US" sz="3000" dirty="0">
              <a:solidFill>
                <a:srgbClr val="000000"/>
              </a:solidFill>
              <a:latin typeface="Calibri (MS)"/>
              <a:ea typeface="Calibri (MS)"/>
              <a:cs typeface="Calibri (MS)"/>
              <a:sym typeface="Calibri (MS)"/>
            </a:endParaRPr>
          </a:p>
          <a:p>
            <a:pPr algn="l">
              <a:lnSpc>
                <a:spcPts val="3600"/>
              </a:lnSpc>
              <a:spcBef>
                <a:spcPct val="0"/>
              </a:spcBef>
            </a:pPr>
            <a:r>
              <a:rPr lang="en-US" sz="3000" dirty="0">
                <a:solidFill>
                  <a:srgbClr val="000000"/>
                </a:solidFill>
                <a:latin typeface="Calibri (MS)"/>
                <a:ea typeface="Calibri (MS)"/>
                <a:cs typeface="Calibri (MS)"/>
                <a:sym typeface="Calibri (MS)"/>
              </a:rPr>
              <a:t>For normalized frequency:</a:t>
            </a:r>
          </a:p>
        </p:txBody>
      </p:sp>
      <p:sp>
        <p:nvSpPr>
          <p:cNvPr id="11" name="TextBox 11"/>
          <p:cNvSpPr txBox="1"/>
          <p:nvPr/>
        </p:nvSpPr>
        <p:spPr>
          <a:xfrm>
            <a:off x="7747310" y="3653405"/>
            <a:ext cx="3027304" cy="889154"/>
          </a:xfrm>
          <a:prstGeom prst="rect">
            <a:avLst/>
          </a:prstGeom>
        </p:spPr>
        <p:txBody>
          <a:bodyPr wrap="square" lIns="0" tIns="0" rIns="0" bIns="0" rtlCol="0" anchor="t">
            <a:spAutoFit/>
          </a:bodyPr>
          <a:lstStyle/>
          <a:p>
            <a:pPr algn="l">
              <a:lnSpc>
                <a:spcPts val="3600"/>
              </a:lnSpc>
              <a:spcBef>
                <a:spcPct val="0"/>
              </a:spcBef>
            </a:pPr>
            <a:r>
              <a:rPr lang="en-US" sz="2400" dirty="0">
                <a:solidFill>
                  <a:srgbClr val="000000"/>
                </a:solidFill>
                <a:latin typeface="Calibri (MS)"/>
                <a:ea typeface="Calibri (MS)"/>
                <a:cs typeface="Calibri (MS)"/>
                <a:sym typeface="Calibri (MS)"/>
              </a:rPr>
              <a:t>where </a:t>
            </a:r>
            <a:r>
              <a:rPr lang="en-US" sz="2400" i="1" dirty="0">
                <a:solidFill>
                  <a:srgbClr val="000000"/>
                </a:solidFill>
                <a:latin typeface="Calibri (MS) Italics"/>
                <a:ea typeface="Calibri (MS) Italics"/>
                <a:cs typeface="Calibri (MS) Italics"/>
                <a:sym typeface="Calibri (MS) Italics"/>
              </a:rPr>
              <a:t>k </a:t>
            </a:r>
            <a:r>
              <a:rPr lang="en-US" sz="2400" dirty="0">
                <a:solidFill>
                  <a:srgbClr val="000000"/>
                </a:solidFill>
                <a:latin typeface="Calibri (MS)"/>
                <a:ea typeface="Calibri (MS)"/>
                <a:cs typeface="Calibri (MS)"/>
                <a:sym typeface="Calibri (MS)"/>
              </a:rPr>
              <a:t>represents an intensity level/bin</a:t>
            </a:r>
          </a:p>
        </p:txBody>
      </p:sp>
      <p:sp>
        <p:nvSpPr>
          <p:cNvPr id="12" name="TextBox 12"/>
          <p:cNvSpPr txBox="1"/>
          <p:nvPr/>
        </p:nvSpPr>
        <p:spPr>
          <a:xfrm>
            <a:off x="681104" y="4990297"/>
            <a:ext cx="15605258" cy="5095875"/>
          </a:xfrm>
          <a:prstGeom prst="rect">
            <a:avLst/>
          </a:prstGeom>
        </p:spPr>
        <p:txBody>
          <a:bodyPr lIns="0" tIns="0" rIns="0" bIns="0" rtlCol="0" anchor="t">
            <a:spAutoFit/>
          </a:bodyPr>
          <a:lstStyle/>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Histogram concentrated on left → predominantly dark image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Histogram concentrated on right → predominantly bright image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Wide distribution → broad dynamic range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Narrow distribution → low contrast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Two strong peaks → potentially two dominant intensity populations</a:t>
            </a:r>
          </a:p>
          <a:p>
            <a:pPr algn="l">
              <a:lnSpc>
                <a:spcPts val="3600"/>
              </a:lnSpc>
            </a:pPr>
            <a:endParaRPr lang="en-US" sz="3000" dirty="0">
              <a:solidFill>
                <a:srgbClr val="000000"/>
              </a:solidFill>
              <a:latin typeface="Calibri (MS)"/>
              <a:ea typeface="Calibri (MS)"/>
              <a:cs typeface="Calibri (MS)"/>
              <a:sym typeface="Calibri (MS)"/>
            </a:endParaRP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histogram removes spatial information.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Two completely different images can have exactly the same intensity histogram.</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Therefore: histogram = distribution of pixel values, not spatial structure.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This is a critical distinction from ordinary statistical visualization: here, the observations are pixels generated by a spatial signal.</a:t>
            </a:r>
          </a:p>
        </p:txBody>
      </p:sp>
      <p:sp>
        <p:nvSpPr>
          <p:cNvPr id="14" name="TextBox 13">
            <a:extLst>
              <a:ext uri="{FF2B5EF4-FFF2-40B4-BE49-F238E27FC236}">
                <a16:creationId xmlns:a16="http://schemas.microsoft.com/office/drawing/2014/main" id="{87E294ED-8A7F-2B1F-F856-A9B6D8FDEB8E}"/>
              </a:ext>
            </a:extLst>
          </p:cNvPr>
          <p:cNvSpPr txBox="1"/>
          <p:nvPr/>
        </p:nvSpPr>
        <p:spPr>
          <a:xfrm>
            <a:off x="12742753" y="2883555"/>
            <a:ext cx="3886840" cy="3785652"/>
          </a:xfrm>
          <a:prstGeom prst="rect">
            <a:avLst/>
          </a:prstGeom>
          <a:noFill/>
        </p:spPr>
        <p:txBody>
          <a:bodyPr wrap="square">
            <a:spAutoFit/>
          </a:bodyPr>
          <a:lstStyle/>
          <a:p>
            <a:pPr algn="just"/>
            <a:r>
              <a:rPr lang="en-IN" sz="2400" dirty="0"/>
              <a:t>A grayscale digital image is a grid of pixels. Each pixel has an intensity value, usually from 0 (black) to 255 (white) in an 8-bit image. An image histogram counts how many pixels have each intensity value. The x-axis is intensity and the y-axis is how often that intensity appears.</a:t>
            </a:r>
          </a:p>
        </p:txBody>
      </p:sp>
      <p:sp>
        <p:nvSpPr>
          <p:cNvPr id="16" name="TextBox 15">
            <a:extLst>
              <a:ext uri="{FF2B5EF4-FFF2-40B4-BE49-F238E27FC236}">
                <a16:creationId xmlns:a16="http://schemas.microsoft.com/office/drawing/2014/main" id="{22FCCF76-DF75-87BE-AE73-B04D855D9C7E}"/>
              </a:ext>
            </a:extLst>
          </p:cNvPr>
          <p:cNvSpPr txBox="1"/>
          <p:nvPr/>
        </p:nvSpPr>
        <p:spPr>
          <a:xfrm>
            <a:off x="107818" y="4229193"/>
            <a:ext cx="3244982" cy="923330"/>
          </a:xfrm>
          <a:prstGeom prst="rect">
            <a:avLst/>
          </a:prstGeom>
          <a:noFill/>
        </p:spPr>
        <p:txBody>
          <a:bodyPr wrap="square">
            <a:spAutoFit/>
          </a:bodyPr>
          <a:lstStyle/>
          <a:p>
            <a:pPr algn="just"/>
            <a:r>
              <a:rPr lang="en-IN" b="1" dirty="0"/>
              <a:t>p(k) a probability distribution: the chance that a randomly picked pixel has intensity k.</a:t>
            </a:r>
          </a:p>
        </p:txBody>
      </p:sp>
      <p:sp>
        <p:nvSpPr>
          <p:cNvPr id="18" name="TextBox 17">
            <a:extLst>
              <a:ext uri="{FF2B5EF4-FFF2-40B4-BE49-F238E27FC236}">
                <a16:creationId xmlns:a16="http://schemas.microsoft.com/office/drawing/2014/main" id="{DFB3FEC1-060D-96F4-EE5F-22E583621B1C}"/>
              </a:ext>
            </a:extLst>
          </p:cNvPr>
          <p:cNvSpPr txBox="1"/>
          <p:nvPr/>
        </p:nvSpPr>
        <p:spPr>
          <a:xfrm>
            <a:off x="4419600" y="4559088"/>
            <a:ext cx="9153144" cy="369332"/>
          </a:xfrm>
          <a:prstGeom prst="rect">
            <a:avLst/>
          </a:prstGeom>
          <a:noFill/>
        </p:spPr>
        <p:txBody>
          <a:bodyPr wrap="square">
            <a:spAutoFit/>
          </a:bodyPr>
          <a:lstStyle/>
          <a:p>
            <a:r>
              <a:rPr lang="en-IN" b="1" dirty="0"/>
              <a:t>N is the total number of pixels (width × height).</a:t>
            </a:r>
          </a:p>
        </p:txBody>
      </p:sp>
      <p:sp>
        <p:nvSpPr>
          <p:cNvPr id="20" name="TextBox 19">
            <a:extLst>
              <a:ext uri="{FF2B5EF4-FFF2-40B4-BE49-F238E27FC236}">
                <a16:creationId xmlns:a16="http://schemas.microsoft.com/office/drawing/2014/main" id="{4039E8CB-3B6B-F613-2AF8-5315585291C5}"/>
              </a:ext>
            </a:extLst>
          </p:cNvPr>
          <p:cNvSpPr txBox="1"/>
          <p:nvPr/>
        </p:nvSpPr>
        <p:spPr>
          <a:xfrm>
            <a:off x="12682719" y="6804412"/>
            <a:ext cx="4924177" cy="1200329"/>
          </a:xfrm>
          <a:prstGeom prst="rect">
            <a:avLst/>
          </a:prstGeom>
          <a:noFill/>
        </p:spPr>
        <p:txBody>
          <a:bodyPr wrap="square">
            <a:spAutoFit/>
          </a:bodyPr>
          <a:lstStyle/>
          <a:p>
            <a:pPr algn="just"/>
            <a:r>
              <a:rPr lang="en-IN" b="1" dirty="0"/>
              <a:t>Normalizing lets you compare images of different sizes. A 100×100 image and a 1000×1000 image can't be compared on raw counts, but they can on p(k).</a:t>
            </a:r>
          </a:p>
        </p:txBody>
      </p:sp>
      <p:sp>
        <p:nvSpPr>
          <p:cNvPr id="15" name="TextBox 14">
            <a:extLst>
              <a:ext uri="{FF2B5EF4-FFF2-40B4-BE49-F238E27FC236}">
                <a16:creationId xmlns:a16="http://schemas.microsoft.com/office/drawing/2014/main" id="{0ABBB48F-E257-C744-1FAA-57250E8EEA20}"/>
              </a:ext>
            </a:extLst>
          </p:cNvPr>
          <p:cNvSpPr txBox="1"/>
          <p:nvPr/>
        </p:nvSpPr>
        <p:spPr>
          <a:xfrm>
            <a:off x="8106147" y="1186571"/>
            <a:ext cx="9153144" cy="646331"/>
          </a:xfrm>
          <a:prstGeom prst="rect">
            <a:avLst/>
          </a:prstGeom>
          <a:noFill/>
        </p:spPr>
        <p:txBody>
          <a:bodyPr wrap="square">
            <a:spAutoFit/>
          </a:bodyPr>
          <a:lstStyle/>
          <a:p>
            <a:pPr marL="342900" lvl="0" indent="-342900">
              <a:buFont typeface="Arial" panose="020B0604020202020204" pitchFamily="34" charset="0"/>
              <a:buChar char="•"/>
            </a:pPr>
            <a:r>
              <a:rPr lang="en-IN" b="1" dirty="0"/>
              <a:t>X-axis → Pixel intensity (brightness)</a:t>
            </a:r>
            <a:endParaRPr lang="en-IN" dirty="0"/>
          </a:p>
          <a:p>
            <a:pPr marL="342900" lvl="0" indent="-342900">
              <a:buFont typeface="Arial" panose="020B0604020202020204" pitchFamily="34" charset="0"/>
              <a:buChar char="•"/>
            </a:pPr>
            <a:r>
              <a:rPr lang="en-IN" b="1" dirty="0"/>
              <a:t>Y-axis → Number of pixels (frequency)</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2114943"/>
            <a:ext cx="8462896" cy="6777724"/>
          </a:xfrm>
          <a:custGeom>
            <a:avLst/>
            <a:gdLst/>
            <a:ahLst/>
            <a:cxnLst/>
            <a:rect l="l" t="t" r="r" b="b"/>
            <a:pathLst>
              <a:path w="8462896" h="6777724">
                <a:moveTo>
                  <a:pt x="0" y="0"/>
                </a:moveTo>
                <a:lnTo>
                  <a:pt x="8462896" y="0"/>
                </a:lnTo>
                <a:lnTo>
                  <a:pt x="8462896" y="6777724"/>
                </a:lnTo>
                <a:lnTo>
                  <a:pt x="0" y="6777724"/>
                </a:lnTo>
                <a:lnTo>
                  <a:pt x="0" y="0"/>
                </a:lnTo>
                <a:close/>
              </a:path>
            </a:pathLst>
          </a:custGeom>
          <a:blipFill>
            <a:blip r:embed="rId3"/>
            <a:stretch>
              <a:fillRect/>
            </a:stretch>
          </a:blipFill>
        </p:spPr>
        <p:txBody>
          <a:bodyPr/>
          <a:lstStyle/>
          <a:p>
            <a:endParaRPr lang="en-IN"/>
          </a:p>
        </p:txBody>
      </p:sp>
      <p:sp>
        <p:nvSpPr>
          <p:cNvPr id="6" name="Freeform 6"/>
          <p:cNvSpPr/>
          <p:nvPr/>
        </p:nvSpPr>
        <p:spPr>
          <a:xfrm>
            <a:off x="9513446" y="2182410"/>
            <a:ext cx="5905501" cy="3404921"/>
          </a:xfrm>
          <a:custGeom>
            <a:avLst/>
            <a:gdLst/>
            <a:ahLst/>
            <a:cxnLst/>
            <a:rect l="l" t="t" r="r" b="b"/>
            <a:pathLst>
              <a:path w="8381446" h="4593912">
                <a:moveTo>
                  <a:pt x="0" y="0"/>
                </a:moveTo>
                <a:lnTo>
                  <a:pt x="8381446" y="0"/>
                </a:lnTo>
                <a:lnTo>
                  <a:pt x="8381446" y="4593912"/>
                </a:lnTo>
                <a:lnTo>
                  <a:pt x="0" y="4593912"/>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Histograms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pic>
        <p:nvPicPr>
          <p:cNvPr id="9" name="Picture 8" descr="Beginner - Histograms for beginners ? | Talk Photography">
            <a:extLst>
              <a:ext uri="{FF2B5EF4-FFF2-40B4-BE49-F238E27FC236}">
                <a16:creationId xmlns:a16="http://schemas.microsoft.com/office/drawing/2014/main" id="{81F8C675-77B2-5A88-0C4D-A8A20CC3D23E}"/>
              </a:ext>
            </a:extLst>
          </p:cNvPr>
          <p:cNvPicPr>
            <a:picLocks noChangeAspect="1"/>
          </p:cNvPicPr>
          <p:nvPr/>
        </p:nvPicPr>
        <p:blipFill>
          <a:blip r:embed="rId5"/>
          <a:stretch>
            <a:fillRect/>
          </a:stretch>
        </p:blipFill>
        <p:spPr>
          <a:xfrm>
            <a:off x="10515600" y="5702560"/>
            <a:ext cx="5905500" cy="362597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52484B-4A2B-4F88-0498-2B2654BD5427}"/>
              </a:ext>
            </a:extLst>
          </p:cNvPr>
          <p:cNvPicPr>
            <a:picLocks noChangeAspect="1"/>
          </p:cNvPicPr>
          <p:nvPr/>
        </p:nvPicPr>
        <p:blipFill>
          <a:blip r:embed="rId2"/>
          <a:stretch>
            <a:fillRect/>
          </a:stretch>
        </p:blipFill>
        <p:spPr>
          <a:xfrm>
            <a:off x="990600" y="800100"/>
            <a:ext cx="10402752" cy="5325218"/>
          </a:xfrm>
          <a:prstGeom prst="rect">
            <a:avLst/>
          </a:prstGeom>
        </p:spPr>
      </p:pic>
      <p:pic>
        <p:nvPicPr>
          <p:cNvPr id="5" name="Picture 4">
            <a:extLst>
              <a:ext uri="{FF2B5EF4-FFF2-40B4-BE49-F238E27FC236}">
                <a16:creationId xmlns:a16="http://schemas.microsoft.com/office/drawing/2014/main" id="{1D4C1579-110A-D58F-C50A-ED9517D60624}"/>
              </a:ext>
            </a:extLst>
          </p:cNvPr>
          <p:cNvPicPr>
            <a:picLocks noChangeAspect="1"/>
          </p:cNvPicPr>
          <p:nvPr/>
        </p:nvPicPr>
        <p:blipFill>
          <a:blip r:embed="rId3"/>
          <a:stretch>
            <a:fillRect/>
          </a:stretch>
        </p:blipFill>
        <p:spPr>
          <a:xfrm>
            <a:off x="1214469" y="6526771"/>
            <a:ext cx="9955014" cy="3734321"/>
          </a:xfrm>
          <a:prstGeom prst="rect">
            <a:avLst/>
          </a:prstGeom>
        </p:spPr>
      </p:pic>
    </p:spTree>
    <p:extLst>
      <p:ext uri="{BB962C8B-B14F-4D97-AF65-F5344CB8AC3E}">
        <p14:creationId xmlns:p14="http://schemas.microsoft.com/office/powerpoint/2010/main" val="17055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Histograms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05258" cy="23526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Same Histogram ≠ Same Image</a:t>
            </a:r>
          </a:p>
          <a:p>
            <a:pPr algn="l">
              <a:lnSpc>
                <a:spcPts val="3600"/>
              </a:lnSpc>
            </a:pPr>
            <a:r>
              <a:rPr lang="en-US" sz="3000">
                <a:solidFill>
                  <a:srgbClr val="000000"/>
                </a:solidFill>
                <a:latin typeface="Calibri (MS)"/>
                <a:ea typeface="Calibri (MS)"/>
                <a:cs typeface="Calibri (MS)"/>
                <a:sym typeface="Calibri (MS)"/>
              </a:rPr>
              <a:t>Consider: Image A (bright object on dark background), Image B (dark object on bright background)</a:t>
            </a:r>
          </a:p>
          <a:p>
            <a:pPr algn="l">
              <a:lnSpc>
                <a:spcPts val="3600"/>
              </a:lnSpc>
            </a:pPr>
            <a:r>
              <a:rPr lang="en-US" sz="3000">
                <a:solidFill>
                  <a:srgbClr val="000000"/>
                </a:solidFill>
                <a:latin typeface="Calibri (MS)"/>
                <a:ea typeface="Calibri (MS)"/>
                <a:cs typeface="Calibri (MS)"/>
                <a:sym typeface="Calibri (MS)"/>
              </a:rPr>
              <a:t>They may produce similar distributions despite radically different spatial arrangements.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What The Histogram Can Reveal</a:t>
            </a:r>
          </a:p>
        </p:txBody>
      </p:sp>
      <p:graphicFrame>
        <p:nvGraphicFramePr>
          <p:cNvPr id="8" name="Table 8"/>
          <p:cNvGraphicFramePr>
            <a:graphicFrameLocks noGrp="1"/>
          </p:cNvGraphicFramePr>
          <p:nvPr/>
        </p:nvGraphicFramePr>
        <p:xfrm>
          <a:off x="681104" y="4658118"/>
          <a:ext cx="11785094" cy="4905376"/>
        </p:xfrm>
        <a:graphic>
          <a:graphicData uri="http://schemas.openxmlformats.org/drawingml/2006/table">
            <a:tbl>
              <a:tblPr/>
              <a:tblGrid>
                <a:gridCol w="5892547">
                  <a:extLst>
                    <a:ext uri="{9D8B030D-6E8A-4147-A177-3AD203B41FA5}">
                      <a16:colId xmlns:a16="http://schemas.microsoft.com/office/drawing/2014/main" val="20000"/>
                    </a:ext>
                  </a:extLst>
                </a:gridCol>
                <a:gridCol w="5892547">
                  <a:extLst>
                    <a:ext uri="{9D8B030D-6E8A-4147-A177-3AD203B41FA5}">
                      <a16:colId xmlns:a16="http://schemas.microsoft.com/office/drawing/2014/main" val="20001"/>
                    </a:ext>
                  </a:extLst>
                </a:gridCol>
              </a:tblGrid>
              <a:tr h="700768">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Histogram Pattern</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tc>
                  <a:txBody>
                    <a:bodyPr/>
                    <a:lstStyle/>
                    <a:p>
                      <a:pPr algn="ctr">
                        <a:lnSpc>
                          <a:spcPts val="3613"/>
                        </a:lnSpc>
                        <a:defRPr/>
                      </a:pPr>
                      <a:r>
                        <a:rPr lang="en-US" sz="2599" b="1">
                          <a:solidFill>
                            <a:srgbClr val="000000"/>
                          </a:solidFill>
                          <a:latin typeface="Calibri (MS) Bold"/>
                          <a:ea typeface="Calibri (MS) Bold"/>
                          <a:cs typeface="Calibri (MS) Bold"/>
                          <a:sym typeface="Calibri (MS) Bold"/>
                        </a:rPr>
                        <a:t>Possible Interpretation</a:t>
                      </a:r>
                      <a:endParaRPr lang="en-US" sz="1100"/>
                    </a:p>
                  </a:txBody>
                  <a:tcPr marL="66675" marR="66675" marT="66675" marB="66675"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6B4E9"/>
                    </a:solidFill>
                  </a:tcPr>
                </a:tc>
                <a:extLst>
                  <a:ext uri="{0D108BD9-81ED-4DB2-BD59-A6C34878D82A}">
                    <a16:rowId xmlns:a16="http://schemas.microsoft.com/office/drawing/2014/main" val="10000"/>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Narrow peak</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Low intensity variation</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Broad spread</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Higher dynamic range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Left-skewed</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Darker image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Right-skewed</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Brighter image</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Multiple peaks</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Distinct intensity populations</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00768">
                <a:tc>
                  <a:txBody>
                    <a:bodyPr/>
                    <a:lstStyle/>
                    <a:p>
                      <a:pPr algn="l">
                        <a:lnSpc>
                          <a:spcPts val="3613"/>
                        </a:lnSpc>
                        <a:defRPr/>
                      </a:pPr>
                      <a:r>
                        <a:rPr lang="en-US" sz="2599">
                          <a:solidFill>
                            <a:srgbClr val="000000"/>
                          </a:solidFill>
                          <a:latin typeface="Calibri (MS)"/>
                          <a:ea typeface="Calibri (MS)"/>
                          <a:cs typeface="Calibri (MS)"/>
                          <a:sym typeface="Calibri (MS)"/>
                        </a:rPr>
                        <a:t>Values touching limits</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613"/>
                        </a:lnSpc>
                        <a:defRPr/>
                      </a:pPr>
                      <a:r>
                        <a:rPr lang="en-US" sz="2599">
                          <a:solidFill>
                            <a:srgbClr val="000000"/>
                          </a:solidFill>
                          <a:latin typeface="Calibri (MS)"/>
                          <a:ea typeface="Calibri (MS)"/>
                          <a:cs typeface="Calibri (MS)"/>
                          <a:sym typeface="Calibri (MS)"/>
                        </a:rPr>
                        <a:t>Possible clipping</a:t>
                      </a:r>
                      <a:endParaRPr lang="en-US" sz="1100"/>
                    </a:p>
                  </a:txBody>
                  <a:tcPr marL="66675" marR="66675" marT="66675" marB="66675">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2033247"/>
            <a:ext cx="6334357" cy="762469"/>
          </a:xfrm>
          <a:custGeom>
            <a:avLst/>
            <a:gdLst/>
            <a:ahLst/>
            <a:cxnLst/>
            <a:rect l="l" t="t" r="r" b="b"/>
            <a:pathLst>
              <a:path w="6334357" h="762469">
                <a:moveTo>
                  <a:pt x="0" y="0"/>
                </a:moveTo>
                <a:lnTo>
                  <a:pt x="6334357" y="0"/>
                </a:lnTo>
                <a:lnTo>
                  <a:pt x="6334357" y="762469"/>
                </a:lnTo>
                <a:lnTo>
                  <a:pt x="0" y="762469"/>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Color Channels And Multichannel Images</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2900491"/>
            <a:ext cx="15605258" cy="60102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color image can be decomposed into:</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Red channel </a:t>
            </a:r>
            <a:r>
              <a:rPr lang="en-US" sz="3000" i="1">
                <a:solidFill>
                  <a:srgbClr val="000000"/>
                </a:solidFill>
                <a:latin typeface="Calibri (MS) Italics"/>
                <a:ea typeface="Calibri (MS) Italics"/>
                <a:cs typeface="Calibri (MS) Italics"/>
                <a:sym typeface="Calibri (MS) Italics"/>
              </a:rPr>
              <a:t>R(x,y)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Green channel </a:t>
            </a:r>
            <a:r>
              <a:rPr lang="en-US" sz="3000" i="1">
                <a:solidFill>
                  <a:srgbClr val="000000"/>
                </a:solidFill>
                <a:latin typeface="Calibri (MS) Italics"/>
                <a:ea typeface="Calibri (MS) Italics"/>
                <a:cs typeface="Calibri (MS) Italics"/>
                <a:sym typeface="Calibri (MS) Italics"/>
              </a:rPr>
              <a:t>G(x,y)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Blue channel </a:t>
            </a:r>
            <a:r>
              <a:rPr lang="en-US" sz="3000" i="1">
                <a:solidFill>
                  <a:srgbClr val="000000"/>
                </a:solidFill>
                <a:latin typeface="Calibri (MS) Italics"/>
                <a:ea typeface="Calibri (MS) Italics"/>
                <a:cs typeface="Calibri (MS) Italics"/>
                <a:sym typeface="Calibri (MS) Italics"/>
              </a:rPr>
              <a:t>B(x,y)</a:t>
            </a:r>
          </a:p>
          <a:p>
            <a:pPr algn="l">
              <a:lnSpc>
                <a:spcPts val="3600"/>
              </a:lnSpc>
            </a:pPr>
            <a:r>
              <a:rPr lang="en-US" sz="3000">
                <a:solidFill>
                  <a:srgbClr val="000000"/>
                </a:solidFill>
                <a:latin typeface="Calibri (MS)"/>
                <a:ea typeface="Calibri (MS)"/>
                <a:cs typeface="Calibri (MS)"/>
                <a:sym typeface="Calibri (MS)"/>
              </a:rPr>
              <a:t>Each channel is itself a grayscale spatial image.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Why Decompose Channels?</a:t>
            </a:r>
          </a:p>
          <a:p>
            <a:pPr algn="l">
              <a:lnSpc>
                <a:spcPts val="3600"/>
              </a:lnSpc>
            </a:pPr>
            <a:r>
              <a:rPr lang="en-US" sz="3000">
                <a:solidFill>
                  <a:srgbClr val="000000"/>
                </a:solidFill>
                <a:latin typeface="Calibri (MS)"/>
                <a:ea typeface="Calibri (MS)"/>
                <a:cs typeface="Calibri (MS)"/>
                <a:sym typeface="Calibri (MS)"/>
              </a:rPr>
              <a:t>Channel visualization can reveal:</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Dominant color contributions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Spatial regions emphasized by one channel</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Saturation-related structure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Channel-specific artifacts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Differences hidden in the composite RGB image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Color Channels And Multichannel Images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05258" cy="60102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Perceptual Consideration</a:t>
            </a:r>
          </a:p>
          <a:p>
            <a:pPr algn="l">
              <a:lnSpc>
                <a:spcPts val="3600"/>
              </a:lnSpc>
            </a:pPr>
            <a:r>
              <a:rPr lang="en-US" sz="3000" dirty="0">
                <a:solidFill>
                  <a:srgbClr val="000000"/>
                </a:solidFill>
                <a:latin typeface="Calibri (MS)"/>
                <a:ea typeface="Calibri (MS)"/>
                <a:cs typeface="Calibri (MS)"/>
                <a:sym typeface="Calibri (MS)"/>
              </a:rPr>
              <a:t>RGB is convenient for display hardware, but RGB components are not perceptually equivalent dimensions.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Ware distinguishes the luminance channel from chromatic channels and notes that chromatic channels have substantially poorer spatial resolution than luminance. </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Therefore:</a:t>
            </a:r>
          </a:p>
          <a:p>
            <a:pPr algn="l">
              <a:lnSpc>
                <a:spcPts val="3600"/>
              </a:lnSpc>
            </a:pPr>
            <a:r>
              <a:rPr lang="en-US" sz="3000" b="1" dirty="0">
                <a:solidFill>
                  <a:srgbClr val="000000"/>
                </a:solidFill>
                <a:latin typeface="Calibri (MS)"/>
                <a:ea typeface="Calibri (MS)"/>
                <a:cs typeface="Calibri (MS)"/>
                <a:sym typeface="Calibri (MS)"/>
              </a:rPr>
              <a:t>For fine spatial detail → rely strongly on luminance/contrast</a:t>
            </a:r>
          </a:p>
          <a:p>
            <a:pPr algn="l">
              <a:lnSpc>
                <a:spcPts val="3600"/>
              </a:lnSpc>
            </a:pPr>
            <a:r>
              <a:rPr lang="en-US" sz="3000" b="1" dirty="0">
                <a:solidFill>
                  <a:srgbClr val="000000"/>
                </a:solidFill>
                <a:latin typeface="Calibri (MS)"/>
                <a:ea typeface="Calibri (MS)"/>
                <a:cs typeface="Calibri (MS)"/>
                <a:sym typeface="Calibri (MS)"/>
              </a:rPr>
              <a:t>For categorical or attribute coding → color can be powerful</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Ware explicitly describes color as particularly useful for coding information and attributes of visual objects.</a:t>
            </a:r>
          </a:p>
        </p:txBody>
      </p:sp>
      <p:sp>
        <p:nvSpPr>
          <p:cNvPr id="9" name="TextBox 8">
            <a:extLst>
              <a:ext uri="{FF2B5EF4-FFF2-40B4-BE49-F238E27FC236}">
                <a16:creationId xmlns:a16="http://schemas.microsoft.com/office/drawing/2014/main" id="{4482F415-9CC9-3923-969F-E17F3AB2F170}"/>
              </a:ext>
            </a:extLst>
          </p:cNvPr>
          <p:cNvSpPr txBox="1"/>
          <p:nvPr/>
        </p:nvSpPr>
        <p:spPr>
          <a:xfrm>
            <a:off x="369771" y="8007634"/>
            <a:ext cx="9144000" cy="646331"/>
          </a:xfrm>
          <a:prstGeom prst="rect">
            <a:avLst/>
          </a:prstGeom>
          <a:noFill/>
        </p:spPr>
        <p:txBody>
          <a:bodyPr wrap="square">
            <a:spAutoFit/>
          </a:bodyPr>
          <a:lstStyle/>
          <a:p>
            <a:pPr>
              <a:buNone/>
            </a:pPr>
            <a:r>
              <a:rPr lang="en-IN" b="1" dirty="0"/>
              <a:t>Luminance channel — Brightness</a:t>
            </a:r>
          </a:p>
          <a:p>
            <a:pPr>
              <a:buNone/>
            </a:pPr>
            <a:r>
              <a:rPr lang="en-IN" b="1" dirty="0"/>
              <a:t>Luminance tells us how bright or dark a pixel is.</a:t>
            </a:r>
            <a:endParaRPr lang="en-IN" dirty="0"/>
          </a:p>
        </p:txBody>
      </p:sp>
      <p:sp>
        <p:nvSpPr>
          <p:cNvPr id="11" name="TextBox 10">
            <a:extLst>
              <a:ext uri="{FF2B5EF4-FFF2-40B4-BE49-F238E27FC236}">
                <a16:creationId xmlns:a16="http://schemas.microsoft.com/office/drawing/2014/main" id="{2BCC3EC0-2E3F-8B52-7841-3E0D8DC71EAD}"/>
              </a:ext>
            </a:extLst>
          </p:cNvPr>
          <p:cNvSpPr txBox="1"/>
          <p:nvPr/>
        </p:nvSpPr>
        <p:spPr>
          <a:xfrm>
            <a:off x="0" y="9005833"/>
            <a:ext cx="9144000" cy="646331"/>
          </a:xfrm>
          <a:prstGeom prst="rect">
            <a:avLst/>
          </a:prstGeom>
          <a:noFill/>
        </p:spPr>
        <p:txBody>
          <a:bodyPr wrap="square">
            <a:spAutoFit/>
          </a:bodyPr>
          <a:lstStyle/>
          <a:p>
            <a:pPr>
              <a:buNone/>
            </a:pPr>
            <a:r>
              <a:rPr lang="en-IN" b="1" dirty="0"/>
              <a:t>Chrominance / Chromatic channels — </a:t>
            </a:r>
            <a:r>
              <a:rPr lang="en-IN" b="1" dirty="0" err="1"/>
              <a:t>Color</a:t>
            </a:r>
            <a:endParaRPr lang="en-IN" b="1" dirty="0"/>
          </a:p>
          <a:p>
            <a:pPr>
              <a:buNone/>
            </a:pPr>
            <a:r>
              <a:rPr lang="en-IN" dirty="0"/>
              <a:t>These tell us </a:t>
            </a:r>
            <a:r>
              <a:rPr lang="en-IN" b="1" dirty="0"/>
              <a:t>what </a:t>
            </a:r>
            <a:r>
              <a:rPr lang="en-IN" b="1" dirty="0" err="1"/>
              <a:t>color</a:t>
            </a:r>
            <a:r>
              <a:rPr lang="en-IN" b="1" dirty="0"/>
              <a:t> the pixel is</a:t>
            </a:r>
            <a:r>
              <a:rPr lang="en-IN" dirty="0"/>
              <a:t>, rather than how bright it is.</a:t>
            </a:r>
          </a:p>
        </p:txBody>
      </p:sp>
      <p:graphicFrame>
        <p:nvGraphicFramePr>
          <p:cNvPr id="12" name="Table 11">
            <a:extLst>
              <a:ext uri="{FF2B5EF4-FFF2-40B4-BE49-F238E27FC236}">
                <a16:creationId xmlns:a16="http://schemas.microsoft.com/office/drawing/2014/main" id="{EE93543B-FC38-A8E5-9E5E-CD140F75C0C1}"/>
              </a:ext>
            </a:extLst>
          </p:cNvPr>
          <p:cNvGraphicFramePr>
            <a:graphicFrameLocks noGrp="1"/>
          </p:cNvGraphicFramePr>
          <p:nvPr>
            <p:extLst>
              <p:ext uri="{D42A27DB-BD31-4B8C-83A1-F6EECF244321}">
                <p14:modId xmlns:p14="http://schemas.microsoft.com/office/powerpoint/2010/main" val="3510988110"/>
              </p:ext>
            </p:extLst>
          </p:nvPr>
        </p:nvGraphicFramePr>
        <p:xfrm>
          <a:off x="7315200" y="8303793"/>
          <a:ext cx="8229600" cy="109728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3027901702"/>
                    </a:ext>
                  </a:extLst>
                </a:gridCol>
                <a:gridCol w="4114800">
                  <a:extLst>
                    <a:ext uri="{9D8B030D-6E8A-4147-A177-3AD203B41FA5}">
                      <a16:colId xmlns:a16="http://schemas.microsoft.com/office/drawing/2014/main" val="803473992"/>
                    </a:ext>
                  </a:extLst>
                </a:gridCol>
              </a:tblGrid>
              <a:tr h="0">
                <a:tc>
                  <a:txBody>
                    <a:bodyPr/>
                    <a:lstStyle/>
                    <a:p>
                      <a:pPr>
                        <a:buNone/>
                      </a:pPr>
                      <a:r>
                        <a:rPr lang="en-IN"/>
                        <a:t>Information</a:t>
                      </a:r>
                    </a:p>
                  </a:txBody>
                  <a:tcPr anchor="ctr"/>
                </a:tc>
                <a:tc>
                  <a:txBody>
                    <a:bodyPr/>
                    <a:lstStyle/>
                    <a:p>
                      <a:pPr>
                        <a:buNone/>
                      </a:pPr>
                      <a:r>
                        <a:rPr lang="en-IN"/>
                        <a:t>What it tells us</a:t>
                      </a:r>
                    </a:p>
                  </a:txBody>
                  <a:tcPr anchor="ctr"/>
                </a:tc>
                <a:extLst>
                  <a:ext uri="{0D108BD9-81ED-4DB2-BD59-A6C34878D82A}">
                    <a16:rowId xmlns:a16="http://schemas.microsoft.com/office/drawing/2014/main" val="3590687669"/>
                  </a:ext>
                </a:extLst>
              </a:tr>
              <a:tr h="0">
                <a:tc>
                  <a:txBody>
                    <a:bodyPr/>
                    <a:lstStyle/>
                    <a:p>
                      <a:pPr>
                        <a:buNone/>
                      </a:pPr>
                      <a:r>
                        <a:rPr lang="en-IN"/>
                        <a:t>Luminance</a:t>
                      </a:r>
                    </a:p>
                  </a:txBody>
                  <a:tcPr anchor="ctr"/>
                </a:tc>
                <a:tc>
                  <a:txBody>
                    <a:bodyPr/>
                    <a:lstStyle/>
                    <a:p>
                      <a:pPr>
                        <a:buNone/>
                      </a:pPr>
                      <a:r>
                        <a:rPr lang="en-IN"/>
                        <a:t>Is the apple bright or dark?</a:t>
                      </a:r>
                    </a:p>
                  </a:txBody>
                  <a:tcPr anchor="ctr"/>
                </a:tc>
                <a:extLst>
                  <a:ext uri="{0D108BD9-81ED-4DB2-BD59-A6C34878D82A}">
                    <a16:rowId xmlns:a16="http://schemas.microsoft.com/office/drawing/2014/main" val="2258334319"/>
                  </a:ext>
                </a:extLst>
              </a:tr>
              <a:tr h="0">
                <a:tc>
                  <a:txBody>
                    <a:bodyPr/>
                    <a:lstStyle/>
                    <a:p>
                      <a:pPr>
                        <a:buNone/>
                      </a:pPr>
                      <a:r>
                        <a:rPr lang="en-IN"/>
                        <a:t>Chrominance</a:t>
                      </a:r>
                    </a:p>
                  </a:txBody>
                  <a:tcPr anchor="ctr"/>
                </a:tc>
                <a:tc>
                  <a:txBody>
                    <a:bodyPr/>
                    <a:lstStyle/>
                    <a:p>
                      <a:pPr>
                        <a:buNone/>
                      </a:pPr>
                      <a:r>
                        <a:rPr lang="en-IN" dirty="0"/>
                        <a:t>The apple is red</a:t>
                      </a:r>
                    </a:p>
                  </a:txBody>
                  <a:tcPr anchor="ctr"/>
                </a:tc>
                <a:extLst>
                  <a:ext uri="{0D108BD9-81ED-4DB2-BD59-A6C34878D82A}">
                    <a16:rowId xmlns:a16="http://schemas.microsoft.com/office/drawing/2014/main" val="58238425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3286518"/>
            <a:ext cx="8290413" cy="859579"/>
          </a:xfrm>
          <a:custGeom>
            <a:avLst/>
            <a:gdLst/>
            <a:ahLst/>
            <a:cxnLst/>
            <a:rect l="l" t="t" r="r" b="b"/>
            <a:pathLst>
              <a:path w="8290413" h="859579">
                <a:moveTo>
                  <a:pt x="0" y="0"/>
                </a:moveTo>
                <a:lnTo>
                  <a:pt x="8290414" y="0"/>
                </a:lnTo>
                <a:lnTo>
                  <a:pt x="8290414" y="859579"/>
                </a:lnTo>
                <a:lnTo>
                  <a:pt x="0" y="859579"/>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Image-Based Feature Visualization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8" name="TextBox 8"/>
          <p:cNvSpPr txBox="1"/>
          <p:nvPr/>
        </p:nvSpPr>
        <p:spPr>
          <a:xfrm>
            <a:off x="681104" y="2048268"/>
            <a:ext cx="15605258"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Raw Image → Derived Visual Features</a:t>
            </a:r>
          </a:p>
          <a:p>
            <a:pPr algn="l">
              <a:lnSpc>
                <a:spcPts val="3600"/>
              </a:lnSpc>
            </a:pPr>
            <a:r>
              <a:rPr lang="en-US" sz="3000">
                <a:solidFill>
                  <a:srgbClr val="000000"/>
                </a:solidFill>
                <a:latin typeface="Calibri (MS)"/>
                <a:ea typeface="Calibri (MS)"/>
                <a:cs typeface="Calibri (MS)"/>
                <a:sym typeface="Calibri (MS)"/>
              </a:rPr>
              <a:t>Instead of visualizing only </a:t>
            </a:r>
            <a:r>
              <a:rPr lang="en-US" sz="3000" i="1">
                <a:solidFill>
                  <a:srgbClr val="000000"/>
                </a:solidFill>
                <a:latin typeface="Calibri (MS) Italics"/>
                <a:ea typeface="Calibri (MS) Italics"/>
                <a:cs typeface="Calibri (MS) Italics"/>
                <a:sym typeface="Calibri (MS) Italics"/>
              </a:rPr>
              <a:t>I(x,y)</a:t>
            </a:r>
            <a:r>
              <a:rPr lang="en-US" sz="3000">
                <a:solidFill>
                  <a:srgbClr val="000000"/>
                </a:solidFill>
                <a:latin typeface="Calibri (MS)"/>
                <a:ea typeface="Calibri (MS)"/>
                <a:cs typeface="Calibri (MS)"/>
                <a:sym typeface="Calibri (MS)"/>
              </a:rPr>
              <a:t>, construct derived representations:</a:t>
            </a:r>
          </a:p>
        </p:txBody>
      </p:sp>
      <p:sp>
        <p:nvSpPr>
          <p:cNvPr id="9" name="TextBox 9"/>
          <p:cNvSpPr txBox="1"/>
          <p:nvPr/>
        </p:nvSpPr>
        <p:spPr>
          <a:xfrm>
            <a:off x="681104" y="4336597"/>
            <a:ext cx="15605258" cy="41814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Examples: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Intensity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Color channels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Local contrast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Edges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Texture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Orientation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Salient regions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Object-related regions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Image-Based Feature Visualization</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7557034"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Feature Visualization</a:t>
            </a:r>
          </a:p>
          <a:p>
            <a:pPr algn="l">
              <a:lnSpc>
                <a:spcPts val="3600"/>
              </a:lnSpc>
            </a:pPr>
            <a:r>
              <a:rPr lang="en-US" sz="3000">
                <a:solidFill>
                  <a:srgbClr val="000000"/>
                </a:solidFill>
                <a:latin typeface="Calibri (MS)"/>
                <a:ea typeface="Calibri (MS)"/>
                <a:cs typeface="Calibri (MS)"/>
                <a:sym typeface="Calibri (MS)"/>
              </a:rPr>
              <a:t>Each feature can become a separate visual layer:</a:t>
            </a:r>
          </a:p>
        </p:txBody>
      </p:sp>
      <p:grpSp>
        <p:nvGrpSpPr>
          <p:cNvPr id="8" name="Group 8"/>
          <p:cNvGrpSpPr/>
          <p:nvPr/>
        </p:nvGrpSpPr>
        <p:grpSpPr>
          <a:xfrm>
            <a:off x="2419674" y="3286518"/>
            <a:ext cx="2783805" cy="745013"/>
            <a:chOff x="0" y="0"/>
            <a:chExt cx="947522" cy="253619"/>
          </a:xfrm>
        </p:grpSpPr>
        <p:sp>
          <p:nvSpPr>
            <p:cNvPr id="9" name="Freeform 9"/>
            <p:cNvSpPr/>
            <p:nvPr/>
          </p:nvSpPr>
          <p:spPr>
            <a:xfrm>
              <a:off x="0" y="0"/>
              <a:ext cx="947522" cy="253619"/>
            </a:xfrm>
            <a:custGeom>
              <a:avLst/>
              <a:gdLst/>
              <a:ahLst/>
              <a:cxnLst/>
              <a:rect l="l" t="t" r="r" b="b"/>
              <a:pathLst>
                <a:path w="947522" h="253619">
                  <a:moveTo>
                    <a:pt x="947522" y="63964"/>
                  </a:moveTo>
                  <a:lnTo>
                    <a:pt x="947522" y="189655"/>
                  </a:lnTo>
                  <a:cubicBezTo>
                    <a:pt x="947522" y="224981"/>
                    <a:pt x="918884" y="253619"/>
                    <a:pt x="883557" y="253619"/>
                  </a:cubicBezTo>
                  <a:lnTo>
                    <a:pt x="63964" y="253619"/>
                  </a:lnTo>
                  <a:cubicBezTo>
                    <a:pt x="28638" y="253619"/>
                    <a:pt x="0" y="224981"/>
                    <a:pt x="0" y="189655"/>
                  </a:cubicBezTo>
                  <a:lnTo>
                    <a:pt x="0" y="63964"/>
                  </a:lnTo>
                  <a:cubicBezTo>
                    <a:pt x="0" y="28638"/>
                    <a:pt x="28638" y="0"/>
                    <a:pt x="63964" y="0"/>
                  </a:cubicBezTo>
                  <a:lnTo>
                    <a:pt x="883557" y="0"/>
                  </a:lnTo>
                  <a:cubicBezTo>
                    <a:pt x="918884" y="0"/>
                    <a:pt x="947522" y="28638"/>
                    <a:pt x="947522" y="63964"/>
                  </a:cubicBezTo>
                  <a:close/>
                </a:path>
              </a:pathLst>
            </a:custGeom>
            <a:solidFill>
              <a:srgbClr val="56B4E9"/>
            </a:solidFill>
          </p:spPr>
          <p:txBody>
            <a:bodyPr/>
            <a:lstStyle/>
            <a:p>
              <a:endParaRPr lang="en-IN"/>
            </a:p>
          </p:txBody>
        </p:sp>
        <p:sp>
          <p:nvSpPr>
            <p:cNvPr id="10" name="TextBox 10"/>
            <p:cNvSpPr txBox="1"/>
            <p:nvPr/>
          </p:nvSpPr>
          <p:spPr>
            <a:xfrm>
              <a:off x="0" y="-38100"/>
              <a:ext cx="947522"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Original image</a:t>
              </a:r>
            </a:p>
          </p:txBody>
        </p:sp>
      </p:grpSp>
      <p:grpSp>
        <p:nvGrpSpPr>
          <p:cNvPr id="11" name="Group 11"/>
          <p:cNvGrpSpPr/>
          <p:nvPr/>
        </p:nvGrpSpPr>
        <p:grpSpPr>
          <a:xfrm>
            <a:off x="1345617" y="5593855"/>
            <a:ext cx="4970018" cy="745013"/>
            <a:chOff x="0" y="0"/>
            <a:chExt cx="1691641" cy="253619"/>
          </a:xfrm>
        </p:grpSpPr>
        <p:sp>
          <p:nvSpPr>
            <p:cNvPr id="12" name="Freeform 12"/>
            <p:cNvSpPr/>
            <p:nvPr/>
          </p:nvSpPr>
          <p:spPr>
            <a:xfrm>
              <a:off x="0" y="0"/>
              <a:ext cx="1691641" cy="253619"/>
            </a:xfrm>
            <a:custGeom>
              <a:avLst/>
              <a:gdLst/>
              <a:ahLst/>
              <a:cxnLst/>
              <a:rect l="l" t="t" r="r" b="b"/>
              <a:pathLst>
                <a:path w="1691641" h="253619">
                  <a:moveTo>
                    <a:pt x="1691641" y="35828"/>
                  </a:moveTo>
                  <a:lnTo>
                    <a:pt x="1691641" y="217791"/>
                  </a:lnTo>
                  <a:cubicBezTo>
                    <a:pt x="1691641" y="227293"/>
                    <a:pt x="1687867" y="236406"/>
                    <a:pt x="1681148" y="243125"/>
                  </a:cubicBezTo>
                  <a:cubicBezTo>
                    <a:pt x="1674429" y="249844"/>
                    <a:pt x="1665316" y="253619"/>
                    <a:pt x="1655814" y="253619"/>
                  </a:cubicBezTo>
                  <a:lnTo>
                    <a:pt x="35828" y="253619"/>
                  </a:lnTo>
                  <a:cubicBezTo>
                    <a:pt x="26326" y="253619"/>
                    <a:pt x="17213" y="249844"/>
                    <a:pt x="10494" y="243125"/>
                  </a:cubicBezTo>
                  <a:cubicBezTo>
                    <a:pt x="3775" y="236406"/>
                    <a:pt x="0" y="227293"/>
                    <a:pt x="0" y="217791"/>
                  </a:cubicBezTo>
                  <a:lnTo>
                    <a:pt x="0" y="35828"/>
                  </a:lnTo>
                  <a:cubicBezTo>
                    <a:pt x="0" y="26326"/>
                    <a:pt x="3775" y="17213"/>
                    <a:pt x="10494" y="10494"/>
                  </a:cubicBezTo>
                  <a:cubicBezTo>
                    <a:pt x="17213" y="3775"/>
                    <a:pt x="26326" y="0"/>
                    <a:pt x="35828" y="0"/>
                  </a:cubicBezTo>
                  <a:lnTo>
                    <a:pt x="1655814" y="0"/>
                  </a:lnTo>
                  <a:cubicBezTo>
                    <a:pt x="1665316" y="0"/>
                    <a:pt x="1674429" y="3775"/>
                    <a:pt x="1681148" y="10494"/>
                  </a:cubicBezTo>
                  <a:cubicBezTo>
                    <a:pt x="1687867" y="17213"/>
                    <a:pt x="1691641" y="26326"/>
                    <a:pt x="1691641" y="35828"/>
                  </a:cubicBezTo>
                  <a:close/>
                </a:path>
              </a:pathLst>
            </a:custGeom>
            <a:solidFill>
              <a:srgbClr val="56B4E9"/>
            </a:solidFill>
          </p:spPr>
          <p:txBody>
            <a:bodyPr/>
            <a:lstStyle/>
            <a:p>
              <a:endParaRPr lang="en-IN"/>
            </a:p>
          </p:txBody>
        </p:sp>
        <p:sp>
          <p:nvSpPr>
            <p:cNvPr id="13" name="TextBox 13"/>
            <p:cNvSpPr txBox="1"/>
            <p:nvPr/>
          </p:nvSpPr>
          <p:spPr>
            <a:xfrm>
              <a:off x="0" y="-38100"/>
              <a:ext cx="1691641"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Contrast/Edge Representation</a:t>
              </a:r>
            </a:p>
          </p:txBody>
        </p:sp>
      </p:grpSp>
      <p:grpSp>
        <p:nvGrpSpPr>
          <p:cNvPr id="14" name="Group 14"/>
          <p:cNvGrpSpPr/>
          <p:nvPr/>
        </p:nvGrpSpPr>
        <p:grpSpPr>
          <a:xfrm>
            <a:off x="2512258" y="4444374"/>
            <a:ext cx="2598636" cy="745013"/>
            <a:chOff x="0" y="0"/>
            <a:chExt cx="884496" cy="253619"/>
          </a:xfrm>
        </p:grpSpPr>
        <p:sp>
          <p:nvSpPr>
            <p:cNvPr id="15" name="Freeform 15"/>
            <p:cNvSpPr/>
            <p:nvPr/>
          </p:nvSpPr>
          <p:spPr>
            <a:xfrm>
              <a:off x="0" y="0"/>
              <a:ext cx="884496" cy="253619"/>
            </a:xfrm>
            <a:custGeom>
              <a:avLst/>
              <a:gdLst/>
              <a:ahLst/>
              <a:cxnLst/>
              <a:rect l="l" t="t" r="r" b="b"/>
              <a:pathLst>
                <a:path w="884496" h="253619">
                  <a:moveTo>
                    <a:pt x="884496" y="68522"/>
                  </a:moveTo>
                  <a:lnTo>
                    <a:pt x="884496" y="185097"/>
                  </a:lnTo>
                  <a:cubicBezTo>
                    <a:pt x="884496" y="222941"/>
                    <a:pt x="853817" y="253619"/>
                    <a:pt x="815974" y="253619"/>
                  </a:cubicBezTo>
                  <a:lnTo>
                    <a:pt x="68522" y="253619"/>
                  </a:lnTo>
                  <a:cubicBezTo>
                    <a:pt x="30678" y="253619"/>
                    <a:pt x="0" y="222941"/>
                    <a:pt x="0" y="185097"/>
                  </a:cubicBezTo>
                  <a:lnTo>
                    <a:pt x="0" y="68522"/>
                  </a:lnTo>
                  <a:cubicBezTo>
                    <a:pt x="0" y="30678"/>
                    <a:pt x="30678" y="0"/>
                    <a:pt x="68522" y="0"/>
                  </a:cubicBezTo>
                  <a:lnTo>
                    <a:pt x="815974" y="0"/>
                  </a:lnTo>
                  <a:cubicBezTo>
                    <a:pt x="834147" y="0"/>
                    <a:pt x="851576" y="7219"/>
                    <a:pt x="864426" y="20070"/>
                  </a:cubicBezTo>
                  <a:cubicBezTo>
                    <a:pt x="877277" y="32920"/>
                    <a:pt x="884496" y="50349"/>
                    <a:pt x="884496" y="68522"/>
                  </a:cubicBezTo>
                  <a:close/>
                </a:path>
              </a:pathLst>
            </a:custGeom>
            <a:solidFill>
              <a:srgbClr val="56B4E9"/>
            </a:solidFill>
          </p:spPr>
          <p:txBody>
            <a:bodyPr/>
            <a:lstStyle/>
            <a:p>
              <a:endParaRPr lang="en-IN"/>
            </a:p>
          </p:txBody>
        </p:sp>
        <p:sp>
          <p:nvSpPr>
            <p:cNvPr id="16" name="TextBox 16"/>
            <p:cNvSpPr txBox="1"/>
            <p:nvPr/>
          </p:nvSpPr>
          <p:spPr>
            <a:xfrm>
              <a:off x="0" y="-38100"/>
              <a:ext cx="884496"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Intensity map</a:t>
              </a:r>
            </a:p>
          </p:txBody>
        </p:sp>
      </p:grpSp>
      <p:grpSp>
        <p:nvGrpSpPr>
          <p:cNvPr id="17" name="Group 17"/>
          <p:cNvGrpSpPr/>
          <p:nvPr/>
        </p:nvGrpSpPr>
        <p:grpSpPr>
          <a:xfrm>
            <a:off x="1381394" y="6752861"/>
            <a:ext cx="4898464" cy="745013"/>
            <a:chOff x="0" y="0"/>
            <a:chExt cx="1667287" cy="253619"/>
          </a:xfrm>
        </p:grpSpPr>
        <p:sp>
          <p:nvSpPr>
            <p:cNvPr id="18" name="Freeform 18"/>
            <p:cNvSpPr/>
            <p:nvPr/>
          </p:nvSpPr>
          <p:spPr>
            <a:xfrm>
              <a:off x="0" y="0"/>
              <a:ext cx="1667287" cy="253619"/>
            </a:xfrm>
            <a:custGeom>
              <a:avLst/>
              <a:gdLst/>
              <a:ahLst/>
              <a:cxnLst/>
              <a:rect l="l" t="t" r="r" b="b"/>
              <a:pathLst>
                <a:path w="1667287" h="253619">
                  <a:moveTo>
                    <a:pt x="1667287" y="36351"/>
                  </a:moveTo>
                  <a:lnTo>
                    <a:pt x="1667287" y="217268"/>
                  </a:lnTo>
                  <a:cubicBezTo>
                    <a:pt x="1667287" y="237344"/>
                    <a:pt x="1651012" y="253619"/>
                    <a:pt x="1630936" y="253619"/>
                  </a:cubicBezTo>
                  <a:lnTo>
                    <a:pt x="36351" y="253619"/>
                  </a:lnTo>
                  <a:cubicBezTo>
                    <a:pt x="26710" y="253619"/>
                    <a:pt x="17464" y="249789"/>
                    <a:pt x="10647" y="242972"/>
                  </a:cubicBezTo>
                  <a:cubicBezTo>
                    <a:pt x="3830" y="236155"/>
                    <a:pt x="0" y="226909"/>
                    <a:pt x="0" y="217268"/>
                  </a:cubicBezTo>
                  <a:lnTo>
                    <a:pt x="0" y="36351"/>
                  </a:lnTo>
                  <a:cubicBezTo>
                    <a:pt x="0" y="16275"/>
                    <a:pt x="16275" y="0"/>
                    <a:pt x="36351" y="0"/>
                  </a:cubicBezTo>
                  <a:lnTo>
                    <a:pt x="1630936" y="0"/>
                  </a:lnTo>
                  <a:cubicBezTo>
                    <a:pt x="1640576" y="0"/>
                    <a:pt x="1649823" y="3830"/>
                    <a:pt x="1656640" y="10647"/>
                  </a:cubicBezTo>
                  <a:cubicBezTo>
                    <a:pt x="1663457" y="17464"/>
                    <a:pt x="1667287" y="26710"/>
                    <a:pt x="1667287" y="36351"/>
                  </a:cubicBezTo>
                  <a:close/>
                </a:path>
              </a:pathLst>
            </a:custGeom>
            <a:solidFill>
              <a:srgbClr val="56B4E9"/>
            </a:solidFill>
          </p:spPr>
          <p:txBody>
            <a:bodyPr/>
            <a:lstStyle/>
            <a:p>
              <a:endParaRPr lang="en-IN"/>
            </a:p>
          </p:txBody>
        </p:sp>
        <p:sp>
          <p:nvSpPr>
            <p:cNvPr id="19" name="TextBox 19"/>
            <p:cNvSpPr txBox="1"/>
            <p:nvPr/>
          </p:nvSpPr>
          <p:spPr>
            <a:xfrm>
              <a:off x="0" y="-38100"/>
              <a:ext cx="1667287"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Colour-Channel Representation</a:t>
              </a:r>
            </a:p>
          </p:txBody>
        </p:sp>
      </p:grpSp>
      <p:grpSp>
        <p:nvGrpSpPr>
          <p:cNvPr id="20" name="Group 20"/>
          <p:cNvGrpSpPr/>
          <p:nvPr/>
        </p:nvGrpSpPr>
        <p:grpSpPr>
          <a:xfrm>
            <a:off x="2406157" y="7897923"/>
            <a:ext cx="2848938" cy="745013"/>
            <a:chOff x="0" y="0"/>
            <a:chExt cx="969691" cy="253619"/>
          </a:xfrm>
        </p:grpSpPr>
        <p:sp>
          <p:nvSpPr>
            <p:cNvPr id="21" name="Freeform 21"/>
            <p:cNvSpPr/>
            <p:nvPr/>
          </p:nvSpPr>
          <p:spPr>
            <a:xfrm>
              <a:off x="0" y="0"/>
              <a:ext cx="969691" cy="253619"/>
            </a:xfrm>
            <a:custGeom>
              <a:avLst/>
              <a:gdLst/>
              <a:ahLst/>
              <a:cxnLst/>
              <a:rect l="l" t="t" r="r" b="b"/>
              <a:pathLst>
                <a:path w="969691" h="253619">
                  <a:moveTo>
                    <a:pt x="969691" y="62502"/>
                  </a:moveTo>
                  <a:lnTo>
                    <a:pt x="969691" y="191117"/>
                  </a:lnTo>
                  <a:cubicBezTo>
                    <a:pt x="969691" y="225636"/>
                    <a:pt x="941708" y="253619"/>
                    <a:pt x="907189" y="253619"/>
                  </a:cubicBezTo>
                  <a:lnTo>
                    <a:pt x="62502" y="253619"/>
                  </a:lnTo>
                  <a:cubicBezTo>
                    <a:pt x="45925" y="253619"/>
                    <a:pt x="30028" y="247034"/>
                    <a:pt x="18306" y="235313"/>
                  </a:cubicBezTo>
                  <a:cubicBezTo>
                    <a:pt x="6585" y="223591"/>
                    <a:pt x="0" y="207694"/>
                    <a:pt x="0" y="191117"/>
                  </a:cubicBezTo>
                  <a:lnTo>
                    <a:pt x="0" y="62502"/>
                  </a:lnTo>
                  <a:cubicBezTo>
                    <a:pt x="0" y="27983"/>
                    <a:pt x="27983" y="0"/>
                    <a:pt x="62502" y="0"/>
                  </a:cubicBezTo>
                  <a:lnTo>
                    <a:pt x="907189" y="0"/>
                  </a:lnTo>
                  <a:cubicBezTo>
                    <a:pt x="923766" y="0"/>
                    <a:pt x="939663" y="6585"/>
                    <a:pt x="951385" y="18306"/>
                  </a:cubicBezTo>
                  <a:cubicBezTo>
                    <a:pt x="963106" y="30028"/>
                    <a:pt x="969691" y="45925"/>
                    <a:pt x="969691" y="62502"/>
                  </a:cubicBezTo>
                  <a:close/>
                </a:path>
              </a:pathLst>
            </a:custGeom>
            <a:solidFill>
              <a:srgbClr val="56B4E9"/>
            </a:solidFill>
          </p:spPr>
          <p:txBody>
            <a:bodyPr/>
            <a:lstStyle/>
            <a:p>
              <a:endParaRPr lang="en-IN"/>
            </a:p>
          </p:txBody>
        </p:sp>
        <p:sp>
          <p:nvSpPr>
            <p:cNvPr id="22" name="TextBox 22"/>
            <p:cNvSpPr txBox="1"/>
            <p:nvPr/>
          </p:nvSpPr>
          <p:spPr>
            <a:xfrm>
              <a:off x="0" y="-38100"/>
              <a:ext cx="969691" cy="291719"/>
            </a:xfrm>
            <a:prstGeom prst="rect">
              <a:avLst/>
            </a:prstGeom>
          </p:spPr>
          <p:txBody>
            <a:bodyPr lIns="50800" tIns="50800" rIns="50800" bIns="50800" rtlCol="0" anchor="ctr"/>
            <a:lstStyle/>
            <a:p>
              <a:pPr algn="ctr">
                <a:lnSpc>
                  <a:spcPts val="3359"/>
                </a:lnSpc>
                <a:spcBef>
                  <a:spcPct val="0"/>
                </a:spcBef>
              </a:pPr>
              <a:r>
                <a:rPr lang="en-US" sz="2400" b="1">
                  <a:solidFill>
                    <a:srgbClr val="000000"/>
                  </a:solidFill>
                  <a:latin typeface="Canva Sans Bold"/>
                  <a:ea typeface="Canva Sans Bold"/>
                  <a:cs typeface="Canva Sans Bold"/>
                  <a:sym typeface="Canva Sans Bold"/>
                </a:rPr>
                <a:t>Feature Overlay</a:t>
              </a:r>
            </a:p>
          </p:txBody>
        </p:sp>
      </p:grpSp>
      <p:sp>
        <p:nvSpPr>
          <p:cNvPr id="23" name="AutoShape 23"/>
          <p:cNvSpPr/>
          <p:nvPr/>
        </p:nvSpPr>
        <p:spPr>
          <a:xfrm>
            <a:off x="3811576" y="4031531"/>
            <a:ext cx="0" cy="404468"/>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4" name="AutoShape 24"/>
          <p:cNvSpPr/>
          <p:nvPr/>
        </p:nvSpPr>
        <p:spPr>
          <a:xfrm>
            <a:off x="3830626" y="5189387"/>
            <a:ext cx="0" cy="404468"/>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5" name="AutoShape 25"/>
          <p:cNvSpPr/>
          <p:nvPr/>
        </p:nvSpPr>
        <p:spPr>
          <a:xfrm>
            <a:off x="3830626" y="6338867"/>
            <a:ext cx="0" cy="404468"/>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6" name="AutoShape 26"/>
          <p:cNvSpPr/>
          <p:nvPr/>
        </p:nvSpPr>
        <p:spPr>
          <a:xfrm>
            <a:off x="3830626" y="7495811"/>
            <a:ext cx="0" cy="404468"/>
          </a:xfrm>
          <a:prstGeom prst="line">
            <a:avLst/>
          </a:prstGeom>
          <a:ln w="38100" cap="flat">
            <a:solidFill>
              <a:srgbClr val="DFA267"/>
            </a:solidFill>
            <a:prstDash val="solid"/>
            <a:headEnd type="none" w="sm" len="sm"/>
            <a:tailEnd type="triangle" w="lg" len="med"/>
          </a:ln>
        </p:spPr>
        <p:txBody>
          <a:bodyPr/>
          <a:lstStyle/>
          <a:p>
            <a:endParaRPr lang="en-IN"/>
          </a:p>
        </p:txBody>
      </p:sp>
      <p:sp>
        <p:nvSpPr>
          <p:cNvPr id="27" name="TextBox 27"/>
          <p:cNvSpPr txBox="1"/>
          <p:nvPr/>
        </p:nvSpPr>
        <p:spPr>
          <a:xfrm>
            <a:off x="8238138" y="3463299"/>
            <a:ext cx="8178618" cy="60102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A raw image contains enormous amounts of information. Feature visualization allows us to ask targeted questions: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Where is the structure?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Where are the strongest changes?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Which regions are visually distinctive?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Which image regions correspond to a particular attribute?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Ware's discussion of </a:t>
            </a:r>
            <a:r>
              <a:rPr lang="en-US" sz="3000" b="1" dirty="0">
                <a:solidFill>
                  <a:srgbClr val="000000"/>
                </a:solidFill>
                <a:latin typeface="Calibri (MS)"/>
                <a:ea typeface="Calibri (MS)"/>
                <a:cs typeface="Calibri (MS)"/>
                <a:sym typeface="Calibri (MS)"/>
              </a:rPr>
              <a:t>image-based object recognition emphasizes that visual recognition can exploit 2D image information and that people can recognize pictorial images extremely rapidly.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Collections, Image Search And Rapid Presentation</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Visualizing Image Collections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Thumbnail grids </a:t>
            </a:r>
            <a:r>
              <a:rPr lang="en-US" sz="3000" dirty="0">
                <a:solidFill>
                  <a:srgbClr val="000000"/>
                </a:solidFill>
                <a:latin typeface="Calibri (MS)"/>
                <a:ea typeface="Calibri (MS)"/>
                <a:cs typeface="Calibri (MS)"/>
                <a:sym typeface="Calibri (MS)"/>
              </a:rPr>
              <a:t>allow many images to be displayed simultaneously, making it easier to compare images and identify recurring visual patterns.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Contact sheets </a:t>
            </a:r>
            <a:r>
              <a:rPr lang="en-US" sz="3000" dirty="0">
                <a:solidFill>
                  <a:srgbClr val="000000"/>
                </a:solidFill>
                <a:latin typeface="Calibri (MS)"/>
                <a:ea typeface="Calibri (MS)"/>
                <a:cs typeface="Calibri (MS)"/>
                <a:sym typeface="Calibri (MS)"/>
              </a:rPr>
              <a:t>provide a structured overview of a large collection while retaining enough visual detail for rapid inspection.</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Image timelines </a:t>
            </a:r>
            <a:r>
              <a:rPr lang="en-US" sz="3000" dirty="0">
                <a:solidFill>
                  <a:srgbClr val="000000"/>
                </a:solidFill>
                <a:latin typeface="Calibri (MS)"/>
                <a:ea typeface="Calibri (MS)"/>
                <a:cs typeface="Calibri (MS)"/>
                <a:sym typeface="Calibri (MS)"/>
              </a:rPr>
              <a:t>organize images according to their temporal order, allowing changes and recurring patterns to be identified over time.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Rapid Image Presentation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Rapid Serial Visual Presentation (RSVP) </a:t>
            </a:r>
            <a:r>
              <a:rPr lang="en-US" sz="3000" b="1" dirty="0">
                <a:solidFill>
                  <a:srgbClr val="000000"/>
                </a:solidFill>
                <a:latin typeface="Calibri (MS)"/>
                <a:ea typeface="Calibri (MS)"/>
                <a:cs typeface="Calibri (MS)"/>
                <a:sym typeface="Calibri (MS)"/>
              </a:rPr>
              <a:t>displays images sequentially </a:t>
            </a:r>
            <a:r>
              <a:rPr lang="en-US" sz="3000" dirty="0">
                <a:solidFill>
                  <a:srgbClr val="000000"/>
                </a:solidFill>
                <a:latin typeface="Calibri (MS)"/>
                <a:ea typeface="Calibri (MS)"/>
                <a:cs typeface="Calibri (MS)"/>
                <a:sym typeface="Calibri (MS)"/>
              </a:rPr>
              <a:t>at high speed and can support rapid detection of visually meaningful targets.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Ware discusses experiments in which </a:t>
            </a:r>
            <a:r>
              <a:rPr lang="en-US" sz="3000" b="1" dirty="0">
                <a:solidFill>
                  <a:srgbClr val="000000"/>
                </a:solidFill>
                <a:latin typeface="Calibri (MS)"/>
                <a:ea typeface="Calibri (MS)"/>
                <a:cs typeface="Calibri (MS)"/>
                <a:sym typeface="Calibri (MS)"/>
              </a:rPr>
              <a:t>people were able to recognize or detect objects in rapidly presented images at rates approaching 10 images per second</a:t>
            </a:r>
            <a:r>
              <a:rPr lang="en-US" sz="3000" dirty="0">
                <a:solidFill>
                  <a:srgbClr val="000000"/>
                </a:solidFill>
                <a:latin typeface="Calibri (MS)"/>
                <a:ea typeface="Calibri (MS)"/>
                <a:cs typeface="Calibri (MS)"/>
                <a:sym typeface="Calibri (MS)"/>
              </a:rPr>
              <a:t>. </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When two targets are presented too close together in time, an attentional blink can reduce the observer's ability to detect the second target. </a:t>
            </a:r>
          </a:p>
        </p:txBody>
      </p:sp>
      <p:sp>
        <p:nvSpPr>
          <p:cNvPr id="9" name="TextBox 8">
            <a:extLst>
              <a:ext uri="{FF2B5EF4-FFF2-40B4-BE49-F238E27FC236}">
                <a16:creationId xmlns:a16="http://schemas.microsoft.com/office/drawing/2014/main" id="{75DBB6BB-AE4C-6850-1A79-30F906654FAE}"/>
              </a:ext>
            </a:extLst>
          </p:cNvPr>
          <p:cNvSpPr txBox="1"/>
          <p:nvPr/>
        </p:nvSpPr>
        <p:spPr>
          <a:xfrm>
            <a:off x="11049000" y="199465"/>
            <a:ext cx="5269739" cy="2308324"/>
          </a:xfrm>
          <a:prstGeom prst="rect">
            <a:avLst/>
          </a:prstGeom>
          <a:noFill/>
        </p:spPr>
        <p:txBody>
          <a:bodyPr wrap="square">
            <a:spAutoFit/>
          </a:bodyPr>
          <a:lstStyle/>
          <a:p>
            <a:pPr marL="742950" lvl="1" indent="-285750" rtl="0">
              <a:buFont typeface="Arial" panose="020B0604020202020204" pitchFamily="34" charset="0"/>
              <a:buChar char="•"/>
            </a:pPr>
            <a:r>
              <a:rPr lang="en-IN"/>
              <a:t>Satellite </a:t>
            </a:r>
            <a:r>
              <a:rPr lang="en-IN" dirty="0"/>
              <a:t>images of a lake shrinking over 20 years</a:t>
            </a:r>
          </a:p>
          <a:p>
            <a:pPr marL="742950" lvl="1" indent="-285750" rtl="0">
              <a:buFont typeface="Arial" panose="020B0604020202020204" pitchFamily="34" charset="0"/>
              <a:buChar char="•"/>
            </a:pPr>
            <a:r>
              <a:rPr lang="en-IN" dirty="0"/>
              <a:t>Medical scans showing a tumour's progress</a:t>
            </a:r>
          </a:p>
          <a:p>
            <a:pPr marL="742950" lvl="1" indent="-285750" rtl="0">
              <a:buFont typeface="Arial" panose="020B0604020202020204" pitchFamily="34" charset="0"/>
              <a:buChar char="•"/>
            </a:pPr>
            <a:r>
              <a:rPr lang="en-IN" dirty="0"/>
              <a:t>CCTV frames showing when someone entered a room</a:t>
            </a:r>
          </a:p>
          <a:p>
            <a:pPr marL="742950" lvl="1" indent="-285750" rtl="0">
              <a:buFont typeface="Arial" panose="020B0604020202020204" pitchFamily="34" charset="0"/>
              <a:buChar char="•"/>
            </a:pPr>
            <a:r>
              <a:rPr lang="en-IN" dirty="0"/>
              <a:t>Seasonal patterns that repeat each year</a:t>
            </a:r>
          </a:p>
          <a:p>
            <a:pPr marL="342900" lvl="0" indent="-342900" rtl="0">
              <a:buFont typeface="Arial" panose="020B0604020202020204" pitchFamily="34" charset="0"/>
              <a:buChar char="•"/>
            </a:pPr>
            <a:r>
              <a:rPr lang="en-IN" dirty="0"/>
              <a:t>Recurring patterns become visible as repeating visual rhythms along the axis.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Collections, Image Search And Rapid Presentation</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4638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Image Size And Recognition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appropriate display size depends on the visual complexity of the object being presented.</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Ware reports that </a:t>
            </a:r>
            <a:r>
              <a:rPr lang="en-US" sz="3000" b="1" dirty="0">
                <a:solidFill>
                  <a:srgbClr val="000000"/>
                </a:solidFill>
                <a:latin typeface="Calibri (MS)"/>
                <a:ea typeface="Calibri (MS)"/>
                <a:cs typeface="Calibri (MS)"/>
                <a:sym typeface="Calibri (MS)"/>
              </a:rPr>
              <a:t>complex objects and patterns are identified most effectively at approximately 4-6° of visual angle, whereas simpler objects can be detected at smaller visual angles.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Visualization Design Implication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Displaying more images simultaneously increases overview but reduces the amount of detail available for each image.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An effective image-collection visualization should therefore support a progression from browsing and detection to selection and detailed inspection.</a:t>
            </a:r>
          </a:p>
        </p:txBody>
      </p:sp>
      <p:sp>
        <p:nvSpPr>
          <p:cNvPr id="9" name="TextBox 8">
            <a:extLst>
              <a:ext uri="{FF2B5EF4-FFF2-40B4-BE49-F238E27FC236}">
                <a16:creationId xmlns:a16="http://schemas.microsoft.com/office/drawing/2014/main" id="{90ADF7F5-D6D0-EB45-28F0-EB82AAD923C4}"/>
              </a:ext>
            </a:extLst>
          </p:cNvPr>
          <p:cNvSpPr txBox="1"/>
          <p:nvPr/>
        </p:nvSpPr>
        <p:spPr>
          <a:xfrm>
            <a:off x="6588890" y="3998273"/>
            <a:ext cx="9153144" cy="369332"/>
          </a:xfrm>
          <a:prstGeom prst="rect">
            <a:avLst/>
          </a:prstGeom>
          <a:noFill/>
        </p:spPr>
        <p:txBody>
          <a:bodyPr wrap="square">
            <a:spAutoFit/>
          </a:bodyPr>
          <a:lstStyle/>
          <a:p>
            <a:r>
              <a:rPr lang="en-IN" dirty="0"/>
              <a:t>size ≈ 2 × distance × tan(angle / 2)</a:t>
            </a:r>
          </a:p>
        </p:txBody>
      </p:sp>
      <p:pic>
        <p:nvPicPr>
          <p:cNvPr id="11" name="Picture 10">
            <a:extLst>
              <a:ext uri="{FF2B5EF4-FFF2-40B4-BE49-F238E27FC236}">
                <a16:creationId xmlns:a16="http://schemas.microsoft.com/office/drawing/2014/main" id="{AF33CA28-BD0E-1DB0-50D9-5FAACEE40C87}"/>
              </a:ext>
            </a:extLst>
          </p:cNvPr>
          <p:cNvPicPr>
            <a:picLocks noChangeAspect="1"/>
          </p:cNvPicPr>
          <p:nvPr/>
        </p:nvPicPr>
        <p:blipFill>
          <a:blip r:embed="rId3"/>
          <a:stretch>
            <a:fillRect/>
          </a:stretch>
        </p:blipFill>
        <p:spPr>
          <a:xfrm>
            <a:off x="838200" y="7574762"/>
            <a:ext cx="6677957" cy="2124371"/>
          </a:xfrm>
          <a:prstGeom prst="rect">
            <a:avLst/>
          </a:prstGeom>
        </p:spPr>
      </p:pic>
      <p:sp>
        <p:nvSpPr>
          <p:cNvPr id="13" name="TextBox 12">
            <a:extLst>
              <a:ext uri="{FF2B5EF4-FFF2-40B4-BE49-F238E27FC236}">
                <a16:creationId xmlns:a16="http://schemas.microsoft.com/office/drawing/2014/main" id="{017D36C4-AC96-B4B2-D359-9F0B2EBFCB6B}"/>
              </a:ext>
            </a:extLst>
          </p:cNvPr>
          <p:cNvSpPr txBox="1"/>
          <p:nvPr/>
        </p:nvSpPr>
        <p:spPr>
          <a:xfrm>
            <a:off x="9296400" y="6812870"/>
            <a:ext cx="9153144" cy="923330"/>
          </a:xfrm>
          <a:prstGeom prst="rect">
            <a:avLst/>
          </a:prstGeom>
          <a:noFill/>
        </p:spPr>
        <p:txBody>
          <a:bodyPr wrap="square">
            <a:spAutoFit/>
          </a:bodyPr>
          <a:lstStyle/>
          <a:p>
            <a:r>
              <a:rPr lang="en-IN" dirty="0"/>
              <a:t>Browse  →  Detect  →  Select  →  Inspect in detail</a:t>
            </a:r>
          </a:p>
          <a:p>
            <a:r>
              <a:rPr lang="en-IN" dirty="0"/>
              <a:t>(grid /     (spot       (click /    (full-size view,</a:t>
            </a:r>
          </a:p>
          <a:p>
            <a:r>
              <a:rPr lang="en-IN" dirty="0"/>
              <a:t> RSVP)       targets)    mark)       zoom, metadata)</a:t>
            </a:r>
          </a:p>
        </p:txBody>
      </p:sp>
      <p:sp>
        <p:nvSpPr>
          <p:cNvPr id="15" name="TextBox 14">
            <a:extLst>
              <a:ext uri="{FF2B5EF4-FFF2-40B4-BE49-F238E27FC236}">
                <a16:creationId xmlns:a16="http://schemas.microsoft.com/office/drawing/2014/main" id="{AC3CE2E5-DF6C-0F11-7391-663A123D48C4}"/>
              </a:ext>
            </a:extLst>
          </p:cNvPr>
          <p:cNvSpPr txBox="1"/>
          <p:nvPr/>
        </p:nvSpPr>
        <p:spPr>
          <a:xfrm>
            <a:off x="8839200" y="8015437"/>
            <a:ext cx="9235440" cy="369332"/>
          </a:xfrm>
          <a:prstGeom prst="rect">
            <a:avLst/>
          </a:prstGeom>
          <a:noFill/>
        </p:spPr>
        <p:txBody>
          <a:bodyPr wrap="square">
            <a:spAutoFit/>
          </a:bodyPr>
          <a:lstStyle/>
          <a:p>
            <a:r>
              <a:rPr lang="en-IN" dirty="0"/>
              <a:t>Overview first, zoom and filter, then details on demand."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8DDE87-7CD3-C4B2-137E-158409908F18}"/>
              </a:ext>
            </a:extLst>
          </p:cNvPr>
          <p:cNvPicPr>
            <a:picLocks noChangeAspect="1"/>
          </p:cNvPicPr>
          <p:nvPr/>
        </p:nvPicPr>
        <p:blipFill>
          <a:blip r:embed="rId2"/>
          <a:stretch>
            <a:fillRect/>
          </a:stretch>
        </p:blipFill>
        <p:spPr>
          <a:xfrm>
            <a:off x="965200" y="1333500"/>
            <a:ext cx="16357599" cy="7442707"/>
          </a:xfrm>
          <a:prstGeom prst="rect">
            <a:avLst/>
          </a:prstGeom>
        </p:spPr>
      </p:pic>
    </p:spTree>
    <p:extLst>
      <p:ext uri="{BB962C8B-B14F-4D97-AF65-F5344CB8AC3E}">
        <p14:creationId xmlns:p14="http://schemas.microsoft.com/office/powerpoint/2010/main" val="37191426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50027-F2AD-6A24-D916-BA83F112819F}"/>
              </a:ext>
            </a:extLst>
          </p:cNvPr>
          <p:cNvPicPr>
            <a:picLocks noChangeAspect="1"/>
          </p:cNvPicPr>
          <p:nvPr/>
        </p:nvPicPr>
        <p:blipFill>
          <a:blip r:embed="rId2"/>
          <a:stretch>
            <a:fillRect/>
          </a:stretch>
        </p:blipFill>
        <p:spPr>
          <a:xfrm>
            <a:off x="1828800" y="342900"/>
            <a:ext cx="14630400" cy="9753600"/>
          </a:xfrm>
          <a:prstGeom prst="rect">
            <a:avLst/>
          </a:prstGeom>
        </p:spPr>
      </p:pic>
    </p:spTree>
    <p:extLst>
      <p:ext uri="{BB962C8B-B14F-4D97-AF65-F5344CB8AC3E}">
        <p14:creationId xmlns:p14="http://schemas.microsoft.com/office/powerpoint/2010/main" val="1520010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1) Number Of Pixels In An Image</a:t>
            </a:r>
          </a:p>
          <a:p>
            <a:pPr algn="l">
              <a:lnSpc>
                <a:spcPts val="3600"/>
              </a:lnSpc>
            </a:pPr>
            <a:endParaRPr lang="en-US" sz="3000" b="1" dirty="0">
              <a:solidFill>
                <a:srgbClr val="000000"/>
              </a:solidFill>
              <a:latin typeface="Calibri (MS) Bold"/>
              <a:ea typeface="Calibri (MS) Bold"/>
              <a:cs typeface="Calibri (MS) Bold"/>
              <a:sym typeface="Calibri (MS) Bold"/>
            </a:endParaRPr>
          </a:p>
          <a:p>
            <a:pPr algn="l">
              <a:lnSpc>
                <a:spcPts val="3600"/>
              </a:lnSpc>
            </a:pPr>
            <a:r>
              <a:rPr lang="en-US" sz="3000" dirty="0">
                <a:solidFill>
                  <a:srgbClr val="000000"/>
                </a:solidFill>
                <a:latin typeface="Calibri (MS)"/>
                <a:ea typeface="Calibri (MS)"/>
                <a:cs typeface="Calibri (MS)"/>
                <a:sym typeface="Calibri (MS)"/>
              </a:rPr>
              <a:t>Q1: An image has a resolution of 1920 × 1080. How many pixels does it contain?</a:t>
            </a:r>
          </a:p>
          <a:p>
            <a:pPr algn="l">
              <a:lnSpc>
                <a:spcPts val="3600"/>
              </a:lnSpc>
            </a:pPr>
            <a:r>
              <a:rPr lang="en-US" sz="3000" dirty="0">
                <a:solidFill>
                  <a:srgbClr val="000000"/>
                </a:solidFill>
                <a:latin typeface="Calibri (MS)"/>
                <a:ea typeface="Calibri (MS)"/>
                <a:cs typeface="Calibri (MS)"/>
                <a:sym typeface="Calibri (MS)"/>
              </a:rPr>
              <a:t>A1: N = W × H = 1920 × 1080 = 20,73,600 pixels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Q2: If the image uses 8 bits per pixel: </a:t>
            </a:r>
          </a:p>
          <a:p>
            <a:pPr algn="l">
              <a:lnSpc>
                <a:spcPts val="3600"/>
              </a:lnSpc>
            </a:pPr>
            <a:r>
              <a:rPr lang="en-US" sz="3000" dirty="0">
                <a:solidFill>
                  <a:srgbClr val="000000"/>
                </a:solidFill>
                <a:latin typeface="Calibri (MS)"/>
                <a:ea typeface="Calibri (MS)"/>
                <a:cs typeface="Calibri (MS)"/>
                <a:sym typeface="Calibri (MS)"/>
              </a:rPr>
              <a:t>20,73,600 × 8 = 1,65,88,800 bits, how much data is represented?</a:t>
            </a:r>
          </a:p>
          <a:p>
            <a:pPr algn="l">
              <a:lnSpc>
                <a:spcPts val="3600"/>
              </a:lnSpc>
            </a:pPr>
            <a:r>
              <a:rPr lang="en-US" sz="3000" dirty="0">
                <a:solidFill>
                  <a:srgbClr val="000000"/>
                </a:solidFill>
                <a:latin typeface="Calibri (MS)"/>
                <a:ea typeface="Calibri (MS)"/>
                <a:cs typeface="Calibri (MS)"/>
                <a:sym typeface="Calibri (MS)"/>
              </a:rPr>
              <a:t>A2: = 20,73,600 bytes ≈ 1.98 MB</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Extra Questions:</a:t>
            </a:r>
          </a:p>
          <a:p>
            <a:pPr algn="l">
              <a:lnSpc>
                <a:spcPts val="3600"/>
              </a:lnSpc>
            </a:pPr>
            <a:r>
              <a:rPr lang="en-US" sz="3000" dirty="0">
                <a:solidFill>
                  <a:srgbClr val="000000"/>
                </a:solidFill>
                <a:latin typeface="Calibri (MS)"/>
                <a:ea typeface="Calibri (MS)"/>
                <a:cs typeface="Calibri (MS)"/>
                <a:sym typeface="Calibri (MS)"/>
              </a:rPr>
              <a:t>Q1: A grayscale image has a resolution of 1000 × 800 pixels. Each pixel uses 8 bits. How much uncompressed storage is required?</a:t>
            </a:r>
          </a:p>
          <a:p>
            <a:pPr algn="l">
              <a:lnSpc>
                <a:spcPts val="3600"/>
              </a:lnSpc>
            </a:pPr>
            <a:r>
              <a:rPr lang="en-US" sz="3000" dirty="0">
                <a:solidFill>
                  <a:srgbClr val="000000"/>
                </a:solidFill>
                <a:latin typeface="Calibri (MS)"/>
                <a:ea typeface="Calibri (MS)"/>
                <a:cs typeface="Calibri (MS)"/>
                <a:sym typeface="Calibri (MS)"/>
              </a:rPr>
              <a:t>Q2: An RGB image has a resolution of 640 × 480 pixels. Each pixel uses 24 bits. How much uncompressed storage is required?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41814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Answers:</a:t>
            </a:r>
          </a:p>
          <a:p>
            <a:pPr algn="l">
              <a:lnSpc>
                <a:spcPts val="3600"/>
              </a:lnSpc>
            </a:pPr>
            <a:endParaRPr lang="en-US" sz="3000" b="1">
              <a:solidFill>
                <a:srgbClr val="000000"/>
              </a:solidFill>
              <a:latin typeface="Calibri (MS) Bold"/>
              <a:ea typeface="Calibri (MS) Bold"/>
              <a:cs typeface="Calibri (MS) Bold"/>
              <a:sym typeface="Calibri (MS) Bold"/>
            </a:endParaRPr>
          </a:p>
          <a:p>
            <a:pPr algn="l">
              <a:lnSpc>
                <a:spcPts val="3600"/>
              </a:lnSpc>
            </a:pPr>
            <a:r>
              <a:rPr lang="en-US" sz="3000">
                <a:solidFill>
                  <a:srgbClr val="000000"/>
                </a:solidFill>
                <a:latin typeface="Calibri (MS)"/>
                <a:ea typeface="Calibri (MS)"/>
                <a:cs typeface="Calibri (MS)"/>
                <a:sym typeface="Calibri (MS)"/>
              </a:rPr>
              <a:t>A1: N = W × H = 1000 × 800 = 8,00,000 pixels</a:t>
            </a:r>
          </a:p>
          <a:p>
            <a:pPr algn="l">
              <a:lnSpc>
                <a:spcPts val="3600"/>
              </a:lnSpc>
            </a:pPr>
            <a:r>
              <a:rPr lang="en-US" sz="3000">
                <a:solidFill>
                  <a:srgbClr val="000000"/>
                </a:solidFill>
                <a:latin typeface="Calibri (MS)"/>
                <a:ea typeface="Calibri (MS)"/>
                <a:cs typeface="Calibri (MS)"/>
                <a:sym typeface="Calibri (MS)"/>
              </a:rPr>
              <a:t>Data = 8,00,000 × 8 = 64,00,000 bits</a:t>
            </a:r>
          </a:p>
          <a:p>
            <a:pPr algn="l">
              <a:lnSpc>
                <a:spcPts val="3600"/>
              </a:lnSpc>
            </a:pPr>
            <a:r>
              <a:rPr lang="en-US" sz="3000">
                <a:solidFill>
                  <a:srgbClr val="000000"/>
                </a:solidFill>
                <a:latin typeface="Calibri (MS)"/>
                <a:ea typeface="Calibri (MS)"/>
                <a:cs typeface="Calibri (MS)"/>
                <a:sym typeface="Calibri (MS)"/>
              </a:rPr>
              <a:t>= 8,00,000 bytes ≈ 0.76 MB</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A2: N = W × H = 640 × 480 = 3,07,200 pixels</a:t>
            </a:r>
          </a:p>
          <a:p>
            <a:pPr algn="l">
              <a:lnSpc>
                <a:spcPts val="3600"/>
              </a:lnSpc>
            </a:pPr>
            <a:r>
              <a:rPr lang="en-US" sz="3000">
                <a:solidFill>
                  <a:srgbClr val="000000"/>
                </a:solidFill>
                <a:latin typeface="Calibri (MS)"/>
                <a:ea typeface="Calibri (MS)"/>
                <a:cs typeface="Calibri (MS)"/>
                <a:sym typeface="Calibri (MS)"/>
              </a:rPr>
              <a:t>Data = 3,07,200 × 24 = 73,72,800 bits</a:t>
            </a:r>
          </a:p>
          <a:p>
            <a:pPr algn="l">
              <a:lnSpc>
                <a:spcPts val="3600"/>
              </a:lnSpc>
            </a:pPr>
            <a:r>
              <a:rPr lang="en-US" sz="3000">
                <a:solidFill>
                  <a:srgbClr val="000000"/>
                </a:solidFill>
                <a:latin typeface="Calibri (MS)"/>
                <a:ea typeface="Calibri (MS)"/>
                <a:cs typeface="Calibri (MS)"/>
                <a:sym typeface="Calibri (MS)"/>
              </a:rPr>
              <a:t>= 9,21,600 bytes ≈ 0.88 MB</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6467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2) Uncompressed Image Storage</a:t>
            </a:r>
          </a:p>
          <a:p>
            <a:pPr algn="l">
              <a:lnSpc>
                <a:spcPts val="3600"/>
              </a:lnSpc>
            </a:pPr>
            <a:endParaRPr lang="en-US" sz="3000" b="1" dirty="0">
              <a:solidFill>
                <a:srgbClr val="000000"/>
              </a:solidFill>
              <a:latin typeface="Calibri (MS) Bold"/>
              <a:ea typeface="Calibri (MS) Bold"/>
              <a:cs typeface="Calibri (MS) Bold"/>
              <a:sym typeface="Calibri (MS) Bold"/>
            </a:endParaRPr>
          </a:p>
          <a:p>
            <a:pPr algn="l">
              <a:lnSpc>
                <a:spcPts val="3600"/>
              </a:lnSpc>
            </a:pPr>
            <a:r>
              <a:rPr lang="en-US" sz="3000" dirty="0">
                <a:solidFill>
                  <a:srgbClr val="000000"/>
                </a:solidFill>
                <a:latin typeface="Calibri (MS)"/>
                <a:ea typeface="Calibri (MS)"/>
                <a:cs typeface="Calibri (MS)"/>
                <a:sym typeface="Calibri (MS)"/>
              </a:rPr>
              <a:t>Q1: A 1920 × 1080 RGB image uses 8 bits per channel. What is its uncompressed size?</a:t>
            </a:r>
          </a:p>
          <a:p>
            <a:pPr algn="l">
              <a:lnSpc>
                <a:spcPts val="3600"/>
              </a:lnSpc>
            </a:pPr>
            <a:r>
              <a:rPr lang="en-US" sz="3000" dirty="0">
                <a:solidFill>
                  <a:srgbClr val="000000"/>
                </a:solidFill>
                <a:latin typeface="Calibri (MS)"/>
                <a:ea typeface="Calibri (MS)"/>
                <a:cs typeface="Calibri (MS)"/>
                <a:sym typeface="Calibri (MS)"/>
              </a:rPr>
              <a:t>A: For an RGB image: </a:t>
            </a:r>
            <a:r>
              <a:rPr lang="en-US" sz="3000" i="1" dirty="0">
                <a:solidFill>
                  <a:srgbClr val="000000"/>
                </a:solidFill>
                <a:latin typeface="Calibri (MS) Italics"/>
                <a:ea typeface="Calibri (MS) Italics"/>
                <a:cs typeface="Calibri (MS) Italics"/>
                <a:sym typeface="Calibri (MS) Italics"/>
              </a:rPr>
              <a:t>Storage = W × H × C × B</a:t>
            </a:r>
          </a:p>
          <a:p>
            <a:pPr algn="l">
              <a:lnSpc>
                <a:spcPts val="3600"/>
              </a:lnSpc>
            </a:pPr>
            <a:r>
              <a:rPr lang="en-US" sz="3000" i="1" dirty="0">
                <a:solidFill>
                  <a:srgbClr val="000000"/>
                </a:solidFill>
                <a:latin typeface="Calibri (MS) Italics"/>
                <a:ea typeface="Calibri (MS) Italics"/>
                <a:cs typeface="Calibri (MS) Italics"/>
                <a:sym typeface="Calibri (MS) Italics"/>
              </a:rPr>
              <a:t>where:</a:t>
            </a:r>
          </a:p>
          <a:p>
            <a:pPr marL="647700" lvl="1" indent="-323850" algn="l">
              <a:lnSpc>
                <a:spcPts val="3600"/>
              </a:lnSpc>
              <a:buFont typeface="Arial"/>
              <a:buChar char="•"/>
            </a:pPr>
            <a:r>
              <a:rPr lang="en-US" sz="3000" i="1" dirty="0">
                <a:solidFill>
                  <a:srgbClr val="000000"/>
                </a:solidFill>
                <a:latin typeface="Calibri (MS) Italics"/>
                <a:ea typeface="Calibri (MS) Italics"/>
                <a:cs typeface="Calibri (MS) Italics"/>
                <a:sym typeface="Calibri (MS) Italics"/>
              </a:rPr>
              <a:t>W, H = dimensions</a:t>
            </a:r>
          </a:p>
          <a:p>
            <a:pPr marL="647700" lvl="1" indent="-323850" algn="l">
              <a:lnSpc>
                <a:spcPts val="3600"/>
              </a:lnSpc>
              <a:buFont typeface="Arial"/>
              <a:buChar char="•"/>
            </a:pPr>
            <a:r>
              <a:rPr lang="en-US" sz="3000" i="1" dirty="0">
                <a:solidFill>
                  <a:srgbClr val="000000"/>
                </a:solidFill>
                <a:latin typeface="Calibri (MS) Italics"/>
                <a:ea typeface="Calibri (MS) Italics"/>
                <a:cs typeface="Calibri (MS) Italics"/>
                <a:sym typeface="Calibri (MS) Italics"/>
              </a:rPr>
              <a:t>C = number of channels</a:t>
            </a:r>
          </a:p>
          <a:p>
            <a:pPr marL="647700" lvl="1" indent="-323850" algn="l">
              <a:lnSpc>
                <a:spcPts val="3600"/>
              </a:lnSpc>
              <a:buFont typeface="Arial"/>
              <a:buChar char="•"/>
            </a:pPr>
            <a:r>
              <a:rPr lang="en-US" sz="3000" i="1" dirty="0">
                <a:solidFill>
                  <a:srgbClr val="000000"/>
                </a:solidFill>
                <a:latin typeface="Calibri (MS) Italics"/>
                <a:ea typeface="Calibri (MS) Italics"/>
                <a:cs typeface="Calibri (MS) Italics"/>
                <a:sym typeface="Calibri (MS) Italics"/>
              </a:rPr>
              <a:t>B = bytes per channel</a:t>
            </a:r>
          </a:p>
          <a:p>
            <a:pPr algn="l">
              <a:lnSpc>
                <a:spcPts val="3600"/>
              </a:lnSpc>
            </a:pPr>
            <a:endParaRPr lang="en-US" sz="3000" i="1" dirty="0">
              <a:solidFill>
                <a:srgbClr val="000000"/>
              </a:solidFill>
              <a:latin typeface="Calibri (MS) Italics"/>
              <a:ea typeface="Calibri (MS) Italics"/>
              <a:cs typeface="Calibri (MS) Italics"/>
              <a:sym typeface="Calibri (MS) Italics"/>
            </a:endParaRPr>
          </a:p>
          <a:p>
            <a:pPr algn="l">
              <a:lnSpc>
                <a:spcPts val="3600"/>
              </a:lnSpc>
            </a:pPr>
            <a:r>
              <a:rPr lang="en-US" sz="3000" dirty="0">
                <a:solidFill>
                  <a:srgbClr val="000000"/>
                </a:solidFill>
                <a:latin typeface="Calibri (MS)"/>
                <a:ea typeface="Calibri (MS)"/>
                <a:cs typeface="Calibri (MS)"/>
                <a:sym typeface="Calibri (MS)"/>
              </a:rPr>
              <a:t>1920 × 1080 × 3 × 1 = 62,20,800 bytes ≈ 5.93 MB</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Extra Questions:</a:t>
            </a:r>
          </a:p>
          <a:p>
            <a:pPr algn="l">
              <a:lnSpc>
                <a:spcPts val="3600"/>
              </a:lnSpc>
            </a:pPr>
            <a:r>
              <a:rPr lang="en-US" sz="3000" dirty="0">
                <a:solidFill>
                  <a:srgbClr val="000000"/>
                </a:solidFill>
                <a:latin typeface="Calibri (MS)"/>
                <a:ea typeface="Calibri (MS)"/>
                <a:cs typeface="Calibri (MS)"/>
                <a:sym typeface="Calibri (MS)"/>
              </a:rPr>
              <a:t>Q1: A 1280 × 720 RGB image uses 8 bits per channel. What is its uncompressed size?</a:t>
            </a:r>
          </a:p>
          <a:p>
            <a:pPr algn="l">
              <a:lnSpc>
                <a:spcPts val="3600"/>
              </a:lnSpc>
            </a:pPr>
            <a:r>
              <a:rPr lang="en-US" sz="3000" dirty="0">
                <a:solidFill>
                  <a:srgbClr val="000000"/>
                </a:solidFill>
                <a:latin typeface="Calibri (MS)"/>
                <a:ea typeface="Calibri (MS)"/>
                <a:cs typeface="Calibri (MS)"/>
                <a:sym typeface="Calibri (MS)"/>
              </a:rPr>
              <a:t>Q2: A 1024 × 768 grayscale image uses 8 bits per channel. What is its uncompressed size?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2352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Answers:</a:t>
            </a:r>
          </a:p>
          <a:p>
            <a:pPr algn="l">
              <a:lnSpc>
                <a:spcPts val="3600"/>
              </a:lnSpc>
            </a:pPr>
            <a:endParaRPr lang="en-US" sz="3000" b="1">
              <a:solidFill>
                <a:srgbClr val="000000"/>
              </a:solidFill>
              <a:latin typeface="Calibri (MS) Bold"/>
              <a:ea typeface="Calibri (MS) Bold"/>
              <a:cs typeface="Calibri (MS) Bold"/>
              <a:sym typeface="Calibri (MS) Bold"/>
            </a:endParaRPr>
          </a:p>
          <a:p>
            <a:pPr algn="l">
              <a:lnSpc>
                <a:spcPts val="3600"/>
              </a:lnSpc>
            </a:pPr>
            <a:r>
              <a:rPr lang="en-US" sz="3000">
                <a:solidFill>
                  <a:srgbClr val="000000"/>
                </a:solidFill>
                <a:latin typeface="Calibri (MS)"/>
                <a:ea typeface="Calibri (MS)"/>
                <a:cs typeface="Calibri (MS)"/>
                <a:sym typeface="Calibri (MS)"/>
              </a:rPr>
              <a:t>A1: 1280 × 720 × 3 × 1 = 27,64,800 bytes ≈ 2.64 MB</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A2: 1024 × 768 × 1 × 1 = 7,86,432 bytes ≈ 0.75 MB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3) Resolution Reduction / </a:t>
            </a:r>
            <a:r>
              <a:rPr lang="en-US" sz="3000" b="1" dirty="0" err="1">
                <a:solidFill>
                  <a:srgbClr val="000000"/>
                </a:solidFill>
                <a:latin typeface="Calibri (MS) Bold"/>
                <a:ea typeface="Calibri (MS) Bold"/>
                <a:cs typeface="Calibri (MS) Bold"/>
                <a:sym typeface="Calibri (MS) Bold"/>
              </a:rPr>
              <a:t>Downsampling</a:t>
            </a:r>
            <a:endParaRPr lang="en-US" sz="3000" b="1" dirty="0">
              <a:solidFill>
                <a:srgbClr val="000000"/>
              </a:solidFill>
              <a:latin typeface="Calibri (MS) Bold"/>
              <a:ea typeface="Calibri (MS) Bold"/>
              <a:cs typeface="Calibri (MS) Bold"/>
              <a:sym typeface="Calibri (MS) Bold"/>
            </a:endParaRPr>
          </a:p>
          <a:p>
            <a:pPr algn="l">
              <a:lnSpc>
                <a:spcPts val="3600"/>
              </a:lnSpc>
            </a:pPr>
            <a:endParaRPr lang="en-US" sz="3000" b="1" dirty="0">
              <a:solidFill>
                <a:srgbClr val="000000"/>
              </a:solidFill>
              <a:latin typeface="Calibri (MS) Bold"/>
              <a:ea typeface="Calibri (MS) Bold"/>
              <a:cs typeface="Calibri (MS) Bold"/>
              <a:sym typeface="Calibri (MS) Bold"/>
            </a:endParaRPr>
          </a:p>
          <a:p>
            <a:pPr algn="l">
              <a:lnSpc>
                <a:spcPts val="3600"/>
              </a:lnSpc>
            </a:pPr>
            <a:r>
              <a:rPr lang="en-US" sz="3000" dirty="0">
                <a:solidFill>
                  <a:srgbClr val="000000"/>
                </a:solidFill>
                <a:latin typeface="Calibri (MS)"/>
                <a:ea typeface="Calibri (MS)"/>
                <a:cs typeface="Calibri (MS)"/>
                <a:sym typeface="Calibri (MS)"/>
              </a:rPr>
              <a:t>Q1: An image is reduced from 4000 × 3000 to 1000 × 750. What percentage of the original pixels remain?</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A1: Original: 4000 × 3000 = 1,20,00,000</a:t>
            </a:r>
          </a:p>
          <a:p>
            <a:pPr algn="l">
              <a:lnSpc>
                <a:spcPts val="3600"/>
              </a:lnSpc>
            </a:pPr>
            <a:r>
              <a:rPr lang="en-US" sz="3000" dirty="0">
                <a:solidFill>
                  <a:srgbClr val="000000"/>
                </a:solidFill>
                <a:latin typeface="Calibri (MS)"/>
                <a:ea typeface="Calibri (MS)"/>
                <a:cs typeface="Calibri (MS)"/>
                <a:sym typeface="Calibri (MS)"/>
              </a:rPr>
              <a:t>New: 1000 × 750 = 7,50,000</a:t>
            </a:r>
          </a:p>
          <a:p>
            <a:pPr algn="l">
              <a:lnSpc>
                <a:spcPts val="3600"/>
              </a:lnSpc>
            </a:pPr>
            <a:r>
              <a:rPr lang="en-US" sz="3000" dirty="0">
                <a:solidFill>
                  <a:srgbClr val="000000"/>
                </a:solidFill>
                <a:latin typeface="Calibri (MS)"/>
                <a:ea typeface="Calibri (MS)"/>
                <a:cs typeface="Calibri (MS)"/>
                <a:sym typeface="Calibri (MS)"/>
              </a:rPr>
              <a:t>Percentage remaining: (7,50,000/1,20,00,000) × 100 = 6.25%</a:t>
            </a:r>
          </a:p>
          <a:p>
            <a:pPr algn="l">
              <a:lnSpc>
                <a:spcPts val="3600"/>
              </a:lnSpc>
            </a:pPr>
            <a:r>
              <a:rPr lang="en-US" sz="3000" dirty="0">
                <a:solidFill>
                  <a:srgbClr val="000000"/>
                </a:solidFill>
                <a:latin typeface="Calibri (MS)"/>
                <a:ea typeface="Calibri (MS)"/>
                <a:cs typeface="Calibri (MS)"/>
                <a:sym typeface="Calibri (MS)"/>
              </a:rPr>
              <a:t>So 93.75% of the pixels have been removed.</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Extra Questions:</a:t>
            </a:r>
          </a:p>
          <a:p>
            <a:pPr algn="l">
              <a:lnSpc>
                <a:spcPts val="3600"/>
              </a:lnSpc>
            </a:pPr>
            <a:r>
              <a:rPr lang="en-US" sz="3000" dirty="0">
                <a:solidFill>
                  <a:srgbClr val="000000"/>
                </a:solidFill>
                <a:latin typeface="Calibri (MS)"/>
                <a:ea typeface="Calibri (MS)"/>
                <a:cs typeface="Calibri (MS)"/>
                <a:sym typeface="Calibri (MS)"/>
              </a:rPr>
              <a:t>Q1: An image is reduced from 2000 × 1500 to 1000 × 750. What percentage of the original pixels remain?</a:t>
            </a:r>
          </a:p>
          <a:p>
            <a:pPr algn="l">
              <a:lnSpc>
                <a:spcPts val="3600"/>
              </a:lnSpc>
            </a:pPr>
            <a:r>
              <a:rPr lang="en-US" sz="3000" dirty="0">
                <a:solidFill>
                  <a:srgbClr val="000000"/>
                </a:solidFill>
                <a:latin typeface="Calibri (MS)"/>
                <a:ea typeface="Calibri (MS)"/>
                <a:cs typeface="Calibri (MS)"/>
                <a:sym typeface="Calibri (MS)"/>
              </a:rPr>
              <a:t>Q2: An image is reduced from 1600 × 1200 to 800 × 600. What percentage of the original pixels remain?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637635" cy="5095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Answers:</a:t>
            </a:r>
          </a:p>
          <a:p>
            <a:pPr algn="l">
              <a:lnSpc>
                <a:spcPts val="3600"/>
              </a:lnSpc>
            </a:pPr>
            <a:endParaRPr lang="en-US" sz="3000" b="1">
              <a:solidFill>
                <a:srgbClr val="000000"/>
              </a:solidFill>
              <a:latin typeface="Calibri (MS) Bold"/>
              <a:ea typeface="Calibri (MS) Bold"/>
              <a:cs typeface="Calibri (MS) Bold"/>
              <a:sym typeface="Calibri (MS) Bold"/>
            </a:endParaRPr>
          </a:p>
          <a:p>
            <a:pPr algn="l">
              <a:lnSpc>
                <a:spcPts val="3600"/>
              </a:lnSpc>
            </a:pPr>
            <a:r>
              <a:rPr lang="en-US" sz="3000">
                <a:solidFill>
                  <a:srgbClr val="000000"/>
                </a:solidFill>
                <a:latin typeface="Calibri (MS)"/>
                <a:ea typeface="Calibri (MS)"/>
                <a:cs typeface="Calibri (MS)"/>
                <a:sym typeface="Calibri (MS)"/>
              </a:rPr>
              <a:t>A1: Original: 2000 × 1500 = 30,00,000</a:t>
            </a:r>
          </a:p>
          <a:p>
            <a:pPr algn="l">
              <a:lnSpc>
                <a:spcPts val="3600"/>
              </a:lnSpc>
            </a:pPr>
            <a:r>
              <a:rPr lang="en-US" sz="3000">
                <a:solidFill>
                  <a:srgbClr val="000000"/>
                </a:solidFill>
                <a:latin typeface="Calibri (MS)"/>
                <a:ea typeface="Calibri (MS)"/>
                <a:cs typeface="Calibri (MS)"/>
                <a:sym typeface="Calibri (MS)"/>
              </a:rPr>
              <a:t>New: 1000 × 750 = 7,50,000</a:t>
            </a:r>
          </a:p>
          <a:p>
            <a:pPr algn="l">
              <a:lnSpc>
                <a:spcPts val="3600"/>
              </a:lnSpc>
            </a:pPr>
            <a:r>
              <a:rPr lang="en-US" sz="3000">
                <a:solidFill>
                  <a:srgbClr val="000000"/>
                </a:solidFill>
                <a:latin typeface="Calibri (MS)"/>
                <a:ea typeface="Calibri (MS)"/>
                <a:cs typeface="Calibri (MS)"/>
                <a:sym typeface="Calibri (MS)"/>
              </a:rPr>
              <a:t>Percentage remaining: (7,50,000/30,00,000) × 100 = 25%</a:t>
            </a:r>
          </a:p>
          <a:p>
            <a:pPr algn="l">
              <a:lnSpc>
                <a:spcPts val="3600"/>
              </a:lnSpc>
            </a:pPr>
            <a:r>
              <a:rPr lang="en-US" sz="3000">
                <a:solidFill>
                  <a:srgbClr val="000000"/>
                </a:solidFill>
                <a:latin typeface="Calibri (MS)"/>
                <a:ea typeface="Calibri (MS)"/>
                <a:cs typeface="Calibri (MS)"/>
                <a:sym typeface="Calibri (MS)"/>
              </a:rPr>
              <a:t>So 25% of the pixels remain, meaning 75% have been removed.</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A2: Original: 1600 × 1200 = 19,20,000</a:t>
            </a:r>
          </a:p>
          <a:p>
            <a:pPr algn="l">
              <a:lnSpc>
                <a:spcPts val="3600"/>
              </a:lnSpc>
            </a:pPr>
            <a:r>
              <a:rPr lang="en-US" sz="3000">
                <a:solidFill>
                  <a:srgbClr val="000000"/>
                </a:solidFill>
                <a:latin typeface="Calibri (MS)"/>
                <a:ea typeface="Calibri (MS)"/>
                <a:cs typeface="Calibri (MS)"/>
                <a:sym typeface="Calibri (MS)"/>
              </a:rPr>
              <a:t>New: 800 × 600 = 4,80,000</a:t>
            </a:r>
          </a:p>
          <a:p>
            <a:pPr algn="l">
              <a:lnSpc>
                <a:spcPts val="3600"/>
              </a:lnSpc>
            </a:pPr>
            <a:r>
              <a:rPr lang="en-US" sz="3000">
                <a:solidFill>
                  <a:srgbClr val="000000"/>
                </a:solidFill>
                <a:latin typeface="Calibri (MS)"/>
                <a:ea typeface="Calibri (MS)"/>
                <a:cs typeface="Calibri (MS)"/>
                <a:sym typeface="Calibri (MS)"/>
              </a:rPr>
              <a:t>Percentage remaining: (480,000/19,20,000) × 100 = 25%</a:t>
            </a:r>
          </a:p>
          <a:p>
            <a:pPr algn="l">
              <a:lnSpc>
                <a:spcPts val="3600"/>
              </a:lnSpc>
            </a:pPr>
            <a:r>
              <a:rPr lang="en-US" sz="3000">
                <a:solidFill>
                  <a:srgbClr val="000000"/>
                </a:solidFill>
                <a:latin typeface="Calibri (MS)"/>
                <a:ea typeface="Calibri (MS)"/>
                <a:cs typeface="Calibri (MS)"/>
                <a:sym typeface="Calibri (MS)"/>
              </a:rPr>
              <a:t>So 25% of the pixels remain, meaning 75% have been removed.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4230580"/>
            <a:ext cx="3747511" cy="1399071"/>
          </a:xfrm>
          <a:custGeom>
            <a:avLst/>
            <a:gdLst/>
            <a:ahLst/>
            <a:cxnLst/>
            <a:rect l="l" t="t" r="r" b="b"/>
            <a:pathLst>
              <a:path w="3747511" h="1399071">
                <a:moveTo>
                  <a:pt x="0" y="0"/>
                </a:moveTo>
                <a:lnTo>
                  <a:pt x="3747511" y="0"/>
                </a:lnTo>
                <a:lnTo>
                  <a:pt x="3747511" y="1399071"/>
                </a:lnTo>
                <a:lnTo>
                  <a:pt x="0" y="1399071"/>
                </a:lnTo>
                <a:lnTo>
                  <a:pt x="0" y="0"/>
                </a:lnTo>
                <a:close/>
              </a:path>
            </a:pathLst>
          </a:custGeom>
          <a:blipFill>
            <a:blip r:embed="rId3"/>
            <a:stretch>
              <a:fillRect/>
            </a:stretch>
          </a:blipFill>
        </p:spPr>
        <p:txBody>
          <a:bodyPr/>
          <a:lstStyle/>
          <a:p>
            <a:endParaRPr lang="en-IN"/>
          </a:p>
        </p:txBody>
      </p:sp>
      <p:sp>
        <p:nvSpPr>
          <p:cNvPr id="6" name="Freeform 6"/>
          <p:cNvSpPr/>
          <p:nvPr/>
        </p:nvSpPr>
        <p:spPr>
          <a:xfrm>
            <a:off x="4917898" y="4285321"/>
            <a:ext cx="5902754" cy="1289589"/>
          </a:xfrm>
          <a:custGeom>
            <a:avLst/>
            <a:gdLst/>
            <a:ahLst/>
            <a:cxnLst/>
            <a:rect l="l" t="t" r="r" b="b"/>
            <a:pathLst>
              <a:path w="5902754" h="1289589">
                <a:moveTo>
                  <a:pt x="0" y="0"/>
                </a:moveTo>
                <a:lnTo>
                  <a:pt x="5902754" y="0"/>
                </a:lnTo>
                <a:lnTo>
                  <a:pt x="5902754" y="1289589"/>
                </a:lnTo>
                <a:lnTo>
                  <a:pt x="0" y="1289589"/>
                </a:lnTo>
                <a:lnTo>
                  <a:pt x="0" y="0"/>
                </a:lnTo>
                <a:close/>
              </a:path>
            </a:pathLst>
          </a:custGeom>
          <a:blipFill>
            <a:blip r:embed="rId4"/>
            <a:stretch>
              <a:fillRect/>
            </a:stretch>
          </a:blipFill>
        </p:spPr>
        <p:txBody>
          <a:bodyPr/>
          <a:lstStyle/>
          <a:p>
            <a:endParaRPr lang="en-IN" dirty="0"/>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2048268"/>
            <a:ext cx="15637635" cy="14382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4) Contrast Calculation</a:t>
            </a:r>
          </a:p>
          <a:p>
            <a:pPr algn="l">
              <a:lnSpc>
                <a:spcPts val="3600"/>
              </a:lnSpc>
            </a:pPr>
            <a:endParaRPr lang="en-US" sz="3000" b="1">
              <a:solidFill>
                <a:srgbClr val="000000"/>
              </a:solidFill>
              <a:latin typeface="Calibri (MS) Bold"/>
              <a:ea typeface="Calibri (MS) Bold"/>
              <a:cs typeface="Calibri (MS) Bold"/>
              <a:sym typeface="Calibri (MS) Bold"/>
            </a:endParaRPr>
          </a:p>
          <a:p>
            <a:pPr algn="l">
              <a:lnSpc>
                <a:spcPts val="3600"/>
              </a:lnSpc>
            </a:pPr>
            <a:r>
              <a:rPr lang="en-US" sz="3000">
                <a:solidFill>
                  <a:srgbClr val="000000"/>
                </a:solidFill>
                <a:latin typeface="Calibri (MS)"/>
                <a:ea typeface="Calibri (MS)"/>
                <a:cs typeface="Calibri (MS)"/>
                <a:sym typeface="Calibri (MS)"/>
              </a:rPr>
              <a:t>Q1: Suppose: Lmax ​= 180, Lmin​ = 60. What is the contrast?</a:t>
            </a:r>
          </a:p>
        </p:txBody>
      </p:sp>
      <p:sp>
        <p:nvSpPr>
          <p:cNvPr id="10" name="TextBox 10"/>
          <p:cNvSpPr txBox="1"/>
          <p:nvPr/>
        </p:nvSpPr>
        <p:spPr>
          <a:xfrm>
            <a:off x="681104" y="3563830"/>
            <a:ext cx="515541" cy="523875"/>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Calibri (MS)"/>
                <a:ea typeface="Calibri (MS)"/>
                <a:cs typeface="Calibri (MS)"/>
                <a:sym typeface="Calibri (MS)"/>
              </a:rPr>
              <a:t>A1:</a:t>
            </a:r>
          </a:p>
        </p:txBody>
      </p:sp>
      <p:sp>
        <p:nvSpPr>
          <p:cNvPr id="11" name="TextBox 11"/>
          <p:cNvSpPr txBox="1"/>
          <p:nvPr/>
        </p:nvSpPr>
        <p:spPr>
          <a:xfrm>
            <a:off x="681104" y="6429751"/>
            <a:ext cx="15637635" cy="14382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Extra Questions:</a:t>
            </a:r>
          </a:p>
          <a:p>
            <a:pPr algn="l">
              <a:lnSpc>
                <a:spcPts val="3600"/>
              </a:lnSpc>
            </a:pPr>
            <a:r>
              <a:rPr lang="en-US" sz="3000">
                <a:solidFill>
                  <a:srgbClr val="000000"/>
                </a:solidFill>
                <a:latin typeface="Calibri (MS)"/>
                <a:ea typeface="Calibri (MS)"/>
                <a:cs typeface="Calibri (MS)"/>
                <a:sym typeface="Calibri (MS)"/>
              </a:rPr>
              <a:t>Q1: Suppose: Lmax⁡ = 200, Lmin ⁡= 100. What is the contrast?</a:t>
            </a:r>
          </a:p>
          <a:p>
            <a:pPr algn="l">
              <a:lnSpc>
                <a:spcPts val="3600"/>
              </a:lnSpc>
            </a:pPr>
            <a:r>
              <a:rPr lang="en-US" sz="3000">
                <a:solidFill>
                  <a:srgbClr val="000000"/>
                </a:solidFill>
                <a:latin typeface="Calibri (MS)"/>
                <a:ea typeface="Calibri (MS)"/>
                <a:cs typeface="Calibri (MS)"/>
                <a:sym typeface="Calibri (MS)"/>
              </a:rPr>
              <a:t>Q2: Suppose: Lmax⁡ = 150, Lmin⁡ = 50. What is the contrast?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10932911" y="3424083"/>
            <a:ext cx="3747511" cy="1399071"/>
          </a:xfrm>
          <a:custGeom>
            <a:avLst/>
            <a:gdLst/>
            <a:ahLst/>
            <a:cxnLst/>
            <a:rect l="l" t="t" r="r" b="b"/>
            <a:pathLst>
              <a:path w="3747511" h="1399071">
                <a:moveTo>
                  <a:pt x="0" y="0"/>
                </a:moveTo>
                <a:lnTo>
                  <a:pt x="3747511" y="0"/>
                </a:lnTo>
                <a:lnTo>
                  <a:pt x="3747511" y="1399071"/>
                </a:lnTo>
                <a:lnTo>
                  <a:pt x="0" y="1399071"/>
                </a:lnTo>
                <a:lnTo>
                  <a:pt x="0" y="0"/>
                </a:lnTo>
                <a:close/>
              </a:path>
            </a:pathLst>
          </a:custGeom>
          <a:blipFill>
            <a:blip r:embed="rId3"/>
            <a:stretch>
              <a:fillRect/>
            </a:stretch>
          </a:blipFill>
        </p:spPr>
        <p:txBody>
          <a:bodyPr/>
          <a:lstStyle/>
          <a:p>
            <a:endParaRPr lang="en-IN"/>
          </a:p>
        </p:txBody>
      </p:sp>
      <p:sp>
        <p:nvSpPr>
          <p:cNvPr id="6" name="Freeform 6"/>
          <p:cNvSpPr/>
          <p:nvPr/>
        </p:nvSpPr>
        <p:spPr>
          <a:xfrm>
            <a:off x="1661941" y="2701633"/>
            <a:ext cx="5591131" cy="1444899"/>
          </a:xfrm>
          <a:custGeom>
            <a:avLst/>
            <a:gdLst/>
            <a:ahLst/>
            <a:cxnLst/>
            <a:rect l="l" t="t" r="r" b="b"/>
            <a:pathLst>
              <a:path w="5591131" h="1444899">
                <a:moveTo>
                  <a:pt x="0" y="0"/>
                </a:moveTo>
                <a:lnTo>
                  <a:pt x="5591131" y="0"/>
                </a:lnTo>
                <a:lnTo>
                  <a:pt x="5591131" y="1444899"/>
                </a:lnTo>
                <a:lnTo>
                  <a:pt x="0" y="1444899"/>
                </a:lnTo>
                <a:lnTo>
                  <a:pt x="0" y="0"/>
                </a:lnTo>
                <a:close/>
              </a:path>
            </a:pathLst>
          </a:custGeom>
          <a:blipFill>
            <a:blip r:embed="rId4"/>
            <a:stretch>
              <a:fillRect/>
            </a:stretch>
          </a:blipFill>
        </p:spPr>
        <p:txBody>
          <a:bodyPr/>
          <a:lstStyle/>
          <a:p>
            <a:endParaRPr lang="en-IN"/>
          </a:p>
        </p:txBody>
      </p:sp>
      <p:sp>
        <p:nvSpPr>
          <p:cNvPr id="7" name="Freeform 7"/>
          <p:cNvSpPr/>
          <p:nvPr/>
        </p:nvSpPr>
        <p:spPr>
          <a:xfrm>
            <a:off x="1661941" y="4434169"/>
            <a:ext cx="5591131" cy="1610246"/>
          </a:xfrm>
          <a:custGeom>
            <a:avLst/>
            <a:gdLst/>
            <a:ahLst/>
            <a:cxnLst/>
            <a:rect l="l" t="t" r="r" b="b"/>
            <a:pathLst>
              <a:path w="5591131" h="1610246">
                <a:moveTo>
                  <a:pt x="0" y="0"/>
                </a:moveTo>
                <a:lnTo>
                  <a:pt x="5591131" y="0"/>
                </a:lnTo>
                <a:lnTo>
                  <a:pt x="5591131" y="1610245"/>
                </a:lnTo>
                <a:lnTo>
                  <a:pt x="0" y="1610245"/>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 Visualization: Numericals</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681104" y="2048268"/>
            <a:ext cx="15637635"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Answers:</a:t>
            </a:r>
          </a:p>
        </p:txBody>
      </p:sp>
      <p:sp>
        <p:nvSpPr>
          <p:cNvPr id="11" name="TextBox 11"/>
          <p:cNvSpPr txBox="1"/>
          <p:nvPr/>
        </p:nvSpPr>
        <p:spPr>
          <a:xfrm>
            <a:off x="681104" y="3128808"/>
            <a:ext cx="515541" cy="523875"/>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Calibri (MS)"/>
                <a:ea typeface="Calibri (MS)"/>
                <a:cs typeface="Calibri (MS)"/>
                <a:sym typeface="Calibri (MS)"/>
              </a:rPr>
              <a:t>A1:</a:t>
            </a:r>
          </a:p>
        </p:txBody>
      </p:sp>
      <p:sp>
        <p:nvSpPr>
          <p:cNvPr id="12" name="TextBox 12"/>
          <p:cNvSpPr txBox="1"/>
          <p:nvPr/>
        </p:nvSpPr>
        <p:spPr>
          <a:xfrm>
            <a:off x="681104" y="4919508"/>
            <a:ext cx="515541" cy="523875"/>
          </a:xfrm>
          <a:prstGeom prst="rect">
            <a:avLst/>
          </a:prstGeom>
        </p:spPr>
        <p:txBody>
          <a:bodyPr lIns="0" tIns="0" rIns="0" bIns="0" rtlCol="0" anchor="t">
            <a:spAutoFit/>
          </a:bodyPr>
          <a:lstStyle/>
          <a:p>
            <a:pPr algn="ctr">
              <a:lnSpc>
                <a:spcPts val="3600"/>
              </a:lnSpc>
              <a:spcBef>
                <a:spcPct val="0"/>
              </a:spcBef>
            </a:pPr>
            <a:r>
              <a:rPr lang="en-US" sz="3000">
                <a:solidFill>
                  <a:srgbClr val="000000"/>
                </a:solidFill>
                <a:latin typeface="Calibri (MS)"/>
                <a:ea typeface="Calibri (MS)"/>
                <a:cs typeface="Calibri (MS)"/>
                <a:sym typeface="Calibri (MS)"/>
              </a:rPr>
              <a:t>A2:</a:t>
            </a:r>
          </a:p>
        </p:txBody>
      </p:sp>
      <p:pic>
        <p:nvPicPr>
          <p:cNvPr id="14" name="Picture 13">
            <a:extLst>
              <a:ext uri="{FF2B5EF4-FFF2-40B4-BE49-F238E27FC236}">
                <a16:creationId xmlns:a16="http://schemas.microsoft.com/office/drawing/2014/main" id="{3A083466-A8A9-B39A-48DA-62853A9A3D85}"/>
              </a:ext>
            </a:extLst>
          </p:cNvPr>
          <p:cNvPicPr>
            <a:picLocks noChangeAspect="1"/>
          </p:cNvPicPr>
          <p:nvPr/>
        </p:nvPicPr>
        <p:blipFill>
          <a:blip r:embed="rId6"/>
          <a:stretch>
            <a:fillRect/>
          </a:stretch>
        </p:blipFill>
        <p:spPr>
          <a:xfrm>
            <a:off x="2133600" y="6602513"/>
            <a:ext cx="9640645" cy="276263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97E8F-3AAE-233B-9E9E-2FE754B4046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77A6610-1CB7-F30A-BF86-4DDB73F2FCD6}"/>
              </a:ext>
            </a:extLst>
          </p:cNvPr>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a:extLst>
              <a:ext uri="{FF2B5EF4-FFF2-40B4-BE49-F238E27FC236}">
                <a16:creationId xmlns:a16="http://schemas.microsoft.com/office/drawing/2014/main" id="{E3877B55-80AF-78A9-D32F-E3526094EEC4}"/>
              </a:ext>
            </a:extLst>
          </p:cNvPr>
          <p:cNvGrpSpPr/>
          <p:nvPr/>
        </p:nvGrpSpPr>
        <p:grpSpPr>
          <a:xfrm>
            <a:off x="16629593" y="463796"/>
            <a:ext cx="1259415" cy="2331920"/>
            <a:chOff x="0" y="0"/>
            <a:chExt cx="1679219" cy="3109227"/>
          </a:xfrm>
        </p:grpSpPr>
        <p:sp>
          <p:nvSpPr>
            <p:cNvPr id="4" name="Freeform 4">
              <a:extLst>
                <a:ext uri="{FF2B5EF4-FFF2-40B4-BE49-F238E27FC236}">
                  <a16:creationId xmlns:a16="http://schemas.microsoft.com/office/drawing/2014/main" id="{5A795DF0-356E-7058-8948-19FBB09CB660}"/>
                </a:ext>
              </a:extLst>
            </p:cNvPr>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8" name="TextBox 8">
            <a:extLst>
              <a:ext uri="{FF2B5EF4-FFF2-40B4-BE49-F238E27FC236}">
                <a16:creationId xmlns:a16="http://schemas.microsoft.com/office/drawing/2014/main" id="{594D714B-B915-E927-8EB6-2F5231DC2FC1}"/>
              </a:ext>
            </a:extLst>
          </p:cNvPr>
          <p:cNvSpPr txBox="1"/>
          <p:nvPr/>
        </p:nvSpPr>
        <p:spPr>
          <a:xfrm>
            <a:off x="681104" y="958463"/>
            <a:ext cx="11785093" cy="1102866"/>
          </a:xfrm>
          <a:prstGeom prst="rect">
            <a:avLst/>
          </a:prstGeom>
        </p:spPr>
        <p:txBody>
          <a:bodyPr lIns="0" tIns="0" rIns="0" bIns="0" rtlCol="0" anchor="t">
            <a:spAutoFit/>
          </a:bodyPr>
          <a:lstStyle/>
          <a:p>
            <a:pPr algn="l">
              <a:lnSpc>
                <a:spcPts val="4320"/>
              </a:lnSpc>
            </a:pPr>
            <a:r>
              <a:rPr lang="en-US" sz="3600" b="1" dirty="0">
                <a:solidFill>
                  <a:srgbClr val="4472C4"/>
                </a:solidFill>
                <a:latin typeface="Calibri (MS) Bold"/>
                <a:ea typeface="Calibri (MS) Bold"/>
                <a:cs typeface="Calibri (MS) Bold"/>
                <a:sym typeface="Calibri (MS) Bold"/>
              </a:rPr>
              <a:t>Image Formats</a:t>
            </a:r>
          </a:p>
          <a:p>
            <a:pPr algn="l">
              <a:lnSpc>
                <a:spcPts val="4320"/>
              </a:lnSpc>
            </a:pPr>
            <a:endParaRPr lang="en-US" sz="3600" b="1" dirty="0">
              <a:solidFill>
                <a:srgbClr val="4472C4"/>
              </a:solidFill>
              <a:latin typeface="Calibri (MS) Bold"/>
              <a:ea typeface="Calibri (MS) Bold"/>
              <a:cs typeface="Calibri (MS) Bold"/>
              <a:sym typeface="Calibri (MS) Bold"/>
            </a:endParaRPr>
          </a:p>
        </p:txBody>
      </p:sp>
      <p:sp>
        <p:nvSpPr>
          <p:cNvPr id="9" name="TextBox 9">
            <a:extLst>
              <a:ext uri="{FF2B5EF4-FFF2-40B4-BE49-F238E27FC236}">
                <a16:creationId xmlns:a16="http://schemas.microsoft.com/office/drawing/2014/main" id="{639819D2-A9EA-DFF6-3C20-B255612F76CE}"/>
              </a:ext>
            </a:extLst>
          </p:cNvPr>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pic>
        <p:nvPicPr>
          <p:cNvPr id="15" name="Picture 14">
            <a:extLst>
              <a:ext uri="{FF2B5EF4-FFF2-40B4-BE49-F238E27FC236}">
                <a16:creationId xmlns:a16="http://schemas.microsoft.com/office/drawing/2014/main" id="{787879CA-8E33-B68A-632C-362C1775AB2C}"/>
              </a:ext>
            </a:extLst>
          </p:cNvPr>
          <p:cNvPicPr>
            <a:picLocks noChangeAspect="1"/>
          </p:cNvPicPr>
          <p:nvPr/>
        </p:nvPicPr>
        <p:blipFill>
          <a:blip r:embed="rId3"/>
          <a:stretch>
            <a:fillRect/>
          </a:stretch>
        </p:blipFill>
        <p:spPr>
          <a:xfrm>
            <a:off x="671960" y="2150246"/>
            <a:ext cx="9153144" cy="4495799"/>
          </a:xfrm>
          <a:prstGeom prst="rect">
            <a:avLst/>
          </a:prstGeom>
        </p:spPr>
      </p:pic>
      <p:sp>
        <p:nvSpPr>
          <p:cNvPr id="17" name="TextBox 16">
            <a:extLst>
              <a:ext uri="{FF2B5EF4-FFF2-40B4-BE49-F238E27FC236}">
                <a16:creationId xmlns:a16="http://schemas.microsoft.com/office/drawing/2014/main" id="{69C2BF09-AC98-2AEA-AC6A-90CBA4C24952}"/>
              </a:ext>
            </a:extLst>
          </p:cNvPr>
          <p:cNvSpPr txBox="1"/>
          <p:nvPr/>
        </p:nvSpPr>
        <p:spPr>
          <a:xfrm>
            <a:off x="990600" y="7966466"/>
            <a:ext cx="9153144" cy="954107"/>
          </a:xfrm>
          <a:prstGeom prst="rect">
            <a:avLst/>
          </a:prstGeom>
          <a:noFill/>
        </p:spPr>
        <p:txBody>
          <a:bodyPr wrap="square">
            <a:spAutoFit/>
          </a:bodyPr>
          <a:lstStyle/>
          <a:p>
            <a:r>
              <a:rPr lang="en-IN" sz="2800" b="1" i="0" spc="15" dirty="0">
                <a:solidFill>
                  <a:schemeClr val="tx1"/>
                </a:solidFill>
                <a:effectLst/>
                <a:latin typeface="+mn-lt"/>
              </a:rPr>
              <a:t>It is generally possible to convert any image format into any other image format.</a:t>
            </a:r>
            <a:endParaRPr lang="en-IN" sz="2800" b="1" dirty="0"/>
          </a:p>
        </p:txBody>
      </p:sp>
      <p:sp>
        <p:nvSpPr>
          <p:cNvPr id="19" name="TextBox 18">
            <a:extLst>
              <a:ext uri="{FF2B5EF4-FFF2-40B4-BE49-F238E27FC236}">
                <a16:creationId xmlns:a16="http://schemas.microsoft.com/office/drawing/2014/main" id="{C86E14D5-EE60-2E4F-A814-E1CA9999922B}"/>
              </a:ext>
            </a:extLst>
          </p:cNvPr>
          <p:cNvSpPr txBox="1"/>
          <p:nvPr/>
        </p:nvSpPr>
        <p:spPr>
          <a:xfrm>
            <a:off x="10410568" y="3361710"/>
            <a:ext cx="7239000" cy="5693866"/>
          </a:xfrm>
          <a:prstGeom prst="rect">
            <a:avLst/>
          </a:prstGeom>
          <a:noFill/>
        </p:spPr>
        <p:txBody>
          <a:bodyPr wrap="square">
            <a:spAutoFit/>
          </a:bodyPr>
          <a:lstStyle/>
          <a:p>
            <a:r>
              <a:rPr lang="en-IN" sz="2800" b="1" i="0" spc="15" dirty="0">
                <a:solidFill>
                  <a:schemeClr val="tx1"/>
                </a:solidFill>
                <a:effectLst/>
                <a:latin typeface="+mn-lt"/>
              </a:rPr>
              <a:t>It is therefore a good rule of thumb to always store the original image in the format that maintains maximum resolution, accuracy, and flexibility. </a:t>
            </a:r>
            <a:r>
              <a:rPr lang="en-IN" sz="2800" b="0" i="0" spc="15" dirty="0">
                <a:solidFill>
                  <a:schemeClr val="tx1"/>
                </a:solidFill>
                <a:effectLst/>
                <a:latin typeface="+mn-lt"/>
              </a:rPr>
              <a:t>Thus, for data visualizations, either create your figure as pdf and then convert into </a:t>
            </a:r>
            <a:r>
              <a:rPr lang="en-IN" sz="2800" b="0" i="0" spc="15" dirty="0" err="1">
                <a:solidFill>
                  <a:schemeClr val="tx1"/>
                </a:solidFill>
                <a:effectLst/>
                <a:latin typeface="+mn-lt"/>
              </a:rPr>
              <a:t>png</a:t>
            </a:r>
            <a:r>
              <a:rPr lang="en-IN" sz="2800" b="0" i="0" spc="15" dirty="0">
                <a:solidFill>
                  <a:schemeClr val="tx1"/>
                </a:solidFill>
                <a:effectLst/>
                <a:latin typeface="+mn-lt"/>
              </a:rPr>
              <a:t> or jpg when necessary, or alternatively store as high-resolution </a:t>
            </a:r>
            <a:r>
              <a:rPr lang="en-IN" sz="2800" b="0" i="0" spc="15" dirty="0" err="1">
                <a:solidFill>
                  <a:schemeClr val="tx1"/>
                </a:solidFill>
                <a:effectLst/>
                <a:latin typeface="+mn-lt"/>
              </a:rPr>
              <a:t>png</a:t>
            </a:r>
            <a:r>
              <a:rPr lang="en-IN" sz="2800" b="0" i="0" spc="15" dirty="0">
                <a:solidFill>
                  <a:schemeClr val="tx1"/>
                </a:solidFill>
                <a:effectLst/>
                <a:latin typeface="+mn-lt"/>
              </a:rPr>
              <a:t>. Similarly, for images that are only available as bitmaps, such as digital photographs, store them in a format that doesn’t use lossy compression, or if that can’t be done, compress as little as possible. Also, store the image in as high a resolution as possible, and downscale when needed.</a:t>
            </a:r>
            <a:endParaRPr lang="en-IN" sz="2800" dirty="0"/>
          </a:p>
        </p:txBody>
      </p:sp>
    </p:spTree>
    <p:extLst>
      <p:ext uri="{BB962C8B-B14F-4D97-AF65-F5344CB8AC3E}">
        <p14:creationId xmlns:p14="http://schemas.microsoft.com/office/powerpoint/2010/main" val="3801074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637635" cy="6924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Video Representation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digital video can be represented as an </a:t>
            </a:r>
            <a:r>
              <a:rPr lang="en-US" sz="3000" b="1" dirty="0">
                <a:solidFill>
                  <a:srgbClr val="000000"/>
                </a:solidFill>
                <a:latin typeface="Calibri (MS)"/>
                <a:ea typeface="Calibri (MS)"/>
                <a:cs typeface="Calibri (MS)"/>
                <a:sym typeface="Calibri (MS)"/>
              </a:rPr>
              <a:t>ordered sequence </a:t>
            </a:r>
            <a:r>
              <a:rPr lang="en-US" sz="3000" dirty="0">
                <a:solidFill>
                  <a:srgbClr val="000000"/>
                </a:solidFill>
                <a:latin typeface="Calibri (MS)"/>
                <a:ea typeface="Calibri (MS)"/>
                <a:cs typeface="Calibri (MS)"/>
                <a:sym typeface="Calibri (MS)"/>
              </a:rPr>
              <a:t>of two-dimensional image frames.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Each frame contains spatial information, while the ordering of frames introduces a temporal dimension.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video can therefore be represented as a </a:t>
            </a:r>
            <a:r>
              <a:rPr lang="en-US" sz="3000" b="1" dirty="0">
                <a:solidFill>
                  <a:srgbClr val="000000"/>
                </a:solidFill>
                <a:latin typeface="Calibri (MS)"/>
                <a:ea typeface="Calibri (MS)"/>
                <a:cs typeface="Calibri (MS)"/>
                <a:sym typeface="Calibri (MS)"/>
              </a:rPr>
              <a:t>three-dimensional data structure: </a:t>
            </a:r>
            <a:r>
              <a:rPr lang="en-US" sz="3000" b="1" i="1" dirty="0">
                <a:solidFill>
                  <a:srgbClr val="000000"/>
                </a:solidFill>
                <a:latin typeface="Calibri (MS) Italics"/>
                <a:ea typeface="Calibri (MS) Italics"/>
                <a:cs typeface="Calibri (MS) Italics"/>
                <a:sym typeface="Calibri (MS) Italics"/>
              </a:rPr>
              <a:t>V(</a:t>
            </a:r>
            <a:r>
              <a:rPr lang="en-US" sz="3000" b="1" i="1" dirty="0" err="1">
                <a:solidFill>
                  <a:srgbClr val="000000"/>
                </a:solidFill>
                <a:latin typeface="Calibri (MS) Italics"/>
                <a:ea typeface="Calibri (MS) Italics"/>
                <a:cs typeface="Calibri (MS) Italics"/>
                <a:sym typeface="Calibri (MS) Italics"/>
              </a:rPr>
              <a:t>x,y,t</a:t>
            </a:r>
            <a:r>
              <a:rPr lang="en-US" sz="3000" b="1" i="1" dirty="0">
                <a:solidFill>
                  <a:srgbClr val="000000"/>
                </a:solidFill>
                <a:latin typeface="Calibri (MS) Italics"/>
                <a:ea typeface="Calibri (MS) Italics"/>
                <a:cs typeface="Calibri (MS) Italics"/>
                <a:sym typeface="Calibri (MS) Italics"/>
              </a:rPr>
              <a:t>),</a:t>
            </a:r>
            <a:r>
              <a:rPr lang="en-US" sz="3000" i="1" dirty="0">
                <a:solidFill>
                  <a:srgbClr val="000000"/>
                </a:solidFill>
                <a:latin typeface="Calibri (MS) Italics"/>
                <a:ea typeface="Calibri (MS) Italics"/>
                <a:cs typeface="Calibri (MS) Italics"/>
                <a:sym typeface="Calibri (MS) Italics"/>
              </a:rPr>
              <a:t> </a:t>
            </a:r>
            <a:r>
              <a:rPr lang="en-US" sz="3000" dirty="0">
                <a:solidFill>
                  <a:srgbClr val="000000"/>
                </a:solidFill>
                <a:latin typeface="Calibri (MS)"/>
                <a:ea typeface="Calibri (MS)"/>
                <a:cs typeface="Calibri (MS)"/>
                <a:sym typeface="Calibri (MS)"/>
              </a:rPr>
              <a:t>where x and y represent spatial position and t represents time.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For </a:t>
            </a:r>
            <a:r>
              <a:rPr lang="en-US" sz="3000" b="1" dirty="0">
                <a:solidFill>
                  <a:srgbClr val="000000"/>
                </a:solidFill>
                <a:latin typeface="Calibri (MS)"/>
                <a:ea typeface="Calibri (MS)"/>
                <a:cs typeface="Calibri (MS)"/>
                <a:sym typeface="Calibri (MS)"/>
              </a:rPr>
              <a:t>a color video</a:t>
            </a:r>
            <a:r>
              <a:rPr lang="en-US" sz="3000" dirty="0">
                <a:solidFill>
                  <a:srgbClr val="000000"/>
                </a:solidFill>
                <a:latin typeface="Calibri (MS)"/>
                <a:ea typeface="Calibri (MS)"/>
                <a:cs typeface="Calibri (MS)"/>
                <a:sym typeface="Calibri (MS)"/>
              </a:rPr>
              <a:t>, each spatial position may additionally contain </a:t>
            </a:r>
            <a:r>
              <a:rPr lang="en-US" sz="3000" b="1" dirty="0">
                <a:solidFill>
                  <a:srgbClr val="000000"/>
                </a:solidFill>
                <a:latin typeface="Calibri (MS)"/>
                <a:ea typeface="Calibri (MS)"/>
                <a:cs typeface="Calibri (MS)"/>
                <a:sym typeface="Calibri (MS)"/>
              </a:rPr>
              <a:t>multiple color channels </a:t>
            </a:r>
            <a:r>
              <a:rPr lang="en-US" sz="3000" dirty="0">
                <a:solidFill>
                  <a:srgbClr val="000000"/>
                </a:solidFill>
                <a:latin typeface="Calibri (MS)"/>
                <a:ea typeface="Calibri (MS)"/>
                <a:cs typeface="Calibri (MS)"/>
                <a:sym typeface="Calibri (MS)"/>
              </a:rPr>
              <a:t>such as red, green, and blue.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Video visualization therefore involves both </a:t>
            </a:r>
            <a:r>
              <a:rPr lang="en-US" sz="3000" b="1" dirty="0">
                <a:solidFill>
                  <a:srgbClr val="000000"/>
                </a:solidFill>
                <a:latin typeface="Calibri (MS)"/>
                <a:ea typeface="Calibri (MS)"/>
                <a:cs typeface="Calibri (MS)"/>
                <a:sym typeface="Calibri (MS)"/>
              </a:rPr>
              <a:t>spatial interpretation</a:t>
            </a:r>
            <a:r>
              <a:rPr lang="en-US" sz="3000" dirty="0">
                <a:solidFill>
                  <a:srgbClr val="000000"/>
                </a:solidFill>
                <a:latin typeface="Calibri (MS)"/>
                <a:ea typeface="Calibri (MS)"/>
                <a:cs typeface="Calibri (MS)"/>
                <a:sym typeface="Calibri (MS)"/>
              </a:rPr>
              <a:t> within individual frames and </a:t>
            </a:r>
            <a:r>
              <a:rPr lang="en-US" sz="3000" b="1" dirty="0">
                <a:solidFill>
                  <a:srgbClr val="000000"/>
                </a:solidFill>
                <a:latin typeface="Calibri (MS)"/>
                <a:ea typeface="Calibri (MS)"/>
                <a:cs typeface="Calibri (MS)"/>
                <a:sym typeface="Calibri (MS)"/>
              </a:rPr>
              <a:t>temporal interpretation </a:t>
            </a:r>
            <a:r>
              <a:rPr lang="en-US" sz="3000" dirty="0">
                <a:solidFill>
                  <a:srgbClr val="000000"/>
                </a:solidFill>
                <a:latin typeface="Calibri (MS)"/>
                <a:ea typeface="Calibri (MS)"/>
                <a:cs typeface="Calibri (MS)"/>
                <a:sym typeface="Calibri (MS)"/>
              </a:rPr>
              <a:t>across frames.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Image visualization asks:</a:t>
            </a:r>
          </a:p>
          <a:p>
            <a:pPr algn="l">
              <a:lnSpc>
                <a:spcPts val="3600"/>
              </a:lnSpc>
            </a:pPr>
            <a:r>
              <a:rPr lang="en-US" sz="3000" i="1" dirty="0">
                <a:solidFill>
                  <a:srgbClr val="000000"/>
                </a:solidFill>
                <a:latin typeface="Calibri (MS) Italics"/>
                <a:ea typeface="Calibri (MS) Italics"/>
                <a:cs typeface="Calibri (MS) Italics"/>
                <a:sym typeface="Calibri (MS) Italics"/>
              </a:rPr>
              <a:t>What is present at a particular point in space?</a:t>
            </a:r>
          </a:p>
          <a:p>
            <a:pPr algn="l">
              <a:lnSpc>
                <a:spcPts val="3600"/>
              </a:lnSpc>
            </a:pPr>
            <a:r>
              <a:rPr lang="en-US" sz="3000" dirty="0">
                <a:solidFill>
                  <a:srgbClr val="000000"/>
                </a:solidFill>
                <a:latin typeface="Calibri (MS)"/>
                <a:ea typeface="Calibri (MS)"/>
                <a:cs typeface="Calibri (MS)"/>
                <a:sym typeface="Calibri (MS)"/>
              </a:rPr>
              <a:t>Video visualization additionally asks:</a:t>
            </a:r>
          </a:p>
          <a:p>
            <a:pPr algn="l">
              <a:lnSpc>
                <a:spcPts val="3600"/>
              </a:lnSpc>
            </a:pPr>
            <a:r>
              <a:rPr lang="en-US" sz="3000" i="1" dirty="0">
                <a:solidFill>
                  <a:srgbClr val="000000"/>
                </a:solidFill>
                <a:latin typeface="Calibri (MS) Italics"/>
                <a:ea typeface="Calibri (MS) Italics"/>
                <a:cs typeface="Calibri (MS) Italics"/>
                <a:sym typeface="Calibri (MS) Italics"/>
              </a:rPr>
              <a:t>How does that information change over time?</a:t>
            </a:r>
          </a:p>
        </p:txBody>
      </p:sp>
      <p:sp>
        <p:nvSpPr>
          <p:cNvPr id="6" name="Freeform 6"/>
          <p:cNvSpPr/>
          <p:nvPr/>
        </p:nvSpPr>
        <p:spPr>
          <a:xfrm>
            <a:off x="10917672" y="6490000"/>
            <a:ext cx="4789824" cy="3595362"/>
          </a:xfrm>
          <a:custGeom>
            <a:avLst/>
            <a:gdLst/>
            <a:ahLst/>
            <a:cxnLst/>
            <a:rect l="l" t="t" r="r" b="b"/>
            <a:pathLst>
              <a:path w="4789824" h="3595362">
                <a:moveTo>
                  <a:pt x="0" y="0"/>
                </a:moveTo>
                <a:lnTo>
                  <a:pt x="4789824" y="0"/>
                </a:lnTo>
                <a:lnTo>
                  <a:pt x="4789824" y="3595362"/>
                </a:lnTo>
                <a:lnTo>
                  <a:pt x="0" y="3595362"/>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Visualization: Video As A Sequence Of Images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3938043" y="5271202"/>
            <a:ext cx="1845723" cy="1164563"/>
          </a:xfrm>
          <a:custGeom>
            <a:avLst/>
            <a:gdLst/>
            <a:ahLst/>
            <a:cxnLst/>
            <a:rect l="l" t="t" r="r" b="b"/>
            <a:pathLst>
              <a:path w="1845723" h="1164563">
                <a:moveTo>
                  <a:pt x="0" y="0"/>
                </a:moveTo>
                <a:lnTo>
                  <a:pt x="1845722" y="0"/>
                </a:lnTo>
                <a:lnTo>
                  <a:pt x="1845722" y="1164563"/>
                </a:lnTo>
                <a:lnTo>
                  <a:pt x="0" y="1164563"/>
                </a:lnTo>
                <a:lnTo>
                  <a:pt x="0" y="0"/>
                </a:lnTo>
                <a:close/>
              </a:path>
            </a:pathLst>
          </a:custGeom>
          <a:blipFill>
            <a:blip r:embed="rId3"/>
            <a:stretch>
              <a:fillRect/>
            </a:stretch>
          </a:blipFill>
        </p:spPr>
        <p:txBody>
          <a:bodyPr/>
          <a:lstStyle/>
          <a:p>
            <a:endParaRPr lang="en-IN"/>
          </a:p>
        </p:txBody>
      </p:sp>
      <p:sp>
        <p:nvSpPr>
          <p:cNvPr id="6" name="Freeform 6"/>
          <p:cNvSpPr/>
          <p:nvPr/>
        </p:nvSpPr>
        <p:spPr>
          <a:xfrm>
            <a:off x="3523279" y="6315075"/>
            <a:ext cx="3704395" cy="1103759"/>
          </a:xfrm>
          <a:custGeom>
            <a:avLst/>
            <a:gdLst/>
            <a:ahLst/>
            <a:cxnLst/>
            <a:rect l="l" t="t" r="r" b="b"/>
            <a:pathLst>
              <a:path w="3704395" h="1103759">
                <a:moveTo>
                  <a:pt x="0" y="0"/>
                </a:moveTo>
                <a:lnTo>
                  <a:pt x="3704395" y="0"/>
                </a:lnTo>
                <a:lnTo>
                  <a:pt x="3704395" y="1103759"/>
                </a:lnTo>
                <a:lnTo>
                  <a:pt x="0" y="1103759"/>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681104" y="2048268"/>
            <a:ext cx="15637635" cy="2809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Video Frames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A frame is one discrete image sampled from a continuously changing visual scene</a:t>
            </a:r>
            <a:r>
              <a:rPr lang="en-US" sz="3000" dirty="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a:t>
            </a:r>
            <a:r>
              <a:rPr lang="en-US" sz="3000" b="1" dirty="0">
                <a:solidFill>
                  <a:srgbClr val="000000"/>
                </a:solidFill>
                <a:latin typeface="Calibri (MS)"/>
                <a:ea typeface="Calibri (MS)"/>
                <a:cs typeface="Calibri (MS)"/>
                <a:sym typeface="Calibri (MS)"/>
              </a:rPr>
              <a:t>frame rate </a:t>
            </a:r>
            <a:r>
              <a:rPr lang="en-US" sz="3000" dirty="0">
                <a:solidFill>
                  <a:srgbClr val="000000"/>
                </a:solidFill>
                <a:latin typeface="Calibri (MS)"/>
                <a:ea typeface="Calibri (MS)"/>
                <a:cs typeface="Calibri (MS)"/>
                <a:sym typeface="Calibri (MS)"/>
              </a:rPr>
              <a:t>specifies how many frames are captured or displayed during one second and is measured in frames per second (fps). </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Higher frame rates provide more temporal samples of motion</a:t>
            </a:r>
            <a:r>
              <a:rPr lang="en-US" sz="3000" dirty="0">
                <a:solidFill>
                  <a:srgbClr val="000000"/>
                </a:solidFill>
                <a:latin typeface="Calibri (MS)"/>
                <a:ea typeface="Calibri (MS)"/>
                <a:cs typeface="Calibri (MS)"/>
                <a:sym typeface="Calibri (MS)"/>
              </a:rPr>
              <a:t>, while lower frame rates provide fewer samples and can make rapid changes harder to represent accurately.</a:t>
            </a:r>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Frames, Frame Rate And Temporal Sampling</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681104" y="5076825"/>
            <a:ext cx="3256939"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Temporal Sampling</a:t>
            </a:r>
          </a:p>
          <a:p>
            <a:pPr algn="l">
              <a:lnSpc>
                <a:spcPts val="3600"/>
              </a:lnSpc>
            </a:pPr>
            <a:r>
              <a:rPr lang="en-US" sz="3000">
                <a:solidFill>
                  <a:srgbClr val="000000"/>
                </a:solidFill>
                <a:latin typeface="Calibri (MS)"/>
                <a:ea typeface="Calibri (MS)"/>
                <a:cs typeface="Calibri (MS)"/>
                <a:sym typeface="Calibri (MS)"/>
              </a:rPr>
              <a:t>If the frame rate is </a:t>
            </a:r>
            <a:r>
              <a:rPr lang="en-US" sz="3000" i="1">
                <a:solidFill>
                  <a:srgbClr val="000000"/>
                </a:solidFill>
                <a:latin typeface="Calibri (MS) Italics"/>
                <a:ea typeface="Calibri (MS) Italics"/>
                <a:cs typeface="Calibri (MS) Italics"/>
                <a:sym typeface="Calibri (MS) Italics"/>
              </a:rPr>
              <a:t>f</a:t>
            </a:r>
            <a:r>
              <a:rPr lang="en-US" sz="3000">
                <a:solidFill>
                  <a:srgbClr val="000000"/>
                </a:solidFill>
                <a:latin typeface="Calibri (MS)"/>
                <a:ea typeface="Calibri (MS)"/>
                <a:cs typeface="Calibri (MS)"/>
                <a:sym typeface="Calibri (MS)"/>
              </a:rPr>
              <a:t>:</a:t>
            </a:r>
          </a:p>
        </p:txBody>
      </p:sp>
      <p:sp>
        <p:nvSpPr>
          <p:cNvPr id="11" name="TextBox 11"/>
          <p:cNvSpPr txBox="1"/>
          <p:nvPr/>
        </p:nvSpPr>
        <p:spPr>
          <a:xfrm>
            <a:off x="6075934" y="5534025"/>
            <a:ext cx="8088936"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where Δt is the time between consecutive frames</a:t>
            </a:r>
          </a:p>
        </p:txBody>
      </p:sp>
      <p:sp>
        <p:nvSpPr>
          <p:cNvPr id="12" name="TextBox 12"/>
          <p:cNvSpPr txBox="1"/>
          <p:nvPr/>
        </p:nvSpPr>
        <p:spPr>
          <a:xfrm>
            <a:off x="681104" y="6534150"/>
            <a:ext cx="2842175"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For a 30fps video:</a:t>
            </a:r>
          </a:p>
        </p:txBody>
      </p:sp>
      <p:sp>
        <p:nvSpPr>
          <p:cNvPr id="13" name="TextBox 13"/>
          <p:cNvSpPr txBox="1"/>
          <p:nvPr/>
        </p:nvSpPr>
        <p:spPr>
          <a:xfrm>
            <a:off x="681104" y="7409309"/>
            <a:ext cx="16819711" cy="1895475"/>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Therefore, consecutive frames are separated by approximately </a:t>
            </a:r>
            <a:r>
              <a:rPr lang="en-US" sz="3000" b="1" dirty="0">
                <a:solidFill>
                  <a:srgbClr val="000000"/>
                </a:solidFill>
                <a:latin typeface="Calibri (MS) Bold"/>
                <a:ea typeface="Calibri (MS) Bold"/>
                <a:cs typeface="Calibri (MS) Bold"/>
                <a:sym typeface="Calibri (MS) Bold"/>
              </a:rPr>
              <a:t>33.3 </a:t>
            </a:r>
            <a:r>
              <a:rPr lang="en-US" sz="3000" b="1" dirty="0" err="1">
                <a:solidFill>
                  <a:srgbClr val="000000"/>
                </a:solidFill>
                <a:latin typeface="Calibri (MS) Bold"/>
                <a:ea typeface="Calibri (MS) Bold"/>
                <a:cs typeface="Calibri (MS) Bold"/>
                <a:sym typeface="Calibri (MS) Bold"/>
              </a:rPr>
              <a:t>ms</a:t>
            </a:r>
            <a:r>
              <a:rPr lang="en-US" sz="3000" dirty="0" err="1">
                <a:solidFill>
                  <a:srgbClr val="000000"/>
                </a:solidFill>
                <a:latin typeface="Calibri (MS)"/>
                <a:ea typeface="Calibri (MS)"/>
                <a:cs typeface="Calibri (MS)"/>
                <a:sym typeface="Calibri (MS)"/>
              </a:rPr>
              <a:t>.</a:t>
            </a:r>
            <a:endParaRPr lang="en-US" sz="3000" dirty="0">
              <a:solidFill>
                <a:srgbClr val="000000"/>
              </a:solidFill>
              <a:latin typeface="Calibri (MS)"/>
              <a:ea typeface="Calibri (MS)"/>
              <a:cs typeface="Calibri (MS)"/>
              <a:sym typeface="Calibri (MS)"/>
            </a:endParaRP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a:t>
            </a:r>
            <a:r>
              <a:rPr lang="en-US" sz="3000" b="1" i="1" dirty="0">
                <a:solidFill>
                  <a:srgbClr val="000000"/>
                </a:solidFill>
                <a:latin typeface="Calibri (MS) Italics"/>
                <a:ea typeface="Calibri (MS) Italics"/>
                <a:cs typeface="Calibri (MS) Italics"/>
                <a:sym typeface="Calibri (MS) Italics"/>
              </a:rPr>
              <a:t>Frame rate determines the temporal resolution at which changes can be observed. A visualization of slow processes may not require a high frame rate, while rapid events require finer temporal sampling</a:t>
            </a:r>
            <a:r>
              <a:rPr lang="en-US" sz="3000" i="1" dirty="0">
                <a:solidFill>
                  <a:srgbClr val="000000"/>
                </a:solidFill>
                <a:latin typeface="Calibri (MS) Italics"/>
                <a:ea typeface="Calibri (MS) Italics"/>
                <a:cs typeface="Calibri (MS) Italics"/>
                <a:sym typeface="Calibri (MS) Italics"/>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7973075" y="2114943"/>
            <a:ext cx="8416897" cy="2419858"/>
          </a:xfrm>
          <a:custGeom>
            <a:avLst/>
            <a:gdLst/>
            <a:ahLst/>
            <a:cxnLst/>
            <a:rect l="l" t="t" r="r" b="b"/>
            <a:pathLst>
              <a:path w="8416897" h="2419858">
                <a:moveTo>
                  <a:pt x="0" y="0"/>
                </a:moveTo>
                <a:lnTo>
                  <a:pt x="8416896" y="0"/>
                </a:lnTo>
                <a:lnTo>
                  <a:pt x="8416896" y="2419858"/>
                </a:lnTo>
                <a:lnTo>
                  <a:pt x="0" y="2419858"/>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681104" y="2048268"/>
            <a:ext cx="8234103" cy="6924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Calculating Temporal Data Volume</a:t>
            </a:r>
          </a:p>
          <a:p>
            <a:pPr algn="l">
              <a:lnSpc>
                <a:spcPts val="3600"/>
              </a:lnSpc>
            </a:pPr>
            <a:r>
              <a:rPr lang="en-US" sz="3000">
                <a:solidFill>
                  <a:srgbClr val="000000"/>
                </a:solidFill>
                <a:latin typeface="Calibri (MS)"/>
                <a:ea typeface="Calibri (MS)"/>
                <a:cs typeface="Calibri (MS)"/>
                <a:sym typeface="Calibri (MS)"/>
              </a:rPr>
              <a:t>The number of frames in a video is: </a:t>
            </a:r>
            <a:r>
              <a:rPr lang="en-US" sz="3000" i="1">
                <a:solidFill>
                  <a:srgbClr val="000000"/>
                </a:solidFill>
                <a:latin typeface="Calibri (MS) Italics"/>
                <a:ea typeface="Calibri (MS) Italics"/>
                <a:cs typeface="Calibri (MS) Italics"/>
                <a:sym typeface="Calibri (MS) Italics"/>
              </a:rPr>
              <a:t>N = f × T</a:t>
            </a:r>
          </a:p>
          <a:p>
            <a:pPr algn="l">
              <a:lnSpc>
                <a:spcPts val="3600"/>
              </a:lnSpc>
            </a:pPr>
            <a:r>
              <a:rPr lang="en-US" sz="3000" i="1">
                <a:solidFill>
                  <a:srgbClr val="000000"/>
                </a:solidFill>
                <a:latin typeface="Calibri (MS) Italics"/>
                <a:ea typeface="Calibri (MS) Italics"/>
                <a:cs typeface="Calibri (MS) Italics"/>
                <a:sym typeface="Calibri (MS) Italics"/>
              </a:rPr>
              <a:t>where: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N = total number of frames</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f = frame rate</a:t>
            </a:r>
          </a:p>
          <a:p>
            <a:pPr marL="647700" lvl="1" indent="-323850" algn="l">
              <a:lnSpc>
                <a:spcPts val="3600"/>
              </a:lnSpc>
              <a:buFont typeface="Arial"/>
              <a:buChar char="•"/>
            </a:pPr>
            <a:r>
              <a:rPr lang="en-US" sz="3000" i="1">
                <a:solidFill>
                  <a:srgbClr val="000000"/>
                </a:solidFill>
                <a:latin typeface="Calibri (MS) Italics"/>
                <a:ea typeface="Calibri (MS) Italics"/>
                <a:cs typeface="Calibri (MS) Italics"/>
                <a:sym typeface="Calibri (MS) Italics"/>
              </a:rPr>
              <a:t>T = duration in seconds</a:t>
            </a:r>
          </a:p>
          <a:p>
            <a:pPr algn="l">
              <a:lnSpc>
                <a:spcPts val="3600"/>
              </a:lnSpc>
            </a:pPr>
            <a:endParaRPr lang="en-US" sz="3000" i="1">
              <a:solidFill>
                <a:srgbClr val="000000"/>
              </a:solidFill>
              <a:latin typeface="Calibri (MS) Italics"/>
              <a:ea typeface="Calibri (MS) Italics"/>
              <a:cs typeface="Calibri (MS) Italics"/>
              <a:sym typeface="Calibri (MS) Italics"/>
            </a:endParaRPr>
          </a:p>
          <a:p>
            <a:pPr algn="l">
              <a:lnSpc>
                <a:spcPts val="3600"/>
              </a:lnSpc>
            </a:pPr>
            <a:r>
              <a:rPr lang="en-US" sz="3000">
                <a:solidFill>
                  <a:srgbClr val="000000"/>
                </a:solidFill>
                <a:latin typeface="Calibri (MS)"/>
                <a:ea typeface="Calibri (MS)"/>
                <a:cs typeface="Calibri (MS)"/>
                <a:sym typeface="Calibri (MS)"/>
              </a:rPr>
              <a:t>Example: A video is recorded for 2 minutes at 30 fps.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First convert the duration: 2 × 60 = 120 s</a:t>
            </a:r>
          </a:p>
          <a:p>
            <a:pPr algn="l">
              <a:lnSpc>
                <a:spcPts val="3600"/>
              </a:lnSpc>
            </a:pPr>
            <a:r>
              <a:rPr lang="en-US" sz="3000">
                <a:solidFill>
                  <a:srgbClr val="000000"/>
                </a:solidFill>
                <a:latin typeface="Calibri (MS)"/>
                <a:ea typeface="Calibri (MS)"/>
                <a:cs typeface="Calibri (MS)"/>
                <a:sym typeface="Calibri (MS)"/>
              </a:rPr>
              <a:t>Then: N = 30 × 120 = </a:t>
            </a:r>
            <a:r>
              <a:rPr lang="en-US" sz="3000" b="1">
                <a:solidFill>
                  <a:srgbClr val="000000"/>
                </a:solidFill>
                <a:latin typeface="Calibri (MS) Bold"/>
                <a:ea typeface="Calibri (MS) Bold"/>
                <a:cs typeface="Calibri (MS) Bold"/>
                <a:sym typeface="Calibri (MS) Bold"/>
              </a:rPr>
              <a:t>3600 frames​</a:t>
            </a:r>
          </a:p>
          <a:p>
            <a:pPr algn="l">
              <a:lnSpc>
                <a:spcPts val="3600"/>
              </a:lnSpc>
            </a:pPr>
            <a:endParaRPr lang="en-US" sz="3000" b="1">
              <a:solidFill>
                <a:srgbClr val="000000"/>
              </a:solidFill>
              <a:latin typeface="Calibri (MS) Bold"/>
              <a:ea typeface="Calibri (MS) Bold"/>
              <a:cs typeface="Calibri (MS) Bold"/>
              <a:sym typeface="Calibri (MS) Bold"/>
            </a:endParaRPr>
          </a:p>
          <a:p>
            <a:pPr algn="l">
              <a:lnSpc>
                <a:spcPts val="3600"/>
              </a:lnSpc>
            </a:pPr>
            <a:r>
              <a:rPr lang="en-US" sz="3000">
                <a:solidFill>
                  <a:srgbClr val="000000"/>
                </a:solidFill>
                <a:latin typeface="Calibri (MS)"/>
                <a:ea typeface="Calibri (MS)"/>
                <a:cs typeface="Calibri (MS)"/>
                <a:sym typeface="Calibri (MS)"/>
              </a:rPr>
              <a:t>If the same video were recorded at 60 fps:</a:t>
            </a:r>
          </a:p>
          <a:p>
            <a:pPr algn="l">
              <a:lnSpc>
                <a:spcPts val="3600"/>
              </a:lnSpc>
            </a:pPr>
            <a:r>
              <a:rPr lang="en-US" sz="3000">
                <a:solidFill>
                  <a:srgbClr val="000000"/>
                </a:solidFill>
                <a:latin typeface="Calibri (MS)"/>
                <a:ea typeface="Calibri (MS)"/>
                <a:cs typeface="Calibri (MS)"/>
                <a:sym typeface="Calibri (MS)"/>
              </a:rPr>
              <a:t>60 × 120 = </a:t>
            </a:r>
            <a:r>
              <a:rPr lang="en-US" sz="3000" b="1">
                <a:solidFill>
                  <a:srgbClr val="000000"/>
                </a:solidFill>
                <a:latin typeface="Calibri (MS) Bold"/>
                <a:ea typeface="Calibri (MS) Bold"/>
                <a:cs typeface="Calibri (MS) Bold"/>
                <a:sym typeface="Calibri (MS) Bold"/>
              </a:rPr>
              <a:t>7200 frames</a:t>
            </a:r>
          </a:p>
          <a:p>
            <a:pPr algn="l">
              <a:lnSpc>
                <a:spcPts val="3600"/>
              </a:lnSpc>
            </a:pPr>
            <a:r>
              <a:rPr lang="en-US" sz="3000">
                <a:solidFill>
                  <a:srgbClr val="000000"/>
                </a:solidFill>
                <a:latin typeface="Calibri (MS)"/>
                <a:ea typeface="Calibri (MS)"/>
                <a:cs typeface="Calibri (MS)"/>
                <a:sym typeface="Calibri (MS)"/>
              </a:rPr>
              <a:t>The temporal sampling density has doubled.</a:t>
            </a:r>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Number Of Frames In A Video: Numerical</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9455073" y="5207705"/>
            <a:ext cx="8234103" cy="46386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two-minute video may appear short to a viewer, but it already contains 3,600 individual spatial observations.</a:t>
            </a:r>
          </a:p>
          <a:p>
            <a:pPr algn="l">
              <a:lnSpc>
                <a:spcPts val="3600"/>
              </a:lnSpc>
            </a:pPr>
            <a:r>
              <a:rPr lang="en-US" sz="3000">
                <a:solidFill>
                  <a:srgbClr val="000000"/>
                </a:solidFill>
                <a:latin typeface="Calibri (MS)"/>
                <a:ea typeface="Calibri (MS)"/>
                <a:cs typeface="Calibri (MS)"/>
                <a:sym typeface="Calibri (MS)"/>
              </a:rPr>
              <a:t>This illustrates why video visualization often requires: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Frame sampling</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Representative frames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Timelines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Event detection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Temporal aggregation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1785093" cy="7381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Perceived Motion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 video does not contain continuous motion; it contains discrete spatial samples presented in temporal sequence.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The visual system interprets sufficiently consistent changes between successive frames as motion.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Motion perception therefore depends on both the temporal spacing of frames and the spatial displacement of objects between frames.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Correspondence Between Frames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When an object appears in two consecutive frames, the visual system must determine that the two appearances correspond to the same moving object.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Ware describes this as the </a:t>
            </a:r>
            <a:r>
              <a:rPr lang="en-US" sz="3000" i="1">
                <a:solidFill>
                  <a:srgbClr val="000000"/>
                </a:solidFill>
                <a:latin typeface="Calibri (MS) Italics"/>
                <a:ea typeface="Calibri (MS) Italics"/>
                <a:cs typeface="Calibri (MS) Italics"/>
                <a:sym typeface="Calibri (MS) Italics"/>
              </a:rPr>
              <a:t>correspondence problem</a:t>
            </a:r>
            <a:r>
              <a:rPr lang="en-US" sz="300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If identical graphical elements move too far between frames, the observer may associate an element with the wrong element in the next frame, producing ambiguous or reversed motion.</a:t>
            </a:r>
          </a:p>
        </p:txBody>
      </p:sp>
      <p:sp>
        <p:nvSpPr>
          <p:cNvPr id="6" name="Freeform 6"/>
          <p:cNvSpPr/>
          <p:nvPr/>
        </p:nvSpPr>
        <p:spPr>
          <a:xfrm>
            <a:off x="12466197" y="3426147"/>
            <a:ext cx="5422810" cy="4067107"/>
          </a:xfrm>
          <a:custGeom>
            <a:avLst/>
            <a:gdLst/>
            <a:ahLst/>
            <a:cxnLst/>
            <a:rect l="l" t="t" r="r" b="b"/>
            <a:pathLst>
              <a:path w="5422810" h="4067107">
                <a:moveTo>
                  <a:pt x="0" y="0"/>
                </a:moveTo>
                <a:lnTo>
                  <a:pt x="5422810" y="0"/>
                </a:lnTo>
                <a:lnTo>
                  <a:pt x="5422810" y="4067107"/>
                </a:lnTo>
                <a:lnTo>
                  <a:pt x="0" y="4067107"/>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From Frames To Continuous Motion</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10363200" y="3314700"/>
            <a:ext cx="5785636" cy="5338128"/>
          </a:xfrm>
          <a:custGeom>
            <a:avLst/>
            <a:gdLst/>
            <a:ahLst/>
            <a:cxnLst/>
            <a:rect l="l" t="t" r="r" b="b"/>
            <a:pathLst>
              <a:path w="5785636" h="5338128">
                <a:moveTo>
                  <a:pt x="0" y="0"/>
                </a:moveTo>
                <a:lnTo>
                  <a:pt x="5785636" y="0"/>
                </a:lnTo>
                <a:lnTo>
                  <a:pt x="5785636" y="5338128"/>
                </a:lnTo>
                <a:lnTo>
                  <a:pt x="0" y="5338128"/>
                </a:lnTo>
                <a:lnTo>
                  <a:pt x="0" y="0"/>
                </a:lnTo>
                <a:close/>
              </a:path>
            </a:pathLst>
          </a:custGeom>
          <a:blipFill>
            <a:blip r:embed="rId3"/>
            <a:stretch>
              <a:fillRect/>
            </a:stretch>
          </a:blipFill>
        </p:spPr>
        <p:txBody>
          <a:bodyPr/>
          <a:lstStyle/>
          <a:p>
            <a:endParaRPr lang="en-IN"/>
          </a:p>
        </p:txBody>
      </p:sp>
      <p:sp>
        <p:nvSpPr>
          <p:cNvPr id="6" name="Freeform 6"/>
          <p:cNvSpPr/>
          <p:nvPr/>
        </p:nvSpPr>
        <p:spPr>
          <a:xfrm>
            <a:off x="1028700" y="4029468"/>
            <a:ext cx="8324221" cy="5454142"/>
          </a:xfrm>
          <a:custGeom>
            <a:avLst/>
            <a:gdLst/>
            <a:ahLst/>
            <a:cxnLst/>
            <a:rect l="l" t="t" r="r" b="b"/>
            <a:pathLst>
              <a:path w="8324221" h="5454142">
                <a:moveTo>
                  <a:pt x="0" y="0"/>
                </a:moveTo>
                <a:lnTo>
                  <a:pt x="8324221" y="0"/>
                </a:lnTo>
                <a:lnTo>
                  <a:pt x="8324221" y="5454142"/>
                </a:lnTo>
                <a:lnTo>
                  <a:pt x="0" y="5454142"/>
                </a:lnTo>
                <a:lnTo>
                  <a:pt x="0" y="0"/>
                </a:lnTo>
                <a:close/>
              </a:path>
            </a:pathLst>
          </a:custGeom>
          <a:blipFill>
            <a:blip r:embed="rId4"/>
            <a:stretch>
              <a:fillRect t="-7794" r="-903" b="-7705"/>
            </a:stretch>
          </a:blipFill>
        </p:spPr>
        <p:txBody>
          <a:bodyPr/>
          <a:lstStyle/>
          <a:p>
            <a:endParaRPr lang="en-IN"/>
          </a:p>
        </p:txBody>
      </p:sp>
      <p:sp>
        <p:nvSpPr>
          <p:cNvPr id="7" name="TextBox 7"/>
          <p:cNvSpPr txBox="1"/>
          <p:nvPr/>
        </p:nvSpPr>
        <p:spPr>
          <a:xfrm>
            <a:off x="681104" y="2048268"/>
            <a:ext cx="15741325" cy="14382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Visualization Implication</a:t>
            </a:r>
          </a:p>
          <a:p>
            <a:pPr algn="l">
              <a:lnSpc>
                <a:spcPts val="3600"/>
              </a:lnSpc>
            </a:pPr>
            <a:r>
              <a:rPr lang="en-US" sz="3000" dirty="0">
                <a:solidFill>
                  <a:srgbClr val="000000"/>
                </a:solidFill>
                <a:latin typeface="Calibri (MS)"/>
                <a:ea typeface="Calibri (MS)"/>
                <a:cs typeface="Calibri (MS)"/>
                <a:sym typeface="Calibri (MS)"/>
              </a:rPr>
              <a:t>A higher frame rate is not automatically sufficient.</a:t>
            </a:r>
          </a:p>
          <a:p>
            <a:pPr algn="l">
              <a:lnSpc>
                <a:spcPts val="3600"/>
              </a:lnSpc>
            </a:pPr>
            <a:r>
              <a:rPr lang="en-US" sz="3000" dirty="0">
                <a:solidFill>
                  <a:srgbClr val="000000"/>
                </a:solidFill>
                <a:latin typeface="Calibri (MS)"/>
                <a:ea typeface="Calibri (MS)"/>
                <a:cs typeface="Calibri (MS)"/>
                <a:sym typeface="Calibri (MS)"/>
              </a:rPr>
              <a:t>The visualization must also ensure </a:t>
            </a:r>
            <a:r>
              <a:rPr lang="en-US" sz="3000" b="1" dirty="0">
                <a:solidFill>
                  <a:srgbClr val="000000"/>
                </a:solidFill>
                <a:latin typeface="Calibri (MS)"/>
                <a:ea typeface="Calibri (MS)"/>
                <a:cs typeface="Calibri (MS)"/>
                <a:sym typeface="Calibri (MS)"/>
              </a:rPr>
              <a:t>that </a:t>
            </a:r>
            <a:r>
              <a:rPr lang="en-US" sz="3000" b="1" i="1" dirty="0">
                <a:solidFill>
                  <a:srgbClr val="000000"/>
                </a:solidFill>
                <a:latin typeface="Calibri (MS) Italics"/>
                <a:ea typeface="Calibri (MS) Italics"/>
                <a:cs typeface="Calibri (MS) Italics"/>
                <a:sym typeface="Calibri (MS) Italics"/>
              </a:rPr>
              <a:t>frame-to-frame displacement</a:t>
            </a:r>
            <a:r>
              <a:rPr lang="en-US" sz="3000" b="1" dirty="0">
                <a:solidFill>
                  <a:srgbClr val="000000"/>
                </a:solidFill>
                <a:latin typeface="Calibri (MS)"/>
                <a:ea typeface="Calibri (MS)"/>
                <a:cs typeface="Calibri (MS)"/>
                <a:sym typeface="Calibri (MS)"/>
              </a:rPr>
              <a:t> remains interpretable.</a:t>
            </a:r>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From Frames To Continuous Motion</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1" name="TextBox 10">
            <a:extLst>
              <a:ext uri="{FF2B5EF4-FFF2-40B4-BE49-F238E27FC236}">
                <a16:creationId xmlns:a16="http://schemas.microsoft.com/office/drawing/2014/main" id="{98191C99-4E2E-66CF-3052-E97A2BC64C10}"/>
              </a:ext>
            </a:extLst>
          </p:cNvPr>
          <p:cNvSpPr txBox="1"/>
          <p:nvPr/>
        </p:nvSpPr>
        <p:spPr>
          <a:xfrm>
            <a:off x="8382000" y="8451374"/>
            <a:ext cx="9153144" cy="1754326"/>
          </a:xfrm>
          <a:prstGeom prst="rect">
            <a:avLst/>
          </a:prstGeom>
          <a:noFill/>
        </p:spPr>
        <p:txBody>
          <a:bodyPr wrap="square">
            <a:spAutoFit/>
          </a:bodyPr>
          <a:lstStyle/>
          <a:p>
            <a:pPr marL="342900" lvl="0" indent="-342900" rtl="0">
              <a:buFont typeface="Arial" panose="020B0604020202020204" pitchFamily="34" charset="0"/>
              <a:buChar char="•"/>
            </a:pPr>
            <a:r>
              <a:rPr lang="en-IN" b="1" dirty="0"/>
              <a:t>Slow</a:t>
            </a:r>
            <a:r>
              <a:rPr lang="en-IN" dirty="0"/>
              <a:t>: the dots are closely spaced in x, so consecutive samples are easy to match up correctly — the "instantaneous perception" strip below shows a smooth, correctly-ordered gradient.</a:t>
            </a:r>
          </a:p>
          <a:p>
            <a:pPr marL="342900" lvl="0" indent="-342900" rtl="0">
              <a:buFont typeface="Arial" panose="020B0604020202020204" pitchFamily="34" charset="0"/>
              <a:buChar char="•"/>
            </a:pPr>
            <a:r>
              <a:rPr lang="en-IN" b="1" dirty="0"/>
              <a:t>Fast</a:t>
            </a:r>
            <a:r>
              <a:rPr lang="en-IN" dirty="0"/>
              <a:t>: the dots jump further in x between samples. The sparser spacing makes it more ambiguous which dot corresponds to which — this is the </a:t>
            </a:r>
            <a:r>
              <a:rPr lang="en-IN" b="1" dirty="0"/>
              <a:t>correspondence problem</a:t>
            </a:r>
            <a:r>
              <a:rPr lang="en-IN" dirty="0"/>
              <a:t>: the visual system has to guess which sample "belongs" to which, and with large jumps it can guess wrong (as in the wagon wheel going "backward").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4181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Video Timeline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video timeline represents </a:t>
            </a:r>
            <a:r>
              <a:rPr lang="en-US" sz="3000" b="1" dirty="0">
                <a:solidFill>
                  <a:srgbClr val="000000"/>
                </a:solidFill>
                <a:latin typeface="Calibri (MS)"/>
                <a:ea typeface="Calibri (MS)"/>
                <a:cs typeface="Calibri (MS)"/>
                <a:sym typeface="Calibri (MS)"/>
              </a:rPr>
              <a:t>temporal position along a continuous sequence of frames.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timeline provides a spatial representation of time, allowing users to navigate directly to particular portions of a video.</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Individual frames can be </a:t>
            </a:r>
            <a:r>
              <a:rPr lang="en-US" sz="3000" b="1" dirty="0">
                <a:solidFill>
                  <a:srgbClr val="000000"/>
                </a:solidFill>
                <a:latin typeface="Calibri (MS)"/>
                <a:ea typeface="Calibri (MS)"/>
                <a:cs typeface="Calibri (MS)"/>
                <a:sym typeface="Calibri (MS)"/>
              </a:rPr>
              <a:t>indexed by their temporal position or frame number.</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timeline can also contain markers representing events, annotations, detected changes, or important segments.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Frame–Time Relationship</a:t>
            </a:r>
          </a:p>
        </p:txBody>
      </p:sp>
      <p:sp>
        <p:nvSpPr>
          <p:cNvPr id="6" name="Freeform 6"/>
          <p:cNvSpPr/>
          <p:nvPr/>
        </p:nvSpPr>
        <p:spPr>
          <a:xfrm>
            <a:off x="681104" y="6286893"/>
            <a:ext cx="12992837" cy="3786249"/>
          </a:xfrm>
          <a:custGeom>
            <a:avLst/>
            <a:gdLst/>
            <a:ahLst/>
            <a:cxnLst/>
            <a:rect l="l" t="t" r="r" b="b"/>
            <a:pathLst>
              <a:path w="12992837" h="3786249">
                <a:moveTo>
                  <a:pt x="0" y="0"/>
                </a:moveTo>
                <a:lnTo>
                  <a:pt x="12992837" y="0"/>
                </a:lnTo>
                <a:lnTo>
                  <a:pt x="12992837" y="3786249"/>
                </a:lnTo>
                <a:lnTo>
                  <a:pt x="0" y="3786249"/>
                </a:lnTo>
                <a:lnTo>
                  <a:pt x="0" y="0"/>
                </a:lnTo>
                <a:close/>
              </a:path>
            </a:pathLst>
          </a:custGeom>
          <a:blipFill>
            <a:blip r:embed="rId3"/>
            <a:stretch>
              <a:fillRect l="-703"/>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Timelines And Temporal Navigation</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4943868"/>
            <a:ext cx="11084674" cy="2445295"/>
          </a:xfrm>
          <a:custGeom>
            <a:avLst/>
            <a:gdLst/>
            <a:ahLst/>
            <a:cxnLst/>
            <a:rect l="l" t="t" r="r" b="b"/>
            <a:pathLst>
              <a:path w="11084674" h="2445295">
                <a:moveTo>
                  <a:pt x="0" y="0"/>
                </a:moveTo>
                <a:lnTo>
                  <a:pt x="11084674" y="0"/>
                </a:lnTo>
                <a:lnTo>
                  <a:pt x="11084674" y="2445295"/>
                </a:lnTo>
                <a:lnTo>
                  <a:pt x="0" y="2445295"/>
                </a:lnTo>
                <a:lnTo>
                  <a:pt x="0" y="0"/>
                </a:lnTo>
                <a:close/>
              </a:path>
            </a:pathLst>
          </a:custGeom>
          <a:blipFill>
            <a:blip r:embed="rId3"/>
            <a:stretch>
              <a:fillRect l="-11838" t="-106178" b="-112208"/>
            </a:stretch>
          </a:blipFill>
        </p:spPr>
        <p:txBody>
          <a:bodyPr/>
          <a:lstStyle/>
          <a:p>
            <a:endParaRPr lang="en-IN"/>
          </a:p>
        </p:txBody>
      </p:sp>
      <p:sp>
        <p:nvSpPr>
          <p:cNvPr id="6" name="TextBox 6"/>
          <p:cNvSpPr txBox="1"/>
          <p:nvPr/>
        </p:nvSpPr>
        <p:spPr>
          <a:xfrm>
            <a:off x="681104" y="2048268"/>
            <a:ext cx="15741325" cy="2352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Why Timelines Matter</a:t>
            </a:r>
          </a:p>
          <a:p>
            <a:pPr algn="l">
              <a:lnSpc>
                <a:spcPts val="3600"/>
              </a:lnSpc>
            </a:pPr>
            <a:r>
              <a:rPr lang="en-US" sz="3000">
                <a:solidFill>
                  <a:srgbClr val="000000"/>
                </a:solidFill>
                <a:latin typeface="Calibri (MS)"/>
                <a:ea typeface="Calibri (MS)"/>
                <a:cs typeface="Calibri (MS)"/>
                <a:sym typeface="Calibri (MS)"/>
              </a:rPr>
              <a:t>A timeline converts:</a:t>
            </a:r>
          </a:p>
          <a:p>
            <a:pPr algn="l">
              <a:lnSpc>
                <a:spcPts val="3600"/>
              </a:lnSpc>
            </a:pPr>
            <a:r>
              <a:rPr lang="en-US" sz="3000" i="1">
                <a:solidFill>
                  <a:srgbClr val="000000"/>
                </a:solidFill>
                <a:latin typeface="Calibri (MS) Italics"/>
                <a:ea typeface="Calibri (MS) Italics"/>
                <a:cs typeface="Calibri (MS) Italics"/>
                <a:sym typeface="Calibri (MS) Italics"/>
              </a:rPr>
              <a:t>Large sequence of frames → Navigable temporal structure</a:t>
            </a:r>
          </a:p>
          <a:p>
            <a:pPr algn="l">
              <a:lnSpc>
                <a:spcPts val="3600"/>
              </a:lnSpc>
            </a:pPr>
            <a:r>
              <a:rPr lang="en-US" sz="3000">
                <a:solidFill>
                  <a:srgbClr val="000000"/>
                </a:solidFill>
                <a:latin typeface="Calibri (MS)"/>
                <a:ea typeface="Calibri (MS)"/>
                <a:cs typeface="Calibri (MS)"/>
                <a:sym typeface="Calibri (MS)"/>
              </a:rPr>
              <a:t>This is especially important when the user is searching for a particular event rather than watching the video sequentially.</a:t>
            </a:r>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Timelines And Temporal Navigation</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46386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Keyframe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A keyframe is a selected frame that represents an important visual state, event, or transition within a video.</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Keyframes can be </a:t>
            </a:r>
            <a:r>
              <a:rPr lang="en-US" sz="3000" b="1" dirty="0">
                <a:solidFill>
                  <a:srgbClr val="000000"/>
                </a:solidFill>
                <a:latin typeface="Calibri (MS)"/>
                <a:ea typeface="Calibri (MS)"/>
                <a:cs typeface="Calibri (MS)"/>
                <a:sym typeface="Calibri (MS)"/>
              </a:rPr>
              <a:t>selected manually or generated using criteria such as scene changes, motion, visual similarity, or temporal intervals.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sequence of representative frames can provide an overview of a video without requiring every frame to be displayed.</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Uniform Sampling</a:t>
            </a:r>
          </a:p>
          <a:p>
            <a:pPr algn="l">
              <a:lnSpc>
                <a:spcPts val="3600"/>
              </a:lnSpc>
            </a:pPr>
            <a:r>
              <a:rPr lang="en-US" sz="3000" dirty="0">
                <a:solidFill>
                  <a:srgbClr val="000000"/>
                </a:solidFill>
                <a:latin typeface="Calibri (MS)"/>
                <a:ea typeface="Calibri (MS)"/>
                <a:cs typeface="Calibri (MS)"/>
                <a:sym typeface="Calibri (MS)"/>
              </a:rPr>
              <a:t>For a video containing N frames, one simple strategy is to select every </a:t>
            </a:r>
            <a:r>
              <a:rPr lang="en-US" sz="3000" i="1" dirty="0">
                <a:solidFill>
                  <a:srgbClr val="000000"/>
                </a:solidFill>
                <a:latin typeface="Calibri (MS) Italics"/>
                <a:ea typeface="Calibri (MS) Italics"/>
                <a:cs typeface="Calibri (MS) Italics"/>
                <a:sym typeface="Calibri (MS) Italics"/>
              </a:rPr>
              <a:t>k-</a:t>
            </a:r>
            <a:r>
              <a:rPr lang="en-US" sz="3000" i="1" dirty="0" err="1">
                <a:solidFill>
                  <a:srgbClr val="000000"/>
                </a:solidFill>
                <a:latin typeface="Calibri (MS) Italics"/>
                <a:ea typeface="Calibri (MS) Italics"/>
                <a:cs typeface="Calibri (MS) Italics"/>
                <a:sym typeface="Calibri (MS) Italics"/>
              </a:rPr>
              <a:t>th</a:t>
            </a:r>
            <a:r>
              <a:rPr lang="en-US" sz="3000" dirty="0">
                <a:solidFill>
                  <a:srgbClr val="000000"/>
                </a:solidFill>
                <a:latin typeface="Calibri (MS)"/>
                <a:ea typeface="Calibri (MS)"/>
                <a:cs typeface="Calibri (MS)"/>
                <a:sym typeface="Calibri (MS)"/>
              </a:rPr>
              <a:t> frame:</a:t>
            </a:r>
          </a:p>
        </p:txBody>
      </p:sp>
      <p:sp>
        <p:nvSpPr>
          <p:cNvPr id="6" name="Freeform 6"/>
          <p:cNvSpPr/>
          <p:nvPr/>
        </p:nvSpPr>
        <p:spPr>
          <a:xfrm>
            <a:off x="13341820" y="5939672"/>
            <a:ext cx="3917480" cy="934168"/>
          </a:xfrm>
          <a:custGeom>
            <a:avLst/>
            <a:gdLst/>
            <a:ahLst/>
            <a:cxnLst/>
            <a:rect l="l" t="t" r="r" b="b"/>
            <a:pathLst>
              <a:path w="3917480" h="934168">
                <a:moveTo>
                  <a:pt x="0" y="0"/>
                </a:moveTo>
                <a:lnTo>
                  <a:pt x="3917480" y="0"/>
                </a:lnTo>
                <a:lnTo>
                  <a:pt x="3917480" y="934169"/>
                </a:lnTo>
                <a:lnTo>
                  <a:pt x="0" y="934169"/>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Keyframes And Representative Frames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7019925"/>
            <a:ext cx="15741325" cy="2809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Content-Based Selection</a:t>
            </a:r>
          </a:p>
          <a:p>
            <a:pPr algn="l">
              <a:lnSpc>
                <a:spcPts val="3600"/>
              </a:lnSpc>
            </a:pPr>
            <a:r>
              <a:rPr lang="en-US" sz="3000">
                <a:solidFill>
                  <a:srgbClr val="000000"/>
                </a:solidFill>
                <a:latin typeface="Calibri (MS)"/>
                <a:ea typeface="Calibri (MS)"/>
                <a:cs typeface="Calibri (MS)"/>
                <a:sym typeface="Calibri (MS)"/>
              </a:rPr>
              <a:t>A more informative strategy selects frames when: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The scene changes substantially.</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 large amount of motion occurs.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 new object or event appears.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The visual composition changes significantly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7839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Motion As Data Encoding</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Motion can be used as a visual encoding </a:t>
            </a:r>
            <a:r>
              <a:rPr lang="en-US" sz="3000" dirty="0">
                <a:solidFill>
                  <a:srgbClr val="000000"/>
                </a:solidFill>
                <a:latin typeface="Calibri (MS)"/>
                <a:ea typeface="Calibri (MS)"/>
                <a:cs typeface="Calibri (MS)"/>
                <a:sym typeface="Calibri (MS)"/>
              </a:rPr>
              <a:t>channel in the same way that position, size, or color can encode information.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movement of a visual element can represent an underlying variable such </a:t>
            </a:r>
            <a:r>
              <a:rPr lang="en-US" sz="3000" b="1" dirty="0">
                <a:solidFill>
                  <a:srgbClr val="000000"/>
                </a:solidFill>
                <a:latin typeface="Calibri (MS)"/>
                <a:ea typeface="Calibri (MS)"/>
                <a:cs typeface="Calibri (MS)"/>
                <a:sym typeface="Calibri (MS)"/>
              </a:rPr>
              <a:t>as direction, change, flow, or temporal progression.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Motion is particularly useful when the information itself describes movement or when changes need to attract attention.</a:t>
            </a:r>
          </a:p>
          <a:p>
            <a:pPr algn="l">
              <a:lnSpc>
                <a:spcPts val="3600"/>
              </a:lnSpc>
            </a:pPr>
            <a:r>
              <a:rPr lang="en-US" sz="3000" b="1" dirty="0">
                <a:solidFill>
                  <a:srgbClr val="000000"/>
                </a:solidFill>
                <a:latin typeface="Calibri (MS) Bold"/>
                <a:ea typeface="Calibri (MS) Bold"/>
                <a:cs typeface="Calibri (MS) Bold"/>
                <a:sym typeface="Calibri (MS) Bold"/>
              </a:rPr>
              <a:t>Examples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Direction → Movement direction represents the direction of a phenomenon.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Magnitude → Movement speed can provide a qualitative indication of magnitude.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Temporal change → Movement can represent progression through time.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Grouping → Objects moving together can reveal related data points.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i="1" dirty="0">
                <a:solidFill>
                  <a:srgbClr val="000000"/>
                </a:solidFill>
                <a:latin typeface="Calibri (MS) Italics"/>
                <a:ea typeface="Calibri (MS) Italics"/>
                <a:cs typeface="Calibri (MS) Italics"/>
                <a:sym typeface="Calibri (MS) Italics"/>
              </a:rPr>
              <a:t>Perceptual Limitation: </a:t>
            </a:r>
            <a:r>
              <a:rPr lang="en-US" sz="3000" dirty="0">
                <a:solidFill>
                  <a:srgbClr val="000000"/>
                </a:solidFill>
                <a:latin typeface="Calibri (MS)"/>
                <a:ea typeface="Calibri (MS)"/>
                <a:cs typeface="Calibri (MS)"/>
                <a:sym typeface="Calibri (MS)"/>
              </a:rPr>
              <a:t>Ware notes that </a:t>
            </a:r>
            <a:r>
              <a:rPr lang="en-US" sz="3000" b="1" dirty="0">
                <a:solidFill>
                  <a:srgbClr val="000000"/>
                </a:solidFill>
                <a:latin typeface="Calibri (MS)"/>
                <a:ea typeface="Calibri (MS)"/>
                <a:cs typeface="Calibri (MS)"/>
                <a:sym typeface="Calibri (MS)"/>
              </a:rPr>
              <a:t>animation can communicate direction very effectively, but is comparatively poor for making precise judgments of speed</a:t>
            </a:r>
            <a:r>
              <a:rPr lang="en-US" sz="3000" dirty="0">
                <a:solidFill>
                  <a:srgbClr val="000000"/>
                </a:solidFill>
                <a:latin typeface="Calibri (MS)"/>
                <a:ea typeface="Calibri (MS)"/>
                <a:cs typeface="Calibri (MS)"/>
                <a:sym typeface="Calibri (MS)"/>
              </a:rPr>
              <a:t>.</a:t>
            </a:r>
          </a:p>
          <a:p>
            <a:pPr algn="l">
              <a:lnSpc>
                <a:spcPts val="3600"/>
              </a:lnSpc>
            </a:pPr>
            <a:r>
              <a:rPr lang="en-US" sz="3000" dirty="0">
                <a:solidFill>
                  <a:srgbClr val="000000"/>
                </a:solidFill>
                <a:latin typeface="Calibri (MS)"/>
                <a:ea typeface="Calibri (MS)"/>
                <a:cs typeface="Calibri (MS)"/>
                <a:sym typeface="Calibri (MS)"/>
              </a:rPr>
              <a:t>Therefore, use </a:t>
            </a:r>
            <a:r>
              <a:rPr lang="en-US" sz="3000" b="1" dirty="0">
                <a:solidFill>
                  <a:srgbClr val="000000"/>
                </a:solidFill>
                <a:latin typeface="Calibri (MS)"/>
                <a:ea typeface="Calibri (MS)"/>
                <a:cs typeface="Calibri (MS)"/>
                <a:sym typeface="Calibri (MS)"/>
              </a:rPr>
              <a:t>motion</a:t>
            </a:r>
            <a:r>
              <a:rPr lang="en-US" sz="3000" dirty="0">
                <a:solidFill>
                  <a:srgbClr val="000000"/>
                </a:solidFill>
                <a:latin typeface="Calibri (MS)"/>
                <a:ea typeface="Calibri (MS)"/>
                <a:cs typeface="Calibri (MS)"/>
                <a:sym typeface="Calibri (MS)"/>
              </a:rPr>
              <a:t> primarily to communicate change and direction, and use another channel when precise quantitative comparison is required.</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Motion As A Visualization Channel</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3927799" y="2581668"/>
            <a:ext cx="3912439" cy="907588"/>
          </a:xfrm>
          <a:custGeom>
            <a:avLst/>
            <a:gdLst/>
            <a:ahLst/>
            <a:cxnLst/>
            <a:rect l="l" t="t" r="r" b="b"/>
            <a:pathLst>
              <a:path w="3912439" h="907588">
                <a:moveTo>
                  <a:pt x="0" y="0"/>
                </a:moveTo>
                <a:lnTo>
                  <a:pt x="3912439" y="0"/>
                </a:lnTo>
                <a:lnTo>
                  <a:pt x="3912439" y="907588"/>
                </a:lnTo>
                <a:lnTo>
                  <a:pt x="0" y="907588"/>
                </a:lnTo>
                <a:lnTo>
                  <a:pt x="0" y="0"/>
                </a:lnTo>
                <a:close/>
              </a:path>
            </a:pathLst>
          </a:custGeom>
          <a:blipFill>
            <a:blip r:embed="rId3"/>
            <a:stretch>
              <a:fillRect/>
            </a:stretch>
          </a:blipFill>
        </p:spPr>
        <p:txBody>
          <a:bodyPr/>
          <a:lstStyle/>
          <a:p>
            <a:endParaRPr lang="en-IN"/>
          </a:p>
        </p:txBody>
      </p:sp>
      <p:sp>
        <p:nvSpPr>
          <p:cNvPr id="6" name="Freeform 6"/>
          <p:cNvSpPr/>
          <p:nvPr/>
        </p:nvSpPr>
        <p:spPr>
          <a:xfrm>
            <a:off x="6180177" y="3636997"/>
            <a:ext cx="5059417" cy="761876"/>
          </a:xfrm>
          <a:custGeom>
            <a:avLst/>
            <a:gdLst/>
            <a:ahLst/>
            <a:cxnLst/>
            <a:rect l="l" t="t" r="r" b="b"/>
            <a:pathLst>
              <a:path w="5059417" h="761876">
                <a:moveTo>
                  <a:pt x="0" y="0"/>
                </a:moveTo>
                <a:lnTo>
                  <a:pt x="5059417" y="0"/>
                </a:lnTo>
                <a:lnTo>
                  <a:pt x="5059417" y="761876"/>
                </a:lnTo>
                <a:lnTo>
                  <a:pt x="0" y="761876"/>
                </a:lnTo>
                <a:lnTo>
                  <a:pt x="0" y="0"/>
                </a:lnTo>
                <a:close/>
              </a:path>
            </a:pathLst>
          </a:custGeom>
          <a:blipFill>
            <a:blip r:embed="rId4"/>
            <a:stretch>
              <a:fillRect t="-13882" r="-227" b="-16591"/>
            </a:stretch>
          </a:blipFill>
        </p:spPr>
        <p:txBody>
          <a:bodyPr/>
          <a:lstStyle/>
          <a:p>
            <a:endParaRPr lang="en-IN"/>
          </a:p>
        </p:txBody>
      </p:sp>
      <p:sp>
        <p:nvSpPr>
          <p:cNvPr id="7" name="Freeform 7"/>
          <p:cNvSpPr/>
          <p:nvPr/>
        </p:nvSpPr>
        <p:spPr>
          <a:xfrm>
            <a:off x="9844787" y="4842567"/>
            <a:ext cx="5974740" cy="890970"/>
          </a:xfrm>
          <a:custGeom>
            <a:avLst/>
            <a:gdLst/>
            <a:ahLst/>
            <a:cxnLst/>
            <a:rect l="l" t="t" r="r" b="b"/>
            <a:pathLst>
              <a:path w="5974740" h="890970">
                <a:moveTo>
                  <a:pt x="0" y="0"/>
                </a:moveTo>
                <a:lnTo>
                  <a:pt x="5974740" y="0"/>
                </a:lnTo>
                <a:lnTo>
                  <a:pt x="5974740" y="890970"/>
                </a:lnTo>
                <a:lnTo>
                  <a:pt x="0" y="890970"/>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681104" y="2048268"/>
            <a:ext cx="15741325"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 motion trajectory represents the path followed by an object through space over time.</a:t>
            </a:r>
          </a:p>
        </p:txBody>
      </p:sp>
      <p:sp>
        <p:nvSpPr>
          <p:cNvPr id="9" name="TextBox 9"/>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Motion Trajectories</a:t>
            </a:r>
          </a:p>
        </p:txBody>
      </p:sp>
      <p:sp>
        <p:nvSpPr>
          <p:cNvPr id="10" name="TextBox 10"/>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1" name="TextBox 11"/>
          <p:cNvSpPr txBox="1"/>
          <p:nvPr/>
        </p:nvSpPr>
        <p:spPr>
          <a:xfrm>
            <a:off x="681104" y="2729041"/>
            <a:ext cx="3246695" cy="923330"/>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For a moving object (2D):</a:t>
            </a:r>
          </a:p>
        </p:txBody>
      </p:sp>
      <p:sp>
        <p:nvSpPr>
          <p:cNvPr id="12" name="TextBox 12"/>
          <p:cNvSpPr txBox="1"/>
          <p:nvPr/>
        </p:nvSpPr>
        <p:spPr>
          <a:xfrm>
            <a:off x="681104" y="3679756"/>
            <a:ext cx="5499073" cy="923330"/>
          </a:xfrm>
          <a:prstGeom prst="rect">
            <a:avLst/>
          </a:prstGeom>
        </p:spPr>
        <p:txBody>
          <a:bodyPr lIns="0" tIns="0" rIns="0" bIns="0" rtlCol="0" anchor="t">
            <a:spAutoFit/>
          </a:bodyPr>
          <a:lstStyle/>
          <a:p>
            <a:pPr algn="l">
              <a:lnSpc>
                <a:spcPts val="3600"/>
              </a:lnSpc>
            </a:pPr>
            <a:r>
              <a:rPr lang="en-US" sz="3000" dirty="0">
                <a:solidFill>
                  <a:srgbClr val="000000"/>
                </a:solidFill>
                <a:latin typeface="Calibri (MS)"/>
                <a:ea typeface="Calibri (MS)"/>
                <a:cs typeface="Calibri (MS)"/>
                <a:sym typeface="Calibri (MS)"/>
              </a:rPr>
              <a:t>For a three-dimensional trajectory (3D):</a:t>
            </a:r>
          </a:p>
        </p:txBody>
      </p:sp>
      <p:sp>
        <p:nvSpPr>
          <p:cNvPr id="13" name="TextBox 13"/>
          <p:cNvSpPr txBox="1"/>
          <p:nvPr/>
        </p:nvSpPr>
        <p:spPr>
          <a:xfrm>
            <a:off x="681104" y="4551273"/>
            <a:ext cx="8961209" cy="41814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2D Trajectory</a:t>
            </a:r>
          </a:p>
          <a:p>
            <a:pPr algn="l">
              <a:lnSpc>
                <a:spcPts val="3600"/>
              </a:lnSpc>
            </a:pPr>
            <a:r>
              <a:rPr lang="en-US" sz="3000">
                <a:solidFill>
                  <a:srgbClr val="000000"/>
                </a:solidFill>
                <a:latin typeface="Calibri (MS)"/>
                <a:ea typeface="Calibri (MS)"/>
                <a:cs typeface="Calibri (MS)"/>
                <a:sym typeface="Calibri (MS)"/>
              </a:rPr>
              <a:t>A trajectory can be represented as a connected sequence:</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a:solidFill>
                  <a:srgbClr val="000000"/>
                </a:solidFill>
                <a:latin typeface="Calibri (MS)"/>
                <a:ea typeface="Calibri (MS)"/>
                <a:cs typeface="Calibri (MS)"/>
                <a:sym typeface="Calibri (MS)"/>
              </a:rPr>
              <a:t>This allows the viewer to examine:</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Direction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Turning points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Path length</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Relative movement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Repeated movement patterns</a:t>
            </a:r>
          </a:p>
        </p:txBody>
      </p:sp>
      <p:sp>
        <p:nvSpPr>
          <p:cNvPr id="15" name="TextBox 14">
            <a:extLst>
              <a:ext uri="{FF2B5EF4-FFF2-40B4-BE49-F238E27FC236}">
                <a16:creationId xmlns:a16="http://schemas.microsoft.com/office/drawing/2014/main" id="{C5FBF846-2701-625F-8398-8CD2D1FE7EE1}"/>
              </a:ext>
            </a:extLst>
          </p:cNvPr>
          <p:cNvSpPr txBox="1"/>
          <p:nvPr/>
        </p:nvSpPr>
        <p:spPr>
          <a:xfrm>
            <a:off x="7620000" y="6702120"/>
            <a:ext cx="9153144" cy="1077218"/>
          </a:xfrm>
          <a:prstGeom prst="rect">
            <a:avLst/>
          </a:prstGeom>
          <a:noFill/>
        </p:spPr>
        <p:txBody>
          <a:bodyPr wrap="square">
            <a:spAutoFit/>
          </a:bodyPr>
          <a:lstStyle/>
          <a:p>
            <a:r>
              <a:rPr lang="en-IN" sz="3200" dirty="0"/>
              <a:t>Rather than showing an object's position at just one instant, a trajectory captures the </a:t>
            </a:r>
            <a:r>
              <a:rPr lang="en-IN" sz="3200" i="1" dirty="0"/>
              <a:t>entire path</a:t>
            </a:r>
            <a:r>
              <a:rPr lang="en-IN" sz="3200" dirty="0"/>
              <a:t> it follows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5" name="TextBox 5"/>
          <p:cNvSpPr txBox="1"/>
          <p:nvPr/>
        </p:nvSpPr>
        <p:spPr>
          <a:xfrm>
            <a:off x="681104" y="2048268"/>
            <a:ext cx="15741325" cy="5095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3D Trajectories</a:t>
            </a:r>
          </a:p>
          <a:p>
            <a:pPr algn="l">
              <a:lnSpc>
                <a:spcPts val="3600"/>
              </a:lnSpc>
            </a:pPr>
            <a:r>
              <a:rPr lang="en-US" sz="3000" dirty="0">
                <a:solidFill>
                  <a:srgbClr val="000000"/>
                </a:solidFill>
                <a:latin typeface="Calibri (MS)"/>
                <a:ea typeface="Calibri (MS)"/>
                <a:cs typeface="Calibri (MS)"/>
                <a:sym typeface="Calibri (MS)"/>
              </a:rPr>
              <a:t>Ware discusses </a:t>
            </a:r>
            <a:r>
              <a:rPr lang="en-US" sz="3000" b="1" dirty="0">
                <a:solidFill>
                  <a:srgbClr val="000000"/>
                </a:solidFill>
                <a:latin typeface="Calibri (MS)"/>
                <a:ea typeface="Calibri (MS)"/>
                <a:cs typeface="Calibri (MS)"/>
                <a:sym typeface="Calibri (MS)"/>
              </a:rPr>
              <a:t>trajectories of particles, animals, and vehicles through space and recommends using shaded tubes or box-like extrusions with periodic bands to provide orientation cues.</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Visualization Examples: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Vehicle movement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Aircraft trajectories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Animal tracking</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Particle movement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Human motion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Geospatial movement</a:t>
            </a:r>
          </a:p>
        </p:txBody>
      </p:sp>
      <p:sp>
        <p:nvSpPr>
          <p:cNvPr id="6" name="Freeform 6"/>
          <p:cNvSpPr/>
          <p:nvPr/>
        </p:nvSpPr>
        <p:spPr>
          <a:xfrm>
            <a:off x="5875608" y="4774612"/>
            <a:ext cx="6068125" cy="3728715"/>
          </a:xfrm>
          <a:custGeom>
            <a:avLst/>
            <a:gdLst/>
            <a:ahLst/>
            <a:cxnLst/>
            <a:rect l="l" t="t" r="r" b="b"/>
            <a:pathLst>
              <a:path w="6068125" h="3728715">
                <a:moveTo>
                  <a:pt x="0" y="0"/>
                </a:moveTo>
                <a:lnTo>
                  <a:pt x="6068125" y="0"/>
                </a:lnTo>
                <a:lnTo>
                  <a:pt x="6068125" y="3728715"/>
                </a:lnTo>
                <a:lnTo>
                  <a:pt x="0" y="3728715"/>
                </a:lnTo>
                <a:lnTo>
                  <a:pt x="0" y="0"/>
                </a:lnTo>
                <a:close/>
              </a:path>
            </a:pathLst>
          </a:custGeom>
          <a:blipFill>
            <a:blip r:embed="rId4"/>
            <a:stretch>
              <a:fillRect/>
            </a:stretch>
          </a:blipFill>
        </p:spPr>
        <p:txBody>
          <a:bodyPr/>
          <a:lstStyle/>
          <a:p>
            <a:endParaRPr lang="en-IN"/>
          </a:p>
        </p:txBody>
      </p:sp>
      <p:sp>
        <p:nvSpPr>
          <p:cNvPr id="7" name="Freeform 7"/>
          <p:cNvSpPr/>
          <p:nvPr/>
        </p:nvSpPr>
        <p:spPr>
          <a:xfrm>
            <a:off x="12466197" y="4774612"/>
            <a:ext cx="5422810" cy="4061239"/>
          </a:xfrm>
          <a:custGeom>
            <a:avLst/>
            <a:gdLst/>
            <a:ahLst/>
            <a:cxnLst/>
            <a:rect l="l" t="t" r="r" b="b"/>
            <a:pathLst>
              <a:path w="5422810" h="4061239">
                <a:moveTo>
                  <a:pt x="0" y="0"/>
                </a:moveTo>
                <a:lnTo>
                  <a:pt x="5422810" y="0"/>
                </a:lnTo>
                <a:lnTo>
                  <a:pt x="5422810" y="4061238"/>
                </a:lnTo>
                <a:lnTo>
                  <a:pt x="0" y="4061238"/>
                </a:lnTo>
                <a:lnTo>
                  <a:pt x="0" y="0"/>
                </a:lnTo>
                <a:close/>
              </a:path>
            </a:pathLst>
          </a:custGeom>
          <a:blipFill>
            <a:blip r:embed="rId5"/>
            <a:stretch>
              <a:fillRect l="-20431" t="-36196" r="-17273" b="-21407"/>
            </a:stretch>
          </a:blipFill>
        </p:spPr>
        <p:txBody>
          <a:bodyPr/>
          <a:lstStyle/>
          <a:p>
            <a:endParaRPr lang="en-IN"/>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Motion Trajectories</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2795716"/>
            <a:ext cx="11785093" cy="6913894"/>
          </a:xfrm>
          <a:custGeom>
            <a:avLst/>
            <a:gdLst/>
            <a:ahLst/>
            <a:cxnLst/>
            <a:rect l="l" t="t" r="r" b="b"/>
            <a:pathLst>
              <a:path w="11785093" h="6913894">
                <a:moveTo>
                  <a:pt x="0" y="0"/>
                </a:moveTo>
                <a:lnTo>
                  <a:pt x="11785093" y="0"/>
                </a:lnTo>
                <a:lnTo>
                  <a:pt x="11785093" y="6913894"/>
                </a:lnTo>
                <a:lnTo>
                  <a:pt x="0" y="6913894"/>
                </a:lnTo>
                <a:lnTo>
                  <a:pt x="0" y="0"/>
                </a:lnTo>
                <a:close/>
              </a:path>
            </a:pathLst>
          </a:custGeom>
          <a:blipFill>
            <a:blip r:embed="rId3"/>
            <a:stretch>
              <a:fillRect l="-953"/>
            </a:stretch>
          </a:blipFill>
        </p:spPr>
        <p:txBody>
          <a:bodyPr/>
          <a:lstStyle/>
          <a:p>
            <a:endParaRPr lang="en-IN"/>
          </a:p>
        </p:txBody>
      </p:sp>
      <p:sp>
        <p:nvSpPr>
          <p:cNvPr id="6" name="TextBox 6"/>
          <p:cNvSpPr txBox="1"/>
          <p:nvPr/>
        </p:nvSpPr>
        <p:spPr>
          <a:xfrm>
            <a:off x="681104" y="2048268"/>
            <a:ext cx="15741325"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Optical flow describes the apparent motion of visual patterns between consecutive image frames.</a:t>
            </a:r>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Optical Flow: Concept And Motion Vectors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5095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Optical Flow Visualization</a:t>
            </a:r>
          </a:p>
          <a:p>
            <a:pPr algn="l">
              <a:lnSpc>
                <a:spcPts val="3600"/>
              </a:lnSpc>
            </a:pPr>
            <a:r>
              <a:rPr lang="en-US" sz="3000">
                <a:solidFill>
                  <a:srgbClr val="000000"/>
                </a:solidFill>
                <a:latin typeface="Calibri (MS)"/>
                <a:ea typeface="Calibri (MS)"/>
                <a:cs typeface="Calibri (MS)"/>
                <a:sym typeface="Calibri (MS)"/>
              </a:rPr>
              <a:t>A common representation uses arrows or short line segments:</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Direction → direction of apparent motion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Length → magnitude of displacement</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Position → location of the moving pattern</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Example:</a:t>
            </a:r>
          </a:p>
          <a:p>
            <a:pPr algn="l">
              <a:lnSpc>
                <a:spcPts val="3600"/>
              </a:lnSpc>
            </a:pPr>
            <a:r>
              <a:rPr lang="en-US" sz="3000">
                <a:solidFill>
                  <a:srgbClr val="000000"/>
                </a:solidFill>
                <a:latin typeface="Calibri (MS)"/>
                <a:ea typeface="Calibri (MS)"/>
                <a:cs typeface="Calibri (MS)"/>
                <a:sym typeface="Calibri (MS)"/>
              </a:rPr>
              <a:t>If a feature moves from: (120, 80) → (126, 83)</a:t>
            </a:r>
          </a:p>
          <a:p>
            <a:pPr algn="l">
              <a:lnSpc>
                <a:spcPts val="3600"/>
              </a:lnSpc>
            </a:pPr>
            <a:r>
              <a:rPr lang="en-US" sz="3000">
                <a:solidFill>
                  <a:srgbClr val="000000"/>
                </a:solidFill>
                <a:latin typeface="Calibri (MS)"/>
                <a:ea typeface="Calibri (MS)"/>
                <a:cs typeface="Calibri (MS)"/>
                <a:sym typeface="Calibri (MS)"/>
              </a:rPr>
              <a:t>Then: </a:t>
            </a:r>
            <a:r>
              <a:rPr lang="en-US" sz="3000" i="1">
                <a:solidFill>
                  <a:srgbClr val="000000"/>
                </a:solidFill>
                <a:latin typeface="Calibri (MS) Italics"/>
                <a:ea typeface="Calibri (MS) Italics"/>
                <a:cs typeface="Calibri (MS) Italics"/>
                <a:sym typeface="Calibri (MS) Italics"/>
              </a:rPr>
              <a:t>u = 126 − 120 = 6,  v = 83 − 80 = 3</a:t>
            </a:r>
          </a:p>
          <a:p>
            <a:pPr algn="l">
              <a:lnSpc>
                <a:spcPts val="3600"/>
              </a:lnSpc>
            </a:pPr>
            <a:r>
              <a:rPr lang="en-US" sz="3000">
                <a:solidFill>
                  <a:srgbClr val="000000"/>
                </a:solidFill>
                <a:latin typeface="Calibri (MS)"/>
                <a:ea typeface="Calibri (MS)"/>
                <a:cs typeface="Calibri (MS)"/>
                <a:sym typeface="Calibri (MS)"/>
              </a:rPr>
              <a:t>Therefore, the motion vector is (6, 3)</a:t>
            </a:r>
          </a:p>
          <a:p>
            <a:pPr algn="l">
              <a:lnSpc>
                <a:spcPts val="3600"/>
              </a:lnSpc>
            </a:pPr>
            <a:r>
              <a:rPr lang="en-US" sz="3000">
                <a:solidFill>
                  <a:srgbClr val="000000"/>
                </a:solidFill>
                <a:latin typeface="Calibri (MS)"/>
                <a:ea typeface="Calibri (MS)"/>
                <a:cs typeface="Calibri (MS)"/>
                <a:sym typeface="Calibri (MS)"/>
              </a:rPr>
              <a:t>Its magnitude is:</a:t>
            </a:r>
          </a:p>
        </p:txBody>
      </p:sp>
      <p:sp>
        <p:nvSpPr>
          <p:cNvPr id="6" name="Freeform 6"/>
          <p:cNvSpPr/>
          <p:nvPr/>
        </p:nvSpPr>
        <p:spPr>
          <a:xfrm>
            <a:off x="681104" y="7201293"/>
            <a:ext cx="7507245" cy="1007822"/>
          </a:xfrm>
          <a:custGeom>
            <a:avLst/>
            <a:gdLst/>
            <a:ahLst/>
            <a:cxnLst/>
            <a:rect l="l" t="t" r="r" b="b"/>
            <a:pathLst>
              <a:path w="7507245" h="1007822">
                <a:moveTo>
                  <a:pt x="0" y="0"/>
                </a:moveTo>
                <a:lnTo>
                  <a:pt x="7507245" y="0"/>
                </a:lnTo>
                <a:lnTo>
                  <a:pt x="7507245" y="1007822"/>
                </a:lnTo>
                <a:lnTo>
                  <a:pt x="0" y="1007822"/>
                </a:lnTo>
                <a:lnTo>
                  <a:pt x="0" y="0"/>
                </a:lnTo>
                <a:close/>
              </a:path>
            </a:pathLst>
          </a:custGeom>
          <a:blipFill>
            <a:blip r:embed="rId3"/>
            <a:stretch>
              <a:fillRect/>
            </a:stretch>
          </a:blipFill>
        </p:spPr>
        <p:txBody>
          <a:bodyPr/>
          <a:lstStyle/>
          <a:p>
            <a:endParaRPr lang="en-IN"/>
          </a:p>
        </p:txBody>
      </p:sp>
      <p:sp>
        <p:nvSpPr>
          <p:cNvPr id="7" name="Freeform 7"/>
          <p:cNvSpPr/>
          <p:nvPr/>
        </p:nvSpPr>
        <p:spPr>
          <a:xfrm>
            <a:off x="9660934" y="3052891"/>
            <a:ext cx="8228074" cy="3699996"/>
          </a:xfrm>
          <a:custGeom>
            <a:avLst/>
            <a:gdLst/>
            <a:ahLst/>
            <a:cxnLst/>
            <a:rect l="l" t="t" r="r" b="b"/>
            <a:pathLst>
              <a:path w="8228074" h="3699996">
                <a:moveTo>
                  <a:pt x="0" y="0"/>
                </a:moveTo>
                <a:lnTo>
                  <a:pt x="8228073" y="0"/>
                </a:lnTo>
                <a:lnTo>
                  <a:pt x="8228073" y="3699996"/>
                </a:lnTo>
                <a:lnTo>
                  <a:pt x="0" y="3699996"/>
                </a:lnTo>
                <a:lnTo>
                  <a:pt x="0" y="0"/>
                </a:lnTo>
                <a:close/>
              </a:path>
            </a:pathLst>
          </a:custGeom>
          <a:blipFill>
            <a:blip r:embed="rId4"/>
            <a:stretch>
              <a:fillRect l="-1607" t="-46575" r="-53479"/>
            </a:stretch>
          </a:blipFill>
        </p:spPr>
        <p:txBody>
          <a:bodyPr/>
          <a:lstStyle/>
          <a:p>
            <a:endParaRPr lang="en-IN"/>
          </a:p>
        </p:txBody>
      </p:sp>
      <p:sp>
        <p:nvSpPr>
          <p:cNvPr id="8" name="Freeform 8"/>
          <p:cNvSpPr/>
          <p:nvPr/>
        </p:nvSpPr>
        <p:spPr>
          <a:xfrm>
            <a:off x="12816123" y="6752887"/>
            <a:ext cx="3813470" cy="3420906"/>
          </a:xfrm>
          <a:custGeom>
            <a:avLst/>
            <a:gdLst/>
            <a:ahLst/>
            <a:cxnLst/>
            <a:rect l="l" t="t" r="r" b="b"/>
            <a:pathLst>
              <a:path w="3813470" h="3420906">
                <a:moveTo>
                  <a:pt x="0" y="0"/>
                </a:moveTo>
                <a:lnTo>
                  <a:pt x="3813470" y="0"/>
                </a:lnTo>
                <a:lnTo>
                  <a:pt x="3813470" y="3420906"/>
                </a:lnTo>
                <a:lnTo>
                  <a:pt x="0" y="3420906"/>
                </a:lnTo>
                <a:lnTo>
                  <a:pt x="0" y="0"/>
                </a:lnTo>
                <a:close/>
              </a:path>
            </a:pathLst>
          </a:custGeom>
          <a:blipFill>
            <a:blip r:embed="rId4"/>
            <a:stretch>
              <a:fillRect l="-211288" t="-50310" r="-5976"/>
            </a:stretch>
          </a:blipFill>
        </p:spPr>
        <p:txBody>
          <a:bodyPr/>
          <a:lstStyle/>
          <a:p>
            <a:endParaRPr lang="en-IN"/>
          </a:p>
        </p:txBody>
      </p:sp>
      <p:sp>
        <p:nvSpPr>
          <p:cNvPr id="9" name="Freeform 9"/>
          <p:cNvSpPr/>
          <p:nvPr/>
        </p:nvSpPr>
        <p:spPr>
          <a:xfrm>
            <a:off x="10328737" y="7519612"/>
            <a:ext cx="2137461" cy="1379007"/>
          </a:xfrm>
          <a:custGeom>
            <a:avLst/>
            <a:gdLst/>
            <a:ahLst/>
            <a:cxnLst/>
            <a:rect l="l" t="t" r="r" b="b"/>
            <a:pathLst>
              <a:path w="2137461" h="1379007">
                <a:moveTo>
                  <a:pt x="0" y="0"/>
                </a:moveTo>
                <a:lnTo>
                  <a:pt x="2137460" y="0"/>
                </a:lnTo>
                <a:lnTo>
                  <a:pt x="2137460" y="1379006"/>
                </a:lnTo>
                <a:lnTo>
                  <a:pt x="0" y="1379006"/>
                </a:lnTo>
                <a:lnTo>
                  <a:pt x="0" y="0"/>
                </a:lnTo>
                <a:close/>
              </a:path>
            </a:pathLst>
          </a:custGeom>
          <a:blipFill>
            <a:blip r:embed="rId4"/>
            <a:stretch>
              <a:fillRect l="-425543" t="-24967" r="-71460" b="-268308"/>
            </a:stretch>
          </a:blipFill>
        </p:spPr>
        <p:txBody>
          <a:bodyPr/>
          <a:lstStyle/>
          <a:p>
            <a:endParaRPr lang="en-IN"/>
          </a:p>
        </p:txBody>
      </p:sp>
      <p:sp>
        <p:nvSpPr>
          <p:cNvPr id="10" name="TextBox 10"/>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Optical Flow: Concept And Motion Vectors</a:t>
            </a:r>
          </a:p>
        </p:txBody>
      </p:sp>
      <p:sp>
        <p:nvSpPr>
          <p:cNvPr id="11" name="TextBox 11"/>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2" name="TextBox 12"/>
          <p:cNvSpPr txBox="1"/>
          <p:nvPr/>
        </p:nvSpPr>
        <p:spPr>
          <a:xfrm>
            <a:off x="690134" y="9735643"/>
            <a:ext cx="5168940" cy="438150"/>
          </a:xfrm>
          <a:prstGeom prst="rect">
            <a:avLst/>
          </a:prstGeom>
        </p:spPr>
        <p:txBody>
          <a:bodyPr lIns="0" tIns="0" rIns="0" bIns="0" rtlCol="0" anchor="t">
            <a:spAutoFit/>
          </a:bodyPr>
          <a:lstStyle/>
          <a:p>
            <a:pPr algn="l">
              <a:lnSpc>
                <a:spcPts val="3000"/>
              </a:lnSpc>
            </a:pPr>
            <a:r>
              <a:rPr lang="en-US" sz="2500" i="1" dirty="0">
                <a:solidFill>
                  <a:srgbClr val="000000"/>
                </a:solidFill>
                <a:latin typeface="Calibri (MS) Italics"/>
                <a:ea typeface="Calibri (MS) Italics"/>
                <a:cs typeface="Calibri (MS) Italics"/>
                <a:sym typeface="Calibri (MS) Italics"/>
              </a:rPr>
              <a:t>Source: OpenCV documentation</a:t>
            </a:r>
          </a:p>
        </p:txBody>
      </p:sp>
      <p:sp>
        <p:nvSpPr>
          <p:cNvPr id="14" name="TextBox 13">
            <a:extLst>
              <a:ext uri="{FF2B5EF4-FFF2-40B4-BE49-F238E27FC236}">
                <a16:creationId xmlns:a16="http://schemas.microsoft.com/office/drawing/2014/main" id="{FC140985-4734-A077-7E3E-9FC58D4C4270}"/>
              </a:ext>
            </a:extLst>
          </p:cNvPr>
          <p:cNvSpPr txBox="1"/>
          <p:nvPr/>
        </p:nvSpPr>
        <p:spPr>
          <a:xfrm>
            <a:off x="7600482" y="1303467"/>
            <a:ext cx="9153144" cy="369332"/>
          </a:xfrm>
          <a:prstGeom prst="rect">
            <a:avLst/>
          </a:prstGeom>
          <a:noFill/>
        </p:spPr>
        <p:txBody>
          <a:bodyPr wrap="square">
            <a:spAutoFit/>
          </a:bodyPr>
          <a:lstStyle/>
          <a:p>
            <a:r>
              <a:rPr lang="en-IN" b="1" dirty="0"/>
              <a:t>a way of computing and visualizing apparent motion between two consecutive frames of video</a:t>
            </a:r>
          </a:p>
        </p:txBody>
      </p:sp>
      <p:sp>
        <p:nvSpPr>
          <p:cNvPr id="16" name="TextBox 15">
            <a:extLst>
              <a:ext uri="{FF2B5EF4-FFF2-40B4-BE49-F238E27FC236}">
                <a16:creationId xmlns:a16="http://schemas.microsoft.com/office/drawing/2014/main" id="{E80B7BE5-313E-97E0-EABF-4FAF31DE62E7}"/>
              </a:ext>
            </a:extLst>
          </p:cNvPr>
          <p:cNvSpPr txBox="1"/>
          <p:nvPr/>
        </p:nvSpPr>
        <p:spPr>
          <a:xfrm>
            <a:off x="304800" y="8252549"/>
            <a:ext cx="9153144" cy="1477328"/>
          </a:xfrm>
          <a:prstGeom prst="rect">
            <a:avLst/>
          </a:prstGeom>
          <a:noFill/>
        </p:spPr>
        <p:txBody>
          <a:bodyPr wrap="square">
            <a:spAutoFit/>
          </a:bodyPr>
          <a:lstStyle/>
          <a:p>
            <a:r>
              <a:rPr lang="en-IN" dirty="0"/>
              <a:t>Given two frames taken a moment apart (Image 1, Image 2), optical flow estimates, for points across the image, </a:t>
            </a:r>
            <a:r>
              <a:rPr lang="en-IN" i="1" dirty="0"/>
              <a:t>where that point moved to</a:t>
            </a:r>
            <a:r>
              <a:rPr lang="en-IN" dirty="0"/>
              <a:t> in the next frame. Instead of tracking one object's path over many frames (like the trajectory slide), this computes a </a:t>
            </a:r>
            <a:r>
              <a:rPr lang="en-IN" b="1" dirty="0"/>
              <a:t>vector field</a:t>
            </a:r>
            <a:r>
              <a:rPr lang="en-IN" dirty="0"/>
              <a:t> — a motion vector at many points simultaneously, describing the instantaneous apparent motion of the whole scene.</a:t>
            </a:r>
          </a:p>
        </p:txBody>
      </p:sp>
      <p:sp>
        <p:nvSpPr>
          <p:cNvPr id="18" name="TextBox 17">
            <a:extLst>
              <a:ext uri="{FF2B5EF4-FFF2-40B4-BE49-F238E27FC236}">
                <a16:creationId xmlns:a16="http://schemas.microsoft.com/office/drawing/2014/main" id="{24162686-55AD-DBB7-15D9-C58B850119AD}"/>
              </a:ext>
            </a:extLst>
          </p:cNvPr>
          <p:cNvSpPr txBox="1"/>
          <p:nvPr/>
        </p:nvSpPr>
        <p:spPr>
          <a:xfrm>
            <a:off x="4773219" y="6733075"/>
            <a:ext cx="9153144" cy="369332"/>
          </a:xfrm>
          <a:prstGeom prst="rect">
            <a:avLst/>
          </a:prstGeom>
          <a:noFill/>
        </p:spPr>
        <p:txBody>
          <a:bodyPr wrap="square">
            <a:spAutoFit/>
          </a:bodyPr>
          <a:lstStyle/>
          <a:p>
            <a:r>
              <a:rPr lang="en-IN" dirty="0"/>
              <a:t>It moved 6 pixels sideways and 3 pixels up/down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7435902" y="2465781"/>
            <a:ext cx="5991616" cy="659870"/>
          </a:xfrm>
          <a:custGeom>
            <a:avLst/>
            <a:gdLst/>
            <a:ahLst/>
            <a:cxnLst/>
            <a:rect l="l" t="t" r="r" b="b"/>
            <a:pathLst>
              <a:path w="5991616" h="659870">
                <a:moveTo>
                  <a:pt x="0" y="0"/>
                </a:moveTo>
                <a:lnTo>
                  <a:pt x="5991616" y="0"/>
                </a:lnTo>
                <a:lnTo>
                  <a:pt x="5991616" y="659870"/>
                </a:lnTo>
                <a:lnTo>
                  <a:pt x="0" y="659870"/>
                </a:lnTo>
                <a:lnTo>
                  <a:pt x="0" y="0"/>
                </a:lnTo>
                <a:close/>
              </a:path>
            </a:pathLst>
          </a:custGeom>
          <a:blipFill>
            <a:blip r:embed="rId3"/>
            <a:stretch>
              <a:fillRect l="-2522" t="-17763" r="-2898" b="-41773"/>
            </a:stretch>
          </a:blipFill>
        </p:spPr>
        <p:txBody>
          <a:bodyPr/>
          <a:lstStyle/>
          <a:p>
            <a:endParaRPr lang="en-IN"/>
          </a:p>
        </p:txBody>
      </p:sp>
      <p:sp>
        <p:nvSpPr>
          <p:cNvPr id="6" name="TextBox 6"/>
          <p:cNvSpPr txBox="1"/>
          <p:nvPr/>
        </p:nvSpPr>
        <p:spPr>
          <a:xfrm>
            <a:off x="681104" y="2048268"/>
            <a:ext cx="6754798"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Visualizing Optical Flow</a:t>
            </a:r>
          </a:p>
          <a:p>
            <a:pPr algn="l">
              <a:lnSpc>
                <a:spcPts val="3600"/>
              </a:lnSpc>
            </a:pPr>
            <a:r>
              <a:rPr lang="en-US" sz="3000">
                <a:solidFill>
                  <a:srgbClr val="000000"/>
                </a:solidFill>
                <a:latin typeface="Calibri (MS)"/>
                <a:ea typeface="Calibri (MS)"/>
                <a:cs typeface="Calibri (MS)"/>
                <a:sym typeface="Calibri (MS)"/>
              </a:rPr>
              <a:t>An optical-flow field can be represented as:</a:t>
            </a:r>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Optical Flow Visualization And Video Events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3219843"/>
            <a:ext cx="15948489" cy="5095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where every spatial location may have an associated motion vector.</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Common Representations</a:t>
            </a:r>
          </a:p>
          <a:p>
            <a:pPr algn="l">
              <a:lnSpc>
                <a:spcPts val="3600"/>
              </a:lnSpc>
            </a:pPr>
            <a:r>
              <a:rPr lang="en-US" sz="3000">
                <a:solidFill>
                  <a:srgbClr val="000000"/>
                </a:solidFill>
                <a:latin typeface="Calibri (MS)"/>
                <a:ea typeface="Calibri (MS)"/>
                <a:cs typeface="Calibri (MS)"/>
                <a:sym typeface="Calibri (MS)"/>
              </a:rPr>
              <a:t>Vector field</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Arrows show direction and magnitude.</a:t>
            </a:r>
          </a:p>
          <a:p>
            <a:pPr algn="l">
              <a:lnSpc>
                <a:spcPts val="3600"/>
              </a:lnSpc>
            </a:pPr>
            <a:r>
              <a:rPr lang="en-US" sz="3000">
                <a:solidFill>
                  <a:srgbClr val="000000"/>
                </a:solidFill>
                <a:latin typeface="Calibri (MS)"/>
                <a:ea typeface="Calibri (MS)"/>
                <a:cs typeface="Calibri (MS)"/>
                <a:sym typeface="Calibri (MS)"/>
              </a:rPr>
              <a:t>Color-coded flow</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Hue can represent direction.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Intensity or saturation can represent magnitude.</a:t>
            </a:r>
          </a:p>
          <a:p>
            <a:pPr algn="l">
              <a:lnSpc>
                <a:spcPts val="3600"/>
              </a:lnSpc>
            </a:pPr>
            <a:r>
              <a:rPr lang="en-US" sz="3000">
                <a:solidFill>
                  <a:srgbClr val="000000"/>
                </a:solidFill>
                <a:latin typeface="Calibri (MS)"/>
                <a:ea typeface="Calibri (MS)"/>
                <a:cs typeface="Calibri (MS)"/>
                <a:sym typeface="Calibri (MS)"/>
              </a:rPr>
              <a:t>Trajectory integration</a:t>
            </a:r>
          </a:p>
          <a:p>
            <a:pPr marL="647700" lvl="1" indent="-323850" algn="l">
              <a:lnSpc>
                <a:spcPts val="3600"/>
              </a:lnSpc>
              <a:buFont typeface="Arial"/>
              <a:buChar char="•"/>
            </a:pPr>
            <a:r>
              <a:rPr lang="en-US" sz="3000">
                <a:solidFill>
                  <a:srgbClr val="000000"/>
                </a:solidFill>
                <a:latin typeface="Calibri (MS)"/>
                <a:ea typeface="Calibri (MS)"/>
                <a:cs typeface="Calibri (MS)"/>
                <a:sym typeface="Calibri (MS)"/>
              </a:rPr>
              <a:t>Consecutive flow vectors can be accumulated to estimate movement paths.</a:t>
            </a:r>
          </a:p>
          <a:p>
            <a:pPr algn="l">
              <a:lnSpc>
                <a:spcPts val="3600"/>
              </a:lnSpc>
            </a:pPr>
            <a:endParaRPr lang="en-US" sz="3000">
              <a:solidFill>
                <a:srgbClr val="000000"/>
              </a:solidFill>
              <a:latin typeface="Calibri (MS)"/>
              <a:ea typeface="Calibri (MS)"/>
              <a:cs typeface="Calibri (MS)"/>
              <a:sym typeface="Calibri (M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Optical Flow Visualization And Video Events</a:t>
            </a:r>
          </a:p>
        </p:txBody>
      </p:sp>
      <p:sp>
        <p:nvSpPr>
          <p:cNvPr id="6" name="TextBox 6"/>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7" name="TextBox 7"/>
          <p:cNvSpPr txBox="1"/>
          <p:nvPr/>
        </p:nvSpPr>
        <p:spPr>
          <a:xfrm>
            <a:off x="681104" y="2048268"/>
            <a:ext cx="15948489" cy="7839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From Motion To Events</a:t>
            </a:r>
          </a:p>
          <a:p>
            <a:pPr algn="l">
              <a:lnSpc>
                <a:spcPts val="3600"/>
              </a:lnSpc>
            </a:pPr>
            <a:r>
              <a:rPr lang="en-US" sz="3000" dirty="0">
                <a:solidFill>
                  <a:srgbClr val="000000"/>
                </a:solidFill>
                <a:latin typeface="Calibri (MS)"/>
                <a:ea typeface="Calibri (MS)"/>
                <a:cs typeface="Calibri (MS)"/>
                <a:sym typeface="Calibri (MS)"/>
              </a:rPr>
              <a:t>Motion information can also be used to identify events within a video.</a:t>
            </a:r>
          </a:p>
          <a:p>
            <a:pPr algn="l">
              <a:lnSpc>
                <a:spcPts val="3600"/>
              </a:lnSpc>
            </a:pPr>
            <a:r>
              <a:rPr lang="en-US" sz="3000" dirty="0">
                <a:solidFill>
                  <a:srgbClr val="000000"/>
                </a:solidFill>
                <a:latin typeface="Calibri (MS)"/>
                <a:ea typeface="Calibri (MS)"/>
                <a:cs typeface="Calibri (MS)"/>
                <a:sym typeface="Calibri (MS)"/>
              </a:rPr>
              <a:t>Examples include: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Sudden movement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Object entering or leaving a scene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Collision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Crowd formation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Vehicle movement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Scene transition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Periods of inactivity</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Event Visualization</a:t>
            </a:r>
          </a:p>
          <a:p>
            <a:pPr algn="l">
              <a:lnSpc>
                <a:spcPts val="3600"/>
              </a:lnSpc>
            </a:pPr>
            <a:r>
              <a:rPr lang="en-US" sz="3000" dirty="0">
                <a:solidFill>
                  <a:srgbClr val="000000"/>
                </a:solidFill>
                <a:latin typeface="Calibri (MS)"/>
                <a:ea typeface="Calibri (MS)"/>
                <a:cs typeface="Calibri (MS)"/>
                <a:sym typeface="Calibri (MS)"/>
              </a:rPr>
              <a:t>Instead of presenting the entire video:</a:t>
            </a:r>
            <a:endParaRPr lang="en-US" sz="3000" b="1" dirty="0">
              <a:solidFill>
                <a:srgbClr val="000000"/>
              </a:solidFill>
              <a:latin typeface="Calibri (MS)"/>
              <a:ea typeface="Calibri (MS)"/>
              <a:cs typeface="Calibri (MS)"/>
              <a:sym typeface="Calibri (MS)"/>
            </a:endParaRPr>
          </a:p>
          <a:p>
            <a:pPr algn="l">
              <a:lnSpc>
                <a:spcPts val="3600"/>
              </a:lnSpc>
            </a:pPr>
            <a:r>
              <a:rPr lang="en-US" sz="3000" b="1" i="1" dirty="0">
                <a:solidFill>
                  <a:srgbClr val="000000"/>
                </a:solidFill>
                <a:latin typeface="Calibri (MS) Italics"/>
                <a:ea typeface="Calibri (MS) Italics"/>
                <a:cs typeface="Calibri (MS) Italics"/>
                <a:sym typeface="Calibri (MS) Italics"/>
              </a:rPr>
              <a:t>Video → Motion Analysis → Event Detection → Timeline + Representative Frames</a:t>
            </a:r>
          </a:p>
          <a:p>
            <a:pPr algn="l">
              <a:lnSpc>
                <a:spcPts val="3600"/>
              </a:lnSpc>
            </a:pPr>
            <a:r>
              <a:rPr lang="en-US" sz="3000" dirty="0">
                <a:solidFill>
                  <a:srgbClr val="000000"/>
                </a:solidFill>
                <a:latin typeface="Calibri (MS)"/>
                <a:ea typeface="Calibri (MS)"/>
                <a:cs typeface="Calibri (MS)"/>
                <a:sym typeface="Calibri (MS)"/>
              </a:rPr>
              <a:t>This transforms a long sequence of frames into a structured temporal overview. Video visualization should expose temporal structure and meaningful change rather than requiring the viewer to inspect every frame.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2344312" y="4448568"/>
            <a:ext cx="1449763" cy="1126189"/>
          </a:xfrm>
          <a:custGeom>
            <a:avLst/>
            <a:gdLst/>
            <a:ahLst/>
            <a:cxnLst/>
            <a:rect l="l" t="t" r="r" b="b"/>
            <a:pathLst>
              <a:path w="1449763" h="1126189">
                <a:moveTo>
                  <a:pt x="0" y="0"/>
                </a:moveTo>
                <a:lnTo>
                  <a:pt x="1449762" y="0"/>
                </a:lnTo>
                <a:lnTo>
                  <a:pt x="1449762" y="1126189"/>
                </a:lnTo>
                <a:lnTo>
                  <a:pt x="0" y="1126189"/>
                </a:lnTo>
                <a:lnTo>
                  <a:pt x="0" y="0"/>
                </a:lnTo>
                <a:close/>
              </a:path>
            </a:pathLst>
          </a:custGeom>
          <a:blipFill>
            <a:blip r:embed="rId3"/>
            <a:stretch>
              <a:fillRect l="-14882" t="-12804" b="-5762"/>
            </a:stretch>
          </a:blipFill>
        </p:spPr>
        <p:txBody>
          <a:bodyPr/>
          <a:lstStyle/>
          <a:p>
            <a:endParaRPr lang="en-IN"/>
          </a:p>
        </p:txBody>
      </p:sp>
      <p:sp>
        <p:nvSpPr>
          <p:cNvPr id="6" name="Freeform 6"/>
          <p:cNvSpPr/>
          <p:nvPr/>
        </p:nvSpPr>
        <p:spPr>
          <a:xfrm>
            <a:off x="2195988" y="7060657"/>
            <a:ext cx="4635045" cy="775767"/>
          </a:xfrm>
          <a:custGeom>
            <a:avLst/>
            <a:gdLst/>
            <a:ahLst/>
            <a:cxnLst/>
            <a:rect l="l" t="t" r="r" b="b"/>
            <a:pathLst>
              <a:path w="4635045" h="775767">
                <a:moveTo>
                  <a:pt x="0" y="0"/>
                </a:moveTo>
                <a:lnTo>
                  <a:pt x="4635046" y="0"/>
                </a:lnTo>
                <a:lnTo>
                  <a:pt x="4635046" y="775766"/>
                </a:lnTo>
                <a:lnTo>
                  <a:pt x="0" y="775766"/>
                </a:lnTo>
                <a:lnTo>
                  <a:pt x="0" y="0"/>
                </a:lnTo>
                <a:close/>
              </a:path>
            </a:pathLst>
          </a:custGeom>
          <a:blipFill>
            <a:blip r:embed="rId4"/>
            <a:stretch>
              <a:fillRect l="-6175"/>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Visualization: Numericals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2048268"/>
            <a:ext cx="6732127" cy="2352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1) Frame Count</a:t>
            </a:r>
          </a:p>
          <a:p>
            <a:pPr algn="l">
              <a:lnSpc>
                <a:spcPts val="3600"/>
              </a:lnSpc>
            </a:pPr>
            <a:r>
              <a:rPr lang="en-US" sz="3000">
                <a:solidFill>
                  <a:srgbClr val="000000"/>
                </a:solidFill>
                <a:latin typeface="Calibri (MS)"/>
                <a:ea typeface="Calibri (MS)"/>
                <a:cs typeface="Calibri (MS)"/>
                <a:sym typeface="Calibri (MS)"/>
              </a:rPr>
              <a:t>Formula: </a:t>
            </a:r>
            <a:r>
              <a:rPr lang="en-US" sz="3000" i="1">
                <a:solidFill>
                  <a:srgbClr val="000000"/>
                </a:solidFill>
                <a:latin typeface="Calibri (MS) Italics"/>
                <a:ea typeface="Calibri (MS) Italics"/>
                <a:cs typeface="Calibri (MS) Italics"/>
                <a:sym typeface="Calibri (MS) Italics"/>
              </a:rPr>
              <a:t>N = fT</a:t>
            </a:r>
          </a:p>
          <a:p>
            <a:pPr algn="l">
              <a:lnSpc>
                <a:spcPts val="3600"/>
              </a:lnSpc>
            </a:pPr>
            <a:r>
              <a:rPr lang="en-US" sz="3000">
                <a:solidFill>
                  <a:srgbClr val="000000"/>
                </a:solidFill>
                <a:latin typeface="Calibri (MS)"/>
                <a:ea typeface="Calibri (MS)"/>
                <a:cs typeface="Calibri (MS)"/>
                <a:sym typeface="Calibri (MS)"/>
              </a:rPr>
              <a:t>Example: 30 fps × 120 s = 3,600 frames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2) Frame–Time Conversion</a:t>
            </a:r>
          </a:p>
        </p:txBody>
      </p:sp>
      <p:sp>
        <p:nvSpPr>
          <p:cNvPr id="10" name="TextBox 10"/>
          <p:cNvSpPr txBox="1"/>
          <p:nvPr/>
        </p:nvSpPr>
        <p:spPr>
          <a:xfrm>
            <a:off x="681104" y="7153265"/>
            <a:ext cx="1514884"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Formula:</a:t>
            </a:r>
          </a:p>
        </p:txBody>
      </p:sp>
      <p:sp>
        <p:nvSpPr>
          <p:cNvPr id="11" name="TextBox 11"/>
          <p:cNvSpPr txBox="1"/>
          <p:nvPr/>
        </p:nvSpPr>
        <p:spPr>
          <a:xfrm>
            <a:off x="681104" y="5565232"/>
            <a:ext cx="6732127" cy="14382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Example: frame 150 at 30 fps = 5 seconds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3) Motion Vector</a:t>
            </a:r>
          </a:p>
        </p:txBody>
      </p:sp>
      <p:sp>
        <p:nvSpPr>
          <p:cNvPr id="12" name="TextBox 12"/>
          <p:cNvSpPr txBox="1"/>
          <p:nvPr/>
        </p:nvSpPr>
        <p:spPr>
          <a:xfrm>
            <a:off x="681104" y="4705350"/>
            <a:ext cx="1514884"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Formula:</a:t>
            </a:r>
          </a:p>
        </p:txBody>
      </p:sp>
      <p:sp>
        <p:nvSpPr>
          <p:cNvPr id="13" name="TextBox 13"/>
          <p:cNvSpPr txBox="1"/>
          <p:nvPr/>
        </p:nvSpPr>
        <p:spPr>
          <a:xfrm>
            <a:off x="681104" y="7922148"/>
            <a:ext cx="6732127" cy="981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Example: (120, 80) → (126, 83)</a:t>
            </a:r>
          </a:p>
          <a:p>
            <a:pPr algn="l">
              <a:lnSpc>
                <a:spcPts val="3600"/>
              </a:lnSpc>
            </a:pPr>
            <a:r>
              <a:rPr lang="en-US" sz="3000">
                <a:solidFill>
                  <a:srgbClr val="000000"/>
                </a:solidFill>
                <a:latin typeface="Calibri (MS)"/>
                <a:ea typeface="Calibri (MS)"/>
                <a:cs typeface="Calibri (MS)"/>
                <a:sym typeface="Calibri (MS)"/>
              </a:rPr>
              <a:t>∣v∣≈ 6.7 pixels/frame</a:t>
            </a:r>
          </a:p>
        </p:txBody>
      </p:sp>
      <p:sp>
        <p:nvSpPr>
          <p:cNvPr id="14" name="TextBox 14"/>
          <p:cNvSpPr txBox="1"/>
          <p:nvPr/>
        </p:nvSpPr>
        <p:spPr>
          <a:xfrm>
            <a:off x="7797488" y="2048268"/>
            <a:ext cx="8593786" cy="7839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Extra Questions:</a:t>
            </a:r>
          </a:p>
          <a:p>
            <a:pPr algn="l">
              <a:lnSpc>
                <a:spcPts val="3600"/>
              </a:lnSpc>
            </a:pPr>
            <a:r>
              <a:rPr lang="en-US" sz="3000" b="1">
                <a:solidFill>
                  <a:srgbClr val="000000"/>
                </a:solidFill>
                <a:latin typeface="Calibri (MS) Bold"/>
                <a:ea typeface="Calibri (MS) Bold"/>
                <a:cs typeface="Calibri (MS) Bold"/>
                <a:sym typeface="Calibri (MS) Bold"/>
              </a:rPr>
              <a:t>1)</a:t>
            </a:r>
            <a:r>
              <a:rPr lang="en-US" sz="3000">
                <a:solidFill>
                  <a:srgbClr val="000000"/>
                </a:solidFill>
                <a:latin typeface="Calibri (MS)"/>
                <a:ea typeface="Calibri (MS)"/>
                <a:cs typeface="Calibri (MS)"/>
                <a:sym typeface="Calibri (MS)"/>
              </a:rPr>
              <a:t> A 5-minute video is recorded at 20 fps. How many frames must be processed if every frame is visualized?</a:t>
            </a:r>
          </a:p>
          <a:p>
            <a:pPr algn="l">
              <a:lnSpc>
                <a:spcPts val="3600"/>
              </a:lnSpc>
            </a:pPr>
            <a:r>
              <a:rPr lang="en-US" sz="3000" b="1">
                <a:solidFill>
                  <a:srgbClr val="000000"/>
                </a:solidFill>
                <a:latin typeface="Calibri (MS) Bold"/>
                <a:ea typeface="Calibri (MS) Bold"/>
                <a:cs typeface="Calibri (MS) Bold"/>
                <a:sym typeface="Calibri (MS) Bold"/>
              </a:rPr>
              <a:t>2)</a:t>
            </a:r>
            <a:r>
              <a:rPr lang="en-US" sz="3000">
                <a:solidFill>
                  <a:srgbClr val="000000"/>
                </a:solidFill>
                <a:latin typeface="Calibri (MS)"/>
                <a:ea typeface="Calibri (MS)"/>
                <a:cs typeface="Calibri (MS)"/>
                <a:sym typeface="Calibri (MS)"/>
              </a:rPr>
              <a:t> A 90-second video contains 2,700 frames. What is its frame rate?</a:t>
            </a:r>
          </a:p>
          <a:p>
            <a:pPr algn="l">
              <a:lnSpc>
                <a:spcPts val="3600"/>
              </a:lnSpc>
            </a:pPr>
            <a:r>
              <a:rPr lang="en-US" sz="3000" b="1">
                <a:solidFill>
                  <a:srgbClr val="000000"/>
                </a:solidFill>
                <a:latin typeface="Calibri (MS) Bold"/>
                <a:ea typeface="Calibri (MS) Bold"/>
                <a:cs typeface="Calibri (MS) Bold"/>
                <a:sym typeface="Calibri (MS) Bold"/>
              </a:rPr>
              <a:t>3)</a:t>
            </a:r>
            <a:r>
              <a:rPr lang="en-US" sz="3000">
                <a:solidFill>
                  <a:srgbClr val="000000"/>
                </a:solidFill>
                <a:latin typeface="Calibri (MS)"/>
                <a:ea typeface="Calibri (MS)"/>
                <a:cs typeface="Calibri (MS)"/>
                <a:sym typeface="Calibri (MS)"/>
              </a:rPr>
              <a:t> A visualization contains 1,500 frames sampled at 25 fps. What duration of video does this represent?</a:t>
            </a:r>
          </a:p>
          <a:p>
            <a:pPr algn="l">
              <a:lnSpc>
                <a:spcPts val="3600"/>
              </a:lnSpc>
            </a:pPr>
            <a:r>
              <a:rPr lang="en-US" sz="3000" b="1">
                <a:solidFill>
                  <a:srgbClr val="000000"/>
                </a:solidFill>
                <a:latin typeface="Calibri (MS) Bold"/>
                <a:ea typeface="Calibri (MS) Bold"/>
                <a:cs typeface="Calibri (MS) Bold"/>
                <a:sym typeface="Calibri (MS) Bold"/>
              </a:rPr>
              <a:t>4)</a:t>
            </a:r>
            <a:r>
              <a:rPr lang="en-US" sz="3000">
                <a:solidFill>
                  <a:srgbClr val="000000"/>
                </a:solidFill>
                <a:latin typeface="Calibri (MS)"/>
                <a:ea typeface="Calibri (MS)"/>
                <a:cs typeface="Calibri (MS)"/>
                <a:sym typeface="Calibri (MS)"/>
              </a:rPr>
              <a:t> At 25 fps, approximately how much time has elapsed by frame 100?</a:t>
            </a:r>
          </a:p>
          <a:p>
            <a:pPr algn="l">
              <a:lnSpc>
                <a:spcPts val="3600"/>
              </a:lnSpc>
            </a:pPr>
            <a:r>
              <a:rPr lang="en-US" sz="3000" b="1">
                <a:solidFill>
                  <a:srgbClr val="000000"/>
                </a:solidFill>
                <a:latin typeface="Calibri (MS) Bold"/>
                <a:ea typeface="Calibri (MS) Bold"/>
                <a:cs typeface="Calibri (MS) Bold"/>
                <a:sym typeface="Calibri (MS) Bold"/>
              </a:rPr>
              <a:t>5) </a:t>
            </a:r>
            <a:r>
              <a:rPr lang="en-US" sz="3000">
                <a:solidFill>
                  <a:srgbClr val="000000"/>
                </a:solidFill>
                <a:latin typeface="Calibri (MS)"/>
                <a:ea typeface="Calibri (MS)"/>
                <a:cs typeface="Calibri (MS)"/>
                <a:sym typeface="Calibri (MS)"/>
              </a:rPr>
              <a:t>A keyframe occurs at frame 450 in a video recorded at 30 fps. At what time does the keyframe occur?</a:t>
            </a:r>
          </a:p>
          <a:p>
            <a:pPr algn="l">
              <a:lnSpc>
                <a:spcPts val="3600"/>
              </a:lnSpc>
            </a:pPr>
            <a:r>
              <a:rPr lang="en-US" sz="3000" b="1">
                <a:solidFill>
                  <a:srgbClr val="000000"/>
                </a:solidFill>
                <a:latin typeface="Calibri (MS) Bold"/>
                <a:ea typeface="Calibri (MS) Bold"/>
                <a:cs typeface="Calibri (MS) Bold"/>
                <a:sym typeface="Calibri (MS) Bold"/>
              </a:rPr>
              <a:t>6)</a:t>
            </a:r>
            <a:r>
              <a:rPr lang="en-US" sz="3000">
                <a:solidFill>
                  <a:srgbClr val="000000"/>
                </a:solidFill>
                <a:latin typeface="Calibri (MS)"/>
                <a:ea typeface="Calibri (MS)"/>
                <a:cs typeface="Calibri (MS)"/>
                <a:sym typeface="Calibri (MS)"/>
              </a:rPr>
              <a:t> A video is recorded at 60 fps. What is the time interval between consecutive frames?</a:t>
            </a:r>
          </a:p>
          <a:p>
            <a:pPr algn="l">
              <a:lnSpc>
                <a:spcPts val="3600"/>
              </a:lnSpc>
            </a:pPr>
            <a:r>
              <a:rPr lang="en-US" sz="3000" b="1">
                <a:solidFill>
                  <a:srgbClr val="000000"/>
                </a:solidFill>
                <a:latin typeface="Calibri (MS) Bold"/>
                <a:ea typeface="Calibri (MS) Bold"/>
                <a:cs typeface="Calibri (MS) Bold"/>
                <a:sym typeface="Calibri (MS) Bold"/>
              </a:rPr>
              <a:t>7)</a:t>
            </a:r>
            <a:r>
              <a:rPr lang="en-US" sz="3000">
                <a:solidFill>
                  <a:srgbClr val="000000"/>
                </a:solidFill>
                <a:latin typeface="Calibri (MS)"/>
                <a:ea typeface="Calibri (MS)"/>
                <a:cs typeface="Calibri (MS)"/>
                <a:sym typeface="Calibri (MS)"/>
              </a:rPr>
              <a:t> A feature moves from (100,80) to (92,80). What is the direction of its motion?</a:t>
            </a:r>
          </a:p>
          <a:p>
            <a:pPr algn="l">
              <a:lnSpc>
                <a:spcPts val="3600"/>
              </a:lnSpc>
            </a:pPr>
            <a:r>
              <a:rPr lang="en-US" sz="3000" b="1">
                <a:solidFill>
                  <a:srgbClr val="000000"/>
                </a:solidFill>
                <a:latin typeface="Calibri (MS) Bold"/>
                <a:ea typeface="Calibri (MS) Bold"/>
                <a:cs typeface="Calibri (MS) Bold"/>
                <a:sym typeface="Calibri (MS) Bold"/>
              </a:rPr>
              <a:t>8)</a:t>
            </a:r>
            <a:r>
              <a:rPr lang="en-US" sz="3000">
                <a:solidFill>
                  <a:srgbClr val="000000"/>
                </a:solidFill>
                <a:latin typeface="Calibri (MS)"/>
                <a:ea typeface="Calibri (MS)"/>
                <a:cs typeface="Calibri (MS)"/>
                <a:sym typeface="Calibri (MS)"/>
              </a:rPr>
              <a:t> A point moves from (40,50) to (43,54). What is the magnitude of its displacement?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1330398" y="4915293"/>
            <a:ext cx="4778963" cy="1241289"/>
          </a:xfrm>
          <a:custGeom>
            <a:avLst/>
            <a:gdLst/>
            <a:ahLst/>
            <a:cxnLst/>
            <a:rect l="l" t="t" r="r" b="b"/>
            <a:pathLst>
              <a:path w="4778963" h="1241289">
                <a:moveTo>
                  <a:pt x="0" y="0"/>
                </a:moveTo>
                <a:lnTo>
                  <a:pt x="4778963" y="0"/>
                </a:lnTo>
                <a:lnTo>
                  <a:pt x="4778963" y="1241289"/>
                </a:lnTo>
                <a:lnTo>
                  <a:pt x="0" y="1241289"/>
                </a:lnTo>
                <a:lnTo>
                  <a:pt x="0" y="0"/>
                </a:lnTo>
                <a:close/>
              </a:path>
            </a:pathLst>
          </a:custGeom>
          <a:blipFill>
            <a:blip r:embed="rId3"/>
            <a:stretch>
              <a:fillRect/>
            </a:stretch>
          </a:blipFill>
        </p:spPr>
        <p:txBody>
          <a:bodyPr/>
          <a:lstStyle/>
          <a:p>
            <a:endParaRPr lang="en-IN"/>
          </a:p>
        </p:txBody>
      </p:sp>
      <p:sp>
        <p:nvSpPr>
          <p:cNvPr id="6" name="Freeform 6"/>
          <p:cNvSpPr/>
          <p:nvPr/>
        </p:nvSpPr>
        <p:spPr>
          <a:xfrm>
            <a:off x="1330398" y="7385307"/>
            <a:ext cx="5243253" cy="1158835"/>
          </a:xfrm>
          <a:custGeom>
            <a:avLst/>
            <a:gdLst/>
            <a:ahLst/>
            <a:cxnLst/>
            <a:rect l="l" t="t" r="r" b="b"/>
            <a:pathLst>
              <a:path w="5243253" h="1158835">
                <a:moveTo>
                  <a:pt x="0" y="0"/>
                </a:moveTo>
                <a:lnTo>
                  <a:pt x="5243253" y="0"/>
                </a:lnTo>
                <a:lnTo>
                  <a:pt x="5243253" y="1158835"/>
                </a:lnTo>
                <a:lnTo>
                  <a:pt x="0" y="1158835"/>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Visualization: Numericals</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9"/>
          <p:cNvSpPr txBox="1"/>
          <p:nvPr/>
        </p:nvSpPr>
        <p:spPr>
          <a:xfrm>
            <a:off x="681104" y="2048268"/>
            <a:ext cx="15710170" cy="2809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Answers:</a:t>
            </a:r>
          </a:p>
          <a:p>
            <a:pPr algn="l">
              <a:lnSpc>
                <a:spcPts val="3600"/>
              </a:lnSpc>
            </a:pPr>
            <a:r>
              <a:rPr lang="en-US" sz="3000" b="1">
                <a:solidFill>
                  <a:srgbClr val="000000"/>
                </a:solidFill>
                <a:latin typeface="Calibri (MS) Bold"/>
                <a:ea typeface="Calibri (MS) Bold"/>
                <a:cs typeface="Calibri (MS) Bold"/>
                <a:sym typeface="Calibri (MS) Bold"/>
              </a:rPr>
              <a:t>1)</a:t>
            </a:r>
            <a:r>
              <a:rPr lang="en-US" sz="3000">
                <a:solidFill>
                  <a:srgbClr val="000000"/>
                </a:solidFill>
                <a:latin typeface="Calibri (MS)"/>
                <a:ea typeface="Calibri (MS)"/>
                <a:cs typeface="Calibri (MS)"/>
                <a:sym typeface="Calibri (MS)"/>
              </a:rPr>
              <a:t> A 5-minute video is recorded at 20 fps. How many frames must be processed if every frame is visualized?</a:t>
            </a:r>
          </a:p>
          <a:p>
            <a:pPr algn="l">
              <a:lnSpc>
                <a:spcPts val="3600"/>
              </a:lnSpc>
            </a:pPr>
            <a:r>
              <a:rPr lang="en-US" sz="3000" b="1">
                <a:solidFill>
                  <a:srgbClr val="000000"/>
                </a:solidFill>
                <a:latin typeface="Calibri (MS) Bold"/>
                <a:ea typeface="Calibri (MS) Bold"/>
                <a:cs typeface="Calibri (MS) Bold"/>
                <a:sym typeface="Calibri (MS) Bold"/>
              </a:rPr>
              <a:t>A: </a:t>
            </a:r>
            <a:r>
              <a:rPr lang="en-US" sz="3000">
                <a:solidFill>
                  <a:srgbClr val="000000"/>
                </a:solidFill>
                <a:latin typeface="Calibri (MS)"/>
                <a:ea typeface="Calibri (MS)"/>
                <a:cs typeface="Calibri (MS)"/>
                <a:sym typeface="Calibri (MS)"/>
              </a:rPr>
              <a:t>N = 20 × (5 × 60) = 6000 frames​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2)</a:t>
            </a:r>
            <a:r>
              <a:rPr lang="en-US" sz="3000">
                <a:solidFill>
                  <a:srgbClr val="000000"/>
                </a:solidFill>
                <a:latin typeface="Calibri (MS)"/>
                <a:ea typeface="Calibri (MS)"/>
                <a:cs typeface="Calibri (MS)"/>
                <a:sym typeface="Calibri (MS)"/>
              </a:rPr>
              <a:t> A 90-second video contains 2,700 frames. What is its frame rate?</a:t>
            </a:r>
          </a:p>
        </p:txBody>
      </p:sp>
      <p:sp>
        <p:nvSpPr>
          <p:cNvPr id="10" name="TextBox 10"/>
          <p:cNvSpPr txBox="1"/>
          <p:nvPr/>
        </p:nvSpPr>
        <p:spPr>
          <a:xfrm>
            <a:off x="681104" y="6347082"/>
            <a:ext cx="15710170"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3)</a:t>
            </a:r>
            <a:r>
              <a:rPr lang="en-US" sz="3000">
                <a:solidFill>
                  <a:srgbClr val="000000"/>
                </a:solidFill>
                <a:latin typeface="Calibri (MS)"/>
                <a:ea typeface="Calibri (MS)"/>
                <a:cs typeface="Calibri (MS)"/>
                <a:sym typeface="Calibri (MS)"/>
              </a:rPr>
              <a:t> A visualization contains 1,500 frames sampled at 25 fps. What duration of video does this represent?</a:t>
            </a:r>
          </a:p>
        </p:txBody>
      </p:sp>
      <p:sp>
        <p:nvSpPr>
          <p:cNvPr id="11" name="TextBox 11"/>
          <p:cNvSpPr txBox="1"/>
          <p:nvPr/>
        </p:nvSpPr>
        <p:spPr>
          <a:xfrm>
            <a:off x="681104" y="4848618"/>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
        <p:nvSpPr>
          <p:cNvPr id="12" name="TextBox 12"/>
          <p:cNvSpPr txBox="1"/>
          <p:nvPr/>
        </p:nvSpPr>
        <p:spPr>
          <a:xfrm>
            <a:off x="681104" y="7318632"/>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1349506" y="2705493"/>
            <a:ext cx="2895695" cy="1223533"/>
          </a:xfrm>
          <a:custGeom>
            <a:avLst/>
            <a:gdLst/>
            <a:ahLst/>
            <a:cxnLst/>
            <a:rect l="l" t="t" r="r" b="b"/>
            <a:pathLst>
              <a:path w="2895695" h="1223533">
                <a:moveTo>
                  <a:pt x="0" y="0"/>
                </a:moveTo>
                <a:lnTo>
                  <a:pt x="2895696" y="0"/>
                </a:lnTo>
                <a:lnTo>
                  <a:pt x="2895696" y="1223533"/>
                </a:lnTo>
                <a:lnTo>
                  <a:pt x="0" y="1223533"/>
                </a:lnTo>
                <a:lnTo>
                  <a:pt x="0" y="0"/>
                </a:lnTo>
                <a:close/>
              </a:path>
            </a:pathLst>
          </a:custGeom>
          <a:blipFill>
            <a:blip r:embed="rId3"/>
            <a:stretch>
              <a:fillRect/>
            </a:stretch>
          </a:blipFill>
        </p:spPr>
        <p:txBody>
          <a:bodyPr/>
          <a:lstStyle/>
          <a:p>
            <a:endParaRPr lang="en-IN"/>
          </a:p>
        </p:txBody>
      </p:sp>
      <p:sp>
        <p:nvSpPr>
          <p:cNvPr id="6" name="Freeform 6"/>
          <p:cNvSpPr/>
          <p:nvPr/>
        </p:nvSpPr>
        <p:spPr>
          <a:xfrm>
            <a:off x="1349506" y="5233951"/>
            <a:ext cx="3290853" cy="1202427"/>
          </a:xfrm>
          <a:custGeom>
            <a:avLst/>
            <a:gdLst/>
            <a:ahLst/>
            <a:cxnLst/>
            <a:rect l="l" t="t" r="r" b="b"/>
            <a:pathLst>
              <a:path w="3290853" h="1202427">
                <a:moveTo>
                  <a:pt x="0" y="0"/>
                </a:moveTo>
                <a:lnTo>
                  <a:pt x="3290853" y="0"/>
                </a:lnTo>
                <a:lnTo>
                  <a:pt x="3290853" y="1202427"/>
                </a:lnTo>
                <a:lnTo>
                  <a:pt x="0" y="1202427"/>
                </a:lnTo>
                <a:lnTo>
                  <a:pt x="0" y="0"/>
                </a:lnTo>
                <a:close/>
              </a:path>
            </a:pathLst>
          </a:custGeom>
          <a:blipFill>
            <a:blip r:embed="rId4"/>
            <a:stretch>
              <a:fillRect/>
            </a:stretch>
          </a:blipFill>
        </p:spPr>
        <p:txBody>
          <a:bodyPr/>
          <a:lstStyle/>
          <a:p>
            <a:endParaRPr lang="en-IN"/>
          </a:p>
        </p:txBody>
      </p:sp>
      <p:sp>
        <p:nvSpPr>
          <p:cNvPr id="7" name="Freeform 7"/>
          <p:cNvSpPr/>
          <p:nvPr/>
        </p:nvSpPr>
        <p:spPr>
          <a:xfrm>
            <a:off x="1349506" y="7391977"/>
            <a:ext cx="4121479" cy="1168460"/>
          </a:xfrm>
          <a:custGeom>
            <a:avLst/>
            <a:gdLst/>
            <a:ahLst/>
            <a:cxnLst/>
            <a:rect l="l" t="t" r="r" b="b"/>
            <a:pathLst>
              <a:path w="4121479" h="1168460">
                <a:moveTo>
                  <a:pt x="0" y="0"/>
                </a:moveTo>
                <a:lnTo>
                  <a:pt x="4121479" y="0"/>
                </a:lnTo>
                <a:lnTo>
                  <a:pt x="4121479" y="1168461"/>
                </a:lnTo>
                <a:lnTo>
                  <a:pt x="0" y="1168461"/>
                </a:lnTo>
                <a:lnTo>
                  <a:pt x="0" y="0"/>
                </a:lnTo>
                <a:close/>
              </a:path>
            </a:pathLst>
          </a:custGeom>
          <a:blipFill>
            <a:blip r:embed="rId5"/>
            <a:stretch>
              <a:fillRect/>
            </a:stretch>
          </a:blipFill>
        </p:spPr>
        <p:txBody>
          <a:bodyPr/>
          <a:lstStyle/>
          <a:p>
            <a:endParaRPr lang="en-IN"/>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Visualization: Numericals</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681104" y="2048268"/>
            <a:ext cx="15710170"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4)</a:t>
            </a:r>
            <a:r>
              <a:rPr lang="en-US" sz="3000">
                <a:solidFill>
                  <a:srgbClr val="000000"/>
                </a:solidFill>
                <a:latin typeface="Calibri (MS)"/>
                <a:ea typeface="Calibri (MS)"/>
                <a:cs typeface="Calibri (MS)"/>
                <a:sym typeface="Calibri (MS)"/>
              </a:rPr>
              <a:t> At 25 fps, approximately how much time has elapsed by frame 100?</a:t>
            </a:r>
          </a:p>
        </p:txBody>
      </p:sp>
      <p:sp>
        <p:nvSpPr>
          <p:cNvPr id="11" name="TextBox 11"/>
          <p:cNvSpPr txBox="1"/>
          <p:nvPr/>
        </p:nvSpPr>
        <p:spPr>
          <a:xfrm>
            <a:off x="681104" y="4119526"/>
            <a:ext cx="15710170"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5) </a:t>
            </a:r>
            <a:r>
              <a:rPr lang="en-US" sz="3000">
                <a:solidFill>
                  <a:srgbClr val="000000"/>
                </a:solidFill>
                <a:latin typeface="Calibri (MS)"/>
                <a:ea typeface="Calibri (MS)"/>
                <a:cs typeface="Calibri (MS)"/>
                <a:sym typeface="Calibri (MS)"/>
              </a:rPr>
              <a:t>A keyframe occurs at frame 450 in a video recorded at 30 fps. At what time does the keyframe occur?</a:t>
            </a:r>
          </a:p>
        </p:txBody>
      </p:sp>
      <p:sp>
        <p:nvSpPr>
          <p:cNvPr id="12" name="TextBox 12"/>
          <p:cNvSpPr txBox="1"/>
          <p:nvPr/>
        </p:nvSpPr>
        <p:spPr>
          <a:xfrm>
            <a:off x="681104" y="6626878"/>
            <a:ext cx="15710170"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6)</a:t>
            </a:r>
            <a:r>
              <a:rPr lang="en-US" sz="3000">
                <a:solidFill>
                  <a:srgbClr val="000000"/>
                </a:solidFill>
                <a:latin typeface="Calibri (MS)"/>
                <a:ea typeface="Calibri (MS)"/>
                <a:cs typeface="Calibri (MS)"/>
                <a:sym typeface="Calibri (MS)"/>
              </a:rPr>
              <a:t> A video is recorded at 60 fps. What is the time interval between consecutive frames?</a:t>
            </a:r>
          </a:p>
        </p:txBody>
      </p:sp>
      <p:sp>
        <p:nvSpPr>
          <p:cNvPr id="13" name="TextBox 13"/>
          <p:cNvSpPr txBox="1"/>
          <p:nvPr/>
        </p:nvSpPr>
        <p:spPr>
          <a:xfrm>
            <a:off x="681104" y="2638818"/>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
        <p:nvSpPr>
          <p:cNvPr id="14" name="TextBox 14"/>
          <p:cNvSpPr txBox="1"/>
          <p:nvPr/>
        </p:nvSpPr>
        <p:spPr>
          <a:xfrm>
            <a:off x="681104" y="5167276"/>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
        <p:nvSpPr>
          <p:cNvPr id="15" name="TextBox 15"/>
          <p:cNvSpPr txBox="1"/>
          <p:nvPr/>
        </p:nvSpPr>
        <p:spPr>
          <a:xfrm>
            <a:off x="681104" y="7341253"/>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1419419" y="2705493"/>
            <a:ext cx="4503698" cy="1606953"/>
          </a:xfrm>
          <a:custGeom>
            <a:avLst/>
            <a:gdLst/>
            <a:ahLst/>
            <a:cxnLst/>
            <a:rect l="l" t="t" r="r" b="b"/>
            <a:pathLst>
              <a:path w="4503698" h="1606953">
                <a:moveTo>
                  <a:pt x="0" y="0"/>
                </a:moveTo>
                <a:lnTo>
                  <a:pt x="4503697" y="0"/>
                </a:lnTo>
                <a:lnTo>
                  <a:pt x="4503697" y="1606953"/>
                </a:lnTo>
                <a:lnTo>
                  <a:pt x="0" y="1606953"/>
                </a:lnTo>
                <a:lnTo>
                  <a:pt x="0" y="0"/>
                </a:lnTo>
                <a:close/>
              </a:path>
            </a:pathLst>
          </a:custGeom>
          <a:blipFill>
            <a:blip r:embed="rId3"/>
            <a:stretch>
              <a:fillRect/>
            </a:stretch>
          </a:blipFill>
        </p:spPr>
        <p:txBody>
          <a:bodyPr/>
          <a:lstStyle/>
          <a:p>
            <a:endParaRPr lang="en-IN"/>
          </a:p>
        </p:txBody>
      </p:sp>
      <p:sp>
        <p:nvSpPr>
          <p:cNvPr id="6" name="Freeform 6"/>
          <p:cNvSpPr/>
          <p:nvPr/>
        </p:nvSpPr>
        <p:spPr>
          <a:xfrm>
            <a:off x="1419419" y="6117174"/>
            <a:ext cx="3565236" cy="778615"/>
          </a:xfrm>
          <a:custGeom>
            <a:avLst/>
            <a:gdLst/>
            <a:ahLst/>
            <a:cxnLst/>
            <a:rect l="l" t="t" r="r" b="b"/>
            <a:pathLst>
              <a:path w="3565236" h="778615">
                <a:moveTo>
                  <a:pt x="0" y="0"/>
                </a:moveTo>
                <a:lnTo>
                  <a:pt x="3565235" y="0"/>
                </a:lnTo>
                <a:lnTo>
                  <a:pt x="3565235" y="778615"/>
                </a:lnTo>
                <a:lnTo>
                  <a:pt x="0" y="778615"/>
                </a:lnTo>
                <a:lnTo>
                  <a:pt x="0" y="0"/>
                </a:lnTo>
                <a:close/>
              </a:path>
            </a:pathLst>
          </a:custGeom>
          <a:blipFill>
            <a:blip r:embed="rId4"/>
            <a:stretch>
              <a:fillRect/>
            </a:stretch>
          </a:blipFill>
        </p:spPr>
        <p:txBody>
          <a:bodyPr/>
          <a:lstStyle/>
          <a:p>
            <a:endParaRPr lang="en-IN"/>
          </a:p>
        </p:txBody>
      </p:sp>
      <p:sp>
        <p:nvSpPr>
          <p:cNvPr id="7" name="Freeform 7"/>
          <p:cNvSpPr/>
          <p:nvPr/>
        </p:nvSpPr>
        <p:spPr>
          <a:xfrm>
            <a:off x="1419419" y="6954446"/>
            <a:ext cx="3565236" cy="759458"/>
          </a:xfrm>
          <a:custGeom>
            <a:avLst/>
            <a:gdLst/>
            <a:ahLst/>
            <a:cxnLst/>
            <a:rect l="l" t="t" r="r" b="b"/>
            <a:pathLst>
              <a:path w="3565236" h="759458">
                <a:moveTo>
                  <a:pt x="0" y="0"/>
                </a:moveTo>
                <a:lnTo>
                  <a:pt x="3565235" y="0"/>
                </a:lnTo>
                <a:lnTo>
                  <a:pt x="3565235" y="759459"/>
                </a:lnTo>
                <a:lnTo>
                  <a:pt x="0" y="759459"/>
                </a:lnTo>
                <a:lnTo>
                  <a:pt x="0" y="0"/>
                </a:lnTo>
                <a:close/>
              </a:path>
            </a:pathLst>
          </a:custGeom>
          <a:blipFill>
            <a:blip r:embed="rId5"/>
            <a:stretch>
              <a:fillRect/>
            </a:stretch>
          </a:blipFill>
        </p:spPr>
        <p:txBody>
          <a:bodyPr/>
          <a:lstStyle/>
          <a:p>
            <a:endParaRPr lang="en-IN"/>
          </a:p>
        </p:txBody>
      </p:sp>
      <p:sp>
        <p:nvSpPr>
          <p:cNvPr id="8" name="Freeform 8"/>
          <p:cNvSpPr/>
          <p:nvPr/>
        </p:nvSpPr>
        <p:spPr>
          <a:xfrm>
            <a:off x="1471470" y="7847255"/>
            <a:ext cx="2199798" cy="791920"/>
          </a:xfrm>
          <a:custGeom>
            <a:avLst/>
            <a:gdLst/>
            <a:ahLst/>
            <a:cxnLst/>
            <a:rect l="l" t="t" r="r" b="b"/>
            <a:pathLst>
              <a:path w="2199798" h="791920">
                <a:moveTo>
                  <a:pt x="0" y="0"/>
                </a:moveTo>
                <a:lnTo>
                  <a:pt x="2199797" y="0"/>
                </a:lnTo>
                <a:lnTo>
                  <a:pt x="2199797" y="791920"/>
                </a:lnTo>
                <a:lnTo>
                  <a:pt x="0" y="791920"/>
                </a:lnTo>
                <a:lnTo>
                  <a:pt x="0" y="0"/>
                </a:lnTo>
                <a:close/>
              </a:path>
            </a:pathLst>
          </a:custGeom>
          <a:blipFill>
            <a:blip r:embed="rId6"/>
            <a:stretch>
              <a:fillRect l="-13141"/>
            </a:stretch>
          </a:blipFill>
        </p:spPr>
        <p:txBody>
          <a:bodyPr/>
          <a:lstStyle/>
          <a:p>
            <a:endParaRPr lang="en-IN"/>
          </a:p>
        </p:txBody>
      </p:sp>
      <p:sp>
        <p:nvSpPr>
          <p:cNvPr id="9" name="Freeform 9"/>
          <p:cNvSpPr/>
          <p:nvPr/>
        </p:nvSpPr>
        <p:spPr>
          <a:xfrm>
            <a:off x="1419419" y="8696325"/>
            <a:ext cx="4291291" cy="900740"/>
          </a:xfrm>
          <a:custGeom>
            <a:avLst/>
            <a:gdLst/>
            <a:ahLst/>
            <a:cxnLst/>
            <a:rect l="l" t="t" r="r" b="b"/>
            <a:pathLst>
              <a:path w="4291291" h="900740">
                <a:moveTo>
                  <a:pt x="0" y="0"/>
                </a:moveTo>
                <a:lnTo>
                  <a:pt x="4291291" y="0"/>
                </a:lnTo>
                <a:lnTo>
                  <a:pt x="4291291" y="900739"/>
                </a:lnTo>
                <a:lnTo>
                  <a:pt x="0" y="900739"/>
                </a:lnTo>
                <a:lnTo>
                  <a:pt x="0" y="0"/>
                </a:lnTo>
                <a:close/>
              </a:path>
            </a:pathLst>
          </a:custGeom>
          <a:blipFill>
            <a:blip r:embed="rId7"/>
            <a:stretch>
              <a:fillRect l="-4949"/>
            </a:stretch>
          </a:blipFill>
        </p:spPr>
        <p:txBody>
          <a:bodyPr/>
          <a:lstStyle/>
          <a:p>
            <a:endParaRPr lang="en-IN"/>
          </a:p>
        </p:txBody>
      </p:sp>
      <p:sp>
        <p:nvSpPr>
          <p:cNvPr id="10" name="Freeform 10"/>
          <p:cNvSpPr/>
          <p:nvPr/>
        </p:nvSpPr>
        <p:spPr>
          <a:xfrm>
            <a:off x="6072660" y="6117174"/>
            <a:ext cx="3260512" cy="3508146"/>
          </a:xfrm>
          <a:custGeom>
            <a:avLst/>
            <a:gdLst/>
            <a:ahLst/>
            <a:cxnLst/>
            <a:rect l="l" t="t" r="r" b="b"/>
            <a:pathLst>
              <a:path w="3260512" h="3508146">
                <a:moveTo>
                  <a:pt x="0" y="0"/>
                </a:moveTo>
                <a:lnTo>
                  <a:pt x="3260512" y="0"/>
                </a:lnTo>
                <a:lnTo>
                  <a:pt x="3260512" y="3508146"/>
                </a:lnTo>
                <a:lnTo>
                  <a:pt x="0" y="3508146"/>
                </a:lnTo>
                <a:lnTo>
                  <a:pt x="0" y="0"/>
                </a:lnTo>
                <a:close/>
              </a:path>
            </a:pathLst>
          </a:custGeom>
          <a:blipFill>
            <a:blip r:embed="rId8"/>
            <a:stretch>
              <a:fillRect/>
            </a:stretch>
          </a:blipFill>
        </p:spPr>
        <p:txBody>
          <a:bodyPr/>
          <a:lstStyle/>
          <a:p>
            <a:endParaRPr lang="en-IN"/>
          </a:p>
        </p:txBody>
      </p:sp>
      <p:sp>
        <p:nvSpPr>
          <p:cNvPr id="11" name="TextBox 11"/>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Video Visualization: Numericals</a:t>
            </a:r>
          </a:p>
        </p:txBody>
      </p:sp>
      <p:sp>
        <p:nvSpPr>
          <p:cNvPr id="12" name="TextBox 12"/>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3" name="TextBox 13"/>
          <p:cNvSpPr txBox="1"/>
          <p:nvPr/>
        </p:nvSpPr>
        <p:spPr>
          <a:xfrm>
            <a:off x="681104" y="2048268"/>
            <a:ext cx="15710170"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7)</a:t>
            </a:r>
            <a:r>
              <a:rPr lang="en-US" sz="3000">
                <a:solidFill>
                  <a:srgbClr val="000000"/>
                </a:solidFill>
                <a:latin typeface="Calibri (MS)"/>
                <a:ea typeface="Calibri (MS)"/>
                <a:cs typeface="Calibri (MS)"/>
                <a:sym typeface="Calibri (MS)"/>
              </a:rPr>
              <a:t> A feature moves from (100, 80) to (92, 80). What is the direction of its motion?</a:t>
            </a:r>
          </a:p>
        </p:txBody>
      </p:sp>
      <p:sp>
        <p:nvSpPr>
          <p:cNvPr id="14" name="TextBox 14"/>
          <p:cNvSpPr txBox="1"/>
          <p:nvPr/>
        </p:nvSpPr>
        <p:spPr>
          <a:xfrm>
            <a:off x="681104" y="5459949"/>
            <a:ext cx="15710170"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8)</a:t>
            </a:r>
            <a:r>
              <a:rPr lang="en-US" sz="3000">
                <a:solidFill>
                  <a:srgbClr val="000000"/>
                </a:solidFill>
                <a:latin typeface="Calibri (MS)"/>
                <a:ea typeface="Calibri (MS)"/>
                <a:cs typeface="Calibri (MS)"/>
                <a:sym typeface="Calibri (MS)"/>
              </a:rPr>
              <a:t> A point moves from (40, 50) to (43, 54). What is the magnitude of its displacement?</a:t>
            </a:r>
          </a:p>
        </p:txBody>
      </p:sp>
      <p:sp>
        <p:nvSpPr>
          <p:cNvPr id="15" name="TextBox 15"/>
          <p:cNvSpPr txBox="1"/>
          <p:nvPr/>
        </p:nvSpPr>
        <p:spPr>
          <a:xfrm>
            <a:off x="681104" y="4379121"/>
            <a:ext cx="15710170" cy="5238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The feature moves </a:t>
            </a:r>
            <a:r>
              <a:rPr lang="en-US" sz="3000" b="1">
                <a:solidFill>
                  <a:srgbClr val="000000"/>
                </a:solidFill>
                <a:latin typeface="Calibri (MS) Bold"/>
                <a:ea typeface="Calibri (MS) Bold"/>
                <a:cs typeface="Calibri (MS) Bold"/>
                <a:sym typeface="Calibri (MS) Bold"/>
              </a:rPr>
              <a:t>8 pixels horizontally to the left</a:t>
            </a:r>
            <a:r>
              <a:rPr lang="en-US" sz="3000">
                <a:solidFill>
                  <a:srgbClr val="000000"/>
                </a:solidFill>
                <a:latin typeface="Calibri (MS)"/>
                <a:ea typeface="Calibri (MS)"/>
                <a:cs typeface="Calibri (MS)"/>
                <a:sym typeface="Calibri (MS)"/>
              </a:rPr>
              <a:t>.</a:t>
            </a:r>
          </a:p>
        </p:txBody>
      </p:sp>
      <p:sp>
        <p:nvSpPr>
          <p:cNvPr id="16" name="TextBox 16"/>
          <p:cNvSpPr txBox="1"/>
          <p:nvPr/>
        </p:nvSpPr>
        <p:spPr>
          <a:xfrm>
            <a:off x="681104" y="2638818"/>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
        <p:nvSpPr>
          <p:cNvPr id="17" name="TextBox 17"/>
          <p:cNvSpPr txBox="1"/>
          <p:nvPr/>
        </p:nvSpPr>
        <p:spPr>
          <a:xfrm>
            <a:off x="681104" y="6258831"/>
            <a:ext cx="426178" cy="5238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3"/>
              <a:stretch>
                <a:fillRect r="-1"/>
              </a:stretch>
            </a:blipFill>
          </p:spPr>
          <p:txBody>
            <a:bodyPr/>
            <a:lstStyle/>
            <a:p>
              <a:endParaRPr lang="en-IN"/>
            </a:p>
          </p:txBody>
        </p:sp>
      </p:grpSp>
      <p:sp>
        <p:nvSpPr>
          <p:cNvPr id="5" name="Freeform 5"/>
          <p:cNvSpPr/>
          <p:nvPr/>
        </p:nvSpPr>
        <p:spPr>
          <a:xfrm>
            <a:off x="665864" y="6307760"/>
            <a:ext cx="9331971" cy="3707737"/>
          </a:xfrm>
          <a:custGeom>
            <a:avLst/>
            <a:gdLst/>
            <a:ahLst/>
            <a:cxnLst/>
            <a:rect l="l" t="t" r="r" b="b"/>
            <a:pathLst>
              <a:path w="9331971" h="3707737">
                <a:moveTo>
                  <a:pt x="0" y="0"/>
                </a:moveTo>
                <a:lnTo>
                  <a:pt x="9331972" y="0"/>
                </a:lnTo>
                <a:lnTo>
                  <a:pt x="9331972" y="3707737"/>
                </a:lnTo>
                <a:lnTo>
                  <a:pt x="0" y="3707737"/>
                </a:lnTo>
                <a:lnTo>
                  <a:pt x="0" y="0"/>
                </a:lnTo>
                <a:close/>
              </a:path>
            </a:pathLst>
          </a:custGeom>
          <a:blipFill>
            <a:blip r:embed="rId4"/>
            <a:stretch>
              <a:fillRect b="-13606"/>
            </a:stretch>
          </a:blipFill>
        </p:spPr>
        <p:txBody>
          <a:bodyPr/>
          <a:lstStyle/>
          <a:p>
            <a:endParaRPr lang="en-IN"/>
          </a:p>
        </p:txBody>
      </p:sp>
      <p:sp>
        <p:nvSpPr>
          <p:cNvPr id="6" name="TextBox 6"/>
          <p:cNvSpPr txBox="1"/>
          <p:nvPr/>
        </p:nvSpPr>
        <p:spPr>
          <a:xfrm>
            <a:off x="681104" y="2048268"/>
            <a:ext cx="15741325" cy="4181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Audio As A Time-Series Signal</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Digital audio represents a continuously varying sound signal as a sequence of discrete amplitude samples recorded at regular time intervals</a:t>
            </a:r>
            <a:r>
              <a:rPr lang="en-US" sz="3000" dirty="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sampling rate specifies the number of samples recorded per second and determines the </a:t>
            </a:r>
            <a:r>
              <a:rPr lang="en-US" sz="3000" b="1" dirty="0">
                <a:solidFill>
                  <a:srgbClr val="000000"/>
                </a:solidFill>
                <a:latin typeface="Calibri (MS)"/>
                <a:ea typeface="Calibri (MS)"/>
                <a:cs typeface="Calibri (MS)"/>
                <a:sym typeface="Calibri (MS)"/>
              </a:rPr>
              <a:t>temporal sampling </a:t>
            </a:r>
            <a:r>
              <a:rPr lang="en-US" sz="3000" dirty="0">
                <a:solidFill>
                  <a:srgbClr val="000000"/>
                </a:solidFill>
                <a:latin typeface="Calibri (MS)"/>
                <a:ea typeface="Calibri (MS)"/>
                <a:cs typeface="Calibri (MS)"/>
                <a:sym typeface="Calibri (MS)"/>
              </a:rPr>
              <a:t>density of the signal.</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An audio signal can be represented as x[n], where each sample corresponds to a specific point in time.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Audio visualization converts these numerical samples into visual representations that reveal </a:t>
            </a:r>
            <a:r>
              <a:rPr lang="en-US" sz="3000" b="1" dirty="0">
                <a:solidFill>
                  <a:srgbClr val="000000"/>
                </a:solidFill>
                <a:latin typeface="Calibri (MS)"/>
                <a:ea typeface="Calibri (MS)"/>
                <a:cs typeface="Calibri (MS)"/>
                <a:sym typeface="Calibri (MS)"/>
              </a:rPr>
              <a:t>temporal patterns, intensity changes, frequency content, and events.</a:t>
            </a:r>
          </a:p>
        </p:txBody>
      </p:sp>
      <p:sp>
        <p:nvSpPr>
          <p:cNvPr id="7" name="TextBox 7"/>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Audio Visualization: Audio As A Time-Series Signal</a:t>
            </a:r>
          </a:p>
        </p:txBody>
      </p:sp>
      <p:sp>
        <p:nvSpPr>
          <p:cNvPr id="8" name="TextBox 8"/>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9">
            <a:extLst>
              <a:ext uri="{FF2B5EF4-FFF2-40B4-BE49-F238E27FC236}">
                <a16:creationId xmlns:a16="http://schemas.microsoft.com/office/drawing/2014/main" id="{A7FFA068-06D0-B976-013D-2A5D6323FC1A}"/>
              </a:ext>
            </a:extLst>
          </p:cNvPr>
          <p:cNvSpPr txBox="1"/>
          <p:nvPr/>
        </p:nvSpPr>
        <p:spPr>
          <a:xfrm>
            <a:off x="10028315" y="6709948"/>
            <a:ext cx="7726285" cy="2308324"/>
          </a:xfrm>
          <a:prstGeom prst="rect">
            <a:avLst/>
          </a:prstGeom>
          <a:noFill/>
        </p:spPr>
        <p:txBody>
          <a:bodyPr wrap="square">
            <a:spAutoFit/>
          </a:bodyPr>
          <a:lstStyle/>
          <a:p>
            <a:pPr marL="342900" lvl="0" indent="-342900" rtl="0">
              <a:buFont typeface="Arial" panose="020B0604020202020204" pitchFamily="34" charset="0"/>
              <a:buChar char="•"/>
            </a:pPr>
            <a:r>
              <a:rPr lang="en-IN" b="1" dirty="0"/>
              <a:t>X-axis:</a:t>
            </a:r>
            <a:r>
              <a:rPr lang="en-IN" dirty="0"/>
              <a:t> sample index (n), running from 0 to roughly 600,000+ — this is time, but measured in individual samples rather than seconds. If you know the sampling rate (e.g., 44,100 samples/sec), you could convert this to seconds (600,000 samples ÷ 44,100 ≈ ~13.6 sec of audio).</a:t>
            </a:r>
          </a:p>
          <a:p>
            <a:pPr marL="342900" lvl="0" indent="-342900" rtl="0">
              <a:buFont typeface="Arial" panose="020B0604020202020204" pitchFamily="34" charset="0"/>
              <a:buChar char="•"/>
            </a:pPr>
            <a:r>
              <a:rPr lang="en-IN" b="1" dirty="0"/>
              <a:t>Y-axis:</a:t>
            </a:r>
            <a:r>
              <a:rPr lang="en-IN" dirty="0"/>
              <a:t> amplitude, ranging roughly from −0.8 to 0.6 — this is the instantaneous value of x[n], i.e., how far the sound wave's pressure deviates from zero (silence) at that instant. Positive and negative values represent compression and rarefaction of the sound wave.</a:t>
            </a:r>
          </a:p>
        </p:txBody>
      </p:sp>
      <p:sp>
        <p:nvSpPr>
          <p:cNvPr id="12" name="TextBox 11">
            <a:extLst>
              <a:ext uri="{FF2B5EF4-FFF2-40B4-BE49-F238E27FC236}">
                <a16:creationId xmlns:a16="http://schemas.microsoft.com/office/drawing/2014/main" id="{219A397C-2FC6-8E53-C8D9-992757F54649}"/>
              </a:ext>
            </a:extLst>
          </p:cNvPr>
          <p:cNvSpPr txBox="1"/>
          <p:nvPr/>
        </p:nvSpPr>
        <p:spPr>
          <a:xfrm>
            <a:off x="9970403" y="9447183"/>
            <a:ext cx="7022197" cy="646331"/>
          </a:xfrm>
          <a:prstGeom prst="rect">
            <a:avLst/>
          </a:prstGeom>
          <a:noFill/>
        </p:spPr>
        <p:txBody>
          <a:bodyPr wrap="square">
            <a:spAutoFit/>
          </a:bodyPr>
          <a:lstStyle/>
          <a:p>
            <a:r>
              <a:rPr lang="en-IN" dirty="0"/>
              <a:t>The overall envelope (how thick/tall the band is at each point) shows </a:t>
            </a:r>
            <a:r>
              <a:rPr lang="en-IN" b="1" dirty="0"/>
              <a:t>loudness/intensity changes</a:t>
            </a:r>
            <a:r>
              <a:rPr lang="en-IN" dirty="0"/>
              <a:t> over the course of the clip</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5553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What Is A Sample?</a:t>
            </a:r>
          </a:p>
          <a:p>
            <a:pPr algn="l">
              <a:lnSpc>
                <a:spcPts val="3600"/>
              </a:lnSpc>
            </a:pPr>
            <a:r>
              <a:rPr lang="en-US" sz="3000" dirty="0">
                <a:solidFill>
                  <a:srgbClr val="000000"/>
                </a:solidFill>
                <a:latin typeface="Calibri (MS)"/>
                <a:ea typeface="Calibri (MS)"/>
                <a:cs typeface="Calibri (MS)"/>
                <a:sym typeface="Calibri (MS)"/>
              </a:rPr>
              <a:t>A sample is a single measurement of an audio signal's amplitude at a particular instant in time.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Real-world sound is continuous</a:t>
            </a:r>
            <a:r>
              <a:rPr lang="en-US" sz="3000" dirty="0">
                <a:solidFill>
                  <a:srgbClr val="000000"/>
                </a:solidFill>
                <a:latin typeface="Calibri (MS)"/>
                <a:ea typeface="Calibri (MS)"/>
                <a:cs typeface="Calibri (MS)"/>
                <a:sym typeface="Calibri (MS)"/>
              </a:rPr>
              <a:t>. For example, when someone speaks, the air pressure around the microphone changes continuously.</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microphone converts these physical changes into an </a:t>
            </a:r>
            <a:r>
              <a:rPr lang="en-US" sz="3000" b="1" dirty="0">
                <a:solidFill>
                  <a:srgbClr val="000000"/>
                </a:solidFill>
                <a:latin typeface="Calibri (MS)"/>
                <a:ea typeface="Calibri (MS)"/>
                <a:cs typeface="Calibri (MS)"/>
                <a:sym typeface="Calibri (MS)"/>
              </a:rPr>
              <a:t>electrical signal</a:t>
            </a:r>
            <a:r>
              <a:rPr lang="en-US" sz="3000" dirty="0">
                <a:solidFill>
                  <a:srgbClr val="000000"/>
                </a:solidFill>
                <a:latin typeface="Calibri (MS)"/>
                <a:ea typeface="Calibri (MS)"/>
                <a:cs typeface="Calibri (MS)"/>
                <a:sym typeface="Calibri (MS)"/>
              </a:rPr>
              <a:t>. However, a computer cannot store an infinitely continuous signal directly. Instead, it measures the signal at discrete points in time.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Each measurement is a sample.</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Every sample can be thought of as having:</a:t>
            </a:r>
          </a:p>
          <a:p>
            <a:pPr marL="647700" lvl="1" indent="-323850" algn="l">
              <a:lnSpc>
                <a:spcPts val="3600"/>
              </a:lnSpc>
              <a:buAutoNum type="arabicPeriod"/>
            </a:pPr>
            <a:r>
              <a:rPr lang="en-US" sz="3000" b="1" dirty="0">
                <a:solidFill>
                  <a:srgbClr val="000000"/>
                </a:solidFill>
                <a:latin typeface="Calibri (MS)"/>
                <a:ea typeface="Calibri (MS)"/>
                <a:cs typeface="Calibri (MS)"/>
                <a:sym typeface="Calibri (MS)"/>
              </a:rPr>
              <a:t>A time position — when the measurement was taken.</a:t>
            </a:r>
          </a:p>
          <a:p>
            <a:pPr marL="647700" lvl="1" indent="-323850" algn="l">
              <a:lnSpc>
                <a:spcPts val="3600"/>
              </a:lnSpc>
              <a:buAutoNum type="arabicPeriod"/>
            </a:pPr>
            <a:r>
              <a:rPr lang="en-US" sz="3000" b="1" dirty="0">
                <a:solidFill>
                  <a:srgbClr val="000000"/>
                </a:solidFill>
                <a:latin typeface="Calibri (MS)"/>
                <a:ea typeface="Calibri (MS)"/>
                <a:cs typeface="Calibri (MS)"/>
                <a:sym typeface="Calibri (MS)"/>
              </a:rPr>
              <a:t>An amplitude value — how strong the signal was at that instant.</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Samples And Duration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4616648"/>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Digital Audio And Sampling</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digital audio signal is created by taking </a:t>
            </a:r>
            <a:r>
              <a:rPr lang="en-US" sz="3000" b="1" dirty="0">
                <a:solidFill>
                  <a:srgbClr val="000000"/>
                </a:solidFill>
                <a:latin typeface="Calibri (MS)"/>
                <a:ea typeface="Calibri (MS)"/>
                <a:cs typeface="Calibri (MS)"/>
                <a:sym typeface="Calibri (MS)"/>
              </a:rPr>
              <a:t>discrete measurements, called samples, from a continuous sound signal.</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The sampling rate specifies how many samples are taken every second and is measured in Hertz (Hz).</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A higher sampling rate means that the audio signal is represented using more samples over the same period of time.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The total number of samples depends on both the sampling rate and the duration of the recording.</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Relationship</a:t>
            </a:r>
          </a:p>
        </p:txBody>
      </p:sp>
      <p:sp>
        <p:nvSpPr>
          <p:cNvPr id="6" name="Freeform 6"/>
          <p:cNvSpPr/>
          <p:nvPr/>
        </p:nvSpPr>
        <p:spPr>
          <a:xfrm>
            <a:off x="681104" y="7201293"/>
            <a:ext cx="3470456" cy="1159833"/>
          </a:xfrm>
          <a:custGeom>
            <a:avLst/>
            <a:gdLst/>
            <a:ahLst/>
            <a:cxnLst/>
            <a:rect l="l" t="t" r="r" b="b"/>
            <a:pathLst>
              <a:path w="3470456" h="1159833">
                <a:moveTo>
                  <a:pt x="0" y="0"/>
                </a:moveTo>
                <a:lnTo>
                  <a:pt x="3470456" y="0"/>
                </a:lnTo>
                <a:lnTo>
                  <a:pt x="3470456" y="1159833"/>
                </a:lnTo>
                <a:lnTo>
                  <a:pt x="0" y="1159833"/>
                </a:lnTo>
                <a:lnTo>
                  <a:pt x="0" y="0"/>
                </a:lnTo>
                <a:close/>
              </a:path>
            </a:pathLst>
          </a:custGeom>
          <a:blipFill>
            <a:blip r:embed="rId3"/>
            <a:stretch>
              <a:fillRect l="-6864" b="-4108"/>
            </a:stretch>
          </a:blipFill>
        </p:spPr>
        <p:txBody>
          <a:bodyPr/>
          <a:lstStyle/>
          <a:p>
            <a:endParaRPr lang="en-IN"/>
          </a:p>
        </p:txBody>
      </p:sp>
      <p:sp>
        <p:nvSpPr>
          <p:cNvPr id="7" name="Freeform 7"/>
          <p:cNvSpPr/>
          <p:nvPr/>
        </p:nvSpPr>
        <p:spPr>
          <a:xfrm>
            <a:off x="4357161" y="7401318"/>
            <a:ext cx="6788262" cy="2241607"/>
          </a:xfrm>
          <a:custGeom>
            <a:avLst/>
            <a:gdLst/>
            <a:ahLst/>
            <a:cxnLst/>
            <a:rect l="l" t="t" r="r" b="b"/>
            <a:pathLst>
              <a:path w="6788262" h="2241607">
                <a:moveTo>
                  <a:pt x="0" y="0"/>
                </a:moveTo>
                <a:lnTo>
                  <a:pt x="6788261" y="0"/>
                </a:lnTo>
                <a:lnTo>
                  <a:pt x="6788261" y="2241607"/>
                </a:lnTo>
                <a:lnTo>
                  <a:pt x="0" y="2241607"/>
                </a:lnTo>
                <a:lnTo>
                  <a:pt x="0" y="0"/>
                </a:lnTo>
                <a:close/>
              </a:path>
            </a:pathLst>
          </a:custGeom>
          <a:blipFill>
            <a:blip r:embed="rId4"/>
            <a:stretch>
              <a:fillRect/>
            </a:stretch>
          </a:blipFill>
        </p:spPr>
        <p:txBody>
          <a:bodyPr/>
          <a:lstStyle/>
          <a:p>
            <a:endParaRPr lang="en-IN"/>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Samples And Duration: Numerical</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5712217" y="3286518"/>
            <a:ext cx="5679100" cy="1696661"/>
          </a:xfrm>
          <a:custGeom>
            <a:avLst/>
            <a:gdLst/>
            <a:ahLst/>
            <a:cxnLst/>
            <a:rect l="l" t="t" r="r" b="b"/>
            <a:pathLst>
              <a:path w="5679100" h="1696661">
                <a:moveTo>
                  <a:pt x="0" y="0"/>
                </a:moveTo>
                <a:lnTo>
                  <a:pt x="5679100" y="0"/>
                </a:lnTo>
                <a:lnTo>
                  <a:pt x="5679100" y="1696661"/>
                </a:lnTo>
                <a:lnTo>
                  <a:pt x="0" y="1696661"/>
                </a:lnTo>
                <a:lnTo>
                  <a:pt x="0" y="0"/>
                </a:lnTo>
                <a:close/>
              </a:path>
            </a:pathLst>
          </a:custGeom>
          <a:blipFill>
            <a:blip r:embed="rId3"/>
            <a:stretch>
              <a:fillRect/>
            </a:stretch>
          </a:blipFill>
        </p:spPr>
        <p:txBody>
          <a:bodyPr/>
          <a:lstStyle/>
          <a:p>
            <a:endParaRPr lang="en-IN"/>
          </a:p>
        </p:txBody>
      </p:sp>
      <p:sp>
        <p:nvSpPr>
          <p:cNvPr id="6" name="Freeform 6"/>
          <p:cNvSpPr/>
          <p:nvPr/>
        </p:nvSpPr>
        <p:spPr>
          <a:xfrm>
            <a:off x="6050628" y="5143500"/>
            <a:ext cx="5002277" cy="2140614"/>
          </a:xfrm>
          <a:custGeom>
            <a:avLst/>
            <a:gdLst/>
            <a:ahLst/>
            <a:cxnLst/>
            <a:rect l="l" t="t" r="r" b="b"/>
            <a:pathLst>
              <a:path w="5002277" h="2140614">
                <a:moveTo>
                  <a:pt x="0" y="0"/>
                </a:moveTo>
                <a:lnTo>
                  <a:pt x="5002278" y="0"/>
                </a:lnTo>
                <a:lnTo>
                  <a:pt x="5002278" y="2140614"/>
                </a:lnTo>
                <a:lnTo>
                  <a:pt x="0" y="2140614"/>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681104" y="2048268"/>
            <a:ext cx="15741325"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Example:</a:t>
            </a:r>
          </a:p>
          <a:p>
            <a:pPr algn="l">
              <a:lnSpc>
                <a:spcPts val="3600"/>
              </a:lnSpc>
            </a:pPr>
            <a:r>
              <a:rPr lang="en-US" sz="3000">
                <a:solidFill>
                  <a:srgbClr val="000000"/>
                </a:solidFill>
                <a:latin typeface="Calibri (MS)"/>
                <a:ea typeface="Calibri (MS)"/>
                <a:cs typeface="Calibri (MS)"/>
                <a:sym typeface="Calibri (MS)"/>
              </a:rPr>
              <a:t>A 2-second audio recording is sampled at 16 kHz. How many samples are recorded?</a:t>
            </a:r>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Samples And Duration: Numerical</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10" name="TextBox 10"/>
          <p:cNvSpPr txBox="1"/>
          <p:nvPr/>
        </p:nvSpPr>
        <p:spPr>
          <a:xfrm>
            <a:off x="681104" y="7474614"/>
            <a:ext cx="15741325" cy="981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Interpretation: </a:t>
            </a:r>
            <a:r>
              <a:rPr lang="en-US" sz="3000">
                <a:solidFill>
                  <a:srgbClr val="000000"/>
                </a:solidFill>
                <a:latin typeface="Calibri (MS)"/>
                <a:ea typeface="Calibri (MS)"/>
                <a:cs typeface="Calibri (MS)"/>
                <a:sym typeface="Calibri (MS)"/>
              </a:rPr>
              <a:t>The computer records 32,000 amplitude measurements during the 2-second recording.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55530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A waveform is a time-domain visualization that represents the amplitude of an audio signal as it changes over time.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The horizontal axis represents time, while the vertical axis represents signal amplitude</a:t>
            </a:r>
            <a:r>
              <a:rPr lang="en-US" sz="3000" dirty="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Large amplitude variations can indicate louder</a:t>
            </a:r>
            <a:r>
              <a:rPr lang="en-US" sz="3000" dirty="0">
                <a:solidFill>
                  <a:srgbClr val="000000"/>
                </a:solidFill>
                <a:latin typeface="Calibri (MS)"/>
                <a:ea typeface="Calibri (MS)"/>
                <a:cs typeface="Calibri (MS)"/>
                <a:sym typeface="Calibri (MS)"/>
              </a:rPr>
              <a:t> or more energetic portions of the signal.</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Quiet regions and sudden changes in amplitude can help identify silence</a:t>
            </a:r>
            <a:r>
              <a:rPr lang="en-US" sz="3000" dirty="0">
                <a:solidFill>
                  <a:srgbClr val="000000"/>
                </a:solidFill>
                <a:latin typeface="Calibri (MS)"/>
                <a:ea typeface="Calibri (MS)"/>
                <a:cs typeface="Calibri (MS)"/>
                <a:sym typeface="Calibri (MS)"/>
              </a:rPr>
              <a:t>, transitions, and transient events.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waveform preserves temporal information but </a:t>
            </a:r>
            <a:r>
              <a:rPr lang="en-US" sz="3000" b="1" dirty="0">
                <a:solidFill>
                  <a:srgbClr val="000000"/>
                </a:solidFill>
                <a:latin typeface="Calibri (MS)"/>
                <a:ea typeface="Calibri (MS)"/>
                <a:cs typeface="Calibri (MS)"/>
                <a:sym typeface="Calibri (MS)"/>
              </a:rPr>
              <a:t>does not directly reveal the individual frequencies contributing to the signal.</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dirty="0">
                <a:solidFill>
                  <a:srgbClr val="000000"/>
                </a:solidFill>
                <a:latin typeface="Calibri (MS)"/>
                <a:ea typeface="Calibri (MS)"/>
                <a:cs typeface="Calibri (MS)"/>
                <a:sym typeface="Calibri (MS)"/>
              </a:rPr>
              <a:t>💡Visualization Question: </a:t>
            </a:r>
            <a:r>
              <a:rPr lang="en-US" sz="3000" i="1" dirty="0">
                <a:solidFill>
                  <a:srgbClr val="000000"/>
                </a:solidFill>
                <a:latin typeface="Calibri (MS) Italics"/>
                <a:ea typeface="Calibri (MS) Italics"/>
                <a:cs typeface="Calibri (MS) Italics"/>
                <a:sym typeface="Calibri (MS) Italics"/>
              </a:rPr>
              <a:t>what happened to the signal over time?</a:t>
            </a:r>
          </a:p>
          <a:p>
            <a:pPr algn="l">
              <a:lnSpc>
                <a:spcPts val="3600"/>
              </a:lnSpc>
            </a:pPr>
            <a:r>
              <a:rPr lang="en-US" sz="3000" dirty="0">
                <a:solidFill>
                  <a:srgbClr val="000000"/>
                </a:solidFill>
                <a:latin typeface="Calibri (MS)"/>
                <a:ea typeface="Calibri (MS)"/>
                <a:cs typeface="Calibri (MS)"/>
                <a:sym typeface="Calibri (MS)"/>
              </a:rPr>
              <a:t>This makes the waveform the audio equivalent of looking at an image's spatial intensity distribution before moving to more derived representations.</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Waveform Visualization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8">
            <a:extLst>
              <a:ext uri="{FF2B5EF4-FFF2-40B4-BE49-F238E27FC236}">
                <a16:creationId xmlns:a16="http://schemas.microsoft.com/office/drawing/2014/main" id="{82BACFE9-60D6-DB24-6D8C-83AC24B4EC7F}"/>
              </a:ext>
            </a:extLst>
          </p:cNvPr>
          <p:cNvSpPr txBox="1"/>
          <p:nvPr/>
        </p:nvSpPr>
        <p:spPr>
          <a:xfrm>
            <a:off x="2971800" y="8313272"/>
            <a:ext cx="9153144" cy="954107"/>
          </a:xfrm>
          <a:prstGeom prst="rect">
            <a:avLst/>
          </a:prstGeom>
          <a:noFill/>
        </p:spPr>
        <p:txBody>
          <a:bodyPr wrap="square">
            <a:spAutoFit/>
          </a:bodyPr>
          <a:lstStyle/>
          <a:p>
            <a:r>
              <a:rPr lang="en-IN" sz="2800" b="1" dirty="0"/>
              <a:t>a waveform is to audio what a raw image's intensity/spatial distribution is to a picture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73818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A spectrogram is a visual representation of how the frequency content of an audio signal changes over time.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The horizontal axis represents time, while the vertical axis represents frequency</a:t>
            </a:r>
            <a:r>
              <a:rPr lang="en-US" sz="3000" dirty="0">
                <a:solidFill>
                  <a:srgbClr val="000000"/>
                </a:solidFill>
                <a:latin typeface="Calibri (MS)"/>
                <a:ea typeface="Calibri (MS)"/>
                <a:cs typeface="Calibri (MS)"/>
                <a:sym typeface="Calibri (MS)"/>
              </a:rPr>
              <a:t>.</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Color or lightness represents the magnitude or energy of the signal at each time–frequency location.</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 spectrogram is typically </a:t>
            </a:r>
            <a:r>
              <a:rPr lang="en-US" sz="3000" b="1" dirty="0">
                <a:solidFill>
                  <a:srgbClr val="000000"/>
                </a:solidFill>
                <a:latin typeface="Calibri (MS)"/>
                <a:ea typeface="Calibri (MS)"/>
                <a:cs typeface="Calibri (MS)"/>
                <a:sym typeface="Calibri (MS)"/>
              </a:rPr>
              <a:t>generated by dividing the audio signal into short segments</a:t>
            </a:r>
            <a:r>
              <a:rPr lang="en-US" sz="3000" dirty="0">
                <a:solidFill>
                  <a:srgbClr val="000000"/>
                </a:solidFill>
                <a:latin typeface="Calibri (MS)"/>
                <a:ea typeface="Calibri (MS)"/>
                <a:cs typeface="Calibri (MS)"/>
                <a:sym typeface="Calibri (MS)"/>
              </a:rPr>
              <a:t> and calculating the frequency content of each segment.</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It allows </a:t>
            </a:r>
            <a:r>
              <a:rPr lang="en-US" sz="3000" b="1" dirty="0">
                <a:solidFill>
                  <a:srgbClr val="000000"/>
                </a:solidFill>
                <a:latin typeface="Calibri (MS)"/>
                <a:ea typeface="Calibri (MS)"/>
                <a:cs typeface="Calibri (MS)"/>
                <a:sym typeface="Calibri (MS)"/>
              </a:rPr>
              <a:t>temporal events and their frequency </a:t>
            </a:r>
            <a:r>
              <a:rPr lang="en-US" sz="3000" dirty="0">
                <a:solidFill>
                  <a:srgbClr val="000000"/>
                </a:solidFill>
                <a:latin typeface="Calibri (MS)"/>
                <a:ea typeface="Calibri (MS)"/>
                <a:cs typeface="Calibri (MS)"/>
                <a:sym typeface="Calibri (MS)"/>
              </a:rPr>
              <a:t>characteristics to be examined simultaneously.</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Reading A Spectrogram</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Horizontal bands indicate frequency components that persist over time.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Short vertical patterns indicate brief events containing a range of frequencies.</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Stronger visual intensity indicates greater spectral magnitude.</a:t>
            </a:r>
          </a:p>
          <a:p>
            <a:pPr marL="647700" lvl="1" indent="-323850" algn="l">
              <a:lnSpc>
                <a:spcPts val="3600"/>
              </a:lnSpc>
              <a:buFont typeface="Arial"/>
              <a:buChar char="•"/>
            </a:pPr>
            <a:r>
              <a:rPr lang="en-US" sz="3000" b="1" dirty="0">
                <a:solidFill>
                  <a:srgbClr val="000000"/>
                </a:solidFill>
                <a:latin typeface="Calibri (MS)"/>
                <a:ea typeface="Calibri (MS)"/>
                <a:cs typeface="Calibri (MS)"/>
                <a:sym typeface="Calibri (MS)"/>
              </a:rPr>
              <a:t>Different sounds can produce distinctive patterns across the time–frequency plane.</a:t>
            </a:r>
          </a:p>
          <a:p>
            <a:pPr algn="l">
              <a:lnSpc>
                <a:spcPts val="3600"/>
              </a:lnSpc>
            </a:pPr>
            <a:endParaRPr lang="en-US" sz="3000" b="1"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Visualization Perspective:</a:t>
            </a:r>
            <a:r>
              <a:rPr lang="en-US" sz="3000" dirty="0">
                <a:solidFill>
                  <a:srgbClr val="000000"/>
                </a:solidFill>
                <a:latin typeface="Calibri (MS)"/>
                <a:ea typeface="Calibri (MS)"/>
                <a:cs typeface="Calibri (MS)"/>
                <a:sym typeface="Calibri (MS)"/>
              </a:rPr>
              <a:t> </a:t>
            </a:r>
            <a:r>
              <a:rPr lang="en-US" sz="3000" i="1" dirty="0">
                <a:solidFill>
                  <a:srgbClr val="000000"/>
                </a:solidFill>
                <a:latin typeface="Calibri (MS) Italics"/>
                <a:ea typeface="Calibri (MS) Italics"/>
                <a:cs typeface="Calibri (MS) Italics"/>
                <a:sym typeface="Calibri (MS) Italics"/>
              </a:rPr>
              <a:t>Time × Frequency × Magnitude</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Spectrograms</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9" name="TextBox 8">
            <a:extLst>
              <a:ext uri="{FF2B5EF4-FFF2-40B4-BE49-F238E27FC236}">
                <a16:creationId xmlns:a16="http://schemas.microsoft.com/office/drawing/2014/main" id="{CB78F772-AF15-0966-E544-61035B38DDC2}"/>
              </a:ext>
            </a:extLst>
          </p:cNvPr>
          <p:cNvSpPr txBox="1"/>
          <p:nvPr/>
        </p:nvSpPr>
        <p:spPr>
          <a:xfrm>
            <a:off x="4567428" y="996430"/>
            <a:ext cx="9153144" cy="830997"/>
          </a:xfrm>
          <a:prstGeom prst="rect">
            <a:avLst/>
          </a:prstGeom>
          <a:noFill/>
        </p:spPr>
        <p:txBody>
          <a:bodyPr wrap="square">
            <a:spAutoFit/>
          </a:bodyPr>
          <a:lstStyle/>
          <a:p>
            <a:r>
              <a:rPr lang="en-IN" sz="2400" b="1" dirty="0"/>
              <a:t>a waveform shows </a:t>
            </a:r>
            <a:r>
              <a:rPr lang="en-IN" sz="2400" b="1" i="1" dirty="0"/>
              <a:t>when</a:t>
            </a:r>
            <a:r>
              <a:rPr lang="en-IN" sz="2400" b="1" dirty="0"/>
              <a:t> and </a:t>
            </a:r>
            <a:r>
              <a:rPr lang="en-IN" sz="2400" b="1" i="1" dirty="0"/>
              <a:t>how loud</a:t>
            </a:r>
            <a:r>
              <a:rPr lang="en-IN" sz="2400" b="1" dirty="0"/>
              <a:t>, but not </a:t>
            </a:r>
            <a:r>
              <a:rPr lang="en-IN" sz="2400" b="1" i="1" dirty="0"/>
              <a:t>what frequencies</a:t>
            </a:r>
            <a:r>
              <a:rPr lang="en-IN" sz="2400" b="1" dirty="0"/>
              <a:t>. A spectrogram fixes that.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Freeform 5"/>
          <p:cNvSpPr/>
          <p:nvPr/>
        </p:nvSpPr>
        <p:spPr>
          <a:xfrm>
            <a:off x="681104" y="3234130"/>
            <a:ext cx="6408842" cy="4023528"/>
          </a:xfrm>
          <a:custGeom>
            <a:avLst/>
            <a:gdLst/>
            <a:ahLst/>
            <a:cxnLst/>
            <a:rect l="l" t="t" r="r" b="b"/>
            <a:pathLst>
              <a:path w="6408842" h="6117531">
                <a:moveTo>
                  <a:pt x="0" y="0"/>
                </a:moveTo>
                <a:lnTo>
                  <a:pt x="6408842" y="0"/>
                </a:lnTo>
                <a:lnTo>
                  <a:pt x="6408842" y="6117531"/>
                </a:lnTo>
                <a:lnTo>
                  <a:pt x="0" y="6117531"/>
                </a:lnTo>
                <a:lnTo>
                  <a:pt x="0" y="0"/>
                </a:lnTo>
                <a:close/>
              </a:path>
            </a:pathLst>
          </a:custGeom>
          <a:blipFill>
            <a:blip r:embed="rId3"/>
            <a:stretch>
              <a:fillRect/>
            </a:stretch>
          </a:blipFill>
        </p:spPr>
        <p:txBody>
          <a:bodyPr/>
          <a:lstStyle/>
          <a:p>
            <a:endParaRPr lang="en-IN"/>
          </a:p>
        </p:txBody>
      </p:sp>
      <p:sp>
        <p:nvSpPr>
          <p:cNvPr id="6" name="Freeform 6"/>
          <p:cNvSpPr/>
          <p:nvPr/>
        </p:nvSpPr>
        <p:spPr>
          <a:xfrm>
            <a:off x="9140952" y="2944555"/>
            <a:ext cx="6175248" cy="4023528"/>
          </a:xfrm>
          <a:custGeom>
            <a:avLst/>
            <a:gdLst/>
            <a:ahLst/>
            <a:cxnLst/>
            <a:rect l="l" t="t" r="r" b="b"/>
            <a:pathLst>
              <a:path w="9550291" h="6337409">
                <a:moveTo>
                  <a:pt x="0" y="0"/>
                </a:moveTo>
                <a:lnTo>
                  <a:pt x="9550291" y="0"/>
                </a:lnTo>
                <a:lnTo>
                  <a:pt x="9550291" y="6337409"/>
                </a:lnTo>
                <a:lnTo>
                  <a:pt x="0" y="6337409"/>
                </a:lnTo>
                <a:lnTo>
                  <a:pt x="0" y="0"/>
                </a:lnTo>
                <a:close/>
              </a:path>
            </a:pathLst>
          </a:custGeom>
          <a:blipFill>
            <a:blip r:embed="rId4"/>
            <a:stretch>
              <a:fillRect/>
            </a:stretch>
          </a:blipFill>
        </p:spPr>
        <p:txBody>
          <a:bodyPr/>
          <a:lstStyle/>
          <a:p>
            <a:endParaRPr lang="en-IN"/>
          </a:p>
        </p:txBody>
      </p:sp>
      <p:sp>
        <p:nvSpPr>
          <p:cNvPr id="7" name="TextBox 7"/>
          <p:cNvSpPr txBox="1"/>
          <p:nvPr/>
        </p:nvSpPr>
        <p:spPr>
          <a:xfrm>
            <a:off x="681104" y="2048268"/>
            <a:ext cx="15741325" cy="981075"/>
          </a:xfrm>
          <a:prstGeom prst="rect">
            <a:avLst/>
          </a:prstGeom>
        </p:spPr>
        <p:txBody>
          <a:bodyPr lIns="0" tIns="0" rIns="0" bIns="0" rtlCol="0" anchor="t">
            <a:spAutoFit/>
          </a:bodyPr>
          <a:lstStyle/>
          <a:p>
            <a:pPr algn="l">
              <a:lnSpc>
                <a:spcPts val="3600"/>
              </a:lnSpc>
            </a:pPr>
            <a:r>
              <a:rPr lang="en-US" sz="3000">
                <a:solidFill>
                  <a:srgbClr val="000000"/>
                </a:solidFill>
                <a:latin typeface="Calibri (MS)"/>
                <a:ea typeface="Calibri (MS)"/>
                <a:cs typeface="Calibri (MS)"/>
                <a:sym typeface="Calibri (MS)"/>
              </a:rPr>
              <a:t>A waveform shows how a signal changes over time, whereas a spectrogram additionally reveals how its frequency composition changes over time.</a:t>
            </a:r>
          </a:p>
        </p:txBody>
      </p:sp>
      <p:sp>
        <p:nvSpPr>
          <p:cNvPr id="8" name="TextBox 8"/>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Spectrograms</a:t>
            </a:r>
          </a:p>
        </p:txBody>
      </p:sp>
      <p:sp>
        <p:nvSpPr>
          <p:cNvPr id="9" name="TextBox 9"/>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pic>
        <p:nvPicPr>
          <p:cNvPr id="11" name="Picture 10">
            <a:extLst>
              <a:ext uri="{FF2B5EF4-FFF2-40B4-BE49-F238E27FC236}">
                <a16:creationId xmlns:a16="http://schemas.microsoft.com/office/drawing/2014/main" id="{7C53CA6F-3AAE-F7E2-EA69-F43C1D1F2072}"/>
              </a:ext>
            </a:extLst>
          </p:cNvPr>
          <p:cNvPicPr>
            <a:picLocks noChangeAspect="1"/>
          </p:cNvPicPr>
          <p:nvPr/>
        </p:nvPicPr>
        <p:blipFill>
          <a:blip r:embed="rId5"/>
          <a:stretch>
            <a:fillRect/>
          </a:stretch>
        </p:blipFill>
        <p:spPr>
          <a:xfrm>
            <a:off x="-39624" y="7524364"/>
            <a:ext cx="10831437" cy="2762636"/>
          </a:xfrm>
          <a:prstGeom prst="rect">
            <a:avLst/>
          </a:prstGeom>
        </p:spPr>
      </p:pic>
      <p:pic>
        <p:nvPicPr>
          <p:cNvPr id="13" name="Picture 12">
            <a:extLst>
              <a:ext uri="{FF2B5EF4-FFF2-40B4-BE49-F238E27FC236}">
                <a16:creationId xmlns:a16="http://schemas.microsoft.com/office/drawing/2014/main" id="{931602F3-2938-7138-80F2-F12C02910187}"/>
              </a:ext>
            </a:extLst>
          </p:cNvPr>
          <p:cNvPicPr>
            <a:picLocks noChangeAspect="1"/>
          </p:cNvPicPr>
          <p:nvPr/>
        </p:nvPicPr>
        <p:blipFill>
          <a:blip r:embed="rId6"/>
          <a:stretch>
            <a:fillRect/>
          </a:stretch>
        </p:blipFill>
        <p:spPr>
          <a:xfrm>
            <a:off x="10810101" y="7695838"/>
            <a:ext cx="7558824" cy="241968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6467475"/>
          </a:xfrm>
          <a:prstGeom prst="rect">
            <a:avLst/>
          </a:prstGeom>
        </p:spPr>
        <p:txBody>
          <a:bodyPr lIns="0" tIns="0" rIns="0" bIns="0" rtlCol="0" anchor="t">
            <a:spAutoFit/>
          </a:bodyPr>
          <a:lstStyle/>
          <a:p>
            <a:pPr algn="l">
              <a:lnSpc>
                <a:spcPts val="3600"/>
              </a:lnSpc>
            </a:pPr>
            <a:r>
              <a:rPr lang="en-US" sz="3000" b="1" dirty="0">
                <a:solidFill>
                  <a:srgbClr val="000000"/>
                </a:solidFill>
                <a:latin typeface="Calibri (MS) Bold"/>
                <a:ea typeface="Calibri (MS) Bold"/>
                <a:cs typeface="Calibri (MS) Bold"/>
                <a:sym typeface="Calibri (MS) Bold"/>
              </a:rPr>
              <a:t>Multimedia Visualization</a:t>
            </a:r>
          </a:p>
          <a:p>
            <a:pPr algn="l">
              <a:lnSpc>
                <a:spcPts val="3600"/>
              </a:lnSpc>
            </a:pPr>
            <a:r>
              <a:rPr lang="en-US" sz="3000" dirty="0">
                <a:solidFill>
                  <a:srgbClr val="000000"/>
                </a:solidFill>
                <a:latin typeface="Calibri (MS)"/>
                <a:ea typeface="Calibri (MS)"/>
                <a:cs typeface="Calibri (MS)"/>
                <a:sym typeface="Calibri (MS)"/>
              </a:rPr>
              <a:t>Multimedia visualization combines </a:t>
            </a:r>
            <a:r>
              <a:rPr lang="en-US" sz="3000" b="1" dirty="0">
                <a:solidFill>
                  <a:srgbClr val="000000"/>
                </a:solidFill>
                <a:latin typeface="Calibri (MS)"/>
                <a:ea typeface="Calibri (MS)"/>
                <a:cs typeface="Calibri (MS)"/>
                <a:sym typeface="Calibri (MS)"/>
              </a:rPr>
              <a:t>multiple data modalities </a:t>
            </a:r>
            <a:r>
              <a:rPr lang="en-US" sz="3000" dirty="0">
                <a:solidFill>
                  <a:srgbClr val="000000"/>
                </a:solidFill>
                <a:latin typeface="Calibri (MS)"/>
                <a:ea typeface="Calibri (MS)"/>
                <a:cs typeface="Calibri (MS)"/>
                <a:sym typeface="Calibri (MS)"/>
              </a:rPr>
              <a:t>to provide complementary views of the same event, object, or process.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Images provide detailed spatial information about objects, scenes, and visual features.</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Video adds temporal information and allows changes and motion to be examined.</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Audio provides temporal and frequency information that may not be visible in the video.</a:t>
            </a:r>
          </a:p>
          <a:p>
            <a:pPr algn="l">
              <a:lnSpc>
                <a:spcPts val="3600"/>
              </a:lnSpc>
            </a:pPr>
            <a:endParaRPr lang="en-US" sz="3000" dirty="0">
              <a:solidFill>
                <a:srgbClr val="000000"/>
              </a:solidFill>
              <a:latin typeface="Calibri (MS)"/>
              <a:ea typeface="Calibri (MS)"/>
              <a:cs typeface="Calibri (MS)"/>
              <a:sym typeface="Calibri (MS)"/>
            </a:endParaRPr>
          </a:p>
          <a:p>
            <a:pPr algn="l">
              <a:lnSpc>
                <a:spcPts val="3600"/>
              </a:lnSpc>
            </a:pPr>
            <a:r>
              <a:rPr lang="en-US" sz="3000" b="1" dirty="0">
                <a:solidFill>
                  <a:srgbClr val="000000"/>
                </a:solidFill>
                <a:latin typeface="Calibri (MS) Bold"/>
                <a:ea typeface="Calibri (MS) Bold"/>
                <a:cs typeface="Calibri (MS) Bold"/>
                <a:sym typeface="Calibri (MS) Bold"/>
              </a:rPr>
              <a:t>Synchronized Visualization</a:t>
            </a:r>
          </a:p>
          <a:p>
            <a:pPr algn="l">
              <a:lnSpc>
                <a:spcPts val="3600"/>
              </a:lnSpc>
            </a:pPr>
            <a:r>
              <a:rPr lang="en-US" sz="3000" dirty="0">
                <a:solidFill>
                  <a:srgbClr val="000000"/>
                </a:solidFill>
                <a:latin typeface="Calibri (MS)"/>
                <a:ea typeface="Calibri (MS)"/>
                <a:cs typeface="Calibri (MS)"/>
                <a:sym typeface="Calibri (MS)"/>
              </a:rPr>
              <a:t>Different modalities can be linked using a common temporal reference:</a:t>
            </a:r>
          </a:p>
          <a:p>
            <a:pPr algn="l">
              <a:lnSpc>
                <a:spcPts val="3600"/>
              </a:lnSpc>
            </a:pPr>
            <a:r>
              <a:rPr lang="en-US" sz="3000" i="1" dirty="0">
                <a:solidFill>
                  <a:srgbClr val="000000"/>
                </a:solidFill>
                <a:latin typeface="Calibri (MS) Italics"/>
                <a:ea typeface="Calibri (MS) Italics"/>
                <a:cs typeface="Calibri (MS) Italics"/>
                <a:sym typeface="Calibri (MS) Italics"/>
              </a:rPr>
              <a:t>Image/Video Frame ↔ Time ↔ Audio Segment</a:t>
            </a:r>
          </a:p>
          <a:p>
            <a:pPr algn="l">
              <a:lnSpc>
                <a:spcPts val="3600"/>
              </a:lnSpc>
            </a:pPr>
            <a:r>
              <a:rPr lang="en-US" sz="3000" dirty="0">
                <a:solidFill>
                  <a:srgbClr val="000000"/>
                </a:solidFill>
                <a:latin typeface="Calibri (MS)"/>
                <a:ea typeface="Calibri (MS)"/>
                <a:cs typeface="Calibri (MS)"/>
                <a:sym typeface="Calibri (MS)"/>
              </a:rPr>
              <a:t>For example, selecting a particular moment in a video can simultaneously display:</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corresponding video frame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relevant position on the timeline</a:t>
            </a:r>
          </a:p>
          <a:p>
            <a:pPr marL="647700" lvl="1" indent="-323850" algn="l">
              <a:lnSpc>
                <a:spcPts val="3600"/>
              </a:lnSpc>
              <a:buFont typeface="Arial"/>
              <a:buChar char="•"/>
            </a:pPr>
            <a:r>
              <a:rPr lang="en-US" sz="3000" dirty="0">
                <a:solidFill>
                  <a:srgbClr val="000000"/>
                </a:solidFill>
                <a:latin typeface="Calibri (MS)"/>
                <a:ea typeface="Calibri (MS)"/>
                <a:cs typeface="Calibri (MS)"/>
                <a:sym typeface="Calibri (MS)"/>
              </a:rPr>
              <a:t>The corresponding audio waveform or spectrogram</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Image–Video–Audio Integration</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78390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Surveillance And Security: </a:t>
            </a:r>
            <a:r>
              <a:rPr lang="en-US" sz="3000">
                <a:solidFill>
                  <a:srgbClr val="000000"/>
                </a:solidFill>
                <a:latin typeface="Calibri (MS)"/>
                <a:ea typeface="Calibri (MS)"/>
                <a:cs typeface="Calibri (MS)"/>
                <a:sym typeface="Calibri (MS)"/>
              </a:rPr>
              <a:t>Video frames, motion information, timelines, and audio can be combined to identify and review significant events within long recordings.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Medical And Scientific Imaging: </a:t>
            </a:r>
            <a:r>
              <a:rPr lang="en-US" sz="3000">
                <a:solidFill>
                  <a:srgbClr val="000000"/>
                </a:solidFill>
                <a:latin typeface="Calibri (MS)"/>
                <a:ea typeface="Calibri (MS)"/>
                <a:cs typeface="Calibri (MS)"/>
                <a:sym typeface="Calibri (MS)"/>
              </a:rPr>
              <a:t>Images and video can be combined with temporal measurements or other sensor data to examine changes in biological or physical systems.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Remote Sensing And Geospatial Analysis: </a:t>
            </a:r>
            <a:r>
              <a:rPr lang="en-US" sz="3000">
                <a:solidFill>
                  <a:srgbClr val="000000"/>
                </a:solidFill>
                <a:latin typeface="Calibri (MS)"/>
                <a:ea typeface="Calibri (MS)"/>
                <a:cs typeface="Calibri (MS)"/>
                <a:sym typeface="Calibri (MS)"/>
              </a:rPr>
              <a:t>Satellite imagery, video, terrain data, and other spatial measurements can be integrated to study geographic changes and environmental phenomena.</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Human–Computer Interaction: </a:t>
            </a:r>
            <a:r>
              <a:rPr lang="en-US" sz="3000">
                <a:solidFill>
                  <a:srgbClr val="000000"/>
                </a:solidFill>
                <a:latin typeface="Calibri (MS)"/>
                <a:ea typeface="Calibri (MS)"/>
                <a:cs typeface="Calibri (MS)"/>
                <a:sym typeface="Calibri (MS)"/>
              </a:rPr>
              <a:t>Visual and auditory data can be analyzed together to study user behaviour, interactions, and responses.</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Media And Content Analysis: </a:t>
            </a:r>
            <a:r>
              <a:rPr lang="en-US" sz="3000">
                <a:solidFill>
                  <a:srgbClr val="000000"/>
                </a:solidFill>
                <a:latin typeface="Calibri (MS)"/>
                <a:ea typeface="Calibri (MS)"/>
                <a:cs typeface="Calibri (MS)"/>
                <a:sym typeface="Calibri (MS)"/>
              </a:rPr>
              <a:t>Image, video, and audio features can be visualized together to explore scenes, speech, music, events, and other multimedia content.</a:t>
            </a:r>
          </a:p>
          <a:p>
            <a:pPr algn="l">
              <a:lnSpc>
                <a:spcPts val="3600"/>
              </a:lnSpc>
            </a:pPr>
            <a:endParaRPr lang="en-US" sz="3000">
              <a:solidFill>
                <a:srgbClr val="000000"/>
              </a:solidFill>
              <a:latin typeface="Calibri (MS)"/>
              <a:ea typeface="Calibri (MS)"/>
              <a:cs typeface="Calibri (MS)"/>
              <a:sym typeface="Calibri (MS)"/>
            </a:endParaRPr>
          </a:p>
          <a:p>
            <a:pPr algn="l">
              <a:lnSpc>
                <a:spcPts val="3600"/>
              </a:lnSpc>
            </a:pPr>
            <a:r>
              <a:rPr lang="en-US" sz="3000" b="1">
                <a:solidFill>
                  <a:srgbClr val="000000"/>
                </a:solidFill>
                <a:latin typeface="Calibri (MS) Bold"/>
                <a:ea typeface="Calibri (MS) Bold"/>
                <a:cs typeface="Calibri (MS) Bold"/>
                <a:sym typeface="Calibri (MS) Bold"/>
              </a:rPr>
              <a:t>Education And Training: </a:t>
            </a:r>
            <a:r>
              <a:rPr lang="en-US" sz="3000">
                <a:solidFill>
                  <a:srgbClr val="000000"/>
                </a:solidFill>
                <a:latin typeface="Calibri (MS)"/>
                <a:ea typeface="Calibri (MS)"/>
                <a:cs typeface="Calibri (MS)"/>
                <a:sym typeface="Calibri (MS)"/>
              </a:rPr>
              <a:t>Synchronized visual and auditory representations can help learners understand processes that involve both spatial and temporal information.</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Multimedia Applications And Use Cases</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grpSp>
        <p:nvGrpSpPr>
          <p:cNvPr id="3" name="Group 3"/>
          <p:cNvGrpSpPr/>
          <p:nvPr/>
        </p:nvGrpSpPr>
        <p:grpSpPr>
          <a:xfrm>
            <a:off x="16629593" y="463796"/>
            <a:ext cx="1259415" cy="2331920"/>
            <a:chOff x="0" y="0"/>
            <a:chExt cx="1679219" cy="3109227"/>
          </a:xfrm>
        </p:grpSpPr>
        <p:sp>
          <p:nvSpPr>
            <p:cNvPr id="4" name="Freeform 4"/>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5" name="TextBox 5"/>
          <p:cNvSpPr txBox="1"/>
          <p:nvPr/>
        </p:nvSpPr>
        <p:spPr>
          <a:xfrm>
            <a:off x="681104" y="2048268"/>
            <a:ext cx="15741325" cy="6924675"/>
          </a:xfrm>
          <a:prstGeom prst="rect">
            <a:avLst/>
          </a:prstGeom>
        </p:spPr>
        <p:txBody>
          <a:bodyPr lIns="0" tIns="0" rIns="0" bIns="0" rtlCol="0" anchor="t">
            <a:spAutoFit/>
          </a:bodyPr>
          <a:lstStyle/>
          <a:p>
            <a:pPr algn="l">
              <a:lnSpc>
                <a:spcPts val="3600"/>
              </a:lnSpc>
            </a:pPr>
            <a:r>
              <a:rPr lang="en-US" sz="3000" b="1">
                <a:solidFill>
                  <a:srgbClr val="000000"/>
                </a:solidFill>
                <a:latin typeface="Calibri (MS) Bold"/>
                <a:ea typeface="Calibri (MS) Bold"/>
                <a:cs typeface="Calibri (MS) Bold"/>
                <a:sym typeface="Calibri (MS) Bold"/>
              </a:rPr>
              <a:t>Data Volume And Complexity</a:t>
            </a:r>
          </a:p>
          <a:p>
            <a:pPr algn="l">
              <a:lnSpc>
                <a:spcPts val="3600"/>
              </a:lnSpc>
            </a:pPr>
            <a:r>
              <a:rPr lang="en-US" sz="3000">
                <a:solidFill>
                  <a:srgbClr val="000000"/>
                </a:solidFill>
                <a:latin typeface="Calibri (MS)"/>
                <a:ea typeface="Calibri (MS)"/>
                <a:cs typeface="Calibri (MS)"/>
                <a:sym typeface="Calibri (MS)"/>
              </a:rPr>
              <a:t>Multimedia datasets can contain extremely large numbers of pixels, frames, samples, and derived features, making direct visualization difficult.</a:t>
            </a:r>
          </a:p>
          <a:p>
            <a:pPr algn="l">
              <a:lnSpc>
                <a:spcPts val="3600"/>
              </a:lnSpc>
            </a:pPr>
            <a:r>
              <a:rPr lang="en-US" sz="3000" b="1">
                <a:solidFill>
                  <a:srgbClr val="000000"/>
                </a:solidFill>
                <a:latin typeface="Calibri (MS) Bold"/>
                <a:ea typeface="Calibri (MS) Bold"/>
                <a:cs typeface="Calibri (MS) Bold"/>
                <a:sym typeface="Calibri (MS) Bold"/>
              </a:rPr>
              <a:t>Temporal And Spatial Trade-Offs</a:t>
            </a:r>
          </a:p>
          <a:p>
            <a:pPr algn="l">
              <a:lnSpc>
                <a:spcPts val="3600"/>
              </a:lnSpc>
            </a:pPr>
            <a:r>
              <a:rPr lang="en-US" sz="3000">
                <a:solidFill>
                  <a:srgbClr val="000000"/>
                </a:solidFill>
                <a:latin typeface="Calibri (MS)"/>
                <a:ea typeface="Calibri (MS)"/>
                <a:cs typeface="Calibri (MS)"/>
                <a:sym typeface="Calibri (MS)"/>
              </a:rPr>
              <a:t>Displaying more temporal information may require reducing spatial detail, while displaying more spatial detail may limit the amount of time that can be viewed simultaneously.</a:t>
            </a:r>
          </a:p>
          <a:p>
            <a:pPr algn="l">
              <a:lnSpc>
                <a:spcPts val="3600"/>
              </a:lnSpc>
            </a:pPr>
            <a:r>
              <a:rPr lang="en-US" sz="3000" b="1">
                <a:solidFill>
                  <a:srgbClr val="000000"/>
                </a:solidFill>
                <a:latin typeface="Calibri (MS) Bold"/>
                <a:ea typeface="Calibri (MS) Bold"/>
                <a:cs typeface="Calibri (MS) Bold"/>
                <a:sym typeface="Calibri (MS) Bold"/>
              </a:rPr>
              <a:t>Information Overload</a:t>
            </a:r>
          </a:p>
          <a:p>
            <a:pPr algn="l">
              <a:lnSpc>
                <a:spcPts val="3600"/>
              </a:lnSpc>
            </a:pPr>
            <a:r>
              <a:rPr lang="en-US" sz="3000">
                <a:solidFill>
                  <a:srgbClr val="000000"/>
                </a:solidFill>
                <a:latin typeface="Calibri (MS)"/>
                <a:ea typeface="Calibri (MS)"/>
                <a:cs typeface="Calibri (MS)"/>
                <a:sym typeface="Calibri (MS)"/>
              </a:rPr>
              <a:t>Combining multiple modalities can increase the amount of information available to the viewer while also increasing cognitive load.</a:t>
            </a:r>
          </a:p>
          <a:p>
            <a:pPr algn="l">
              <a:lnSpc>
                <a:spcPts val="3600"/>
              </a:lnSpc>
            </a:pPr>
            <a:r>
              <a:rPr lang="en-US" sz="3000" b="1">
                <a:solidFill>
                  <a:srgbClr val="000000"/>
                </a:solidFill>
                <a:latin typeface="Calibri (MS) Bold"/>
                <a:ea typeface="Calibri (MS) Bold"/>
                <a:cs typeface="Calibri (MS) Bold"/>
                <a:sym typeface="Calibri (MS) Bold"/>
              </a:rPr>
              <a:t>Synchronization</a:t>
            </a:r>
          </a:p>
          <a:p>
            <a:pPr algn="l">
              <a:lnSpc>
                <a:spcPts val="3600"/>
              </a:lnSpc>
            </a:pPr>
            <a:r>
              <a:rPr lang="en-US" sz="3000">
                <a:solidFill>
                  <a:srgbClr val="000000"/>
                </a:solidFill>
                <a:latin typeface="Calibri (MS)"/>
                <a:ea typeface="Calibri (MS)"/>
                <a:cs typeface="Calibri (MS)"/>
                <a:sym typeface="Calibri (MS)"/>
              </a:rPr>
              <a:t>Different modalities must be correctly aligned in time and space for relationships between them to be interpreted accurately.</a:t>
            </a:r>
          </a:p>
          <a:p>
            <a:pPr algn="l">
              <a:lnSpc>
                <a:spcPts val="3600"/>
              </a:lnSpc>
            </a:pPr>
            <a:r>
              <a:rPr lang="en-US" sz="3000" b="1">
                <a:solidFill>
                  <a:srgbClr val="000000"/>
                </a:solidFill>
                <a:latin typeface="Calibri (MS) Bold"/>
                <a:ea typeface="Calibri (MS) Bold"/>
                <a:cs typeface="Calibri (MS) Bold"/>
                <a:sym typeface="Calibri (MS) Bold"/>
              </a:rPr>
              <a:t>Visual Encoding</a:t>
            </a:r>
          </a:p>
          <a:p>
            <a:pPr algn="l">
              <a:lnSpc>
                <a:spcPts val="3600"/>
              </a:lnSpc>
            </a:pPr>
            <a:r>
              <a:rPr lang="en-US" sz="3000">
                <a:solidFill>
                  <a:srgbClr val="000000"/>
                </a:solidFill>
                <a:latin typeface="Calibri (MS)"/>
                <a:ea typeface="Calibri (MS)"/>
                <a:cs typeface="Calibri (MS)"/>
                <a:sym typeface="Calibri (MS)"/>
              </a:rPr>
              <a:t>Color, position, size, motion, and other visual channels must be selected according to the type of information being represented.</a:t>
            </a:r>
          </a:p>
        </p:txBody>
      </p:sp>
      <p:sp>
        <p:nvSpPr>
          <p:cNvPr id="6" name="TextBox 6"/>
          <p:cNvSpPr txBox="1"/>
          <p:nvPr/>
        </p:nvSpPr>
        <p:spPr>
          <a:xfrm>
            <a:off x="681104" y="958463"/>
            <a:ext cx="11785093"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Challenges, Design Trade-Offs And Key Takeaways</a:t>
            </a:r>
          </a:p>
        </p:txBody>
      </p:sp>
      <p:sp>
        <p:nvSpPr>
          <p:cNvPr id="7" name="TextBox 7"/>
          <p:cNvSpPr txBox="1"/>
          <p:nvPr/>
        </p:nvSpPr>
        <p:spPr>
          <a:xfrm>
            <a:off x="681104" y="357407"/>
            <a:ext cx="11785093"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623222" cy="4429125"/>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1. Which representation is most appropriate for examining how the frequency content of an audio signal changes over time?</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Audio waveform</a:t>
            </a:r>
          </a:p>
          <a:p>
            <a:pPr algn="just">
              <a:lnSpc>
                <a:spcPts val="3840"/>
              </a:lnSpc>
            </a:pPr>
            <a:r>
              <a:rPr lang="en-US" sz="3200" dirty="0">
                <a:solidFill>
                  <a:srgbClr val="000000"/>
                </a:solidFill>
                <a:latin typeface="Calibri (MS)"/>
                <a:ea typeface="Calibri (MS)"/>
                <a:cs typeface="Calibri (MS)"/>
                <a:sym typeface="Calibri (MS)"/>
              </a:rPr>
              <a:t>B. Frequency spectrum</a:t>
            </a:r>
          </a:p>
          <a:p>
            <a:pPr algn="just">
              <a:lnSpc>
                <a:spcPts val="3840"/>
              </a:lnSpc>
            </a:pPr>
            <a:r>
              <a:rPr lang="en-US" sz="3200" dirty="0">
                <a:solidFill>
                  <a:srgbClr val="000000"/>
                </a:solidFill>
                <a:latin typeface="Calibri (MS)"/>
                <a:ea typeface="Calibri (MS)"/>
                <a:cs typeface="Calibri (MS)"/>
                <a:sym typeface="Calibri (MS)"/>
              </a:rPr>
              <a:t>C. Audio spectrogram</a:t>
            </a:r>
          </a:p>
          <a:p>
            <a:pPr algn="just">
              <a:lnSpc>
                <a:spcPts val="3840"/>
              </a:lnSpc>
            </a:pPr>
            <a:r>
              <a:rPr lang="en-US" sz="3200" dirty="0">
                <a:solidFill>
                  <a:srgbClr val="000000"/>
                </a:solidFill>
                <a:latin typeface="Calibri (MS)"/>
                <a:ea typeface="Calibri (MS)"/>
                <a:cs typeface="Calibri (MS)"/>
                <a:sym typeface="Calibri (MS)"/>
              </a:rPr>
              <a:t>D. Amplitude histogram</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dirty="0">
                <a:solidFill>
                  <a:srgbClr val="000000"/>
                </a:solidFill>
                <a:latin typeface="Calibri (MS)"/>
                <a:ea typeface="Calibri (MS)"/>
                <a:cs typeface="Calibri (MS)"/>
                <a:sym typeface="Calibri (MS)"/>
              </a:rPr>
              <a:t>Answer: C</a:t>
            </a:r>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623222"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2. A 30 fps video is 2 minutes long. Approximately how many frames does it contain?</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600 frames</a:t>
            </a:r>
          </a:p>
          <a:p>
            <a:pPr algn="just">
              <a:lnSpc>
                <a:spcPts val="3840"/>
              </a:lnSpc>
            </a:pPr>
            <a:r>
              <a:rPr lang="en-US" sz="3200" dirty="0">
                <a:solidFill>
                  <a:srgbClr val="000000"/>
                </a:solidFill>
                <a:latin typeface="Calibri (MS)"/>
                <a:ea typeface="Calibri (MS)"/>
                <a:cs typeface="Calibri (MS)"/>
                <a:sym typeface="Calibri (MS)"/>
              </a:rPr>
              <a:t>B. 1,800 frames</a:t>
            </a:r>
          </a:p>
          <a:p>
            <a:pPr algn="just">
              <a:lnSpc>
                <a:spcPts val="3840"/>
              </a:lnSpc>
            </a:pPr>
            <a:r>
              <a:rPr lang="en-US" sz="3200" dirty="0">
                <a:solidFill>
                  <a:srgbClr val="000000"/>
                </a:solidFill>
                <a:latin typeface="Calibri (MS)"/>
                <a:ea typeface="Calibri (MS)"/>
                <a:cs typeface="Calibri (MS)"/>
                <a:sym typeface="Calibri (MS)"/>
              </a:rPr>
              <a:t>C. 3,600 frames</a:t>
            </a:r>
          </a:p>
          <a:p>
            <a:pPr algn="just">
              <a:lnSpc>
                <a:spcPts val="3840"/>
              </a:lnSpc>
            </a:pPr>
            <a:r>
              <a:rPr lang="en-US" sz="3200" dirty="0">
                <a:solidFill>
                  <a:srgbClr val="000000"/>
                </a:solidFill>
                <a:latin typeface="Calibri (MS)"/>
                <a:ea typeface="Calibri (MS)"/>
                <a:cs typeface="Calibri (MS)"/>
                <a:sym typeface="Calibri (MS)"/>
              </a:rPr>
              <a:t>D. 7,200 frames</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dirty="0">
                <a:solidFill>
                  <a:srgbClr val="000000"/>
                </a:solidFill>
                <a:latin typeface="Calibri (MS)"/>
                <a:ea typeface="Calibri (MS)"/>
                <a:cs typeface="Calibri (MS)"/>
                <a:sym typeface="Calibri (MS)"/>
              </a:rPr>
              <a:t>Answer: C</a:t>
            </a:r>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623222" cy="4429125"/>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3. An object moves from (20,30) to (24,33) between two consecutive video frames. What is the magnitude of its displacement?</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3 pixels/frame</a:t>
            </a:r>
          </a:p>
          <a:p>
            <a:pPr algn="just">
              <a:lnSpc>
                <a:spcPts val="3840"/>
              </a:lnSpc>
            </a:pPr>
            <a:r>
              <a:rPr lang="en-US" sz="3200" dirty="0">
                <a:solidFill>
                  <a:srgbClr val="000000"/>
                </a:solidFill>
                <a:latin typeface="Calibri (MS)"/>
                <a:ea typeface="Calibri (MS)"/>
                <a:cs typeface="Calibri (MS)"/>
                <a:sym typeface="Calibri (MS)"/>
              </a:rPr>
              <a:t>B. 4 pixels/frame</a:t>
            </a:r>
          </a:p>
          <a:p>
            <a:pPr algn="just">
              <a:lnSpc>
                <a:spcPts val="3840"/>
              </a:lnSpc>
            </a:pPr>
            <a:r>
              <a:rPr lang="en-US" sz="3200" dirty="0">
                <a:solidFill>
                  <a:srgbClr val="000000"/>
                </a:solidFill>
                <a:latin typeface="Calibri (MS)"/>
                <a:ea typeface="Calibri (MS)"/>
                <a:cs typeface="Calibri (MS)"/>
                <a:sym typeface="Calibri (MS)"/>
              </a:rPr>
              <a:t>C. 5 pixels/frame</a:t>
            </a:r>
          </a:p>
          <a:p>
            <a:pPr algn="just">
              <a:lnSpc>
                <a:spcPts val="3840"/>
              </a:lnSpc>
            </a:pPr>
            <a:r>
              <a:rPr lang="en-US" sz="3200" dirty="0">
                <a:solidFill>
                  <a:srgbClr val="000000"/>
                </a:solidFill>
                <a:latin typeface="Calibri (MS)"/>
                <a:ea typeface="Calibri (MS)"/>
                <a:cs typeface="Calibri (MS)"/>
                <a:sym typeface="Calibri (MS)"/>
              </a:rPr>
              <a:t>D. 7 pixels/frame</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dirty="0">
                <a:solidFill>
                  <a:srgbClr val="000000"/>
                </a:solidFill>
                <a:latin typeface="Calibri (MS)"/>
                <a:ea typeface="Calibri (MS)"/>
                <a:cs typeface="Calibri (MS)"/>
                <a:sym typeface="Calibri (MS)"/>
              </a:rPr>
              <a:t>Answer: C</a:t>
            </a:r>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623222" cy="3943350"/>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4. Which statement best describes the main limitation of an image intensity histogram?</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It cannot represent grayscale values.</a:t>
            </a:r>
          </a:p>
          <a:p>
            <a:pPr algn="just">
              <a:lnSpc>
                <a:spcPts val="3840"/>
              </a:lnSpc>
            </a:pPr>
            <a:r>
              <a:rPr lang="en-US" sz="3200" dirty="0">
                <a:solidFill>
                  <a:srgbClr val="000000"/>
                </a:solidFill>
                <a:latin typeface="Calibri (MS)"/>
                <a:ea typeface="Calibri (MS)"/>
                <a:cs typeface="Calibri (MS)"/>
                <a:sym typeface="Calibri (MS)"/>
              </a:rPr>
              <a:t>B. It removes information about spatial arrangement.</a:t>
            </a:r>
          </a:p>
          <a:p>
            <a:pPr algn="just">
              <a:lnSpc>
                <a:spcPts val="3840"/>
              </a:lnSpc>
            </a:pPr>
            <a:r>
              <a:rPr lang="en-US" sz="3200" dirty="0">
                <a:solidFill>
                  <a:srgbClr val="000000"/>
                </a:solidFill>
                <a:latin typeface="Calibri (MS)"/>
                <a:ea typeface="Calibri (MS)"/>
                <a:cs typeface="Calibri (MS)"/>
                <a:sym typeface="Calibri (MS)"/>
              </a:rPr>
              <a:t>C. It requires the image to contain multiple color channels.</a:t>
            </a:r>
          </a:p>
          <a:p>
            <a:pPr algn="just">
              <a:lnSpc>
                <a:spcPts val="3840"/>
              </a:lnSpc>
            </a:pPr>
            <a:r>
              <a:rPr lang="en-US" sz="3200" dirty="0">
                <a:solidFill>
                  <a:srgbClr val="000000"/>
                </a:solidFill>
                <a:latin typeface="Calibri (MS)"/>
                <a:ea typeface="Calibri (MS)"/>
                <a:cs typeface="Calibri (MS)"/>
                <a:sym typeface="Calibri (MS)"/>
              </a:rPr>
              <a:t>D. It can only be computed from compressed images.</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dirty="0">
                <a:solidFill>
                  <a:srgbClr val="000000"/>
                </a:solidFill>
                <a:latin typeface="Calibri (MS)"/>
                <a:ea typeface="Calibri (MS)"/>
                <a:cs typeface="Calibri (MS)"/>
                <a:sym typeface="Calibri (MS)"/>
              </a:rPr>
              <a:t>Answer: B</a:t>
            </a:r>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629593" y="463796"/>
            <a:ext cx="1259415" cy="2331920"/>
            <a:chOff x="0" y="0"/>
            <a:chExt cx="1679219" cy="3109227"/>
          </a:xfrm>
        </p:grpSpPr>
        <p:sp>
          <p:nvSpPr>
            <p:cNvPr id="3" name="Freeform 3"/>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2"/>
              <a:stretch>
                <a:fillRect r="-1"/>
              </a:stretch>
            </a:blipFill>
          </p:spPr>
          <p:txBody>
            <a:bodyPr/>
            <a:lstStyle/>
            <a:p>
              <a:endParaRPr lang="en-IN"/>
            </a:p>
          </p:txBody>
        </p:sp>
      </p:grpSp>
      <p:sp>
        <p:nvSpPr>
          <p:cNvPr id="4" name="TextBox 4"/>
          <p:cNvSpPr txBox="1"/>
          <p:nvPr/>
        </p:nvSpPr>
        <p:spPr>
          <a:xfrm>
            <a:off x="826684" y="2000643"/>
            <a:ext cx="15623222" cy="4429125"/>
          </a:xfrm>
          <a:prstGeom prst="rect">
            <a:avLst/>
          </a:prstGeom>
        </p:spPr>
        <p:txBody>
          <a:bodyPr lIns="0" tIns="0" rIns="0" bIns="0" rtlCol="0" anchor="t">
            <a:spAutoFit/>
          </a:bodyPr>
          <a:lstStyle/>
          <a:p>
            <a:pPr algn="just">
              <a:lnSpc>
                <a:spcPts val="3840"/>
              </a:lnSpc>
            </a:pPr>
            <a:r>
              <a:rPr lang="en-US" sz="3200" b="1" dirty="0">
                <a:solidFill>
                  <a:srgbClr val="000000"/>
                </a:solidFill>
                <a:latin typeface="Calibri (MS) Bold"/>
                <a:ea typeface="Calibri (MS) Bold"/>
                <a:cs typeface="Calibri (MS) Bold"/>
                <a:sym typeface="Calibri (MS) Bold"/>
              </a:rPr>
              <a:t>5. Why can combining video frames, audio spectrograms, and timelines improve multimedia visualization?</a:t>
            </a:r>
          </a:p>
          <a:p>
            <a:pPr algn="just">
              <a:lnSpc>
                <a:spcPts val="3840"/>
              </a:lnSpc>
            </a:pPr>
            <a:endParaRPr lang="en-US" sz="3200" b="1" dirty="0">
              <a:solidFill>
                <a:srgbClr val="000000"/>
              </a:solidFill>
              <a:latin typeface="Calibri (MS) Bold"/>
              <a:ea typeface="Calibri (MS) Bold"/>
              <a:cs typeface="Calibri (MS) Bold"/>
              <a:sym typeface="Calibri (MS) Bold"/>
            </a:endParaRPr>
          </a:p>
          <a:p>
            <a:pPr algn="just">
              <a:lnSpc>
                <a:spcPts val="3840"/>
              </a:lnSpc>
            </a:pPr>
            <a:r>
              <a:rPr lang="en-US" sz="3200" dirty="0">
                <a:solidFill>
                  <a:srgbClr val="000000"/>
                </a:solidFill>
                <a:latin typeface="Calibri (MS)"/>
                <a:ea typeface="Calibri (MS)"/>
                <a:cs typeface="Calibri (MS)"/>
                <a:sym typeface="Calibri (MS)"/>
              </a:rPr>
              <a:t>A. It eliminates the need for preprocessing.</a:t>
            </a:r>
          </a:p>
          <a:p>
            <a:pPr algn="just">
              <a:lnSpc>
                <a:spcPts val="3840"/>
              </a:lnSpc>
            </a:pPr>
            <a:r>
              <a:rPr lang="en-US" sz="3200" dirty="0">
                <a:solidFill>
                  <a:srgbClr val="000000"/>
                </a:solidFill>
                <a:latin typeface="Calibri (MS)"/>
                <a:ea typeface="Calibri (MS)"/>
                <a:cs typeface="Calibri (MS)"/>
                <a:sym typeface="Calibri (MS)"/>
              </a:rPr>
              <a:t>B. It guarantees accurate event classification.</a:t>
            </a:r>
          </a:p>
          <a:p>
            <a:pPr algn="just">
              <a:lnSpc>
                <a:spcPts val="3840"/>
              </a:lnSpc>
            </a:pPr>
            <a:r>
              <a:rPr lang="en-US" sz="3200" dirty="0">
                <a:solidFill>
                  <a:srgbClr val="000000"/>
                </a:solidFill>
                <a:latin typeface="Calibri (MS)"/>
                <a:ea typeface="Calibri (MS)"/>
                <a:cs typeface="Calibri (MS)"/>
                <a:sym typeface="Calibri (MS)"/>
              </a:rPr>
              <a:t>C. It provides complementary information across modalities.</a:t>
            </a:r>
          </a:p>
          <a:p>
            <a:pPr algn="just">
              <a:lnSpc>
                <a:spcPts val="3840"/>
              </a:lnSpc>
            </a:pPr>
            <a:r>
              <a:rPr lang="en-US" sz="3200" dirty="0">
                <a:solidFill>
                  <a:srgbClr val="000000"/>
                </a:solidFill>
                <a:latin typeface="Calibri (MS)"/>
                <a:ea typeface="Calibri (MS)"/>
                <a:cs typeface="Calibri (MS)"/>
                <a:sym typeface="Calibri (MS)"/>
              </a:rPr>
              <a:t>D. It reduces every multimedia dataset to one dimension.</a:t>
            </a:r>
          </a:p>
          <a:p>
            <a:pPr algn="just">
              <a:lnSpc>
                <a:spcPts val="3840"/>
              </a:lnSpc>
            </a:pPr>
            <a:endParaRPr lang="en-US" sz="3200" dirty="0">
              <a:solidFill>
                <a:srgbClr val="000000"/>
              </a:solidFill>
              <a:latin typeface="Calibri (MS)"/>
              <a:ea typeface="Calibri (MS)"/>
              <a:cs typeface="Calibri (MS)"/>
              <a:sym typeface="Calibri (MS)"/>
            </a:endParaRPr>
          </a:p>
          <a:p>
            <a:pPr algn="just">
              <a:lnSpc>
                <a:spcPts val="3840"/>
              </a:lnSpc>
              <a:spcBef>
                <a:spcPct val="0"/>
              </a:spcBef>
            </a:pPr>
            <a:r>
              <a:rPr lang="en-US" sz="3200" dirty="0">
                <a:solidFill>
                  <a:srgbClr val="000000"/>
                </a:solidFill>
                <a:latin typeface="Calibri (MS)"/>
                <a:ea typeface="Calibri (MS)"/>
                <a:cs typeface="Calibri (MS)"/>
                <a:sym typeface="Calibri (MS)"/>
              </a:rPr>
              <a:t>Answer: C</a:t>
            </a:r>
          </a:p>
        </p:txBody>
      </p:sp>
      <p:sp>
        <p:nvSpPr>
          <p:cNvPr id="5" name="TextBox 5"/>
          <p:cNvSpPr txBox="1"/>
          <p:nvPr/>
        </p:nvSpPr>
        <p:spPr>
          <a:xfrm>
            <a:off x="826684" y="419100"/>
            <a:ext cx="10917364" cy="609600"/>
          </a:xfrm>
          <a:prstGeom prst="rect">
            <a:avLst/>
          </a:prstGeom>
        </p:spPr>
        <p:txBody>
          <a:bodyPr lIns="0" tIns="0" rIns="0" bIns="0" rtlCol="0" anchor="t">
            <a:spAutoFit/>
          </a:bodyPr>
          <a:lstStyle/>
          <a:p>
            <a:pPr algn="l">
              <a:lnSpc>
                <a:spcPts val="4320"/>
              </a:lnSpc>
            </a:pPr>
            <a:r>
              <a:rPr lang="en-US" sz="3600" b="1">
                <a:solidFill>
                  <a:srgbClr val="C55A11"/>
                </a:solidFill>
                <a:latin typeface="Calibri (MS) Bold"/>
                <a:ea typeface="Calibri (MS) Bold"/>
                <a:cs typeface="Calibri (MS) Bold"/>
                <a:sym typeface="Calibri (MS) Bold"/>
              </a:rPr>
              <a:t>Visualization of Data, Understanding and Interpretation</a:t>
            </a:r>
          </a:p>
        </p:txBody>
      </p:sp>
      <p:sp>
        <p:nvSpPr>
          <p:cNvPr id="6" name="TextBox 6"/>
          <p:cNvSpPr txBox="1"/>
          <p:nvPr/>
        </p:nvSpPr>
        <p:spPr>
          <a:xfrm>
            <a:off x="826684" y="962025"/>
            <a:ext cx="12360009" cy="609600"/>
          </a:xfrm>
          <a:prstGeom prst="rect">
            <a:avLst/>
          </a:prstGeom>
        </p:spPr>
        <p:txBody>
          <a:bodyPr lIns="0" tIns="0" rIns="0" bIns="0" rtlCol="0" anchor="t">
            <a:spAutoFit/>
          </a:bodyPr>
          <a:lstStyle/>
          <a:p>
            <a:pPr algn="l">
              <a:lnSpc>
                <a:spcPts val="4320"/>
              </a:lnSpc>
            </a:pPr>
            <a:r>
              <a:rPr lang="en-US" sz="3600" b="1">
                <a:solidFill>
                  <a:srgbClr val="4472C4"/>
                </a:solidFill>
                <a:latin typeface="Calibri (MS) Bold"/>
                <a:ea typeface="Calibri (MS) Bold"/>
                <a:cs typeface="Calibri (MS) Bold"/>
                <a:sym typeface="Calibri (MS) Bold"/>
              </a:rPr>
              <a:t>MCQs</a:t>
            </a:r>
          </a:p>
        </p:txBody>
      </p:sp>
      <p:sp>
        <p:nvSpPr>
          <p:cNvPr id="7" name="AutoShape 7"/>
          <p:cNvSpPr/>
          <p:nvPr/>
        </p:nvSpPr>
        <p:spPr>
          <a:xfrm>
            <a:off x="0" y="1843480"/>
            <a:ext cx="12466197" cy="0"/>
          </a:xfrm>
          <a:prstGeom prst="line">
            <a:avLst/>
          </a:prstGeom>
          <a:ln w="28575" cap="rnd">
            <a:solidFill>
              <a:srgbClr val="DFA267"/>
            </a:solidFill>
            <a:prstDash val="solid"/>
            <a:headEnd type="none" w="sm" len="sm"/>
            <a:tailEnd type="none" w="sm" len="sm"/>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70764" y="8234553"/>
            <a:ext cx="1600343" cy="1617231"/>
          </a:xfrm>
          <a:custGeom>
            <a:avLst/>
            <a:gdLst/>
            <a:ahLst/>
            <a:cxnLst/>
            <a:rect l="l" t="t" r="r" b="b"/>
            <a:pathLst>
              <a:path w="1600343" h="1617231">
                <a:moveTo>
                  <a:pt x="0" y="0"/>
                </a:moveTo>
                <a:lnTo>
                  <a:pt x="1600342" y="0"/>
                </a:lnTo>
                <a:lnTo>
                  <a:pt x="1600342" y="1617231"/>
                </a:lnTo>
                <a:lnTo>
                  <a:pt x="0" y="16172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AutoShape 3"/>
          <p:cNvSpPr/>
          <p:nvPr/>
        </p:nvSpPr>
        <p:spPr>
          <a:xfrm>
            <a:off x="7260757" y="5576944"/>
            <a:ext cx="6440689" cy="0"/>
          </a:xfrm>
          <a:prstGeom prst="line">
            <a:avLst/>
          </a:prstGeom>
          <a:ln w="28575" cap="rnd">
            <a:solidFill>
              <a:srgbClr val="ED7D31"/>
            </a:solidFill>
            <a:prstDash val="solid"/>
            <a:headEnd type="none" w="sm" len="sm"/>
            <a:tailEnd type="none" w="sm" len="sm"/>
          </a:ln>
        </p:spPr>
        <p:txBody>
          <a:bodyPr/>
          <a:lstStyle/>
          <a:p>
            <a:endParaRPr lang="en-IN"/>
          </a:p>
        </p:txBody>
      </p:sp>
      <p:sp>
        <p:nvSpPr>
          <p:cNvPr id="4" name="Freeform 4"/>
          <p:cNvSpPr/>
          <p:nvPr/>
        </p:nvSpPr>
        <p:spPr>
          <a:xfrm>
            <a:off x="16283549" y="399098"/>
            <a:ext cx="1600343" cy="1617231"/>
          </a:xfrm>
          <a:custGeom>
            <a:avLst/>
            <a:gdLst/>
            <a:ahLst/>
            <a:cxnLst/>
            <a:rect l="l" t="t" r="r" b="b"/>
            <a:pathLst>
              <a:path w="1600343" h="1617231">
                <a:moveTo>
                  <a:pt x="0" y="0"/>
                </a:moveTo>
                <a:lnTo>
                  <a:pt x="1600343" y="0"/>
                </a:lnTo>
                <a:lnTo>
                  <a:pt x="1600343" y="1617230"/>
                </a:lnTo>
                <a:lnTo>
                  <a:pt x="0" y="16172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 name="TextBox 5"/>
          <p:cNvSpPr txBox="1"/>
          <p:nvPr/>
        </p:nvSpPr>
        <p:spPr>
          <a:xfrm>
            <a:off x="9144000" y="4695825"/>
            <a:ext cx="2658963" cy="809625"/>
          </a:xfrm>
          <a:prstGeom prst="rect">
            <a:avLst/>
          </a:prstGeom>
        </p:spPr>
        <p:txBody>
          <a:bodyPr lIns="0" tIns="0" rIns="0" bIns="0" rtlCol="0" anchor="t">
            <a:spAutoFit/>
          </a:bodyPr>
          <a:lstStyle/>
          <a:p>
            <a:pPr algn="ctr">
              <a:lnSpc>
                <a:spcPts val="5759"/>
              </a:lnSpc>
            </a:pPr>
            <a:r>
              <a:rPr lang="en-US" sz="4800" b="1">
                <a:solidFill>
                  <a:srgbClr val="2F5597"/>
                </a:solidFill>
                <a:latin typeface="Calibri (MS) Bold"/>
                <a:ea typeface="Calibri (MS) Bold"/>
                <a:cs typeface="Calibri (MS) Bold"/>
                <a:sym typeface="Calibri (MS) Bold"/>
              </a:rPr>
              <a:t>Thank You</a:t>
            </a:r>
          </a:p>
        </p:txBody>
      </p:sp>
      <p:grpSp>
        <p:nvGrpSpPr>
          <p:cNvPr id="6" name="Group 6"/>
          <p:cNvGrpSpPr/>
          <p:nvPr/>
        </p:nvGrpSpPr>
        <p:grpSpPr>
          <a:xfrm>
            <a:off x="2071106" y="1540573"/>
            <a:ext cx="3891710" cy="7205853"/>
            <a:chOff x="0" y="0"/>
            <a:chExt cx="1679219" cy="3109227"/>
          </a:xfrm>
        </p:grpSpPr>
        <p:sp>
          <p:nvSpPr>
            <p:cNvPr id="7" name="Freeform 7"/>
            <p:cNvSpPr/>
            <p:nvPr/>
          </p:nvSpPr>
          <p:spPr>
            <a:xfrm>
              <a:off x="0" y="0"/>
              <a:ext cx="1679194" cy="3109214"/>
            </a:xfrm>
            <a:custGeom>
              <a:avLst/>
              <a:gdLst/>
              <a:ahLst/>
              <a:cxnLst/>
              <a:rect l="l" t="t" r="r" b="b"/>
              <a:pathLst>
                <a:path w="1679194" h="3109214">
                  <a:moveTo>
                    <a:pt x="0" y="0"/>
                  </a:moveTo>
                  <a:lnTo>
                    <a:pt x="1679194" y="0"/>
                  </a:lnTo>
                  <a:lnTo>
                    <a:pt x="1679194" y="3109214"/>
                  </a:lnTo>
                  <a:lnTo>
                    <a:pt x="0" y="3109214"/>
                  </a:lnTo>
                  <a:close/>
                </a:path>
              </a:pathLst>
            </a:custGeom>
            <a:blipFill>
              <a:blip r:embed="rId4"/>
              <a:stretch>
                <a:fillRect r="-1"/>
              </a:stretch>
            </a:blipFill>
          </p:spPr>
          <p:txBody>
            <a:bodyPr/>
            <a:lstStyle/>
            <a:p>
              <a:endParaRPr lang="en-IN"/>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7697</Words>
  <Application>Microsoft Office PowerPoint</Application>
  <PresentationFormat>Custom</PresentationFormat>
  <Paragraphs>921</Paragraphs>
  <Slides>72</Slides>
  <Notes>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72</vt:i4>
      </vt:variant>
    </vt:vector>
  </HeadingPairs>
  <TitlesOfParts>
    <vt:vector size="84" baseType="lpstr">
      <vt:lpstr>Calibri (MS) Italics</vt:lpstr>
      <vt:lpstr>Nunito</vt:lpstr>
      <vt:lpstr>Aptos</vt:lpstr>
      <vt:lpstr>Calibri (MS) Bold Italics</vt:lpstr>
      <vt:lpstr>Calibri</vt:lpstr>
      <vt:lpstr>Arial Bold</vt:lpstr>
      <vt:lpstr>Calibri (MS) Bold</vt:lpstr>
      <vt:lpstr>Calibri (MS)</vt:lpstr>
      <vt:lpstr>Cambria Math</vt:lpstr>
      <vt:lpstr>Arial</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DV_U3</dc:title>
  <cp:lastModifiedBy>prajwala talanki</cp:lastModifiedBy>
  <cp:revision>1</cp:revision>
  <dcterms:created xsi:type="dcterms:W3CDTF">2006-08-16T00:00:00Z</dcterms:created>
  <dcterms:modified xsi:type="dcterms:W3CDTF">2026-10-04T14:27:32Z</dcterms:modified>
  <dc:identifier>DAHU0vOJTKs</dc:identifier>
</cp:coreProperties>
</file>