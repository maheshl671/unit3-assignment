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18" r:id="rId13"/>
    <p:sldId id="267" r:id="rId14"/>
    <p:sldId id="268" r:id="rId15"/>
    <p:sldId id="269" r:id="rId16"/>
    <p:sldId id="31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48E4F1-6F41-452C-96A7-15C974A5F3C0}" v="33" dt="2026-10-22T08:35:09.38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wala talanki" userId="f96f43d5c5067f3b" providerId="LiveId" clId="{4B6E1711-CB52-4CF4-B5ED-8DDF63F8A93D}"/>
    <pc:docChg chg="undo custSel addSld modSld">
      <pc:chgData name="prajwala talanki" userId="f96f43d5c5067f3b" providerId="LiveId" clId="{4B6E1711-CB52-4CF4-B5ED-8DDF63F8A93D}" dt="2026-10-22T08:35:09.385" v="175"/>
      <pc:docMkLst>
        <pc:docMk/>
      </pc:docMkLst>
      <pc:sldChg chg="addSp modSp mod">
        <pc:chgData name="prajwala talanki" userId="f96f43d5c5067f3b" providerId="LiveId" clId="{4B6E1711-CB52-4CF4-B5ED-8DDF63F8A93D}" dt="2026-10-22T07:24:59.475" v="12" actId="113"/>
        <pc:sldMkLst>
          <pc:docMk/>
          <pc:sldMk cId="0" sldId="259"/>
        </pc:sldMkLst>
        <pc:spChg chg="mod">
          <ac:chgData name="prajwala talanki" userId="f96f43d5c5067f3b" providerId="LiveId" clId="{4B6E1711-CB52-4CF4-B5ED-8DDF63F8A93D}" dt="2026-10-22T07:24:59.475" v="12" actId="113"/>
          <ac:spMkLst>
            <pc:docMk/>
            <pc:sldMk cId="0" sldId="259"/>
            <ac:spMk id="122" creationId="{00000000-0000-0000-0000-000000000000}"/>
          </ac:spMkLst>
        </pc:spChg>
        <pc:picChg chg="add mod">
          <ac:chgData name="prajwala talanki" userId="f96f43d5c5067f3b" providerId="LiveId" clId="{4B6E1711-CB52-4CF4-B5ED-8DDF63F8A93D}" dt="2026-10-22T07:23:58.667" v="7" actId="1076"/>
          <ac:picMkLst>
            <pc:docMk/>
            <pc:sldMk cId="0" sldId="259"/>
            <ac:picMk id="3" creationId="{1B043B5F-B701-69C5-1B89-4F3A376FBBE5}"/>
          </ac:picMkLst>
        </pc:picChg>
      </pc:sldChg>
      <pc:sldChg chg="modSp mod">
        <pc:chgData name="prajwala talanki" userId="f96f43d5c5067f3b" providerId="LiveId" clId="{4B6E1711-CB52-4CF4-B5ED-8DDF63F8A93D}" dt="2026-10-22T07:25:18.325" v="14" actId="403"/>
        <pc:sldMkLst>
          <pc:docMk/>
          <pc:sldMk cId="0" sldId="260"/>
        </pc:sldMkLst>
        <pc:spChg chg="mod">
          <ac:chgData name="prajwala talanki" userId="f96f43d5c5067f3b" providerId="LiveId" clId="{4B6E1711-CB52-4CF4-B5ED-8DDF63F8A93D}" dt="2026-10-22T07:25:18.325" v="14" actId="403"/>
          <ac:spMkLst>
            <pc:docMk/>
            <pc:sldMk cId="0" sldId="260"/>
            <ac:spMk id="130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7:26:30.179" v="18" actId="113"/>
        <pc:sldMkLst>
          <pc:docMk/>
          <pc:sldMk cId="0" sldId="262"/>
        </pc:sldMkLst>
        <pc:spChg chg="mod">
          <ac:chgData name="prajwala talanki" userId="f96f43d5c5067f3b" providerId="LiveId" clId="{4B6E1711-CB52-4CF4-B5ED-8DDF63F8A93D}" dt="2026-10-22T07:26:30.179" v="18" actId="113"/>
          <ac:spMkLst>
            <pc:docMk/>
            <pc:sldMk cId="0" sldId="262"/>
            <ac:spMk id="146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7:27:51.876" v="24" actId="113"/>
        <pc:sldMkLst>
          <pc:docMk/>
          <pc:sldMk cId="0" sldId="263"/>
        </pc:sldMkLst>
        <pc:spChg chg="mod">
          <ac:chgData name="prajwala talanki" userId="f96f43d5c5067f3b" providerId="LiveId" clId="{4B6E1711-CB52-4CF4-B5ED-8DDF63F8A93D}" dt="2026-10-22T07:27:51.876" v="24" actId="113"/>
          <ac:spMkLst>
            <pc:docMk/>
            <pc:sldMk cId="0" sldId="263"/>
            <ac:spMk id="154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7:28:23.372" v="26" actId="113"/>
        <pc:sldMkLst>
          <pc:docMk/>
          <pc:sldMk cId="0" sldId="264"/>
        </pc:sldMkLst>
        <pc:spChg chg="mod">
          <ac:chgData name="prajwala talanki" userId="f96f43d5c5067f3b" providerId="LiveId" clId="{4B6E1711-CB52-4CF4-B5ED-8DDF63F8A93D}" dt="2026-10-22T07:28:23.372" v="26" actId="113"/>
          <ac:spMkLst>
            <pc:docMk/>
            <pc:sldMk cId="0" sldId="264"/>
            <ac:spMk id="162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7:29:37.814" v="29" actId="113"/>
        <pc:sldMkLst>
          <pc:docMk/>
          <pc:sldMk cId="0" sldId="265"/>
        </pc:sldMkLst>
        <pc:spChg chg="mod">
          <ac:chgData name="prajwala talanki" userId="f96f43d5c5067f3b" providerId="LiveId" clId="{4B6E1711-CB52-4CF4-B5ED-8DDF63F8A93D}" dt="2026-10-22T07:29:37.814" v="29" actId="113"/>
          <ac:spMkLst>
            <pc:docMk/>
            <pc:sldMk cId="0" sldId="265"/>
            <ac:spMk id="170" creationId="{00000000-0000-0000-0000-000000000000}"/>
          </ac:spMkLst>
        </pc:spChg>
      </pc:sldChg>
      <pc:sldChg chg="addSp modSp mod">
        <pc:chgData name="prajwala talanki" userId="f96f43d5c5067f3b" providerId="LiveId" clId="{4B6E1711-CB52-4CF4-B5ED-8DDF63F8A93D}" dt="2026-10-22T07:31:53.469" v="36" actId="1076"/>
        <pc:sldMkLst>
          <pc:docMk/>
          <pc:sldMk cId="0" sldId="266"/>
        </pc:sldMkLst>
        <pc:spChg chg="add mod">
          <ac:chgData name="prajwala talanki" userId="f96f43d5c5067f3b" providerId="LiveId" clId="{4B6E1711-CB52-4CF4-B5ED-8DDF63F8A93D}" dt="2026-10-22T07:31:29.108" v="31" actId="1076"/>
          <ac:spMkLst>
            <pc:docMk/>
            <pc:sldMk cId="0" sldId="266"/>
            <ac:spMk id="3" creationId="{2FFC7A77-B11B-A420-8CC5-B8976620256A}"/>
          </ac:spMkLst>
        </pc:spChg>
        <pc:picChg chg="add mod">
          <ac:chgData name="prajwala talanki" userId="f96f43d5c5067f3b" providerId="LiveId" clId="{4B6E1711-CB52-4CF4-B5ED-8DDF63F8A93D}" dt="2026-10-22T07:31:53.469" v="36" actId="1076"/>
          <ac:picMkLst>
            <pc:docMk/>
            <pc:sldMk cId="0" sldId="266"/>
            <ac:picMk id="4" creationId="{6880B453-FF93-FB4E-A79B-D4F0320502D1}"/>
          </ac:picMkLst>
        </pc:picChg>
      </pc:sldChg>
      <pc:sldChg chg="addSp modSp mod">
        <pc:chgData name="prajwala talanki" userId="f96f43d5c5067f3b" providerId="LiveId" clId="{4B6E1711-CB52-4CF4-B5ED-8DDF63F8A93D}" dt="2026-10-22T07:36:31.467" v="54" actId="1076"/>
        <pc:sldMkLst>
          <pc:docMk/>
          <pc:sldMk cId="0" sldId="267"/>
        </pc:sldMkLst>
        <pc:picChg chg="add mod">
          <ac:chgData name="prajwala talanki" userId="f96f43d5c5067f3b" providerId="LiveId" clId="{4B6E1711-CB52-4CF4-B5ED-8DDF63F8A93D}" dt="2026-10-22T07:36:31.467" v="54" actId="1076"/>
          <ac:picMkLst>
            <pc:docMk/>
            <pc:sldMk cId="0" sldId="267"/>
            <ac:picMk id="3" creationId="{D06BC18D-0A11-0DCE-1974-8A0F1B0FC69F}"/>
          </ac:picMkLst>
        </pc:picChg>
      </pc:sldChg>
      <pc:sldChg chg="modAnim">
        <pc:chgData name="prajwala talanki" userId="f96f43d5c5067f3b" providerId="LiveId" clId="{4B6E1711-CB52-4CF4-B5ED-8DDF63F8A93D}" dt="2026-10-22T07:40:46.364" v="57"/>
        <pc:sldMkLst>
          <pc:docMk/>
          <pc:sldMk cId="0" sldId="268"/>
        </pc:sldMkLst>
      </pc:sldChg>
      <pc:sldChg chg="addSp modSp mod">
        <pc:chgData name="prajwala talanki" userId="f96f43d5c5067f3b" providerId="LiveId" clId="{4B6E1711-CB52-4CF4-B5ED-8DDF63F8A93D}" dt="2026-10-22T07:44:36.103" v="68" actId="1076"/>
        <pc:sldMkLst>
          <pc:docMk/>
          <pc:sldMk cId="0" sldId="270"/>
        </pc:sldMkLst>
        <pc:spChg chg="mod">
          <ac:chgData name="prajwala talanki" userId="f96f43d5c5067f3b" providerId="LiveId" clId="{4B6E1711-CB52-4CF4-B5ED-8DDF63F8A93D}" dt="2026-10-22T07:41:16.384" v="60" actId="113"/>
          <ac:spMkLst>
            <pc:docMk/>
            <pc:sldMk cId="0" sldId="270"/>
            <ac:spMk id="211" creationId="{00000000-0000-0000-0000-000000000000}"/>
          </ac:spMkLst>
        </pc:spChg>
        <pc:picChg chg="add mod">
          <ac:chgData name="prajwala talanki" userId="f96f43d5c5067f3b" providerId="LiveId" clId="{4B6E1711-CB52-4CF4-B5ED-8DDF63F8A93D}" dt="2026-10-22T07:44:36.103" v="68" actId="1076"/>
          <ac:picMkLst>
            <pc:docMk/>
            <pc:sldMk cId="0" sldId="270"/>
            <ac:picMk id="3" creationId="{ABDD1D0B-0F93-FBE3-9891-7799BA27BF93}"/>
          </ac:picMkLst>
        </pc:picChg>
        <pc:picChg chg="mod">
          <ac:chgData name="prajwala talanki" userId="f96f43d5c5067f3b" providerId="LiveId" clId="{4B6E1711-CB52-4CF4-B5ED-8DDF63F8A93D}" dt="2026-10-22T07:44:21.365" v="63" actId="1076"/>
          <ac:picMkLst>
            <pc:docMk/>
            <pc:sldMk cId="0" sldId="270"/>
            <ac:picMk id="213" creationId="{00000000-0000-0000-0000-000000000000}"/>
          </ac:picMkLst>
        </pc:picChg>
      </pc:sldChg>
      <pc:sldChg chg="modAnim">
        <pc:chgData name="prajwala talanki" userId="f96f43d5c5067f3b" providerId="LiveId" clId="{4B6E1711-CB52-4CF4-B5ED-8DDF63F8A93D}" dt="2026-10-22T07:50:47.145" v="71"/>
        <pc:sldMkLst>
          <pc:docMk/>
          <pc:sldMk cId="0" sldId="271"/>
        </pc:sldMkLst>
      </pc:sldChg>
      <pc:sldChg chg="modSp mod">
        <pc:chgData name="prajwala talanki" userId="f96f43d5c5067f3b" providerId="LiveId" clId="{4B6E1711-CB52-4CF4-B5ED-8DDF63F8A93D}" dt="2026-10-22T07:51:00.338" v="72" actId="113"/>
        <pc:sldMkLst>
          <pc:docMk/>
          <pc:sldMk cId="0" sldId="272"/>
        </pc:sldMkLst>
        <pc:spChg chg="mod">
          <ac:chgData name="prajwala talanki" userId="f96f43d5c5067f3b" providerId="LiveId" clId="{4B6E1711-CB52-4CF4-B5ED-8DDF63F8A93D}" dt="2026-10-22T07:51:00.338" v="72" actId="113"/>
          <ac:spMkLst>
            <pc:docMk/>
            <pc:sldMk cId="0" sldId="272"/>
            <ac:spMk id="228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7:51:37.245" v="73" actId="113"/>
        <pc:sldMkLst>
          <pc:docMk/>
          <pc:sldMk cId="0" sldId="273"/>
        </pc:sldMkLst>
        <pc:spChg chg="mod">
          <ac:chgData name="prajwala talanki" userId="f96f43d5c5067f3b" providerId="LiveId" clId="{4B6E1711-CB52-4CF4-B5ED-8DDF63F8A93D}" dt="2026-10-22T07:51:37.245" v="73" actId="113"/>
          <ac:spMkLst>
            <pc:docMk/>
            <pc:sldMk cId="0" sldId="273"/>
            <ac:spMk id="236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7:52:08.652" v="74" actId="113"/>
        <pc:sldMkLst>
          <pc:docMk/>
          <pc:sldMk cId="0" sldId="274"/>
        </pc:sldMkLst>
        <pc:spChg chg="mod">
          <ac:chgData name="prajwala talanki" userId="f96f43d5c5067f3b" providerId="LiveId" clId="{4B6E1711-CB52-4CF4-B5ED-8DDF63F8A93D}" dt="2026-10-22T07:52:08.652" v="74" actId="113"/>
          <ac:spMkLst>
            <pc:docMk/>
            <pc:sldMk cId="0" sldId="274"/>
            <ac:spMk id="244" creationId="{00000000-0000-0000-0000-000000000000}"/>
          </ac:spMkLst>
        </pc:spChg>
      </pc:sldChg>
      <pc:sldChg chg="modAnim">
        <pc:chgData name="prajwala talanki" userId="f96f43d5c5067f3b" providerId="LiveId" clId="{4B6E1711-CB52-4CF4-B5ED-8DDF63F8A93D}" dt="2026-10-22T07:54:24.506" v="79"/>
        <pc:sldMkLst>
          <pc:docMk/>
          <pc:sldMk cId="0" sldId="275"/>
        </pc:sldMkLst>
      </pc:sldChg>
      <pc:sldChg chg="modSp mod">
        <pc:chgData name="prajwala talanki" userId="f96f43d5c5067f3b" providerId="LiveId" clId="{4B6E1711-CB52-4CF4-B5ED-8DDF63F8A93D}" dt="2026-10-22T07:54:43.436" v="80" actId="113"/>
        <pc:sldMkLst>
          <pc:docMk/>
          <pc:sldMk cId="0" sldId="276"/>
        </pc:sldMkLst>
        <pc:spChg chg="mod">
          <ac:chgData name="prajwala talanki" userId="f96f43d5c5067f3b" providerId="LiveId" clId="{4B6E1711-CB52-4CF4-B5ED-8DDF63F8A93D}" dt="2026-10-22T07:54:43.436" v="80" actId="113"/>
          <ac:spMkLst>
            <pc:docMk/>
            <pc:sldMk cId="0" sldId="276"/>
            <ac:spMk id="261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7:55:05.523" v="81" actId="113"/>
        <pc:sldMkLst>
          <pc:docMk/>
          <pc:sldMk cId="0" sldId="277"/>
        </pc:sldMkLst>
        <pc:spChg chg="mod">
          <ac:chgData name="prajwala talanki" userId="f96f43d5c5067f3b" providerId="LiveId" clId="{4B6E1711-CB52-4CF4-B5ED-8DDF63F8A93D}" dt="2026-10-22T07:55:05.523" v="81" actId="113"/>
          <ac:spMkLst>
            <pc:docMk/>
            <pc:sldMk cId="0" sldId="277"/>
            <ac:spMk id="269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7:57:30.485" v="82" actId="113"/>
        <pc:sldMkLst>
          <pc:docMk/>
          <pc:sldMk cId="0" sldId="278"/>
        </pc:sldMkLst>
        <pc:spChg chg="mod">
          <ac:chgData name="prajwala talanki" userId="f96f43d5c5067f3b" providerId="LiveId" clId="{4B6E1711-CB52-4CF4-B5ED-8DDF63F8A93D}" dt="2026-10-22T07:57:30.485" v="82" actId="113"/>
          <ac:spMkLst>
            <pc:docMk/>
            <pc:sldMk cId="0" sldId="278"/>
            <ac:spMk id="277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7:57:42.699" v="83" actId="113"/>
        <pc:sldMkLst>
          <pc:docMk/>
          <pc:sldMk cId="0" sldId="279"/>
        </pc:sldMkLst>
        <pc:spChg chg="mod">
          <ac:chgData name="prajwala talanki" userId="f96f43d5c5067f3b" providerId="LiveId" clId="{4B6E1711-CB52-4CF4-B5ED-8DDF63F8A93D}" dt="2026-10-22T07:57:42.699" v="83" actId="113"/>
          <ac:spMkLst>
            <pc:docMk/>
            <pc:sldMk cId="0" sldId="279"/>
            <ac:spMk id="285" creationId="{00000000-0000-0000-0000-000000000000}"/>
          </ac:spMkLst>
        </pc:spChg>
      </pc:sldChg>
      <pc:sldChg chg="addSp modSp mod">
        <pc:chgData name="prajwala talanki" userId="f96f43d5c5067f3b" providerId="LiveId" clId="{4B6E1711-CB52-4CF4-B5ED-8DDF63F8A93D}" dt="2026-10-22T07:59:23.712" v="90" actId="113"/>
        <pc:sldMkLst>
          <pc:docMk/>
          <pc:sldMk cId="0" sldId="280"/>
        </pc:sldMkLst>
        <pc:spChg chg="add mod">
          <ac:chgData name="prajwala talanki" userId="f96f43d5c5067f3b" providerId="LiveId" clId="{4B6E1711-CB52-4CF4-B5ED-8DDF63F8A93D}" dt="2026-10-22T07:59:23.712" v="90" actId="113"/>
          <ac:spMkLst>
            <pc:docMk/>
            <pc:sldMk cId="0" sldId="280"/>
            <ac:spMk id="3" creationId="{F7FF47A4-5FF3-DDEE-1DA0-A29ED01383EB}"/>
          </ac:spMkLst>
        </pc:spChg>
        <pc:spChg chg="mod">
          <ac:chgData name="prajwala talanki" userId="f96f43d5c5067f3b" providerId="LiveId" clId="{4B6E1711-CB52-4CF4-B5ED-8DDF63F8A93D}" dt="2026-10-22T07:57:57.047" v="84" actId="113"/>
          <ac:spMkLst>
            <pc:docMk/>
            <pc:sldMk cId="0" sldId="280"/>
            <ac:spMk id="293" creationId="{00000000-0000-0000-0000-000000000000}"/>
          </ac:spMkLst>
        </pc:spChg>
      </pc:sldChg>
      <pc:sldChg chg="addSp modSp mod">
        <pc:chgData name="prajwala talanki" userId="f96f43d5c5067f3b" providerId="LiveId" clId="{4B6E1711-CB52-4CF4-B5ED-8DDF63F8A93D}" dt="2026-10-22T08:04:12.452" v="118" actId="14100"/>
        <pc:sldMkLst>
          <pc:docMk/>
          <pc:sldMk cId="0" sldId="281"/>
        </pc:sldMkLst>
        <pc:spChg chg="add mod">
          <ac:chgData name="prajwala talanki" userId="f96f43d5c5067f3b" providerId="LiveId" clId="{4B6E1711-CB52-4CF4-B5ED-8DDF63F8A93D}" dt="2026-10-22T08:03:14.864" v="108" actId="1076"/>
          <ac:spMkLst>
            <pc:docMk/>
            <pc:sldMk cId="0" sldId="281"/>
            <ac:spMk id="3" creationId="{6263E57D-C389-A04B-68B0-21411E310664}"/>
          </ac:spMkLst>
        </pc:spChg>
        <pc:spChg chg="add mod">
          <ac:chgData name="prajwala talanki" userId="f96f43d5c5067f3b" providerId="LiveId" clId="{4B6E1711-CB52-4CF4-B5ED-8DDF63F8A93D}" dt="2026-10-22T08:02:07.682" v="103" actId="1076"/>
          <ac:spMkLst>
            <pc:docMk/>
            <pc:sldMk cId="0" sldId="281"/>
            <ac:spMk id="7" creationId="{8385AE7C-37D0-8C9B-46E2-E5E1FFC9CCDF}"/>
          </ac:spMkLst>
        </pc:spChg>
        <pc:spChg chg="add mod">
          <ac:chgData name="prajwala talanki" userId="f96f43d5c5067f3b" providerId="LiveId" clId="{4B6E1711-CB52-4CF4-B5ED-8DDF63F8A93D}" dt="2026-10-22T08:03:47.707" v="115" actId="14100"/>
          <ac:spMkLst>
            <pc:docMk/>
            <pc:sldMk cId="0" sldId="281"/>
            <ac:spMk id="11" creationId="{332AE50F-B3A7-7239-4078-B229FB058387}"/>
          </ac:spMkLst>
        </pc:spChg>
        <pc:spChg chg="mod">
          <ac:chgData name="prajwala talanki" userId="f96f43d5c5067f3b" providerId="LiveId" clId="{4B6E1711-CB52-4CF4-B5ED-8DDF63F8A93D}" dt="2026-10-22T08:03:03.912" v="105" actId="1076"/>
          <ac:spMkLst>
            <pc:docMk/>
            <pc:sldMk cId="0" sldId="281"/>
            <ac:spMk id="301" creationId="{00000000-0000-0000-0000-000000000000}"/>
          </ac:spMkLst>
        </pc:spChg>
        <pc:spChg chg="mod">
          <ac:chgData name="prajwala talanki" userId="f96f43d5c5067f3b" providerId="LiveId" clId="{4B6E1711-CB52-4CF4-B5ED-8DDF63F8A93D}" dt="2026-10-22T08:03:20.151" v="110" actId="6549"/>
          <ac:spMkLst>
            <pc:docMk/>
            <pc:sldMk cId="0" sldId="281"/>
            <ac:spMk id="302" creationId="{00000000-0000-0000-0000-000000000000}"/>
          </ac:spMkLst>
        </pc:spChg>
        <pc:picChg chg="add mod">
          <ac:chgData name="prajwala talanki" userId="f96f43d5c5067f3b" providerId="LiveId" clId="{4B6E1711-CB52-4CF4-B5ED-8DDF63F8A93D}" dt="2026-10-22T08:03:17.896" v="109" actId="1076"/>
          <ac:picMkLst>
            <pc:docMk/>
            <pc:sldMk cId="0" sldId="281"/>
            <ac:picMk id="5" creationId="{E5486096-C341-16C9-35D5-0F633F1AAA9F}"/>
          </ac:picMkLst>
        </pc:picChg>
        <pc:picChg chg="add mod">
          <ac:chgData name="prajwala talanki" userId="f96f43d5c5067f3b" providerId="LiveId" clId="{4B6E1711-CB52-4CF4-B5ED-8DDF63F8A93D}" dt="2026-10-22T08:03:25.057" v="111" actId="1076"/>
          <ac:picMkLst>
            <pc:docMk/>
            <pc:sldMk cId="0" sldId="281"/>
            <ac:picMk id="9" creationId="{71DB85D8-A1D7-6D6D-AAEE-031B222D0BCB}"/>
          </ac:picMkLst>
        </pc:picChg>
        <pc:picChg chg="mod">
          <ac:chgData name="prajwala talanki" userId="f96f43d5c5067f3b" providerId="LiveId" clId="{4B6E1711-CB52-4CF4-B5ED-8DDF63F8A93D}" dt="2026-10-22T08:04:12.452" v="118" actId="14100"/>
          <ac:picMkLst>
            <pc:docMk/>
            <pc:sldMk cId="0" sldId="281"/>
            <ac:picMk id="303" creationId="{00000000-0000-0000-0000-000000000000}"/>
          </ac:picMkLst>
        </pc:picChg>
      </pc:sldChg>
      <pc:sldChg chg="modSp mod">
        <pc:chgData name="prajwala talanki" userId="f96f43d5c5067f3b" providerId="LiveId" clId="{4B6E1711-CB52-4CF4-B5ED-8DDF63F8A93D}" dt="2026-10-22T08:04:22.003" v="119" actId="113"/>
        <pc:sldMkLst>
          <pc:docMk/>
          <pc:sldMk cId="0" sldId="282"/>
        </pc:sldMkLst>
        <pc:spChg chg="mod">
          <ac:chgData name="prajwala talanki" userId="f96f43d5c5067f3b" providerId="LiveId" clId="{4B6E1711-CB52-4CF4-B5ED-8DDF63F8A93D}" dt="2026-10-22T08:04:22.003" v="119" actId="113"/>
          <ac:spMkLst>
            <pc:docMk/>
            <pc:sldMk cId="0" sldId="282"/>
            <ac:spMk id="309" creationId="{00000000-0000-0000-0000-000000000000}"/>
          </ac:spMkLst>
        </pc:spChg>
      </pc:sldChg>
      <pc:sldChg chg="modSp mod modAnim">
        <pc:chgData name="prajwala talanki" userId="f96f43d5c5067f3b" providerId="LiveId" clId="{4B6E1711-CB52-4CF4-B5ED-8DDF63F8A93D}" dt="2026-10-22T08:07:55.264" v="127"/>
        <pc:sldMkLst>
          <pc:docMk/>
          <pc:sldMk cId="0" sldId="283"/>
        </pc:sldMkLst>
        <pc:spChg chg="mod">
          <ac:chgData name="prajwala talanki" userId="f96f43d5c5067f3b" providerId="LiveId" clId="{4B6E1711-CB52-4CF4-B5ED-8DDF63F8A93D}" dt="2026-10-22T08:07:55.264" v="127"/>
          <ac:spMkLst>
            <pc:docMk/>
            <pc:sldMk cId="0" sldId="283"/>
            <ac:spMk id="319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8:08:08.505" v="128" actId="113"/>
        <pc:sldMkLst>
          <pc:docMk/>
          <pc:sldMk cId="0" sldId="284"/>
        </pc:sldMkLst>
        <pc:spChg chg="mod">
          <ac:chgData name="prajwala talanki" userId="f96f43d5c5067f3b" providerId="LiveId" clId="{4B6E1711-CB52-4CF4-B5ED-8DDF63F8A93D}" dt="2026-10-22T08:08:08.505" v="128" actId="113"/>
          <ac:spMkLst>
            <pc:docMk/>
            <pc:sldMk cId="0" sldId="284"/>
            <ac:spMk id="326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8:08:26.903" v="129" actId="113"/>
        <pc:sldMkLst>
          <pc:docMk/>
          <pc:sldMk cId="0" sldId="285"/>
        </pc:sldMkLst>
        <pc:spChg chg="mod">
          <ac:chgData name="prajwala talanki" userId="f96f43d5c5067f3b" providerId="LiveId" clId="{4B6E1711-CB52-4CF4-B5ED-8DDF63F8A93D}" dt="2026-10-22T08:08:26.903" v="129" actId="113"/>
          <ac:spMkLst>
            <pc:docMk/>
            <pc:sldMk cId="0" sldId="285"/>
            <ac:spMk id="334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8:08:48.340" v="130" actId="113"/>
        <pc:sldMkLst>
          <pc:docMk/>
          <pc:sldMk cId="0" sldId="286"/>
        </pc:sldMkLst>
        <pc:spChg chg="mod">
          <ac:chgData name="prajwala talanki" userId="f96f43d5c5067f3b" providerId="LiveId" clId="{4B6E1711-CB52-4CF4-B5ED-8DDF63F8A93D}" dt="2026-10-22T08:08:48.340" v="130" actId="113"/>
          <ac:spMkLst>
            <pc:docMk/>
            <pc:sldMk cId="0" sldId="286"/>
            <ac:spMk id="342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8:17:32.340" v="131" actId="113"/>
        <pc:sldMkLst>
          <pc:docMk/>
          <pc:sldMk cId="0" sldId="290"/>
        </pc:sldMkLst>
        <pc:spChg chg="mod">
          <ac:chgData name="prajwala talanki" userId="f96f43d5c5067f3b" providerId="LiveId" clId="{4B6E1711-CB52-4CF4-B5ED-8DDF63F8A93D}" dt="2026-10-22T08:17:32.340" v="131" actId="113"/>
          <ac:spMkLst>
            <pc:docMk/>
            <pc:sldMk cId="0" sldId="290"/>
            <ac:spMk id="374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8:18:08.543" v="132" actId="113"/>
        <pc:sldMkLst>
          <pc:docMk/>
          <pc:sldMk cId="0" sldId="292"/>
        </pc:sldMkLst>
        <pc:spChg chg="mod">
          <ac:chgData name="prajwala talanki" userId="f96f43d5c5067f3b" providerId="LiveId" clId="{4B6E1711-CB52-4CF4-B5ED-8DDF63F8A93D}" dt="2026-10-22T08:18:08.543" v="132" actId="113"/>
          <ac:spMkLst>
            <pc:docMk/>
            <pc:sldMk cId="0" sldId="292"/>
            <ac:spMk id="390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8:18:18.537" v="133" actId="113"/>
        <pc:sldMkLst>
          <pc:docMk/>
          <pc:sldMk cId="0" sldId="293"/>
        </pc:sldMkLst>
        <pc:spChg chg="mod">
          <ac:chgData name="prajwala talanki" userId="f96f43d5c5067f3b" providerId="LiveId" clId="{4B6E1711-CB52-4CF4-B5ED-8DDF63F8A93D}" dt="2026-10-22T08:18:18.537" v="133" actId="113"/>
          <ac:spMkLst>
            <pc:docMk/>
            <pc:sldMk cId="0" sldId="293"/>
            <ac:spMk id="398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8:18:34.361" v="134" actId="113"/>
        <pc:sldMkLst>
          <pc:docMk/>
          <pc:sldMk cId="0" sldId="294"/>
        </pc:sldMkLst>
        <pc:spChg chg="mod">
          <ac:chgData name="prajwala talanki" userId="f96f43d5c5067f3b" providerId="LiveId" clId="{4B6E1711-CB52-4CF4-B5ED-8DDF63F8A93D}" dt="2026-10-22T08:18:34.361" v="134" actId="113"/>
          <ac:spMkLst>
            <pc:docMk/>
            <pc:sldMk cId="0" sldId="294"/>
            <ac:spMk id="406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8:18:52.670" v="135" actId="113"/>
        <pc:sldMkLst>
          <pc:docMk/>
          <pc:sldMk cId="0" sldId="295"/>
        </pc:sldMkLst>
        <pc:spChg chg="mod">
          <ac:chgData name="prajwala talanki" userId="f96f43d5c5067f3b" providerId="LiveId" clId="{4B6E1711-CB52-4CF4-B5ED-8DDF63F8A93D}" dt="2026-10-22T08:18:52.670" v="135" actId="113"/>
          <ac:spMkLst>
            <pc:docMk/>
            <pc:sldMk cId="0" sldId="295"/>
            <ac:spMk id="414" creationId="{00000000-0000-0000-0000-000000000000}"/>
          </ac:spMkLst>
        </pc:spChg>
      </pc:sldChg>
      <pc:sldChg chg="modAnim">
        <pc:chgData name="prajwala talanki" userId="f96f43d5c5067f3b" providerId="LiveId" clId="{4B6E1711-CB52-4CF4-B5ED-8DDF63F8A93D}" dt="2026-10-22T08:20:40.204" v="136"/>
        <pc:sldMkLst>
          <pc:docMk/>
          <pc:sldMk cId="0" sldId="296"/>
        </pc:sldMkLst>
      </pc:sldChg>
      <pc:sldChg chg="modSp mod">
        <pc:chgData name="prajwala talanki" userId="f96f43d5c5067f3b" providerId="LiveId" clId="{4B6E1711-CB52-4CF4-B5ED-8DDF63F8A93D}" dt="2026-10-22T08:21:15.580" v="137" actId="113"/>
        <pc:sldMkLst>
          <pc:docMk/>
          <pc:sldMk cId="0" sldId="298"/>
        </pc:sldMkLst>
        <pc:spChg chg="mod">
          <ac:chgData name="prajwala talanki" userId="f96f43d5c5067f3b" providerId="LiveId" clId="{4B6E1711-CB52-4CF4-B5ED-8DDF63F8A93D}" dt="2026-10-22T08:21:15.580" v="137" actId="113"/>
          <ac:spMkLst>
            <pc:docMk/>
            <pc:sldMk cId="0" sldId="298"/>
            <ac:spMk id="438" creationId="{00000000-0000-0000-0000-000000000000}"/>
          </ac:spMkLst>
        </pc:spChg>
      </pc:sldChg>
      <pc:sldChg chg="addSp modSp mod">
        <pc:chgData name="prajwala talanki" userId="f96f43d5c5067f3b" providerId="LiveId" clId="{4B6E1711-CB52-4CF4-B5ED-8DDF63F8A93D}" dt="2026-10-22T08:24:08.843" v="145" actId="1076"/>
        <pc:sldMkLst>
          <pc:docMk/>
          <pc:sldMk cId="0" sldId="299"/>
        </pc:sldMkLst>
        <pc:spChg chg="add mod">
          <ac:chgData name="prajwala talanki" userId="f96f43d5c5067f3b" providerId="LiveId" clId="{4B6E1711-CB52-4CF4-B5ED-8DDF63F8A93D}" dt="2026-10-22T08:22:54.849" v="140" actId="1076"/>
          <ac:spMkLst>
            <pc:docMk/>
            <pc:sldMk cId="0" sldId="299"/>
            <ac:spMk id="3" creationId="{FDAD1CFD-9FC5-6566-2837-57C7E2D5D51F}"/>
          </ac:spMkLst>
        </pc:spChg>
        <pc:spChg chg="mod">
          <ac:chgData name="prajwala talanki" userId="f96f43d5c5067f3b" providerId="LiveId" clId="{4B6E1711-CB52-4CF4-B5ED-8DDF63F8A93D}" dt="2026-10-22T08:21:51.035" v="138" actId="113"/>
          <ac:spMkLst>
            <pc:docMk/>
            <pc:sldMk cId="0" sldId="299"/>
            <ac:spMk id="446" creationId="{00000000-0000-0000-0000-000000000000}"/>
          </ac:spMkLst>
        </pc:spChg>
        <pc:picChg chg="add mod">
          <ac:chgData name="prajwala talanki" userId="f96f43d5c5067f3b" providerId="LiveId" clId="{4B6E1711-CB52-4CF4-B5ED-8DDF63F8A93D}" dt="2026-10-22T08:23:24.756" v="142" actId="1076"/>
          <ac:picMkLst>
            <pc:docMk/>
            <pc:sldMk cId="0" sldId="299"/>
            <ac:picMk id="5" creationId="{1E722101-107E-1E0A-30CB-B7D611CDE7E0}"/>
          </ac:picMkLst>
        </pc:picChg>
        <pc:picChg chg="add mod">
          <ac:chgData name="prajwala talanki" userId="f96f43d5c5067f3b" providerId="LiveId" clId="{4B6E1711-CB52-4CF4-B5ED-8DDF63F8A93D}" dt="2026-10-22T08:24:08.843" v="145" actId="1076"/>
          <ac:picMkLst>
            <pc:docMk/>
            <pc:sldMk cId="0" sldId="299"/>
            <ac:picMk id="7" creationId="{53FDADEE-C2BD-1BA4-5C1B-5F79E0BAC236}"/>
          </ac:picMkLst>
        </pc:picChg>
        <pc:picChg chg="mod">
          <ac:chgData name="prajwala talanki" userId="f96f43d5c5067f3b" providerId="LiveId" clId="{4B6E1711-CB52-4CF4-B5ED-8DDF63F8A93D}" dt="2026-10-22T08:24:04.268" v="143" actId="1076"/>
          <ac:picMkLst>
            <pc:docMk/>
            <pc:sldMk cId="0" sldId="299"/>
            <ac:picMk id="448" creationId="{00000000-0000-0000-0000-000000000000}"/>
          </ac:picMkLst>
        </pc:picChg>
      </pc:sldChg>
      <pc:sldChg chg="addSp modSp mod">
        <pc:chgData name="prajwala talanki" userId="f96f43d5c5067f3b" providerId="LiveId" clId="{4B6E1711-CB52-4CF4-B5ED-8DDF63F8A93D}" dt="2026-10-22T08:24:49.060" v="149" actId="113"/>
        <pc:sldMkLst>
          <pc:docMk/>
          <pc:sldMk cId="0" sldId="301"/>
        </pc:sldMkLst>
        <pc:spChg chg="add mod">
          <ac:chgData name="prajwala talanki" userId="f96f43d5c5067f3b" providerId="LiveId" clId="{4B6E1711-CB52-4CF4-B5ED-8DDF63F8A93D}" dt="2026-10-22T08:24:49.060" v="149" actId="113"/>
          <ac:spMkLst>
            <pc:docMk/>
            <pc:sldMk cId="0" sldId="301"/>
            <ac:spMk id="3" creationId="{3FD8BA71-7941-5A2C-EEB8-1A39CAAABAF0}"/>
          </ac:spMkLst>
        </pc:spChg>
        <pc:picChg chg="mod">
          <ac:chgData name="prajwala talanki" userId="f96f43d5c5067f3b" providerId="LiveId" clId="{4B6E1711-CB52-4CF4-B5ED-8DDF63F8A93D}" dt="2026-10-22T08:24:35.260" v="146" actId="1076"/>
          <ac:picMkLst>
            <pc:docMk/>
            <pc:sldMk cId="0" sldId="301"/>
            <ac:picMk id="464" creationId="{00000000-0000-0000-0000-000000000000}"/>
          </ac:picMkLst>
        </pc:picChg>
      </pc:sldChg>
      <pc:sldChg chg="addSp modSp mod modAnim">
        <pc:chgData name="prajwala talanki" userId="f96f43d5c5067f3b" providerId="LiveId" clId="{4B6E1711-CB52-4CF4-B5ED-8DDF63F8A93D}" dt="2026-10-22T08:31:39.029" v="166"/>
        <pc:sldMkLst>
          <pc:docMk/>
          <pc:sldMk cId="0" sldId="302"/>
        </pc:sldMkLst>
        <pc:spChg chg="add mod">
          <ac:chgData name="prajwala talanki" userId="f96f43d5c5067f3b" providerId="LiveId" clId="{4B6E1711-CB52-4CF4-B5ED-8DDF63F8A93D}" dt="2026-10-22T08:28:12.329" v="153" actId="1076"/>
          <ac:spMkLst>
            <pc:docMk/>
            <pc:sldMk cId="0" sldId="302"/>
            <ac:spMk id="3" creationId="{8D73D792-AAF3-86D7-9683-37DC37091768}"/>
          </ac:spMkLst>
        </pc:spChg>
        <pc:spChg chg="mod">
          <ac:chgData name="prajwala talanki" userId="f96f43d5c5067f3b" providerId="LiveId" clId="{4B6E1711-CB52-4CF4-B5ED-8DDF63F8A93D}" dt="2026-10-22T08:30:50.454" v="165" actId="20577"/>
          <ac:spMkLst>
            <pc:docMk/>
            <pc:sldMk cId="0" sldId="302"/>
            <ac:spMk id="470" creationId="{00000000-0000-0000-0000-000000000000}"/>
          </ac:spMkLst>
        </pc:spChg>
        <pc:spChg chg="mod">
          <ac:chgData name="prajwala talanki" userId="f96f43d5c5067f3b" providerId="LiveId" clId="{4B6E1711-CB52-4CF4-B5ED-8DDF63F8A93D}" dt="2026-10-22T08:30:46.552" v="163" actId="6549"/>
          <ac:spMkLst>
            <pc:docMk/>
            <pc:sldMk cId="0" sldId="302"/>
            <ac:spMk id="472" creationId="{00000000-0000-0000-0000-000000000000}"/>
          </ac:spMkLst>
        </pc:spChg>
      </pc:sldChg>
      <pc:sldChg chg="modSp mod">
        <pc:chgData name="prajwala talanki" userId="f96f43d5c5067f3b" providerId="LiveId" clId="{4B6E1711-CB52-4CF4-B5ED-8DDF63F8A93D}" dt="2026-10-22T08:32:00.721" v="167" actId="113"/>
        <pc:sldMkLst>
          <pc:docMk/>
          <pc:sldMk cId="0" sldId="303"/>
        </pc:sldMkLst>
        <pc:spChg chg="mod">
          <ac:chgData name="prajwala talanki" userId="f96f43d5c5067f3b" providerId="LiveId" clId="{4B6E1711-CB52-4CF4-B5ED-8DDF63F8A93D}" dt="2026-10-22T08:32:00.721" v="167" actId="113"/>
          <ac:spMkLst>
            <pc:docMk/>
            <pc:sldMk cId="0" sldId="303"/>
            <ac:spMk id="479" creationId="{00000000-0000-0000-0000-000000000000}"/>
          </ac:spMkLst>
        </pc:spChg>
      </pc:sldChg>
      <pc:sldChg chg="modAnim">
        <pc:chgData name="prajwala talanki" userId="f96f43d5c5067f3b" providerId="LiveId" clId="{4B6E1711-CB52-4CF4-B5ED-8DDF63F8A93D}" dt="2026-10-22T08:33:36.850" v="168"/>
        <pc:sldMkLst>
          <pc:docMk/>
          <pc:sldMk cId="0" sldId="309"/>
        </pc:sldMkLst>
      </pc:sldChg>
      <pc:sldChg chg="modAnim">
        <pc:chgData name="prajwala talanki" userId="f96f43d5c5067f3b" providerId="LiveId" clId="{4B6E1711-CB52-4CF4-B5ED-8DDF63F8A93D}" dt="2026-10-22T08:33:52.334" v="169"/>
        <pc:sldMkLst>
          <pc:docMk/>
          <pc:sldMk cId="0" sldId="310"/>
        </pc:sldMkLst>
      </pc:sldChg>
      <pc:sldChg chg="modAnim">
        <pc:chgData name="prajwala talanki" userId="f96f43d5c5067f3b" providerId="LiveId" clId="{4B6E1711-CB52-4CF4-B5ED-8DDF63F8A93D}" dt="2026-10-22T08:34:01.812" v="170"/>
        <pc:sldMkLst>
          <pc:docMk/>
          <pc:sldMk cId="0" sldId="311"/>
        </pc:sldMkLst>
      </pc:sldChg>
      <pc:sldChg chg="modAnim">
        <pc:chgData name="prajwala talanki" userId="f96f43d5c5067f3b" providerId="LiveId" clId="{4B6E1711-CB52-4CF4-B5ED-8DDF63F8A93D}" dt="2026-10-22T08:34:21.156" v="171"/>
        <pc:sldMkLst>
          <pc:docMk/>
          <pc:sldMk cId="0" sldId="312"/>
        </pc:sldMkLst>
      </pc:sldChg>
      <pc:sldChg chg="modAnim">
        <pc:chgData name="prajwala talanki" userId="f96f43d5c5067f3b" providerId="LiveId" clId="{4B6E1711-CB52-4CF4-B5ED-8DDF63F8A93D}" dt="2026-10-22T08:34:32.898" v="172"/>
        <pc:sldMkLst>
          <pc:docMk/>
          <pc:sldMk cId="0" sldId="313"/>
        </pc:sldMkLst>
      </pc:sldChg>
      <pc:sldChg chg="modAnim">
        <pc:chgData name="prajwala talanki" userId="f96f43d5c5067f3b" providerId="LiveId" clId="{4B6E1711-CB52-4CF4-B5ED-8DDF63F8A93D}" dt="2026-10-22T08:34:39.947" v="173"/>
        <pc:sldMkLst>
          <pc:docMk/>
          <pc:sldMk cId="0" sldId="314"/>
        </pc:sldMkLst>
      </pc:sldChg>
      <pc:sldChg chg="modAnim">
        <pc:chgData name="prajwala talanki" userId="f96f43d5c5067f3b" providerId="LiveId" clId="{4B6E1711-CB52-4CF4-B5ED-8DDF63F8A93D}" dt="2026-10-22T08:34:59.850" v="174"/>
        <pc:sldMkLst>
          <pc:docMk/>
          <pc:sldMk cId="0" sldId="315"/>
        </pc:sldMkLst>
      </pc:sldChg>
      <pc:sldChg chg="modAnim">
        <pc:chgData name="prajwala talanki" userId="f96f43d5c5067f3b" providerId="LiveId" clId="{4B6E1711-CB52-4CF4-B5ED-8DDF63F8A93D}" dt="2026-10-22T08:35:09.385" v="175"/>
        <pc:sldMkLst>
          <pc:docMk/>
          <pc:sldMk cId="0" sldId="316"/>
        </pc:sldMkLst>
      </pc:sldChg>
      <pc:sldChg chg="addSp delSp modSp new mod setBg">
        <pc:chgData name="prajwala talanki" userId="f96f43d5c5067f3b" providerId="LiveId" clId="{4B6E1711-CB52-4CF4-B5ED-8DDF63F8A93D}" dt="2026-10-22T07:35:03.636" v="50" actId="14100"/>
        <pc:sldMkLst>
          <pc:docMk/>
          <pc:sldMk cId="411519657" sldId="318"/>
        </pc:sldMkLst>
        <pc:spChg chg="add del">
          <ac:chgData name="prajwala talanki" userId="f96f43d5c5067f3b" providerId="LiveId" clId="{4B6E1711-CB52-4CF4-B5ED-8DDF63F8A93D}" dt="2026-10-22T07:34:51.395" v="47" actId="26606"/>
          <ac:spMkLst>
            <pc:docMk/>
            <pc:sldMk cId="411519657" sldId="318"/>
            <ac:spMk id="16" creationId="{262ABC4B-37D8-4218-BDD8-6DF6A00C0C80}"/>
          </ac:spMkLst>
        </pc:spChg>
        <pc:spChg chg="add">
          <ac:chgData name="prajwala talanki" userId="f96f43d5c5067f3b" providerId="LiveId" clId="{4B6E1711-CB52-4CF4-B5ED-8DDF63F8A93D}" dt="2026-10-22T07:34:51.395" v="48" actId="26606"/>
          <ac:spMkLst>
            <pc:docMk/>
            <pc:sldMk cId="411519657" sldId="318"/>
            <ac:spMk id="18" creationId="{799448F2-0E5B-42DA-B2D1-11A14E947BD4}"/>
          </ac:spMkLst>
        </pc:spChg>
        <pc:spChg chg="add">
          <ac:chgData name="prajwala talanki" userId="f96f43d5c5067f3b" providerId="LiveId" clId="{4B6E1711-CB52-4CF4-B5ED-8DDF63F8A93D}" dt="2026-10-22T07:34:51.395" v="48" actId="26606"/>
          <ac:spMkLst>
            <pc:docMk/>
            <pc:sldMk cId="411519657" sldId="318"/>
            <ac:spMk id="19" creationId="{4E8A7552-20E1-4F34-ADAB-C1DB6634D47E}"/>
          </ac:spMkLst>
        </pc:spChg>
        <pc:picChg chg="add mod ord">
          <ac:chgData name="prajwala talanki" userId="f96f43d5c5067f3b" providerId="LiveId" clId="{4B6E1711-CB52-4CF4-B5ED-8DDF63F8A93D}" dt="2026-10-22T07:34:51.395" v="48" actId="26606"/>
          <ac:picMkLst>
            <pc:docMk/>
            <pc:sldMk cId="411519657" sldId="318"/>
            <ac:picMk id="3" creationId="{839A8EC6-6B4A-580D-B5A0-3AB827A5B6DD}"/>
          </ac:picMkLst>
        </pc:picChg>
        <pc:picChg chg="add mod ord">
          <ac:chgData name="prajwala talanki" userId="f96f43d5c5067f3b" providerId="LiveId" clId="{4B6E1711-CB52-4CF4-B5ED-8DDF63F8A93D}" dt="2026-10-22T07:35:03.636" v="50" actId="14100"/>
          <ac:picMkLst>
            <pc:docMk/>
            <pc:sldMk cId="411519657" sldId="318"/>
            <ac:picMk id="5" creationId="{97E174C1-335F-F33F-CC35-F9B6193FAD50}"/>
          </ac:picMkLst>
        </pc:picChg>
        <pc:picChg chg="add mod">
          <ac:chgData name="prajwala talanki" userId="f96f43d5c5067f3b" providerId="LiveId" clId="{4B6E1711-CB52-4CF4-B5ED-8DDF63F8A93D}" dt="2026-10-22T07:34:51.395" v="48" actId="26606"/>
          <ac:picMkLst>
            <pc:docMk/>
            <pc:sldMk cId="411519657" sldId="318"/>
            <ac:picMk id="7" creationId="{1E55EAD5-1A57-69B2-256E-B6F0A4064A4B}"/>
          </ac:picMkLst>
        </pc:picChg>
        <pc:cxnChg chg="add del">
          <ac:chgData name="prajwala talanki" userId="f96f43d5c5067f3b" providerId="LiveId" clId="{4B6E1711-CB52-4CF4-B5ED-8DDF63F8A93D}" dt="2026-10-22T07:34:47.577" v="45" actId="26606"/>
          <ac:cxnSpMkLst>
            <pc:docMk/>
            <pc:sldMk cId="411519657" sldId="318"/>
            <ac:cxnSpMk id="12" creationId="{DCD67800-37AC-4E14-89B0-F79DCB3FB86D}"/>
          </ac:cxnSpMkLst>
        </pc:cxnChg>
        <pc:cxnChg chg="add del">
          <ac:chgData name="prajwala talanki" userId="f96f43d5c5067f3b" providerId="LiveId" clId="{4B6E1711-CB52-4CF4-B5ED-8DDF63F8A93D}" dt="2026-10-22T07:34:47.577" v="45" actId="26606"/>
          <ac:cxnSpMkLst>
            <pc:docMk/>
            <pc:sldMk cId="411519657" sldId="318"/>
            <ac:cxnSpMk id="14" creationId="{20F1788F-A5AE-4188-8274-F7F2E3833ECD}"/>
          </ac:cxnSpMkLst>
        </pc:cxnChg>
      </pc:sldChg>
      <pc:sldChg chg="modSp add mod">
        <pc:chgData name="prajwala talanki" userId="f96f43d5c5067f3b" providerId="LiveId" clId="{4B6E1711-CB52-4CF4-B5ED-8DDF63F8A93D}" dt="2026-10-22T07:40:57.481" v="59" actId="113"/>
        <pc:sldMkLst>
          <pc:docMk/>
          <pc:sldMk cId="2515121304" sldId="319"/>
        </pc:sldMkLst>
        <pc:spChg chg="mod">
          <ac:chgData name="prajwala talanki" userId="f96f43d5c5067f3b" providerId="LiveId" clId="{4B6E1711-CB52-4CF4-B5ED-8DDF63F8A93D}" dt="2026-10-22T07:40:57.481" v="59" actId="113"/>
          <ac:spMkLst>
            <pc:docMk/>
            <pc:sldMk cId="2515121304" sldId="319"/>
            <ac:spMk id="203" creationId="{A2D073C7-F327-78AB-2737-A79794C7356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juk</a:t>
            </a:r>
            <a:r>
              <a:rPr lang="en-IN" dirty="0"/>
              <a:t>-</a:t>
            </a:r>
            <a:r>
              <a:rPr lang="en-IN" dirty="0" err="1"/>
              <a:t>stuh</a:t>
            </a:r>
            <a:r>
              <a:rPr lang="en-IN" dirty="0"/>
              <a:t>-POH-zing</a:t>
            </a:r>
          </a:p>
        </p:txBody>
      </p:sp>
    </p:spTree>
    <p:extLst>
      <p:ext uri="{BB962C8B-B14F-4D97-AF65-F5344CB8AC3E}">
        <p14:creationId xmlns:p14="http://schemas.microsoft.com/office/powerpoint/2010/main" val="3321924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826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672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ingest means to collect or bring data into a system so it can be processed and visualized.</a:t>
            </a:r>
          </a:p>
        </p:txBody>
      </p:sp>
    </p:spTree>
    <p:extLst>
      <p:ext uri="{BB962C8B-B14F-4D97-AF65-F5344CB8AC3E}">
        <p14:creationId xmlns:p14="http://schemas.microsoft.com/office/powerpoint/2010/main" val="1255326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gi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gi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 txBox="1"/>
          <p:nvPr/>
        </p:nvSpPr>
        <p:spPr>
          <a:xfrm>
            <a:off x="5795405" y="7042546"/>
            <a:ext cx="11061383" cy="533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Dr.Prajwala TR (Course Instructor)</a:t>
            </a:r>
          </a:p>
        </p:txBody>
      </p:sp>
      <p:sp>
        <p:nvSpPr>
          <p:cNvPr id="95" name="TextBox 3"/>
          <p:cNvSpPr txBox="1"/>
          <p:nvPr/>
        </p:nvSpPr>
        <p:spPr>
          <a:xfrm>
            <a:off x="5795405" y="7663053"/>
            <a:ext cx="10829678" cy="533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Dept. of CSE, PES University, Bangalore</a:t>
            </a:r>
          </a:p>
        </p:txBody>
      </p:sp>
      <p:sp>
        <p:nvSpPr>
          <p:cNvPr id="96" name="AutoShape 5"/>
          <p:cNvSpPr/>
          <p:nvPr/>
        </p:nvSpPr>
        <p:spPr>
          <a:xfrm>
            <a:off x="5795405" y="6622732"/>
            <a:ext cx="12088488" cy="1"/>
          </a:xfrm>
          <a:prstGeom prst="line">
            <a:avLst/>
          </a:prstGeom>
          <a:ln w="28575" cap="rnd">
            <a:solidFill>
              <a:srgbClr val="ED7D3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Freeform 6"/>
          <p:cNvSpPr/>
          <p:nvPr/>
        </p:nvSpPr>
        <p:spPr>
          <a:xfrm>
            <a:off x="16283548" y="399096"/>
            <a:ext cx="1600344" cy="161723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TextBox 7"/>
          <p:cNvSpPr txBox="1"/>
          <p:nvPr/>
        </p:nvSpPr>
        <p:spPr>
          <a:xfrm>
            <a:off x="5795405" y="5120728"/>
            <a:ext cx="12088488" cy="1239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900"/>
              </a:lnSpc>
              <a:defRPr sz="410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PPT 7: Interactive Visualization, Visual Analytics and Sensemaking</a:t>
            </a:r>
          </a:p>
        </p:txBody>
      </p:sp>
      <p:sp>
        <p:nvSpPr>
          <p:cNvPr id="99" name="TextBox 8"/>
          <p:cNvSpPr txBox="1"/>
          <p:nvPr/>
        </p:nvSpPr>
        <p:spPr>
          <a:xfrm>
            <a:off x="5513834" y="1435305"/>
            <a:ext cx="12088488" cy="1695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700"/>
              </a:lnSpc>
              <a:defRPr sz="5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00" name="TextBox 9"/>
          <p:cNvSpPr txBox="1"/>
          <p:nvPr/>
        </p:nvSpPr>
        <p:spPr>
          <a:xfrm>
            <a:off x="5795405" y="4305272"/>
            <a:ext cx="12088488" cy="591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700"/>
              </a:lnSpc>
              <a:defRPr sz="3900" b="1">
                <a:solidFill>
                  <a:srgbClr val="2F5496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(UE24CS342AA9)</a:t>
            </a:r>
          </a:p>
        </p:txBody>
      </p:sp>
      <p:sp>
        <p:nvSpPr>
          <p:cNvPr id="101" name="TextBox 10"/>
          <p:cNvSpPr txBox="1"/>
          <p:nvPr/>
        </p:nvSpPr>
        <p:spPr>
          <a:xfrm>
            <a:off x="5795405" y="3275112"/>
            <a:ext cx="12088488" cy="591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700"/>
              </a:lnSpc>
              <a:defRPr sz="3900" b="1" u="sng">
                <a:solidFill>
                  <a:srgbClr val="2F5496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Unit 3 : Multimedia and Interactive Visualization </a:t>
            </a:r>
          </a:p>
        </p:txBody>
      </p:sp>
      <p:sp>
        <p:nvSpPr>
          <p:cNvPr id="102" name="Freeform 12"/>
          <p:cNvSpPr/>
          <p:nvPr/>
        </p:nvSpPr>
        <p:spPr>
          <a:xfrm>
            <a:off x="1028699" y="1028700"/>
            <a:ext cx="3891654" cy="720582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AutoShape 2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TextBox 3"/>
          <p:cNvSpPr txBox="1"/>
          <p:nvPr/>
        </p:nvSpPr>
        <p:spPr>
          <a:xfrm>
            <a:off x="681103" y="958463"/>
            <a:ext cx="11785095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Acknowledgement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681104" y="357407"/>
            <a:ext cx="15600000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07" name="TextBox 5"/>
          <p:cNvSpPr txBox="1"/>
          <p:nvPr/>
        </p:nvSpPr>
        <p:spPr>
          <a:xfrm>
            <a:off x="681103" y="2201577"/>
            <a:ext cx="14188441" cy="3013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600"/>
              </a:lnSpc>
              <a:defRPr sz="30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t>The slides are prepared from  various resources from the Universities from abroad and India. Also, some material is taken from reliable resources from internet throughout this course.</a:t>
            </a:r>
          </a:p>
          <a:p>
            <a:pPr>
              <a:defRPr sz="3000">
                <a:latin typeface="Calibri (MS)"/>
                <a:ea typeface="Calibri (MS)"/>
                <a:cs typeface="Calibri (MS)"/>
                <a:sym typeface="Calibri (MS)"/>
              </a:defRPr>
            </a:pPr>
            <a:endParaRPr/>
          </a:p>
          <a:p>
            <a:pPr>
              <a:defRPr sz="2600" b="1">
                <a:solidFill>
                  <a:srgbClr val="1A1A1A"/>
                </a:solidFill>
              </a:defRPr>
            </a:pPr>
            <a:r>
              <a:t>Primary textbooks for this lecture: </a:t>
            </a:r>
            <a:r>
              <a:rPr b="0"/>
              <a:t>T. Munzner, Visualization Analysis and Design (CRC Press, 2014) and C. O. Wilke, Fundamentals of Data Visualization (O’Reilly, 2019), supported by research papers listed on the References slide. </a:t>
            </a:r>
          </a:p>
        </p:txBody>
      </p:sp>
      <p:sp>
        <p:nvSpPr>
          <p:cNvPr id="108" name="Freeform 7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2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Lecture Overview</a:t>
            </a:r>
          </a:p>
        </p:txBody>
      </p:sp>
      <p:sp>
        <p:nvSpPr>
          <p:cNvPr id="113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14" name="Lead"/>
          <p:cNvSpPr txBox="1"/>
          <p:nvPr/>
        </p:nvSpPr>
        <p:spPr>
          <a:xfrm>
            <a:off x="681104" y="2149999"/>
            <a:ext cx="15900001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2400">
                <a:solidFill>
                  <a:srgbClr val="1A1A1A"/>
                </a:solidFill>
              </a:defRPr>
            </a:lvl1pPr>
          </a:lstStyle>
          <a:p>
            <a:r>
              <a:t>In this lecture, we will cover:</a:t>
            </a:r>
          </a:p>
        </p:txBody>
      </p:sp>
      <p:sp>
        <p:nvSpPr>
          <p:cNvPr id="115" name="Col"/>
          <p:cNvSpPr txBox="1"/>
          <p:nvPr/>
        </p:nvSpPr>
        <p:spPr>
          <a:xfrm>
            <a:off x="681103" y="2950000"/>
            <a:ext cx="8300002" cy="5582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Interactive Visualization Concepts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Purpose Of Interaction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Visualization As An Interactive Process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Brushing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Cross-View Brushing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Linking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Coordinated Views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Filtering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Dynamic Queries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Selection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Highlighting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Zooming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Panning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Details-On-Demand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Tooltips And Inspection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Drill-Down</a:t>
            </a:r>
          </a:p>
        </p:txBody>
      </p:sp>
      <p:sp>
        <p:nvSpPr>
          <p:cNvPr id="116" name="Col"/>
          <p:cNvSpPr txBox="1"/>
          <p:nvPr/>
        </p:nvSpPr>
        <p:spPr>
          <a:xfrm>
            <a:off x="9249999" y="2950000"/>
            <a:ext cx="8300001" cy="5582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Focus And Context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Interaction Sequences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Overview And Details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Interactive Network Exploration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Interactive Temporal Visualization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Interactive Scientific Visualization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Visual Analytics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Human-In-The-Loop Analysis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Exploratory Analysis, Pattern Discovery, Anomaly Detection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Hypothesis Generation and Testing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Sensemaking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Information Foraging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Iterative Analytical Reasoning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Visual Analytics Workflows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Plus: 6 worked numericals with solutions • 8 MCQs</a:t>
            </a:r>
          </a:p>
          <a:p>
            <a:pPr marL="420000" indent="-340000">
              <a:spcBef>
                <a:spcPts val="400"/>
              </a:spcBef>
              <a:buSzPct val="100000"/>
              <a:buFont typeface="Arial"/>
              <a:buChar char="•"/>
              <a:defRPr sz="2000">
                <a:solidFill>
                  <a:srgbClr val="1A1A1A"/>
                </a:solidFill>
              </a:defRPr>
            </a:pPr>
            <a:r>
              <a:t>References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Interactive Visualization Concepts</a:t>
            </a:r>
          </a:p>
        </p:txBody>
      </p:sp>
      <p:sp>
        <p:nvSpPr>
          <p:cNvPr id="121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22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b="1" dirty="0"/>
              <a:t>Interaction turns a static picture into a tool for exploration</a:t>
            </a:r>
            <a:r>
              <a:rPr dirty="0"/>
              <a:t>: the view changes over time in response to user input</a:t>
            </a:r>
            <a:r>
              <a:rPr b="1" dirty="0"/>
              <a:t>, instead of being fixed once drawn</a:t>
            </a:r>
            <a:r>
              <a:rPr dirty="0"/>
              <a:t>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Interactivity is the key advantage</a:t>
            </a:r>
            <a:r>
              <a:rPr b="0" dirty="0"/>
              <a:t> of vis on a computer display over vis printed on paper </a:t>
            </a:r>
            <a:r>
              <a:rPr b="1" dirty="0"/>
              <a:t>— a view can dynamically respond to input</a:t>
            </a:r>
            <a:r>
              <a:rPr b="0" dirty="0"/>
              <a:t>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Manipulate, Facet, Reduce, Embed</a:t>
            </a:r>
            <a:r>
              <a:rPr b="0" dirty="0"/>
              <a:t> — </a:t>
            </a:r>
            <a:r>
              <a:rPr b="0" dirty="0" err="1"/>
              <a:t>Munzner's</a:t>
            </a:r>
            <a:r>
              <a:rPr b="0" dirty="0"/>
              <a:t> four families of interaction idioms for changing what is shown.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Direct manipulation</a:t>
            </a:r>
            <a:r>
              <a:rPr b="0" dirty="0"/>
              <a:t> lets users act on visual objects </a:t>
            </a:r>
            <a:r>
              <a:rPr b="1" dirty="0"/>
              <a:t>directly (click, drag, brush</a:t>
            </a:r>
            <a:r>
              <a:rPr b="0" dirty="0"/>
              <a:t>) rather than typing commands.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Tight coupling</a:t>
            </a:r>
            <a:r>
              <a:rPr b="0" dirty="0"/>
              <a:t> between </a:t>
            </a:r>
            <a:r>
              <a:rPr b="1" dirty="0"/>
              <a:t>action</a:t>
            </a:r>
            <a:r>
              <a:rPr b="0" dirty="0"/>
              <a:t> and visual </a:t>
            </a:r>
            <a:r>
              <a:rPr b="1" dirty="0"/>
              <a:t>feedback</a:t>
            </a:r>
            <a:r>
              <a:rPr b="0" dirty="0"/>
              <a:t> is what makes an interface feel interactive rather than a batch query.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A view that changes over time can dynamically respond to user input, rather than being limited to a static visual encoding — this is the most fundamental benefit of vis on a computer.</a:t>
            </a:r>
          </a:p>
        </p:txBody>
      </p:sp>
      <p:sp>
        <p:nvSpPr>
          <p:cNvPr id="123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§11.1–11.2, pp. 242–244</a:t>
            </a:r>
          </a:p>
        </p:txBody>
      </p:sp>
      <p:pic>
        <p:nvPicPr>
          <p:cNvPr id="124" name="Picture 1011" descr="Picture 101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043B5F-B701-69C5-1B89-4F3A376FB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624" y="7271536"/>
            <a:ext cx="7944959" cy="210531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Interactive Visualization Concepts: Why Change a View?</a:t>
            </a:r>
          </a:p>
        </p:txBody>
      </p:sp>
      <p:sp>
        <p:nvSpPr>
          <p:cNvPr id="129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30" name="BodyBox"/>
          <p:cNvSpPr txBox="1"/>
          <p:nvPr/>
        </p:nvSpPr>
        <p:spPr>
          <a:xfrm>
            <a:off x="681103" y="2050000"/>
            <a:ext cx="8950002" cy="626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sz="2400" b="1" dirty="0"/>
              <a:t>Datasets are often too large and complex to show everything at once without overwhelming visual clutter. </a:t>
            </a:r>
            <a:r>
              <a:rPr sz="2400" dirty="0" err="1"/>
              <a:t>Munzner</a:t>
            </a:r>
            <a:r>
              <a:rPr sz="2400" dirty="0"/>
              <a:t> lists five major, non-exclusive options for handling this complexity.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sz="2400" dirty="0"/>
              <a:t>Derive</a:t>
            </a:r>
            <a:r>
              <a:rPr sz="2400" b="0" dirty="0"/>
              <a:t> new data (compute new attributes) before encoding it.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sz="2400" dirty="0"/>
              <a:t>Change</a:t>
            </a:r>
            <a:r>
              <a:rPr sz="2400" b="0" dirty="0"/>
              <a:t> the view over time (Ch. 11) — encoding, arrangement, order, viewpoint, filter, aggregation.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sz="2400" dirty="0"/>
              <a:t>Facet</a:t>
            </a:r>
            <a:r>
              <a:rPr sz="2400" b="0" dirty="0"/>
              <a:t> the data into multiple juxtaposed views or superimposed layers (Ch. 12).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sz="2400" dirty="0"/>
              <a:t>Reduce</a:t>
            </a:r>
            <a:r>
              <a:rPr sz="2400" b="0" dirty="0"/>
              <a:t> the amount of data shown, by filtering or aggregating (Ch. 13).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sz="2400" dirty="0"/>
              <a:t>Embed</a:t>
            </a:r>
            <a:r>
              <a:rPr sz="2400" b="0" dirty="0"/>
              <a:t> focus and context information together within a single view (Ch. 14).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sz="2400"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sz="2400" dirty="0"/>
              <a:t>These five choices are not mutually exclusive — real systems combine several of them, and interaction is what lets the user choose which combination to apply, and when.</a:t>
            </a:r>
          </a:p>
        </p:txBody>
      </p:sp>
      <p:pic>
        <p:nvPicPr>
          <p:cNvPr id="131" name="d02_five_ways.png" descr="d02_five_w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32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§11.2, p. 244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Purpose Of Interaction</a:t>
            </a:r>
          </a:p>
        </p:txBody>
      </p:sp>
      <p:sp>
        <p:nvSpPr>
          <p:cNvPr id="137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38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Interaction exists to let the analyst adapt the display to a question that could not be anticipated at design time.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Overcome display limits</a:t>
            </a:r>
            <a:r>
              <a:rPr b="0"/>
              <a:t> — screens have finite pixels; interaction lets one screen serve many views over time.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Support open-ended tasks</a:t>
            </a:r>
            <a:r>
              <a:rPr b="0"/>
              <a:t> — exploration and discovery cannot be fully scripted in advance.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Reduce cognitive load</a:t>
            </a:r>
            <a:r>
              <a:rPr b="0"/>
              <a:t> — the view does the remembering (eyes beat memory) instead of the user's working memory.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Close the loop</a:t>
            </a:r>
            <a:r>
              <a:rPr b="0"/>
              <a:t> between the analyst's evolving mental model and what the system displays.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Comparing two views that are simultaneously visible is far easier than comparing a changing view to what was on screen a moment ago — this trade-off motivates most interaction design choices.</a:t>
            </a:r>
          </a:p>
        </p:txBody>
      </p:sp>
      <p:sp>
        <p:nvSpPr>
          <p:cNvPr id="139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§6.5, §12.2, p. 266</a:t>
            </a:r>
          </a:p>
        </p:txBody>
      </p:sp>
      <p:pic>
        <p:nvPicPr>
          <p:cNvPr id="140" name="Picture 1020" descr="Picture 1020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As An Interactive Process</a:t>
            </a:r>
          </a:p>
        </p:txBody>
      </p:sp>
      <p:sp>
        <p:nvSpPr>
          <p:cNvPr id="145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46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Interactive visualization is best understood as </a:t>
            </a:r>
            <a:r>
              <a:rPr b="1" dirty="0"/>
              <a:t>a closed loop</a:t>
            </a:r>
            <a:r>
              <a:rPr dirty="0"/>
              <a:t>, not a one-shot picture: the user acts, the system updates the view, and the user perceives and interprets the result before acting again.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The loop </a:t>
            </a:r>
            <a:r>
              <a:rPr b="1" dirty="0"/>
              <a:t>repeats</a:t>
            </a:r>
            <a:r>
              <a:rPr dirty="0"/>
              <a:t> continuously during an analysis session, each cycle refining the analyst's understanding.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b="1" dirty="0"/>
              <a:t>Low latency in the loop is essential </a:t>
            </a:r>
            <a:r>
              <a:rPr dirty="0"/>
              <a:t>— Shneiderman's dynamic-query work showed that delayed feedback breaks the sense of direct manipulation.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b="1" dirty="0"/>
              <a:t>Each cycle </a:t>
            </a:r>
            <a:r>
              <a:rPr dirty="0"/>
              <a:t>can invoke any of the manipulate / facet / reduce / embed idiom families.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Sessions chain many such cycles together into interaction sequences (see later topic).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The output of a selection or change is very often the input to the next interaction — vis is process, not artifact.</a:t>
            </a:r>
          </a:p>
        </p:txBody>
      </p:sp>
      <p:sp>
        <p:nvSpPr>
          <p:cNvPr id="147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§1.14, §3.7, §11.4.3</a:t>
            </a:r>
          </a:p>
        </p:txBody>
      </p:sp>
      <p:pic>
        <p:nvPicPr>
          <p:cNvPr id="148" name="Picture 1025" descr="Picture 102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1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Brushing</a:t>
            </a:r>
          </a:p>
        </p:txBody>
      </p:sp>
      <p:sp>
        <p:nvSpPr>
          <p:cNvPr id="153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54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Brushing lets </a:t>
            </a:r>
            <a:r>
              <a:rPr b="1" dirty="0"/>
              <a:t>the user interactively paint a selection directly over a set of marks in a view, </a:t>
            </a:r>
            <a:r>
              <a:rPr dirty="0"/>
              <a:t>typically by dragging a rectangular or freeform region.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Origin</a:t>
            </a:r>
            <a:r>
              <a:rPr b="0" dirty="0"/>
              <a:t> — the term comes from Becker and Cleveland's 1987 technique of brushing scatterplots.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Mechanism</a:t>
            </a:r>
            <a:r>
              <a:rPr b="0" dirty="0"/>
              <a:t> </a:t>
            </a:r>
            <a:r>
              <a:rPr b="1" dirty="0"/>
              <a:t>— the brush is a movable region</a:t>
            </a:r>
            <a:r>
              <a:rPr b="0" dirty="0"/>
              <a:t>; any mark it touches becomes part of the current selection.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Feedback</a:t>
            </a:r>
            <a:r>
              <a:rPr b="0" dirty="0"/>
              <a:t> — brushed items </a:t>
            </a:r>
            <a:r>
              <a:rPr b="1" dirty="0"/>
              <a:t>are immediately highlighted, </a:t>
            </a:r>
            <a:r>
              <a:rPr b="0" dirty="0"/>
              <a:t>usually with a </a:t>
            </a:r>
            <a:r>
              <a:rPr b="0" dirty="0" err="1"/>
              <a:t>colour</a:t>
            </a:r>
            <a:r>
              <a:rPr b="0" dirty="0"/>
              <a:t> or outline change, in the same 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Building block</a:t>
            </a:r>
            <a:r>
              <a:rPr b="0" dirty="0"/>
              <a:t> — brushing is the interaction half of the </a:t>
            </a:r>
            <a:r>
              <a:rPr b="1" dirty="0"/>
              <a:t>linked-highlighting </a:t>
            </a:r>
            <a:r>
              <a:rPr b="0" dirty="0"/>
              <a:t>idiom used </a:t>
            </a:r>
            <a:r>
              <a:rPr b="1" dirty="0"/>
              <a:t>across coordinated views.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Linked highlighting is also called </a:t>
            </a:r>
            <a:r>
              <a:rPr b="1" dirty="0"/>
              <a:t>brushing or cross-filtering </a:t>
            </a:r>
            <a:r>
              <a:rPr dirty="0"/>
              <a:t>— the same underlying idiom, described from the interaction side (brushing) or the encoding side (linked highlighting).</a:t>
            </a:r>
          </a:p>
        </p:txBody>
      </p:sp>
      <p:sp>
        <p:nvSpPr>
          <p:cNvPr id="155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§12.3.1, p. 267 (Becker &amp; Cleveland 1987)</a:t>
            </a:r>
          </a:p>
        </p:txBody>
      </p:sp>
      <p:pic>
        <p:nvPicPr>
          <p:cNvPr id="156" name="Picture 1030" descr="Picture 1030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Cross-View Brushing</a:t>
            </a:r>
          </a:p>
        </p:txBody>
      </p:sp>
      <p:sp>
        <p:nvSpPr>
          <p:cNvPr id="161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62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Cross-view brushing </a:t>
            </a:r>
            <a:r>
              <a:rPr b="1" dirty="0"/>
              <a:t>extends brushing so that a selection painted in one view is propagated to every other coordinated view on screen.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Shows distribution</a:t>
            </a:r>
            <a:r>
              <a:rPr b="0" dirty="0"/>
              <a:t> — the central benefit is seeing how a region contiguous in one view is distributed within another.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Example: EDV</a:t>
            </a:r>
            <a:r>
              <a:rPr b="0" dirty="0"/>
              <a:t> — the Exploratory Data Visualizer links bar charts, scatterplots and a histogram of baseball statistics.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Selecting high salaries</a:t>
            </a:r>
            <a:r>
              <a:rPr b="0" dirty="0"/>
              <a:t> in a histogram view instantly reveals that rookies are absent in a </a:t>
            </a:r>
            <a:r>
              <a:rPr b="1" dirty="0"/>
              <a:t>linked 'years played</a:t>
            </a:r>
            <a:r>
              <a:rPr b="0" dirty="0"/>
              <a:t>' bar chart.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Requires shared identity</a:t>
            </a:r>
            <a:r>
              <a:rPr b="0" dirty="0"/>
              <a:t> — every view must reference the same underlying items so highlighting can be matched across encodings.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Cross-view brushing is how analysts discover correlations that are invisible in any single view but obvious once the same items are traced across several.</a:t>
            </a:r>
          </a:p>
        </p:txBody>
      </p:sp>
      <p:sp>
        <p:nvSpPr>
          <p:cNvPr id="163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§12.3.1, pp. 267–269 (Wills 1995, EDV example)</a:t>
            </a:r>
          </a:p>
        </p:txBody>
      </p:sp>
      <p:pic>
        <p:nvPicPr>
          <p:cNvPr id="164" name="Picture 1035" descr="Picture 103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7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Linking</a:t>
            </a:r>
          </a:p>
        </p:txBody>
      </p:sp>
      <p:sp>
        <p:nvSpPr>
          <p:cNvPr id="169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70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Linking is the general design choice of establishing </a:t>
            </a:r>
            <a:r>
              <a:rPr b="1" dirty="0"/>
              <a:t>some form of connection between multiple juxtaposed views </a:t>
            </a:r>
            <a:r>
              <a:rPr dirty="0"/>
              <a:t>so that they behave as one coordinated system rather than independent windows.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Share encoding</a:t>
            </a:r>
            <a:r>
              <a:rPr b="0" dirty="0"/>
              <a:t> — same or different visual channels used consistently across views.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Share highlighting</a:t>
            </a:r>
            <a:r>
              <a:rPr b="0" dirty="0"/>
              <a:t> — the most common case: a selection in one view is echoed in all others (linked highlighting).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Share data</a:t>
            </a:r>
            <a:r>
              <a:rPr b="0" dirty="0"/>
              <a:t> — views may show all the data, a subset (overview–detail), or disjoint partitions (small multiples).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Share navigation</a:t>
            </a:r>
            <a:r>
              <a:rPr b="0" dirty="0"/>
              <a:t> — panning or zooming one view can move the viewpoint of another (synchronized navigation).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b="1" dirty="0"/>
              <a:t>Linked views, multiple views, coordinated views and coupled views </a:t>
            </a:r>
            <a:r>
              <a:rPr dirty="0"/>
              <a:t>are all </a:t>
            </a:r>
            <a:r>
              <a:rPr b="1" dirty="0"/>
              <a:t>synonyms</a:t>
            </a:r>
            <a:r>
              <a:rPr dirty="0"/>
              <a:t> in the literature for the same underlying idea of connecting juxtaposed views.</a:t>
            </a:r>
          </a:p>
        </p:txBody>
      </p:sp>
      <p:sp>
        <p:nvSpPr>
          <p:cNvPr id="171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§12.3, p. 267</a:t>
            </a:r>
          </a:p>
        </p:txBody>
      </p:sp>
      <p:pic>
        <p:nvPicPr>
          <p:cNvPr id="172" name="Picture 1040" descr="Picture 1040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5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Coordinated Views</a:t>
            </a:r>
          </a:p>
        </p:txBody>
      </p:sp>
      <p:sp>
        <p:nvSpPr>
          <p:cNvPr id="177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78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Juxtaposing views side by side spreads information out in space rather than over time, so the eye can move between views instead of relying on working memory.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Design choice 1 — encoding:</a:t>
            </a:r>
            <a:r>
              <a:rPr b="0" dirty="0"/>
              <a:t> shared encoding (identical channels) versus multiform (different channels per view).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Design choice 2 — data:</a:t>
            </a:r>
            <a:r>
              <a:rPr b="0" dirty="0"/>
              <a:t> shared data, overview–detail (subset), or small multiples (disjoint partition).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Design choice 3 — navigation:</a:t>
            </a:r>
            <a:r>
              <a:rPr b="0" dirty="0"/>
              <a:t> synchronized or independent viewpoints.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Cost:</a:t>
            </a:r>
            <a:r>
              <a:rPr b="0" dirty="0"/>
              <a:t> juxtaposed views split the display area — two views each get roughly half the pixels of one.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A multiform system is valuable because no single visual encoding is optimal for every task; several linked, differently-encoded views can support more tasks together than any one view alone.</a:t>
            </a:r>
          </a:p>
        </p:txBody>
      </p:sp>
      <p:sp>
        <p:nvSpPr>
          <p:cNvPr id="179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§12.3, pp. 266–267</a:t>
            </a:r>
          </a:p>
        </p:txBody>
      </p:sp>
      <p:pic>
        <p:nvPicPr>
          <p:cNvPr id="180" name="Picture 1045" descr="Picture 1045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FC7A77-B11B-A420-8CC5-B8976620256A}"/>
              </a:ext>
            </a:extLst>
          </p:cNvPr>
          <p:cNvSpPr txBox="1"/>
          <p:nvPr/>
        </p:nvSpPr>
        <p:spPr>
          <a:xfrm>
            <a:off x="5055023" y="1093888"/>
            <a:ext cx="915216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Juxtaposing Views in interactive visualization means placing two or more visualizations side by side so that users can compare them easily.</a:t>
            </a:r>
          </a:p>
        </p:txBody>
      </p:sp>
      <p:pic>
        <p:nvPicPr>
          <p:cNvPr id="4" name="Picture 3" descr="Structuring an app using sheets | Qlik Sense on Windows Help">
            <a:extLst>
              <a:ext uri="{FF2B5EF4-FFF2-40B4-BE49-F238E27FC236}">
                <a16:creationId xmlns:a16="http://schemas.microsoft.com/office/drawing/2014/main" id="{6880B453-FF93-FB4E-A79B-D4F032050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83" y="7024418"/>
            <a:ext cx="5164526" cy="331175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A8EC6-6B4A-580D-B5A0-3AB827A5B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3" y="748544"/>
            <a:ext cx="8140146" cy="3825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5EAD5-1A57-69B2-256E-B6F0A4064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5655006"/>
            <a:ext cx="8140146" cy="372411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75420" y="0"/>
            <a:ext cx="137160" cy="1028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4920"/>
            <a:ext cx="9189720" cy="1371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174C1-335F-F33F-CC35-F9B6193FA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051" y="748544"/>
            <a:ext cx="8140146" cy="891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965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4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Coordinated Views: A Worked Example</a:t>
            </a:r>
          </a:p>
        </p:txBody>
      </p:sp>
      <p:sp>
        <p:nvSpPr>
          <p:cNvPr id="185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86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Multiform overview–detail systems combine several of the coordination choices at once to support complex, multi-part analysis tasks.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Microarray explorer</a:t>
            </a:r>
            <a:r>
              <a:rPr b="0" dirty="0"/>
              <a:t> links a graph view (time-series, overview) with a scatterplot (derived attributes, detail) and a text list.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Overview → detail filtering:</a:t>
            </a:r>
            <a:r>
              <a:rPr b="0" dirty="0"/>
              <a:t> dragging the time slider in the graph view sets the time window shown in the scatterplot.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 err="1"/>
              <a:t>Colour</a:t>
            </a:r>
            <a:r>
              <a:rPr dirty="0"/>
              <a:t>-coded functional groups</a:t>
            </a:r>
            <a:r>
              <a:rPr b="0" dirty="0"/>
              <a:t> give a shared encoding channel across the linked scatterplot 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Even a plain list view</a:t>
            </a:r>
            <a:r>
              <a:rPr b="0" dirty="0"/>
              <a:t> earns its place — it supports quick lookup by name that hovering alone cannot provide.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No single view sufficed for the five analysis tasks identified by the designers — the coordinated combination of views was necessary, not just convenient.</a:t>
            </a:r>
          </a:p>
        </p:txBody>
      </p:sp>
      <p:sp>
        <p:nvSpPr>
          <p:cNvPr id="187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§12.3.2, pp. 271–273 (Craig &amp; Kennedy 2003)</a:t>
            </a:r>
          </a:p>
        </p:txBody>
      </p:sp>
      <p:pic>
        <p:nvPicPr>
          <p:cNvPr id="188" name="Picture 1050" descr="Picture 1050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6BC18D-0A11-0DCE-1974-8A0F1B0FC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372" y="7099947"/>
            <a:ext cx="8429733" cy="268714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Numerical 1: Overview–Detail Zoom Scaling</a:t>
            </a:r>
          </a:p>
        </p:txBody>
      </p:sp>
      <p:sp>
        <p:nvSpPr>
          <p:cNvPr id="192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193" name="ProblemBox"/>
          <p:cNvSpPr/>
          <p:nvPr/>
        </p:nvSpPr>
        <p:spPr>
          <a:xfrm>
            <a:off x="681104" y="2149999"/>
            <a:ext cx="15968897" cy="3230001"/>
          </a:xfrm>
          <a:prstGeom prst="roundRect">
            <a:avLst>
              <a:gd name="adj" fmla="val 6000"/>
            </a:avLst>
          </a:prstGeom>
          <a:solidFill>
            <a:srgbClr val="FBEEE4"/>
          </a:solidFill>
          <a:ln w="19050">
            <a:solidFill>
              <a:srgbClr val="DFA267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4" name="ProblemText"/>
          <p:cNvSpPr txBox="1"/>
          <p:nvPr/>
        </p:nvSpPr>
        <p:spPr>
          <a:xfrm>
            <a:off x="931103" y="2299999"/>
            <a:ext cx="15468898" cy="2901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2700" b="1">
                <a:solidFill>
                  <a:srgbClr val="C55A11"/>
                </a:solidFill>
              </a:defRPr>
            </a:pPr>
            <a:r>
              <a:rPr dirty="0"/>
              <a:t>Problem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A geographic overview panel is 300 × 200 </a:t>
            </a:r>
            <a:r>
              <a:rPr dirty="0" err="1"/>
              <a:t>px</a:t>
            </a:r>
            <a:r>
              <a:rPr dirty="0"/>
              <a:t> and shows a region 60 km × 40 km.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A linked detail panel is 900 × 600 </a:t>
            </a:r>
            <a:r>
              <a:rPr dirty="0" err="1"/>
              <a:t>px</a:t>
            </a:r>
            <a:r>
              <a:rPr dirty="0"/>
              <a:t>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(a) What map scale (km per pixel) does the overview use?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(b) If the detail panel shows the same scale as the overview at zoom level 1, how many km × km does it cover?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(c) To show a 6 km × 4 km </a:t>
            </a:r>
            <a:r>
              <a:rPr dirty="0" err="1"/>
              <a:t>neighbourhood</a:t>
            </a:r>
            <a:r>
              <a:rPr dirty="0"/>
              <a:t> in the same 900 × 600 detail panel, what zoom factor (×) is required relative to the overview scale?</a:t>
            </a:r>
          </a:p>
        </p:txBody>
      </p:sp>
      <p:sp>
        <p:nvSpPr>
          <p:cNvPr id="195" name="SolutionBox"/>
          <p:cNvSpPr/>
          <p:nvPr/>
        </p:nvSpPr>
        <p:spPr>
          <a:xfrm>
            <a:off x="681104" y="5580000"/>
            <a:ext cx="15968897" cy="4107001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9050">
            <a:solidFill>
              <a:srgbClr val="4472C4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6" name="SolutionText"/>
          <p:cNvSpPr txBox="1"/>
          <p:nvPr/>
        </p:nvSpPr>
        <p:spPr>
          <a:xfrm>
            <a:off x="931103" y="5729999"/>
            <a:ext cx="15468898" cy="2127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700" b="1">
                <a:solidFill>
                  <a:srgbClr val="4472C4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(a)</a:t>
            </a:r>
            <a:r>
              <a:rPr b="0" dirty="0">
                <a:solidFill>
                  <a:srgbClr val="1A1A1A"/>
                </a:solidFill>
              </a:rPr>
              <a:t> 60 km / 300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= 0.2 km/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(same for 40/200 = 0.2 km/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) → 0.2 km per pixel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(b)</a:t>
            </a:r>
            <a:r>
              <a:rPr b="0" dirty="0">
                <a:solidFill>
                  <a:srgbClr val="1A1A1A"/>
                </a:solidFill>
              </a:rPr>
              <a:t> 900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× 0.2 km/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= 180 km; 600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× 0.2 km/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= 120 km → 180 km × 120 km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(c)</a:t>
            </a:r>
            <a:r>
              <a:rPr b="0" dirty="0">
                <a:solidFill>
                  <a:srgbClr val="1A1A1A"/>
                </a:solidFill>
              </a:rPr>
              <a:t> Overview scale 0.2 km/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→ required scale for 6 km over 900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= 6/900 = 0.00667 km/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endParaRPr b="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b="0" dirty="0">
                <a:solidFill>
                  <a:srgbClr val="1A1A1A"/>
                </a:solidFill>
              </a:rPr>
              <a:t> Zoom factor = 0.2 / 0.00667 = 30× magnification needed</a:t>
            </a:r>
          </a:p>
        </p:txBody>
      </p:sp>
      <p:sp>
        <p:nvSpPr>
          <p:cNvPr id="197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Worked example applying overview–detail data-sharing concepts (Munzner §12.3.2)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Filtering</a:t>
            </a:r>
          </a:p>
        </p:txBody>
      </p:sp>
      <p:sp>
        <p:nvSpPr>
          <p:cNvPr id="202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03" name="BodyBox"/>
          <p:cNvSpPr txBox="1"/>
          <p:nvPr/>
        </p:nvSpPr>
        <p:spPr>
          <a:xfrm>
            <a:off x="681103" y="2050000"/>
            <a:ext cx="8950002" cy="4865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Filtering reduces the number of elements shown by simply eliminating the ones that fall outside a chosen range or condition.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Item filtering</a:t>
            </a:r>
            <a:r>
              <a:rPr b="0"/>
              <a:t> eliminates rows/items while keeping the same attributes for what remains.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Attribute filtering</a:t>
            </a:r>
            <a:r>
              <a:rPr b="0"/>
              <a:t> eliminates columns/attributes while keeping the same items.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Both can combine</a:t>
            </a:r>
            <a:r>
              <a:rPr b="0"/>
              <a:t> to reduce items and attributes shown together.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Unlike aggregation,</a:t>
            </a:r>
            <a:r>
              <a:rPr b="0"/>
              <a:t> filtering keeps full detail for what remains, but the filtered-out data is completely hidden.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Filtering is simple to describe but hard to make usable — the challenge is designing a system where the user can explore an unfamiliar dataset without already knowing what range to type in.</a:t>
            </a:r>
          </a:p>
        </p:txBody>
      </p:sp>
      <p:sp>
        <p:nvSpPr>
          <p:cNvPr id="204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§13.3, §13.3.1–13.3.2, pp. 300, 303</a:t>
            </a:r>
          </a:p>
        </p:txBody>
      </p:sp>
      <p:pic>
        <p:nvPicPr>
          <p:cNvPr id="205" name="Picture 1062" descr="Picture 1062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F3A56-2BF5-3864-9385-8A17BB5D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AutoShape 90">
            <a:extLst>
              <a:ext uri="{FF2B5EF4-FFF2-40B4-BE49-F238E27FC236}">
                <a16:creationId xmlns:a16="http://schemas.microsoft.com/office/drawing/2014/main" id="{DC783223-B7AD-D2E7-1FD1-A9483AAD6E64}"/>
              </a:ext>
            </a:extLst>
          </p:cNvPr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" name="Freeform 92">
            <a:extLst>
              <a:ext uri="{FF2B5EF4-FFF2-40B4-BE49-F238E27FC236}">
                <a16:creationId xmlns:a16="http://schemas.microsoft.com/office/drawing/2014/main" id="{F7E784F6-A4C4-89C8-4837-236E7C920B4E}"/>
              </a:ext>
            </a:extLst>
          </p:cNvPr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TitleBox">
            <a:extLst>
              <a:ext uri="{FF2B5EF4-FFF2-40B4-BE49-F238E27FC236}">
                <a16:creationId xmlns:a16="http://schemas.microsoft.com/office/drawing/2014/main" id="{D05661F5-AE61-FE18-0308-F3CD8C90E78D}"/>
              </a:ext>
            </a:extLst>
          </p:cNvPr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Filtering</a:t>
            </a:r>
          </a:p>
        </p:txBody>
      </p:sp>
      <p:sp>
        <p:nvSpPr>
          <p:cNvPr id="202" name="TitleBox">
            <a:extLst>
              <a:ext uri="{FF2B5EF4-FFF2-40B4-BE49-F238E27FC236}">
                <a16:creationId xmlns:a16="http://schemas.microsoft.com/office/drawing/2014/main" id="{47576B8A-2929-0FC4-46EC-FCA63AD8D3BF}"/>
              </a:ext>
            </a:extLst>
          </p:cNvPr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03" name="BodyBox">
            <a:extLst>
              <a:ext uri="{FF2B5EF4-FFF2-40B4-BE49-F238E27FC236}">
                <a16:creationId xmlns:a16="http://schemas.microsoft.com/office/drawing/2014/main" id="{A2D073C7-F327-78AB-2737-A79794C73564}"/>
              </a:ext>
            </a:extLst>
          </p:cNvPr>
          <p:cNvSpPr txBox="1"/>
          <p:nvPr/>
        </p:nvSpPr>
        <p:spPr>
          <a:xfrm>
            <a:off x="681103" y="2050000"/>
            <a:ext cx="8950002" cy="4865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Filtering reduces the </a:t>
            </a:r>
            <a:r>
              <a:rPr b="1" dirty="0"/>
              <a:t>number of elements shown by simply eliminating the ones that fall outside a chosen range or condition</a:t>
            </a:r>
            <a:r>
              <a:rPr dirty="0"/>
              <a:t>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Item filtering</a:t>
            </a:r>
            <a:r>
              <a:rPr b="0" dirty="0"/>
              <a:t> eliminates rows/items while keeping the same attributes for what remains.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Attribute filtering</a:t>
            </a:r>
            <a:r>
              <a:rPr b="0" dirty="0"/>
              <a:t> eliminates columns/attributes while keeping the same items.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Both can combine</a:t>
            </a:r>
            <a:r>
              <a:rPr b="0" dirty="0"/>
              <a:t> to reduce items and attributes shown together.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Unlike aggregation,</a:t>
            </a:r>
            <a:r>
              <a:rPr b="0" dirty="0"/>
              <a:t> filtering keeps full detail for what remains, but the filtered-out data is completely hidden.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Filtering is simple to describe but hard to make usable — the challenge is designing a system where the user can explore an unfamiliar dataset without already knowing what range to type in.</a:t>
            </a:r>
          </a:p>
        </p:txBody>
      </p:sp>
      <p:sp>
        <p:nvSpPr>
          <p:cNvPr id="204" name="SourceBox">
            <a:extLst>
              <a:ext uri="{FF2B5EF4-FFF2-40B4-BE49-F238E27FC236}">
                <a16:creationId xmlns:a16="http://schemas.microsoft.com/office/drawing/2014/main" id="{C85DDC7A-BE73-087B-784B-A9874081FFCA}"/>
              </a:ext>
            </a:extLst>
          </p:cNvPr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§13.3, §13.3.1–13.3.2, pp. 300, 303</a:t>
            </a:r>
          </a:p>
        </p:txBody>
      </p:sp>
      <p:pic>
        <p:nvPicPr>
          <p:cNvPr id="205" name="Picture 1062" descr="Picture 1062">
            <a:extLst>
              <a:ext uri="{FF2B5EF4-FFF2-40B4-BE49-F238E27FC236}">
                <a16:creationId xmlns:a16="http://schemas.microsoft.com/office/drawing/2014/main" id="{947DA0EB-B561-5570-53B6-FF0619ED082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512130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9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Dynamic Queries</a:t>
            </a:r>
          </a:p>
        </p:txBody>
      </p:sp>
      <p:sp>
        <p:nvSpPr>
          <p:cNvPr id="210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11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Dynamic queries </a:t>
            </a:r>
            <a:r>
              <a:rPr b="1" dirty="0"/>
              <a:t>create a tightly coupled loop between visual encoding and interaction,</a:t>
            </a:r>
            <a:r>
              <a:rPr dirty="0"/>
              <a:t> so the display updates immediately whenever the user changes a control — sliders, buttons or text fields.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 err="1"/>
              <a:t>FilmFinder</a:t>
            </a:r>
            <a:r>
              <a:rPr b="0" dirty="0"/>
              <a:t> (Ahlberg &amp; Shneiderman 1994) filters a movie scatterplot live as the user drags sliders.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Adaptive encoding:</a:t>
            </a:r>
            <a:r>
              <a:rPr b="0" dirty="0"/>
              <a:t> as more items are filtered away, marks are automatically enlarged and labelled.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Dual sliders</a:t>
            </a:r>
            <a:r>
              <a:rPr b="0" dirty="0"/>
              <a:t> let a user pick a minimum and maximum together; alpha sliders filter by text.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Scented widgets</a:t>
            </a:r>
            <a:r>
              <a:rPr b="0" dirty="0"/>
              <a:t> embed small statistical graphics or icons directly into filter controls to add information scent.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Dynamic queries replace reformulating explicit database queries with direct manipulation of widgets, starting from a full overview — well suited to browsing rather than a one-shot search.</a:t>
            </a:r>
          </a:p>
        </p:txBody>
      </p:sp>
      <p:sp>
        <p:nvSpPr>
          <p:cNvPr id="212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§13.3, §13.3.1, pp. 300–303 (Ahlberg &amp; Shneiderman 1994; Willett et al. 2007; Pirolli 2007)</a:t>
            </a:r>
          </a:p>
        </p:txBody>
      </p:sp>
      <p:pic>
        <p:nvPicPr>
          <p:cNvPr id="213" name="Picture 1067" descr="Picture 1067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988" y="463796"/>
            <a:ext cx="7600001" cy="4810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DD1D0B-0F93-FBE3-9891-7799BA27B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4232" y="5472819"/>
            <a:ext cx="6609511" cy="46671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Numerical 2: Dynamic Query Response-Time Budget</a:t>
            </a:r>
          </a:p>
        </p:txBody>
      </p:sp>
      <p:sp>
        <p:nvSpPr>
          <p:cNvPr id="217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18" name="ProblemBox"/>
          <p:cNvSpPr/>
          <p:nvPr/>
        </p:nvSpPr>
        <p:spPr>
          <a:xfrm>
            <a:off x="681104" y="2149999"/>
            <a:ext cx="15968897" cy="3230001"/>
          </a:xfrm>
          <a:prstGeom prst="roundRect">
            <a:avLst>
              <a:gd name="adj" fmla="val 6000"/>
            </a:avLst>
          </a:prstGeom>
          <a:solidFill>
            <a:srgbClr val="FBEEE4"/>
          </a:solidFill>
          <a:ln w="19050">
            <a:solidFill>
              <a:srgbClr val="DFA267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9" name="ProblemText"/>
          <p:cNvSpPr txBox="1"/>
          <p:nvPr/>
        </p:nvSpPr>
        <p:spPr>
          <a:xfrm>
            <a:off x="931103" y="2299999"/>
            <a:ext cx="15468898" cy="2901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2700" b="1">
                <a:solidFill>
                  <a:srgbClr val="C55A11"/>
                </a:solidFill>
              </a:defRPr>
            </a:pPr>
            <a:r>
              <a:rPr dirty="0"/>
              <a:t>Problem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A dynamic-query slider must feel instantaneous: Shneiderman's guideline caps feedback at 0.1 s for it to feel 'instant'.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Filtering the full dataset costs 2 µs per item examined.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(a) What is the largest dataset (item count) that can be filtered within the 0.1 s budget?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(b) If the dataset actually has 500,000 items, what is the minimum feasible response time?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(c) How many items must be pre-indexed / skipped to bring that same 500,000-item dataset back under the 0.1 s budget?</a:t>
            </a:r>
          </a:p>
        </p:txBody>
      </p:sp>
      <p:sp>
        <p:nvSpPr>
          <p:cNvPr id="220" name="SolutionBox"/>
          <p:cNvSpPr/>
          <p:nvPr/>
        </p:nvSpPr>
        <p:spPr>
          <a:xfrm>
            <a:off x="681104" y="5580000"/>
            <a:ext cx="15968897" cy="4107001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9050">
            <a:solidFill>
              <a:srgbClr val="4472C4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1" name="SolutionText"/>
          <p:cNvSpPr txBox="1"/>
          <p:nvPr/>
        </p:nvSpPr>
        <p:spPr>
          <a:xfrm>
            <a:off x="931103" y="5729999"/>
            <a:ext cx="15468898" cy="2076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700" b="1">
                <a:solidFill>
                  <a:srgbClr val="4472C4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(a)</a:t>
            </a:r>
            <a:r>
              <a:rPr b="0" dirty="0">
                <a:solidFill>
                  <a:srgbClr val="1A1A1A"/>
                </a:solidFill>
              </a:rPr>
              <a:t> 0.1 s = 100,000 µs; 100,000 µs / 2 µs per item = 50,000 items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(b)</a:t>
            </a:r>
            <a:r>
              <a:rPr b="0" dirty="0">
                <a:solidFill>
                  <a:srgbClr val="1A1A1A"/>
                </a:solidFill>
              </a:rPr>
              <a:t> 500,000 × 2 µs = 1,000,000 µs = 1.0 s (far above the 0.1 s target)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(c)</a:t>
            </a:r>
            <a:r>
              <a:rPr b="0" dirty="0">
                <a:solidFill>
                  <a:srgbClr val="1A1A1A"/>
                </a:solidFill>
              </a:rPr>
              <a:t> Need to examine ≤ 50,000 of the 500,000 items → at least 450,000 items (90%) must be skipped via indexing/pre-filtering</a:t>
            </a:r>
          </a:p>
        </p:txBody>
      </p:sp>
      <p:sp>
        <p:nvSpPr>
          <p:cNvPr id="222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Worked example based on dynamic-query response-time guidelines (Shneiderman 1994; Munzner §13.3)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Selection</a:t>
            </a:r>
          </a:p>
        </p:txBody>
      </p:sp>
      <p:sp>
        <p:nvSpPr>
          <p:cNvPr id="227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28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Selection is the fundamental action </a:t>
            </a:r>
            <a:r>
              <a:rPr b="1" dirty="0"/>
              <a:t>of choosing one or more elements of interest in a view; its output is very often the input to the next interaction</a:t>
            </a:r>
            <a:r>
              <a:rPr dirty="0"/>
              <a:t>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Selection targets:</a:t>
            </a:r>
            <a:r>
              <a:rPr b="0" dirty="0"/>
              <a:t> data items, links (for network data), attributes, or even an entire 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How many selection types:</a:t>
            </a:r>
            <a:r>
              <a:rPr b="0" dirty="0"/>
              <a:t> one kind of selection (selected/not), or several (e.g. click vs. hover).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Selection-set size:</a:t>
            </a:r>
            <a:r>
              <a:rPr b="0" dirty="0"/>
              <a:t> exactly one, many, or zero — with primary versus secondary selection for tasks like path traversal.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Group membership</a:t>
            </a:r>
            <a:r>
              <a:rPr b="0" dirty="0"/>
              <a:t> can be tracked with attributes so a user can assign items to named groups, not just a binary selection.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Selection is a fundamental action that supports nearly every other interactive idiom — the change choice usually depends on a previous select result.</a:t>
            </a:r>
          </a:p>
        </p:txBody>
      </p:sp>
      <p:sp>
        <p:nvSpPr>
          <p:cNvPr id="229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§11.4, §11.4.1, pp. 249–251</a:t>
            </a:r>
          </a:p>
        </p:txBody>
      </p:sp>
      <p:pic>
        <p:nvPicPr>
          <p:cNvPr id="230" name="Picture 1079" descr="Picture 1079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4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Highlighting</a:t>
            </a:r>
          </a:p>
        </p:txBody>
      </p:sp>
      <p:sp>
        <p:nvSpPr>
          <p:cNvPr id="235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36" name="BodyBox"/>
          <p:cNvSpPr txBox="1"/>
          <p:nvPr/>
        </p:nvSpPr>
        <p:spPr>
          <a:xfrm>
            <a:off x="681103" y="2050000"/>
            <a:ext cx="8950002" cy="5047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Highlighting is the visual side of selection: </a:t>
            </a:r>
            <a:r>
              <a:rPr b="1" dirty="0"/>
              <a:t>chosen elements are shown with a changed appearance to confirm that the interaction matched the user's intent</a:t>
            </a:r>
            <a:r>
              <a:rPr dirty="0"/>
              <a:t>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 err="1"/>
              <a:t>Colour</a:t>
            </a:r>
            <a:r>
              <a:rPr dirty="0"/>
              <a:t> change</a:t>
            </a:r>
            <a:r>
              <a:rPr b="0" dirty="0"/>
              <a:t> is the most common highlight, but it temporarily hides existing </a:t>
            </a:r>
            <a:r>
              <a:rPr b="0" dirty="0" err="1"/>
              <a:t>colour</a:t>
            </a:r>
            <a:r>
              <a:rPr b="0" dirty="0"/>
              <a:t> coding.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Outline change</a:t>
            </a:r>
            <a:r>
              <a:rPr b="0" dirty="0"/>
              <a:t> preserves existing </a:t>
            </a:r>
            <a:r>
              <a:rPr b="0" dirty="0" err="1"/>
              <a:t>colour</a:t>
            </a:r>
            <a:r>
              <a:rPr b="0" dirty="0"/>
              <a:t> coding — safer when </a:t>
            </a:r>
            <a:r>
              <a:rPr b="0" dirty="0" err="1"/>
              <a:t>colour</a:t>
            </a:r>
            <a:r>
              <a:rPr b="0" dirty="0"/>
              <a:t> already carries meaning.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Size / linewidth change</a:t>
            </a:r>
            <a:r>
              <a:rPr b="0" dirty="0"/>
              <a:t> increases salience, especially for small marks.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Motion coding</a:t>
            </a:r>
            <a:r>
              <a:rPr b="0" dirty="0"/>
              <a:t> (small oscillation) can outperform </a:t>
            </a:r>
            <a:r>
              <a:rPr b="0" dirty="0" err="1"/>
              <a:t>colour</a:t>
            </a:r>
            <a:r>
              <a:rPr b="0" dirty="0"/>
              <a:t>, outline, and size changes (Ware &amp; Bobrow 2004).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The highlight </a:t>
            </a:r>
            <a:r>
              <a:rPr dirty="0" err="1"/>
              <a:t>colour</a:t>
            </a:r>
            <a:r>
              <a:rPr dirty="0"/>
              <a:t> must be sufficiently different from existing </a:t>
            </a:r>
            <a:r>
              <a:rPr dirty="0" err="1"/>
              <a:t>colours</a:t>
            </a:r>
            <a:r>
              <a:rPr dirty="0"/>
              <a:t> to achieve a genuine pop-out effect — otherwise the selection feedback is not salient enough to notice.</a:t>
            </a:r>
          </a:p>
        </p:txBody>
      </p:sp>
      <p:sp>
        <p:nvSpPr>
          <p:cNvPr id="237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§11.4.2, pp. 251–253 (Ware &amp; Bobrow 2004)</a:t>
            </a:r>
          </a:p>
        </p:txBody>
      </p:sp>
      <p:pic>
        <p:nvPicPr>
          <p:cNvPr id="238" name="Picture 1084" descr="Picture 1084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1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2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Zooming</a:t>
            </a:r>
          </a:p>
        </p:txBody>
      </p:sp>
      <p:sp>
        <p:nvSpPr>
          <p:cNvPr id="243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44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Zooming is one of the three components of navigation: </a:t>
            </a:r>
            <a:r>
              <a:rPr b="1" dirty="0"/>
              <a:t>it moves a virtual camera closer to or farther from the data, changing how many items are visible and how large they appear.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Geometric zooming</a:t>
            </a:r>
            <a:r>
              <a:rPr b="0" dirty="0"/>
              <a:t> scales appearance uniformly — matches real-world intuition of moving closer to an object.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Zooming in</a:t>
            </a:r>
            <a:r>
              <a:rPr b="0" dirty="0"/>
              <a:t> shows fewer items in more detail; it effectively filters based on spatial layout.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Zooming out</a:t>
            </a:r>
            <a:r>
              <a:rPr b="0" dirty="0"/>
              <a:t> shows more items, more coarsely; it can act as a form of aggregation, creating an overview.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Constrained zoom ranges</a:t>
            </a:r>
            <a:r>
              <a:rPr b="0" dirty="0"/>
              <a:t> prevent zooming out past the full scene or in past the smallest object.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Because changing the viewpoint changes the visible set of items, the outcome of zooming is effectively filtering (zoom in) or aggregation (zoom out) — navigation and reduction are deeply linked.</a:t>
            </a:r>
          </a:p>
        </p:txBody>
      </p:sp>
      <p:sp>
        <p:nvSpPr>
          <p:cNvPr id="245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§11.5, §11.5.1, pp. 254–255</a:t>
            </a:r>
          </a:p>
        </p:txBody>
      </p:sp>
      <p:pic>
        <p:nvPicPr>
          <p:cNvPr id="246" name="Picture 1089" descr="Picture 1089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9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Numerical 3: Semantic Zoom Pixel Budget</a:t>
            </a:r>
          </a:p>
        </p:txBody>
      </p:sp>
      <p:sp>
        <p:nvSpPr>
          <p:cNvPr id="250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51" name="ProblemBox"/>
          <p:cNvSpPr/>
          <p:nvPr/>
        </p:nvSpPr>
        <p:spPr>
          <a:xfrm>
            <a:off x="681104" y="2149999"/>
            <a:ext cx="15968897" cy="3230001"/>
          </a:xfrm>
          <a:prstGeom prst="roundRect">
            <a:avLst>
              <a:gd name="adj" fmla="val 6000"/>
            </a:avLst>
          </a:prstGeom>
          <a:solidFill>
            <a:srgbClr val="FBEEE4"/>
          </a:solidFill>
          <a:ln w="19050">
            <a:solidFill>
              <a:srgbClr val="DFA267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2" name="ProblemText"/>
          <p:cNvSpPr txBox="1"/>
          <p:nvPr/>
        </p:nvSpPr>
        <p:spPr>
          <a:xfrm>
            <a:off x="931103" y="2299999"/>
            <a:ext cx="15468898" cy="2901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2700" b="1">
                <a:solidFill>
                  <a:srgbClr val="C55A11"/>
                </a:solidFill>
              </a:defRPr>
            </a:pPr>
            <a:r>
              <a:t>Problem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t>A LiveRAC-style stretchable grid uses semantic zoom with three representations: colour-only (needs ≥ 4 px), sparkline (needs ≥ 40 px), and full axes + multi-line chart (needs ≥ 120 px), measured as cell width in pixels.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t>The grid has 25 columns across a 2000 px wide panel (ignore gutters).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t>(a) What is the cell width, and which representation is used?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t>(b) The panel is resized to 4200 px wide. Which representation is now used?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t>(c) What is the minimum panel width (px) needed for every cell to show the full axes representation?</a:t>
            </a:r>
          </a:p>
        </p:txBody>
      </p:sp>
      <p:sp>
        <p:nvSpPr>
          <p:cNvPr id="253" name="SolutionBox"/>
          <p:cNvSpPr/>
          <p:nvPr/>
        </p:nvSpPr>
        <p:spPr>
          <a:xfrm>
            <a:off x="681104" y="5580000"/>
            <a:ext cx="15968897" cy="4107001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9050">
            <a:solidFill>
              <a:srgbClr val="4472C4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4" name="SolutionText"/>
          <p:cNvSpPr txBox="1"/>
          <p:nvPr/>
        </p:nvSpPr>
        <p:spPr>
          <a:xfrm>
            <a:off x="931103" y="5729999"/>
            <a:ext cx="15468898" cy="1682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700" b="1">
                <a:solidFill>
                  <a:srgbClr val="4472C4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(a)</a:t>
            </a:r>
            <a:r>
              <a:rPr b="0" dirty="0">
                <a:solidFill>
                  <a:srgbClr val="1A1A1A"/>
                </a:solidFill>
              </a:rPr>
              <a:t> 2000 / 25 = 80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per cell → ≥ 40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but &lt; 120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→ sparkline representation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(b)</a:t>
            </a:r>
            <a:r>
              <a:rPr b="0" dirty="0">
                <a:solidFill>
                  <a:srgbClr val="1A1A1A"/>
                </a:solidFill>
              </a:rPr>
              <a:t> 4200 / 25 = 168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per cell → ≥ 120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→ full axes + multi-line chart representation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(c)</a:t>
            </a:r>
            <a:r>
              <a:rPr b="0" dirty="0">
                <a:solidFill>
                  <a:srgbClr val="1A1A1A"/>
                </a:solidFill>
              </a:rPr>
              <a:t> Need 120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× 25 columns = 3,000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minimum panel width</a:t>
            </a:r>
          </a:p>
        </p:txBody>
      </p:sp>
      <p:sp>
        <p:nvSpPr>
          <p:cNvPr id="255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Worked example on semantic zoom thresholds (Munzner §11.5.2; McLachlan et al. 2008, LiveRAC)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8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9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Panning</a:t>
            </a:r>
          </a:p>
        </p:txBody>
      </p:sp>
      <p:sp>
        <p:nvSpPr>
          <p:cNvPr id="260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61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Panning (also called </a:t>
            </a:r>
            <a:r>
              <a:rPr b="1" dirty="0"/>
              <a:t>scrolling, or trucking in cinematography) translates the camera parallel to the image plane, moving up/down or side to side while keeping the same zoom level.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Camera metaphor:</a:t>
            </a:r>
            <a:r>
              <a:rPr b="0" dirty="0"/>
              <a:t> a virtual camera located at a point and aimed in a direction; panning slides that camera sideways.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Distinguished from rotation,</a:t>
            </a:r>
            <a:r>
              <a:rPr b="0" dirty="0"/>
              <a:t> which spins the camera around its own axis — rare in 2D, much more relevant in 3D.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Unconstrained panning</a:t>
            </a:r>
            <a:r>
              <a:rPr b="0" dirty="0"/>
              <a:t> can leave the camera pointed at empty space — a 'reset view' control is good practice.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Often combined with zoom</a:t>
            </a:r>
            <a:r>
              <a:rPr b="0" dirty="0"/>
              <a:t> in the same gesture, e.g. scroll-to-zoom plus drag-to-pan interfaces.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Pan and zoom together define the two-dimensional navigation design space; constraining both makes navigation far easier to learn than fully free 3D camera motion.</a:t>
            </a:r>
          </a:p>
        </p:txBody>
      </p:sp>
      <p:sp>
        <p:nvSpPr>
          <p:cNvPr id="262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§11.5, §11.5.3, pp. 254, 256–257</a:t>
            </a:r>
          </a:p>
        </p:txBody>
      </p:sp>
      <p:pic>
        <p:nvPicPr>
          <p:cNvPr id="263" name="Picture 1101" descr="Picture 110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6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7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Details-On-Demand</a:t>
            </a:r>
          </a:p>
        </p:txBody>
      </p:sp>
      <p:sp>
        <p:nvSpPr>
          <p:cNvPr id="268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69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Details-on-demand is an</a:t>
            </a:r>
            <a:r>
              <a:rPr b="1" dirty="0"/>
              <a:t> overview–detail idiom in which a small popup or fixed panel shows extra information </a:t>
            </a:r>
            <a:r>
              <a:rPr dirty="0"/>
              <a:t>about one or more items selected in the main view, only when the user asks for it.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Triggered by selection,</a:t>
            </a:r>
            <a:r>
              <a:rPr b="0" dirty="0"/>
              <a:t> typically a click or hover on a mark in the primary 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Keeps the main view uncluttered</a:t>
            </a:r>
            <a:r>
              <a:rPr b="0" dirty="0"/>
              <a:t> — detailed attributes are hidden until specifically requested.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 err="1"/>
              <a:t>FilmFinder</a:t>
            </a:r>
            <a:r>
              <a:rPr dirty="0"/>
              <a:t> example:</a:t>
            </a:r>
            <a:r>
              <a:rPr b="0" dirty="0"/>
              <a:t> clicking a movie mark opens a popup detail view with text and images.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A form of embedding overview and detail</a:t>
            </a:r>
            <a:r>
              <a:rPr b="0" dirty="0"/>
              <a:t> together, without needing a second permanent panel.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Details-on-demand is one instance of the broader overview–detail data-sharing choice, distinguished by being popup / on-request rather than a persistent second view.</a:t>
            </a:r>
          </a:p>
        </p:txBody>
      </p:sp>
      <p:sp>
        <p:nvSpPr>
          <p:cNvPr id="270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§12.3.2, pp. 270–271, 301–302 (Ahlberg &amp; Shneiderman 1994)</a:t>
            </a:r>
          </a:p>
        </p:txBody>
      </p:sp>
      <p:pic>
        <p:nvPicPr>
          <p:cNvPr id="271" name="Picture 1106" descr="Picture 110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4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5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Tooltips And Inspection</a:t>
            </a:r>
          </a:p>
        </p:txBody>
      </p:sp>
      <p:sp>
        <p:nvSpPr>
          <p:cNvPr id="276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77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Tooltips are the lightest-weight details-on-demand idiom</a:t>
            </a:r>
            <a:r>
              <a:rPr b="1" dirty="0"/>
              <a:t>: hovering the cursor over a mark reveals a small floating label with attribute values for that single item.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Low commitment:</a:t>
            </a:r>
            <a:r>
              <a:rPr b="0" dirty="0"/>
              <a:t> no click needed, and the tooltip disappears as soon as the cursor moves away.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Best for single-item lookup,</a:t>
            </a:r>
            <a:r>
              <a:rPr b="0" dirty="0"/>
              <a:t> but a poor way to build an overview — the user cannot remember every hovered label.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Complements list views,</a:t>
            </a:r>
            <a:r>
              <a:rPr b="0" dirty="0"/>
              <a:t> which give the same lookup capability but as a persistent, scannable overview.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Dynamically shows the label</a:t>
            </a:r>
            <a:r>
              <a:rPr b="0" dirty="0"/>
              <a:t> for whatever is currently under the cursor — used in the microarray scatterplot example.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Inspection via hovering is useful for identifying one mark, but it would be a frustrating way to get an overview of all labels — the user would have to click everywhere and remember every result.</a:t>
            </a:r>
          </a:p>
        </p:txBody>
      </p:sp>
      <p:sp>
        <p:nvSpPr>
          <p:cNvPr id="278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§12.3.2, p. 273</a:t>
            </a:r>
          </a:p>
        </p:txBody>
      </p:sp>
      <p:pic>
        <p:nvPicPr>
          <p:cNvPr id="279" name="Picture 1111" descr="Picture 111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2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3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Drill-Down</a:t>
            </a:r>
          </a:p>
        </p:txBody>
      </p:sp>
      <p:sp>
        <p:nvSpPr>
          <p:cNvPr id="284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85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Drill-down is a navigation pattern that </a:t>
            </a:r>
            <a:r>
              <a:rPr b="1" dirty="0"/>
              <a:t>moves from a coarse, aggregated overview down through successive levels of a hierarchy to progressively finer detail.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Complements roll-up,</a:t>
            </a:r>
            <a:r>
              <a:rPr b="0" dirty="0"/>
              <a:t> which aggregates from detail back up to an overview.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Often driven by selection:</a:t>
            </a:r>
            <a:r>
              <a:rPr b="0" dirty="0"/>
              <a:t> clicking a region in an overview navigates into a more detailed sub-view.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Related to semantic zoom</a:t>
            </a:r>
            <a:r>
              <a:rPr b="0" dirty="0"/>
              <a:t> and to hierarchical aggregation, where structure narrows as more detail appears.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Animated transition example:</a:t>
            </a:r>
            <a:r>
              <a:rPr b="0" dirty="0"/>
              <a:t> a compound network shown as an adjacency matrix zooms from one hierarchy level to the next.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Drill-down works well when the dataset has multi-level structure at discrete scales — multiple detail views act as a visual history of what the user selected at each level.</a:t>
            </a:r>
          </a:p>
        </p:txBody>
      </p:sp>
      <p:sp>
        <p:nvSpPr>
          <p:cNvPr id="286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§11.3, §12.3.2, §13.4.1, pp. 248–249, 270 (van Ham 2003)</a:t>
            </a:r>
          </a:p>
        </p:txBody>
      </p:sp>
      <p:pic>
        <p:nvPicPr>
          <p:cNvPr id="287" name="Picture 1116" descr="Picture 111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0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1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Animated Transitions</a:t>
            </a:r>
          </a:p>
        </p:txBody>
      </p:sp>
      <p:sp>
        <p:nvSpPr>
          <p:cNvPr id="292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293" name="BodyBox"/>
          <p:cNvSpPr txBox="1"/>
          <p:nvPr/>
        </p:nvSpPr>
        <p:spPr>
          <a:xfrm>
            <a:off x="681103" y="2050000"/>
            <a:ext cx="8950002" cy="6063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An animated transition generates a </a:t>
            </a:r>
            <a:r>
              <a:rPr b="1" dirty="0"/>
              <a:t>smooth sequence of in-between frames to carry marks from an old state to a new one, instead of an abrupt jump cut.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Used for:</a:t>
            </a:r>
            <a:r>
              <a:rPr b="0" dirty="0"/>
              <a:t> reordering (e.g. </a:t>
            </a:r>
            <a:r>
              <a:rPr b="0" dirty="0" err="1"/>
              <a:t>LineUp</a:t>
            </a:r>
            <a:r>
              <a:rPr b="0" dirty="0"/>
              <a:t>), filtering (items fade in/out), re-encoding, and camera navigation between viewpoints.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Preserves object constancy:</a:t>
            </a:r>
            <a:r>
              <a:rPr b="0" dirty="0"/>
              <a:t> because each mark visibly glides from its old position to its new one, the viewer keeps track of “which item is which” without relying on memory.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Heer &amp; Robertson (2007)</a:t>
            </a:r>
            <a:r>
              <a:rPr b="0" dirty="0"/>
              <a:t> found animated transitions improve graphical perception of change — but mainly when the amount of simultaneous change stays limited.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Contrast with a jump cut:</a:t>
            </a:r>
            <a:r>
              <a:rPr b="0" dirty="0"/>
              <a:t> an instant redraw forces the viewer to re-find every item from scratch — cheap to implement, costly to perceive.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Animated transitions are the interaction-time analogue of reordering: the display changes, but the viewer's mental model of “which mark is which” survives the change.</a:t>
            </a:r>
          </a:p>
        </p:txBody>
      </p:sp>
      <p:sp>
        <p:nvSpPr>
          <p:cNvPr id="294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z="1600" b="1">
                <a:solidFill>
                  <a:srgbClr val="C55A11"/>
                </a:solidFill>
              </a:defRPr>
            </a:lvl1pPr>
          </a:lstStyle>
          <a:p>
            <a:r>
              <a:t>Source: Munzner, Visualization Analysis and Design (2014), §11.3, pp. 245–246 (Heer &amp; Robertson 2007)</a:t>
            </a:r>
          </a:p>
        </p:txBody>
      </p:sp>
      <p:pic>
        <p:nvPicPr>
          <p:cNvPr id="295" name="Picture 1116" descr="Picture 111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FF47A4-5FF3-DDEE-1DA0-A29ED01383EB}"/>
              </a:ext>
            </a:extLst>
          </p:cNvPr>
          <p:cNvSpPr txBox="1"/>
          <p:nvPr/>
        </p:nvSpPr>
        <p:spPr>
          <a:xfrm>
            <a:off x="1657016" y="8144859"/>
            <a:ext cx="9152164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Jump cut — sudden change</a:t>
            </a:r>
          </a:p>
          <a:p>
            <a:pPr>
              <a:buNone/>
            </a:pPr>
            <a:r>
              <a:rPr lang="en-IN" dirty="0"/>
              <a:t>The old arrangement disappears, and the new arrangement appears immediately. The viewer must figure out where each student has moved.</a:t>
            </a:r>
          </a:p>
          <a:p>
            <a:pPr>
              <a:buNone/>
            </a:pPr>
            <a:r>
              <a:rPr lang="en-IN" b="1" dirty="0"/>
              <a:t>Animated transition — gradual change</a:t>
            </a:r>
          </a:p>
          <a:p>
            <a:pPr>
              <a:buNone/>
            </a:pPr>
            <a:r>
              <a:rPr lang="en-IN" dirty="0"/>
              <a:t>Each student's name visibly moves from its old position to its new position. The viewer can follow the movement and understand the change more easily.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8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9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Focus And Context</a:t>
            </a:r>
          </a:p>
        </p:txBody>
      </p:sp>
      <p:sp>
        <p:nvSpPr>
          <p:cNvPr id="300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01" name="BodyBox"/>
          <p:cNvSpPr txBox="1"/>
          <p:nvPr/>
        </p:nvSpPr>
        <p:spPr>
          <a:xfrm>
            <a:off x="31102" y="1810484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 err="1"/>
              <a:t>Focus+context</a:t>
            </a:r>
            <a:r>
              <a:rPr dirty="0"/>
              <a:t> idioms embed detailed information about </a:t>
            </a:r>
            <a:r>
              <a:rPr b="1" dirty="0"/>
              <a:t>a selected focus together with overview information about the rest of the data (the context), all within a single 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Goal:</a:t>
            </a:r>
            <a:r>
              <a:rPr b="0" dirty="0"/>
              <a:t> mitigate the disorientation that comes with standard navigation such as geometric zooming.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Degree-of-interest (DOI) function:</a:t>
            </a:r>
            <a:r>
              <a:rPr b="0" dirty="0"/>
              <a:t> DOI = I(x) − D(x, y), combining an interest function I with distance D from the current focus y.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Elision</a:t>
            </a:r>
            <a:r>
              <a:rPr b="0" dirty="0"/>
              <a:t> filters out low-interest items entirely and aggregates medium-interest items for context, keeping only focus items in detail.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 err="1"/>
              <a:t>DOITrees</a:t>
            </a:r>
            <a:r>
              <a:rPr dirty="0"/>
              <a:t> Revisited</a:t>
            </a:r>
            <a:r>
              <a:rPr b="0" dirty="0"/>
              <a:t> uses multiple foci to show an elided view of a 600,000-node tree, using topological (hop-count) distance.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Embedding idioms are fundamentally a synthesis of visual encoding and interaction together — the focus set changes dynamically as the user interacts, so the visual representation changes with it.</a:t>
            </a:r>
          </a:p>
        </p:txBody>
      </p:sp>
      <p:sp>
        <p:nvSpPr>
          <p:cNvPr id="302" name="SourceBox"/>
          <p:cNvSpPr txBox="1"/>
          <p:nvPr/>
        </p:nvSpPr>
        <p:spPr>
          <a:xfrm>
            <a:off x="681104" y="9893779"/>
            <a:ext cx="166000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endParaRPr b="0" i="1" dirty="0">
              <a:solidFill>
                <a:srgbClr val="6B6B6B"/>
              </a:solidFill>
            </a:endParaRPr>
          </a:p>
        </p:txBody>
      </p:sp>
      <p:pic>
        <p:nvPicPr>
          <p:cNvPr id="303" name="Picture 1121" descr="Picture 112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348358" y="211937"/>
            <a:ext cx="6668112" cy="33378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63E57D-C389-A04B-68B0-21411E310664}"/>
              </a:ext>
            </a:extLst>
          </p:cNvPr>
          <p:cNvSpPr txBox="1"/>
          <p:nvPr/>
        </p:nvSpPr>
        <p:spPr>
          <a:xfrm>
            <a:off x="9306898" y="3429751"/>
            <a:ext cx="915216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The DOI function calculates how important each item is for display.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86096-C341-16C9-35D5-0F633F1AA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772740"/>
            <a:ext cx="7983064" cy="4143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85AE7C-37D0-8C9B-46E2-E5E1FFC9CCDF}"/>
              </a:ext>
            </a:extLst>
          </p:cNvPr>
          <p:cNvSpPr txBox="1"/>
          <p:nvPr/>
        </p:nvSpPr>
        <p:spPr>
          <a:xfrm>
            <a:off x="8831" y="7387620"/>
            <a:ext cx="973999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/>
              <a:t>Elision</a:t>
            </a:r>
            <a:r>
              <a:rPr lang="en-IN" dirty="0"/>
              <a:t> means removing or simplifying less-important information to make the important information easier to see.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DB85D8-A1D7-6D6D-AAEE-031B222D0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5634" y="7916693"/>
            <a:ext cx="6220693" cy="24292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2AE50F-B3A7-7239-4078-B229FB058387}"/>
              </a:ext>
            </a:extLst>
          </p:cNvPr>
          <p:cNvSpPr txBox="1"/>
          <p:nvPr/>
        </p:nvSpPr>
        <p:spPr>
          <a:xfrm>
            <a:off x="6095059" y="8345876"/>
            <a:ext cx="11032005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Multiple foci: More than one important node can be selected.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Topological distance: Distance is measured by counting the number of edges or hops between nodes, rather than physical screen distance.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Elision: Unimportant nodes are hidden, and intermediate information may be aggregated.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Focus detail: Important nodes and their relevant structure remain visible.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6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7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Focus And Context: Distortion Techniques</a:t>
            </a:r>
          </a:p>
        </p:txBody>
      </p:sp>
      <p:sp>
        <p:nvSpPr>
          <p:cNvPr id="308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09" name="BodyBox"/>
          <p:cNvSpPr txBox="1"/>
          <p:nvPr/>
        </p:nvSpPr>
        <p:spPr>
          <a:xfrm>
            <a:off x="681103" y="2050000"/>
            <a:ext cx="8950002" cy="6063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A second family </a:t>
            </a:r>
            <a:r>
              <a:rPr b="1" dirty="0"/>
              <a:t>of </a:t>
            </a:r>
            <a:r>
              <a:rPr b="1" dirty="0" err="1"/>
              <a:t>focus+context</a:t>
            </a:r>
            <a:r>
              <a:rPr b="1" dirty="0"/>
              <a:t> idioms uses geometric distortion, </a:t>
            </a:r>
            <a:r>
              <a:rPr dirty="0"/>
              <a:t>compressing context regions to make room for magnified focus regions within a single unified view.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Fisheye lens:</a:t>
            </a:r>
            <a:r>
              <a:rPr b="0" dirty="0"/>
              <a:t> single local focus, radial shape, moveable draggable-lens interaction metaphor — like a camera lens or door peephole.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Hyperbolic geometry:</a:t>
            </a:r>
            <a:r>
              <a:rPr b="0" dirty="0"/>
              <a:t> a single global radial focus using non-Euclidean geometry, well suited to exponentially-growing trees.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3D perspective (Cone Trees):</a:t>
            </a:r>
            <a:r>
              <a:rPr b="0" dirty="0"/>
              <a:t> a single global focus using standard 3D camera transformations — intuitive but later found costly for abstract data.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Design choices:</a:t>
            </a:r>
            <a:r>
              <a:rPr b="0" dirty="0"/>
              <a:t> number of foci, region shape (radial / rectangular / arbitrary), extent (local / global), interaction metaphor (lens, rubber sheet, vector field).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All distortion idioms share the same trade-off: a moveable lens preserves the global layout while still magnifying local detail, at the cost of a visually warped context region.</a:t>
            </a:r>
          </a:p>
        </p:txBody>
      </p:sp>
      <p:sp>
        <p:nvSpPr>
          <p:cNvPr id="310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§14.5, pp. 326–330 (Robertson et al. 1991; Lambert et al. 2010)</a:t>
            </a:r>
          </a:p>
        </p:txBody>
      </p:sp>
      <p:pic>
        <p:nvPicPr>
          <p:cNvPr id="311" name="Picture 1126" descr="Picture 112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4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Numerical 4: Fisheye Lens Magnification</a:t>
            </a:r>
          </a:p>
        </p:txBody>
      </p:sp>
      <p:sp>
        <p:nvSpPr>
          <p:cNvPr id="315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16" name="ProblemBox"/>
          <p:cNvSpPr/>
          <p:nvPr/>
        </p:nvSpPr>
        <p:spPr>
          <a:xfrm>
            <a:off x="681104" y="2149999"/>
            <a:ext cx="15968897" cy="3230001"/>
          </a:xfrm>
          <a:prstGeom prst="roundRect">
            <a:avLst>
              <a:gd name="adj" fmla="val 6000"/>
            </a:avLst>
          </a:prstGeom>
          <a:solidFill>
            <a:srgbClr val="FBEEE4"/>
          </a:solidFill>
          <a:ln w="19050">
            <a:solidFill>
              <a:srgbClr val="DFA267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7" name="ProblemText"/>
          <p:cNvSpPr txBox="1"/>
          <p:nvPr/>
        </p:nvSpPr>
        <p:spPr>
          <a:xfrm>
            <a:off x="931103" y="2299999"/>
            <a:ext cx="15468898" cy="2901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2700" b="1">
                <a:solidFill>
                  <a:srgbClr val="C55A11"/>
                </a:solidFill>
              </a:defRPr>
            </a:pPr>
            <a:r>
              <a:rPr dirty="0"/>
              <a:t>Problem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A fisheye lens has focus radius r = 15 </a:t>
            </a:r>
            <a:r>
              <a:rPr dirty="0" err="1"/>
              <a:t>px</a:t>
            </a:r>
            <a:r>
              <a:rPr dirty="0"/>
              <a:t> and maximum central magnification m = 4×, falling off linearly to 1× at the lens edge.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An item sits at distance d = 6 </a:t>
            </a:r>
            <a:r>
              <a:rPr dirty="0" err="1"/>
              <a:t>px</a:t>
            </a:r>
            <a:r>
              <a:rPr dirty="0"/>
              <a:t> from the lens </a:t>
            </a:r>
            <a:r>
              <a:rPr dirty="0" err="1"/>
              <a:t>centre</a:t>
            </a:r>
            <a:r>
              <a:rPr dirty="0"/>
              <a:t>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(a) Using magnification(d) = 1 + (m − 1) × (r − d)/r for d ≤ r, find the magnification at d = 6 </a:t>
            </a:r>
            <a:r>
              <a:rPr dirty="0" err="1"/>
              <a:t>px</a:t>
            </a:r>
            <a:r>
              <a:rPr dirty="0"/>
              <a:t>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(b) An item's true size is 3 </a:t>
            </a:r>
            <a:r>
              <a:rPr dirty="0" err="1"/>
              <a:t>px</a:t>
            </a:r>
            <a:r>
              <a:rPr dirty="0"/>
              <a:t>. What is its displayed size under the lens at d = 6 </a:t>
            </a:r>
            <a:r>
              <a:rPr dirty="0" err="1"/>
              <a:t>px</a:t>
            </a:r>
            <a:r>
              <a:rPr dirty="0"/>
              <a:t>?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(c) At what distance d does the magnification drop to exactly 2×?</a:t>
            </a:r>
          </a:p>
        </p:txBody>
      </p:sp>
      <p:sp>
        <p:nvSpPr>
          <p:cNvPr id="318" name="SolutionBox"/>
          <p:cNvSpPr/>
          <p:nvPr/>
        </p:nvSpPr>
        <p:spPr>
          <a:xfrm>
            <a:off x="681104" y="5580000"/>
            <a:ext cx="15968897" cy="4107001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9050">
            <a:solidFill>
              <a:srgbClr val="4472C4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9" name="SolutionText"/>
          <p:cNvSpPr txBox="1"/>
          <p:nvPr/>
        </p:nvSpPr>
        <p:spPr>
          <a:xfrm>
            <a:off x="931103" y="5729999"/>
            <a:ext cx="15468898" cy="341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700" b="1">
                <a:solidFill>
                  <a:srgbClr val="4472C4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(a)</a:t>
            </a:r>
            <a:r>
              <a:rPr b="0" dirty="0">
                <a:solidFill>
                  <a:srgbClr val="1A1A1A"/>
                </a:solidFill>
              </a:rPr>
              <a:t> </a:t>
            </a:r>
            <a:r>
              <a:rPr b="1" dirty="0">
                <a:solidFill>
                  <a:srgbClr val="1A1A1A"/>
                </a:solidFill>
              </a:rPr>
              <a:t>magnification = 1 + (4−1) × (15−6)/15 = 1 + 3 × 0.6 = 2.8×</a:t>
            </a:r>
            <a:endParaRPr lang="en-IN" b="1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lang="en-IN" sz="2500" b="1" dirty="0">
                <a:solidFill>
                  <a:srgbClr val="1F3864"/>
                </a:solidFill>
              </a:rPr>
              <a:t>The item appears 2.8 times larger than its original size because it is relatively close to the focus.</a:t>
            </a:r>
            <a:endParaRPr b="1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(b)</a:t>
            </a:r>
            <a:r>
              <a:rPr b="0" dirty="0">
                <a:solidFill>
                  <a:srgbClr val="1A1A1A"/>
                </a:solidFill>
              </a:rPr>
              <a:t> Displayed size = 3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r>
              <a:rPr b="0" dirty="0">
                <a:solidFill>
                  <a:srgbClr val="1A1A1A"/>
                </a:solidFill>
              </a:rPr>
              <a:t> × 2.8 = 8.4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endParaRPr lang="en-IN" b="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lang="en-IN" sz="2500" b="1" dirty="0">
                <a:solidFill>
                  <a:srgbClr val="1F3864"/>
                </a:solidFill>
              </a:rPr>
              <a:t>The item originally occupies 3 pixels, but the fisheye lens displays it across 8.4 pixels. This makes the item easier to see and examine.</a:t>
            </a:r>
            <a:endParaRPr b="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(c)</a:t>
            </a:r>
            <a:r>
              <a:rPr b="0" dirty="0">
                <a:solidFill>
                  <a:srgbClr val="1A1A1A"/>
                </a:solidFill>
              </a:rPr>
              <a:t> 2 = 1 + 3(15−d)/15 → 1 = 3(15−d)/15 → 15−d = 5 → d = 10 </a:t>
            </a:r>
            <a:r>
              <a:rPr b="0" dirty="0" err="1">
                <a:solidFill>
                  <a:srgbClr val="1A1A1A"/>
                </a:solidFill>
              </a:rPr>
              <a:t>px</a:t>
            </a:r>
            <a:endParaRPr lang="en-IN" b="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lang="en-IN" sz="2500" b="1" dirty="0">
                <a:solidFill>
                  <a:srgbClr val="1F3864"/>
                </a:solidFill>
              </a:rPr>
              <a:t>The magnification drops to exactly 2× when the item is 10 </a:t>
            </a:r>
            <a:r>
              <a:rPr lang="en-IN" sz="2500" b="1" dirty="0" err="1">
                <a:solidFill>
                  <a:srgbClr val="1F3864"/>
                </a:solidFill>
              </a:rPr>
              <a:t>px</a:t>
            </a:r>
            <a:r>
              <a:rPr lang="en-IN" sz="2500" b="1" dirty="0">
                <a:solidFill>
                  <a:srgbClr val="1F3864"/>
                </a:solidFill>
              </a:rPr>
              <a:t> from the centre.</a:t>
            </a:r>
            <a:endParaRPr b="0" dirty="0">
              <a:solidFill>
                <a:srgbClr val="1A1A1A"/>
              </a:solidFill>
            </a:endParaRPr>
          </a:p>
        </p:txBody>
      </p:sp>
      <p:sp>
        <p:nvSpPr>
          <p:cNvPr id="320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Worked example on fisheye distortion mathematics (Munzner §14.5, Fisheye Lens example)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4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Interaction Sequences</a:t>
            </a:r>
          </a:p>
        </p:txBody>
      </p:sp>
      <p:sp>
        <p:nvSpPr>
          <p:cNvPr id="325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26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Complex analysis tasks are rarely a single interaction — </a:t>
            </a:r>
            <a:r>
              <a:rPr b="1" dirty="0"/>
              <a:t>they are chains of interactions, where the output of one step becomes the input to the next.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Chained tasks:</a:t>
            </a:r>
            <a:r>
              <a:rPr b="0" dirty="0"/>
              <a:t> select → filter → compare, or navigate → select → inspect are common sequences.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State must persist</a:t>
            </a:r>
            <a:r>
              <a:rPr b="0" dirty="0"/>
              <a:t> across steps so later interactions can build on earlier selections.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Undo / history</a:t>
            </a:r>
            <a:r>
              <a:rPr b="0" dirty="0"/>
              <a:t> support lets analysts backtrack when a sequence leads to a dead end.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Sequences are the building blocks</a:t>
            </a:r>
            <a:r>
              <a:rPr b="0" dirty="0"/>
              <a:t> of the higher-level exploratory workflows discussed later in this lecture (sensemaking, iterative reasoning).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The output of a select action is often the input to the next action — nearly every major design choice for constructing idioms can accommodate a selected set of elements as its input.</a:t>
            </a:r>
          </a:p>
        </p:txBody>
      </p:sp>
      <p:sp>
        <p:nvSpPr>
          <p:cNvPr id="327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§1.14, §3.7, §11.4.3, p. 254</a:t>
            </a:r>
          </a:p>
        </p:txBody>
      </p:sp>
      <p:pic>
        <p:nvPicPr>
          <p:cNvPr id="328" name="Picture 1138" descr="Picture 113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1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2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Overview And Details</a:t>
            </a:r>
          </a:p>
        </p:txBody>
      </p:sp>
      <p:sp>
        <p:nvSpPr>
          <p:cNvPr id="333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34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Ben Shneiderman's classic design mantra for interactive visualization: </a:t>
            </a:r>
            <a:r>
              <a:rPr b="1" dirty="0"/>
              <a:t>'Overview first, zoom and filter, then details-on-demand</a:t>
            </a:r>
            <a:r>
              <a:rPr dirty="0"/>
              <a:t>.'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Overview first:</a:t>
            </a:r>
            <a:r>
              <a:rPr b="0" dirty="0"/>
              <a:t> let the user see the whole dataset before narrowing in, so nothing important is missed.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Zoom and filter:</a:t>
            </a:r>
            <a:r>
              <a:rPr b="0" dirty="0"/>
              <a:t> let the user narrow attention to a subset relevant to their current question.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Details-on-demand:</a:t>
            </a:r>
            <a:r>
              <a:rPr b="0" dirty="0"/>
              <a:t> only then reveal fine-grained attributes for the narrowed selection.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Bird's-eye maps</a:t>
            </a:r>
            <a:r>
              <a:rPr b="0" dirty="0"/>
              <a:t> are a classic overview–detail example — a small orienting overview beside a large exploration view.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This mantra is one of the most cited rules of thumb in the whole field — most detail-on-demand, drill-down and coordinated-view idioms in this lecture are instances of it.</a:t>
            </a:r>
          </a:p>
        </p:txBody>
      </p:sp>
      <p:sp>
        <p:nvSpPr>
          <p:cNvPr id="335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§6.7, p. 135; §12.3.2, pp. 270–271 (Shneiderman 1996)</a:t>
            </a:r>
          </a:p>
        </p:txBody>
      </p:sp>
      <p:pic>
        <p:nvPicPr>
          <p:cNvPr id="336" name="Picture 1143" descr="Picture 114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9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0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Interactive Network Exploration</a:t>
            </a:r>
          </a:p>
        </p:txBody>
      </p:sp>
      <p:sp>
        <p:nvSpPr>
          <p:cNvPr id="341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42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Networks pose special interaction challenges because layout, scale and hierarchy all interact — </a:t>
            </a:r>
            <a:r>
              <a:rPr b="1" dirty="0"/>
              <a:t>a node-link diagram that fits thousands of nodes can become unreadable at tens of thousands.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Navigation:</a:t>
            </a:r>
            <a:r>
              <a:rPr b="0" dirty="0"/>
              <a:t> pan / zoom / semantic zoom, often combined with search to jump directly to a named node.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Selection propagation:</a:t>
            </a:r>
            <a:r>
              <a:rPr b="0" dirty="0"/>
              <a:t> selecting a node can highlight its </a:t>
            </a:r>
            <a:r>
              <a:rPr b="0" dirty="0" err="1"/>
              <a:t>neighbours</a:t>
            </a:r>
            <a:r>
              <a:rPr b="0" dirty="0"/>
              <a:t> or an entire connected path.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Animated transitions</a:t>
            </a:r>
            <a:r>
              <a:rPr b="0" dirty="0"/>
              <a:t> between hierarchical aggregation levels (e.g. an adjacency-matrix view) preserve context while narrowing detail.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Context-preserving visual links</a:t>
            </a:r>
            <a:r>
              <a:rPr b="0" dirty="0"/>
              <a:t> route curved connection marks between related items across views while minimizing occlusion.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For very large networks, interaction is not optional — it is the only practical way to make the structure legible, since no single static layout scales to hundreds of thousands of nodes.</a:t>
            </a:r>
          </a:p>
        </p:txBody>
      </p:sp>
      <p:sp>
        <p:nvSpPr>
          <p:cNvPr id="343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§9, §11.3–11.4, pp. 248–249, 253 (van Ham 2003; Steinberger et al. 2011)</a:t>
            </a:r>
          </a:p>
        </p:txBody>
      </p:sp>
      <p:pic>
        <p:nvPicPr>
          <p:cNvPr id="344" name="Picture 1148" descr="Picture 114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7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8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Interactive Network Exploration: Focus+Context on Graphs</a:t>
            </a:r>
          </a:p>
        </p:txBody>
      </p:sp>
      <p:sp>
        <p:nvSpPr>
          <p:cNvPr id="349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50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Focus+context idioms are especially valuable for networks, where elision and distortion let an analyst inspect local neighbourhoods without losing the surrounding structure.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DOITrees Revisited:</a:t>
            </a:r>
            <a:r>
              <a:rPr b="0"/>
              <a:t> shows a 600,000-node tree by eliding distant subtrees into shaded aggregate triangles.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Hyperbolic browsers:</a:t>
            </a:r>
            <a:r>
              <a:rPr b="0"/>
              <a:t> map an exponentially growing tree onto a finite hyperbolic disk, focus-navigable by hyperbolic translation.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Search-driven focus:</a:t>
            </a:r>
            <a:r>
              <a:rPr b="0"/>
              <a:t> typing a node name can set the DOI function's focus point automatically, rather than requiring manual clicking.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Multiple foci</a:t>
            </a:r>
            <a:r>
              <a:rPr b="0"/>
              <a:t> let an analyst compare several neighbourhoods of interest at once within the same context.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Interest functions typically exploit dataset structure, especially hierarchy — a good context for a set of selected subsections is usually their enclosing sections or common ancestors.</a:t>
            </a:r>
          </a:p>
        </p:txBody>
      </p:sp>
      <p:sp>
        <p:nvSpPr>
          <p:cNvPr id="351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§14.3, pp. 324–325 (Heer &amp; Card 2004; Lamping, Rao &amp; Pirolli 1995)</a:t>
            </a:r>
          </a:p>
        </p:txBody>
      </p:sp>
      <p:pic>
        <p:nvPicPr>
          <p:cNvPr id="352" name="Picture 1153" descr="Picture 115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5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6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Interactive Temporal Visualization</a:t>
            </a:r>
          </a:p>
        </p:txBody>
      </p:sp>
      <p:sp>
        <p:nvSpPr>
          <p:cNvPr id="357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58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Time-varying data benefits from the same interaction idioms covered so far, applied specifically to the time dimension: zooming, filtering, and detail-on-demand along a timeline.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Time-range filtering:</a:t>
            </a:r>
            <a:r>
              <a:rPr b="0"/>
              <a:t> sliders or overview brushing select a window of interest (dynamic query on the time axis).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Scrubbing:</a:t>
            </a:r>
            <a:r>
              <a:rPr b="0"/>
              <a:t> dragging a playhead jumps directly to any time instant instead of only playing forward.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Temporal drill-down:</a:t>
            </a:r>
            <a:r>
              <a:rPr b="0"/>
              <a:t> navigating from year → month → day mirrors hierarchical drill-down in other data types.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Overview + detail on a timeline:</a:t>
            </a:r>
            <a:r>
              <a:rPr b="0"/>
              <a:t> a compressed full-range overview sits beside a zoomed detail window (see previous lecture's playback slides).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Interaction generally beats animation alone for temporal analysis tasks: letting a user pause, scrub, filter and drill down keeps the choice of pace and focus with the analyst, not the system.</a:t>
            </a:r>
          </a:p>
        </p:txBody>
      </p:sp>
      <p:sp>
        <p:nvSpPr>
          <p:cNvPr id="359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§2.6.2, §6.5.2, §11.5, pp. 38–39, 132–133, 254–256</a:t>
            </a:r>
          </a:p>
        </p:txBody>
      </p:sp>
      <p:pic>
        <p:nvPicPr>
          <p:cNvPr id="360" name="Picture 1158" descr="Picture 115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4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Interactive Scientific Visualization</a:t>
            </a:r>
          </a:p>
        </p:txBody>
      </p:sp>
      <p:sp>
        <p:nvSpPr>
          <p:cNvPr id="365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66" name="BodyBox"/>
          <p:cNvSpPr txBox="1"/>
          <p:nvPr/>
        </p:nvSpPr>
        <p:spPr>
          <a:xfrm>
            <a:off x="681103" y="2050000"/>
            <a:ext cx="8950002" cy="5932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For 3D spatial and volumetric data, navigation additionally motivates three view-manipulation idioms grounded in the spatial-dimension camera metaphor.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Slice:</a:t>
            </a:r>
            <a:r>
              <a:rPr b="0"/>
              <a:t> extract a single 2D cross-section from a 3D view volume — e.g. one plane of a medical scan.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Cut:</a:t>
            </a:r>
            <a:r>
              <a:rPr b="0"/>
              <a:t> separate the volume into two parts with a plane and eliminate everything on one side.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Project:</a:t>
            </a:r>
            <a:r>
              <a:rPr b="0"/>
              <a:t> reduce the number of dimensions shown using one of many possible transformations.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Toolglass and Magic Lenses:</a:t>
            </a:r>
            <a:r>
              <a:rPr b="0"/>
              <a:t> a see-through lens superimposes a colour-coded curvature layer atop a 3D scene, revealing detail beneath the cursor only.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The camera metaphor that motivates zoom and pan in 2D also motivates slice, cut and project in 3D — attributes are assigned to spatial dimensions, and interaction manipulates which part of that volume is visible.</a:t>
            </a:r>
          </a:p>
        </p:txBody>
      </p:sp>
      <p:sp>
        <p:nvSpPr>
          <p:cNvPr id="367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§11.1, §14.4, pp. 243, 326 (Bier et al. 1993)</a:t>
            </a:r>
          </a:p>
        </p:txBody>
      </p:sp>
      <p:pic>
        <p:nvPicPr>
          <p:cNvPr id="368" name="Picture 1163" descr="Picture 116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1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2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 Analytics</a:t>
            </a:r>
          </a:p>
        </p:txBody>
      </p:sp>
      <p:sp>
        <p:nvSpPr>
          <p:cNvPr id="373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74" name="BodyBox"/>
          <p:cNvSpPr txBox="1"/>
          <p:nvPr/>
        </p:nvSpPr>
        <p:spPr>
          <a:xfrm>
            <a:off x="681103" y="2050000"/>
            <a:ext cx="8950002" cy="6288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Visual analytics is the science of analytical reasoning facilitated by interactive visual interfaces </a:t>
            </a:r>
            <a:r>
              <a:rPr b="1" dirty="0"/>
              <a:t>— it combines automated analysis with interactive visualization for effective understanding</a:t>
            </a:r>
            <a:r>
              <a:rPr dirty="0"/>
              <a:t>, reasoning and decision-making on very large and complex datasets.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Defining reference:</a:t>
            </a:r>
            <a:r>
              <a:rPr b="0" dirty="0"/>
              <a:t> Thomas &amp; Cook, Illuminating the Path (2005), the report that </a:t>
            </a:r>
            <a:r>
              <a:rPr b="0" dirty="0" err="1"/>
              <a:t>popularised</a:t>
            </a:r>
            <a:r>
              <a:rPr b="0" dirty="0"/>
              <a:t> the term.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Interweaves</a:t>
            </a:r>
            <a:r>
              <a:rPr b="0" dirty="0"/>
              <a:t> data transformation and analysis (statistics, data mining, machine learning) with interactive visual exploration.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Goes beyond information visualization</a:t>
            </a:r>
            <a:r>
              <a:rPr b="0" dirty="0"/>
              <a:t> alone by explicitly bringing automated/computational analysis into the human's interactive loop.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Human-in-the-loop</a:t>
            </a:r>
            <a:r>
              <a:rPr b="0" dirty="0"/>
              <a:t> throughout, because fully automated analysis alone often misses context that only a human analyst supplies.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 err="1"/>
              <a:t>Munzner's</a:t>
            </a:r>
            <a:r>
              <a:rPr dirty="0"/>
              <a:t> own subtitle for the field folds all three together: information visualization for abstract data, scientific visualization for spatial data, and visual analytics for interweaving data transformation and analysis with interactive visual exploration.</a:t>
            </a:r>
          </a:p>
        </p:txBody>
      </p:sp>
      <p:sp>
        <p:nvSpPr>
          <p:cNvPr id="375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book subtitle &amp; preface; Thomas &amp; Cook, Illuminating the Path (2005)</a:t>
            </a:r>
          </a:p>
        </p:txBody>
      </p:sp>
      <p:pic>
        <p:nvPicPr>
          <p:cNvPr id="376" name="Picture 1168" descr="Picture 116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9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0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 Analytics: The Pipeline</a:t>
            </a:r>
          </a:p>
        </p:txBody>
      </p:sp>
      <p:sp>
        <p:nvSpPr>
          <p:cNvPr id="381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82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A widely used model (Keim et al. 2008) frames visual analytics as a pipeline in which data, visualizations, models and human judgement continuously feed back into each other.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Data transformation:</a:t>
            </a:r>
            <a:r>
              <a:rPr b="0"/>
              <a:t> raw data is cleaned and mapped into a form suitable for visualization or modelling.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Two parallel paths:</a:t>
            </a:r>
            <a:r>
              <a:rPr b="0"/>
              <a:t> a visualization path (mapping to visual encodings) and a data-mining/model path (automated pattern extraction).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Human interaction</a:t>
            </a:r>
            <a:r>
              <a:rPr b="0"/>
              <a:t> steers both paths — refining visual mappings, adjusting model parameters, and confirming or rejecting findings.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Knowledge output:</a:t>
            </a:r>
            <a:r>
              <a:rPr b="0"/>
              <a:t> the pipeline's goal is actionable insight, not just a picture or a trained model in isolation.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Visual analytics is fundamentally iterative — knowledge gained from one pass through the pipeline informs how the data is transformed or filtered on the next pass.</a:t>
            </a:r>
          </a:p>
        </p:txBody>
      </p:sp>
      <p:sp>
        <p:nvSpPr>
          <p:cNvPr id="383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Keim, Andrienko, Fekete et al., Visual Analytics: Definition, Process and Challenges (2008)</a:t>
            </a:r>
          </a:p>
        </p:txBody>
      </p:sp>
      <p:pic>
        <p:nvPicPr>
          <p:cNvPr id="384" name="Picture 1173" descr="Picture 117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7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8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Human-In-The-Loop Analysis</a:t>
            </a:r>
          </a:p>
        </p:txBody>
      </p:sp>
      <p:sp>
        <p:nvSpPr>
          <p:cNvPr id="389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90" name="BodyBox"/>
          <p:cNvSpPr txBox="1"/>
          <p:nvPr/>
        </p:nvSpPr>
        <p:spPr>
          <a:xfrm>
            <a:off x="681103" y="2050000"/>
            <a:ext cx="8950002" cy="5386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Human-in-the-loop </a:t>
            </a:r>
            <a:r>
              <a:rPr b="1" dirty="0"/>
              <a:t>analysis keeps a person actively steering the analytical process, rather than delegating decisions entirely to an automated algorithm</a:t>
            </a:r>
            <a:r>
              <a:rPr dirty="0"/>
              <a:t>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Complements automation:</a:t>
            </a:r>
            <a:r>
              <a:rPr b="0" dirty="0"/>
              <a:t> algorithms are fast at scale, but people are better at incorporating context, domain knowledge, and judgement.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Interactive model steering:</a:t>
            </a:r>
            <a:r>
              <a:rPr b="0" dirty="0"/>
              <a:t> users adjust parameters (e.g. a clustering threshold) and immediately see updated visual results.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Trust and interpretability:</a:t>
            </a:r>
            <a:r>
              <a:rPr b="0" dirty="0"/>
              <a:t> visualization exposes what a model is doing, so a human can validate or challenge its output.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Feedback loops:</a:t>
            </a:r>
            <a:r>
              <a:rPr b="0" dirty="0"/>
              <a:t> user corrections (e.g. relabeling a misclassified anomaly) can feed back into retraining a model.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Human-in-the-loop analysis is the practical </a:t>
            </a:r>
            <a:r>
              <a:rPr dirty="0" err="1"/>
              <a:t>realisation</a:t>
            </a:r>
            <a:r>
              <a:rPr dirty="0"/>
              <a:t> of </a:t>
            </a:r>
            <a:r>
              <a:rPr dirty="0" err="1"/>
              <a:t>Munzner's</a:t>
            </a:r>
            <a:r>
              <a:rPr dirty="0"/>
              <a:t> principle that interaction couples the user's evolving understanding to the system's evolving display, extended to include automated models.</a:t>
            </a:r>
          </a:p>
        </p:txBody>
      </p:sp>
      <p:sp>
        <p:nvSpPr>
          <p:cNvPr id="391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Keim et al. (2008); Munzner, Visualization Analysis and Design (2014), §11.4.3, p. 254</a:t>
            </a:r>
          </a:p>
        </p:txBody>
      </p:sp>
      <p:pic>
        <p:nvPicPr>
          <p:cNvPr id="392" name="Picture 1178" descr="Picture 117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5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6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Exploratory Analysis</a:t>
            </a:r>
          </a:p>
        </p:txBody>
      </p:sp>
      <p:sp>
        <p:nvSpPr>
          <p:cNvPr id="397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398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Exploratory analysis is </a:t>
            </a:r>
            <a:r>
              <a:rPr b="1" dirty="0"/>
              <a:t>open-ended investigation of a dataset without a fixed, predetermined question — the goal is to discover what is interesting before deciding what to ask formally.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Contrasts with confirmatory analysis,</a:t>
            </a:r>
            <a:r>
              <a:rPr b="0" dirty="0"/>
              <a:t> which tests a specific, pre-registered hypothesis.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Relies heavily on overview-first, drill-down, filtering and coordinated views</a:t>
            </a:r>
            <a:r>
              <a:rPr b="0" dirty="0"/>
              <a:t> to let unexpected patterns surface.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 err="1"/>
              <a:t>Munzner's</a:t>
            </a:r>
            <a:r>
              <a:rPr dirty="0"/>
              <a:t> discover goal:</a:t>
            </a:r>
            <a:r>
              <a:rPr b="0" dirty="0"/>
              <a:t> a high-level task category for finding the unknown, as opposed to locate/identify/compare of known targets.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Often the first phase</a:t>
            </a:r>
            <a:r>
              <a:rPr b="0" dirty="0"/>
              <a:t> of a longer analytical workflow, feeding hypotheses into more targeted testing.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Exploratory analysis is precisely where visual analytics earns its keep: a human can </a:t>
            </a:r>
            <a:r>
              <a:rPr dirty="0" err="1"/>
              <a:t>recognise</a:t>
            </a:r>
            <a:r>
              <a:rPr dirty="0"/>
              <a:t> 'something interesting' in a display long before that pattern could be specified as a formal query.</a:t>
            </a:r>
          </a:p>
        </p:txBody>
      </p:sp>
      <p:sp>
        <p:nvSpPr>
          <p:cNvPr id="399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§3 (Why: task abstraction — discover goal); Tukey, Exploratory Data Analysis (1977)</a:t>
            </a:r>
          </a:p>
        </p:txBody>
      </p:sp>
      <p:pic>
        <p:nvPicPr>
          <p:cNvPr id="400" name="Picture 1182" descr="Picture 1182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4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Pattern Discovery</a:t>
            </a:r>
          </a:p>
        </p:txBody>
      </p:sp>
      <p:sp>
        <p:nvSpPr>
          <p:cNvPr id="405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06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Pattern discovery is the </a:t>
            </a:r>
            <a:r>
              <a:rPr b="1" dirty="0"/>
              <a:t>task of finding structure — trends, clusters, correlations, periodicities — in data that was not previously known to be there.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Visual pattern-finding</a:t>
            </a:r>
            <a:r>
              <a:rPr b="0" dirty="0"/>
              <a:t> exploits the highest-ranked visual channel, spatial position, plus reordering and small multiples.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Reordering / sorting</a:t>
            </a:r>
            <a:r>
              <a:rPr b="0" dirty="0"/>
              <a:t> is one of the most powerful pattern-finding interactions — it invokes the visual system's fast pattern detection.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Coordinated views</a:t>
            </a:r>
            <a:r>
              <a:rPr b="0" dirty="0"/>
              <a:t> let a pattern found in one encoding be checked for correspondence in another.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Automated pattern mining</a:t>
            </a:r>
            <a:r>
              <a:rPr b="0" dirty="0"/>
              <a:t> (clustering, association rules) can propose candidate patterns for the analyst to inspect visually.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Reordering data spatially invokes the pattern-finding parts of the visual system to quickly check whether a new configuration reveals new information — this is why sort/reorder interactions are so effective.</a:t>
            </a:r>
          </a:p>
        </p:txBody>
      </p:sp>
      <p:sp>
        <p:nvSpPr>
          <p:cNvPr id="407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Munzner, Visualization Analysis and Design (2014), §11.3, pp. 245–246 (LineUp example)</a:t>
            </a:r>
          </a:p>
        </p:txBody>
      </p:sp>
      <p:pic>
        <p:nvPicPr>
          <p:cNvPr id="408" name="Picture 1186" descr="Picture 118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1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2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Anomaly Detection</a:t>
            </a:r>
          </a:p>
        </p:txBody>
      </p:sp>
      <p:sp>
        <p:nvSpPr>
          <p:cNvPr id="413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14" name="BodyBox"/>
          <p:cNvSpPr txBox="1"/>
          <p:nvPr/>
        </p:nvSpPr>
        <p:spPr>
          <a:xfrm>
            <a:off x="681103" y="2050000"/>
            <a:ext cx="8950002" cy="5932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Anomaly detection is the </a:t>
            </a:r>
            <a:r>
              <a:rPr b="1" dirty="0"/>
              <a:t>task of finding items, events or regions that deviate substantially from the expected pattern — outliers that may signal errors, fraud, faults or rare but important events.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Visual outlier spotting:</a:t>
            </a:r>
            <a:r>
              <a:rPr b="0" dirty="0"/>
              <a:t> scatterplots, box plots and small multiples make deviations from a norm visually salient.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Motion / </a:t>
            </a:r>
            <a:r>
              <a:rPr dirty="0" err="1"/>
              <a:t>colour</a:t>
            </a:r>
            <a:r>
              <a:rPr dirty="0"/>
              <a:t> pop-out</a:t>
            </a:r>
            <a:r>
              <a:rPr b="0" dirty="0"/>
              <a:t> can be used to draw attention to a flagged anomaly the moment it appears (see motion channel, previous lecture).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Statistical + visual hybrid:</a:t>
            </a:r>
            <a:r>
              <a:rPr b="0" dirty="0"/>
              <a:t> an automated detector proposes candidates; the analyst visually confirms true positives and rejects false alarms.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Evaluation needs metrics:</a:t>
            </a:r>
            <a:r>
              <a:rPr b="0" dirty="0"/>
              <a:t> precision, recall and F1 quantify how well a detector balances catching real anomalies against raising false alarms (see Numerical 5).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Anomaly detection is a natural visual analytics task precisely because 'unexpected' is easier for a human to </a:t>
            </a:r>
            <a:r>
              <a:rPr dirty="0" err="1"/>
              <a:t>recognise</a:t>
            </a:r>
            <a:r>
              <a:rPr dirty="0"/>
              <a:t> visually than to define algorithmically in advance.</a:t>
            </a:r>
          </a:p>
        </p:txBody>
      </p:sp>
      <p:sp>
        <p:nvSpPr>
          <p:cNvPr id="415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Keim et al. (2008); Munzner, Visualization Analysis and Design (2014), §5.5 (pop-out, channel salience)</a:t>
            </a:r>
          </a:p>
        </p:txBody>
      </p:sp>
      <p:pic>
        <p:nvPicPr>
          <p:cNvPr id="416" name="Picture 1190" descr="Picture 1190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9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Numerical 5: Precision, Recall and F1 for Anomaly Detection</a:t>
            </a:r>
          </a:p>
        </p:txBody>
      </p:sp>
      <p:sp>
        <p:nvSpPr>
          <p:cNvPr id="420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21" name="ProblemBox"/>
          <p:cNvSpPr/>
          <p:nvPr/>
        </p:nvSpPr>
        <p:spPr>
          <a:xfrm>
            <a:off x="681104" y="2149999"/>
            <a:ext cx="15968897" cy="2850002"/>
          </a:xfrm>
          <a:prstGeom prst="roundRect">
            <a:avLst>
              <a:gd name="adj" fmla="val 6000"/>
            </a:avLst>
          </a:prstGeom>
          <a:solidFill>
            <a:srgbClr val="FBEEE4"/>
          </a:solidFill>
          <a:ln w="19050">
            <a:solidFill>
              <a:srgbClr val="DFA267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2" name="ProblemText"/>
          <p:cNvSpPr txBox="1"/>
          <p:nvPr/>
        </p:nvSpPr>
        <p:spPr>
          <a:xfrm>
            <a:off x="931103" y="2299999"/>
            <a:ext cx="15468898" cy="2038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2700" b="1">
                <a:solidFill>
                  <a:srgbClr val="C55A11"/>
                </a:solidFill>
              </a:defRPr>
            </a:pPr>
            <a:r>
              <a:t>Problem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t>An anomaly detector is run on 100 labelled events: 50 are true anomalies, 50 are normal.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t>The detector flags 47 events as anomalies: of these, 42 are true anomalies (true positives) and 5 are normal (false positives).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t>(a) Compute precision.  (b) Compute recall.  (c) Compute the F1 score.</a:t>
            </a:r>
          </a:p>
        </p:txBody>
      </p:sp>
      <p:sp>
        <p:nvSpPr>
          <p:cNvPr id="423" name="SolutionBox"/>
          <p:cNvSpPr/>
          <p:nvPr/>
        </p:nvSpPr>
        <p:spPr>
          <a:xfrm>
            <a:off x="681104" y="5200000"/>
            <a:ext cx="15968897" cy="4487001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9050">
            <a:solidFill>
              <a:srgbClr val="4472C4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4" name="SolutionText"/>
          <p:cNvSpPr txBox="1"/>
          <p:nvPr/>
        </p:nvSpPr>
        <p:spPr>
          <a:xfrm>
            <a:off x="931103" y="5350000"/>
            <a:ext cx="15468898" cy="1682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700" b="1">
                <a:solidFill>
                  <a:srgbClr val="4472C4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(a)</a:t>
            </a:r>
            <a:r>
              <a:rPr b="0" dirty="0">
                <a:solidFill>
                  <a:srgbClr val="1A1A1A"/>
                </a:solidFill>
              </a:rPr>
              <a:t> Precision = TP / (TP + FP) = 42 / (42 + 5) = 42/47 ≈ 0.894 (89.4%)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(b)</a:t>
            </a:r>
            <a:r>
              <a:rPr b="0" dirty="0">
                <a:solidFill>
                  <a:srgbClr val="1A1A1A"/>
                </a:solidFill>
              </a:rPr>
              <a:t> Recall = TP / (TP + FN); FN = 50 − 42 = 8 → Recall = 42/50 = 0.84 (84%)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(c)</a:t>
            </a:r>
            <a:r>
              <a:rPr b="0" dirty="0">
                <a:solidFill>
                  <a:srgbClr val="1A1A1A"/>
                </a:solidFill>
              </a:rPr>
              <a:t> F1 = 2 × (Precision × Recall)/(Precision + Recall) = 2 × (0.894×0.84)/(0.894+0.84) ≈ 0.866</a:t>
            </a:r>
          </a:p>
        </p:txBody>
      </p:sp>
      <p:sp>
        <p:nvSpPr>
          <p:cNvPr id="425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Worked example on standard detection-quality metrics, applied to visual analytics anomaly triage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8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9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Hypothesis Generation</a:t>
            </a:r>
          </a:p>
        </p:txBody>
      </p:sp>
      <p:sp>
        <p:nvSpPr>
          <p:cNvPr id="430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31" name="BodyBox"/>
          <p:cNvSpPr txBox="1"/>
          <p:nvPr/>
        </p:nvSpPr>
        <p:spPr>
          <a:xfrm>
            <a:off x="681103" y="2050000"/>
            <a:ext cx="16300002" cy="3087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Hypothesis generation is the creative step of proposing a candidate explanation for a pattern noticed during exploratory analysis.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Bottom-up from data:</a:t>
            </a:r>
            <a:r>
              <a:rPr b="0"/>
              <a:t> a visual pattern (cluster, trend, outlier) suggests a plausible underlying cause.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Informed by domain knowledge,</a:t>
            </a:r>
            <a:r>
              <a:rPr b="0"/>
              <a:t> which supplies plausible mechanisms that pure pattern-matching cannot.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Multiple competing hypotheses</a:t>
            </a:r>
            <a:r>
              <a:rPr b="0"/>
              <a:t> are normal at this stage — visualization should support comparing several explanations side by side.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Feeds directly into hypothesis testing,</a:t>
            </a:r>
            <a:r>
              <a:rPr b="0"/>
              <a:t> the next stage of the analytic reasoning cycle.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Hypothesis generation is inherently an interactive, human task — it is where domain expertise and visual pattern discovery meet to produce a testable claim.</a:t>
            </a:r>
          </a:p>
        </p:txBody>
      </p:sp>
      <p:sp>
        <p:nvSpPr>
          <p:cNvPr id="432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Pirolli &amp; Card, The Sensemaking Process and Leverage Points (2005)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5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6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Hypothesis Testing</a:t>
            </a:r>
          </a:p>
        </p:txBody>
      </p:sp>
      <p:sp>
        <p:nvSpPr>
          <p:cNvPr id="437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38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Hypothesis testing is the step of </a:t>
            </a:r>
            <a:r>
              <a:rPr b="1" dirty="0"/>
              <a:t>checking a candidate explanation against evidence — visually, statistically, or both — to accept, refine or reject it.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Visual confirmation:</a:t>
            </a:r>
            <a:r>
              <a:rPr b="0" dirty="0"/>
              <a:t> re-encode the data to directly show whether the </a:t>
            </a:r>
            <a:r>
              <a:rPr b="0" dirty="0" err="1"/>
              <a:t>hypothesised</a:t>
            </a:r>
            <a:r>
              <a:rPr b="0" dirty="0"/>
              <a:t> pattern holds (e.g. plot the suspected correlation explicitly).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Statistical confirmation:</a:t>
            </a:r>
            <a:r>
              <a:rPr b="0" dirty="0"/>
              <a:t> compute a test statistic or confidence interval alongside the visual check.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Counter-example search:</a:t>
            </a:r>
            <a:r>
              <a:rPr b="0" dirty="0"/>
              <a:t> interactively filter to look for cases that would disprove the hypothesis, not just confirm it.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Iteration:</a:t>
            </a:r>
            <a:r>
              <a:rPr b="0" dirty="0"/>
              <a:t> a rejected hypothesis returns the analyst to hypothesis generation with updated understanding — this cycle is one instance of iterative analytical reasoning.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Confirmation bias is a real risk: an interactive system should make it as easy to look for disconfirming evidence as for confirming evidence.</a:t>
            </a:r>
          </a:p>
        </p:txBody>
      </p:sp>
      <p:sp>
        <p:nvSpPr>
          <p:cNvPr id="439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Pirolli &amp; Card (2005); Thomas &amp; Cook (2005)</a:t>
            </a:r>
          </a:p>
        </p:txBody>
      </p:sp>
      <p:pic>
        <p:nvPicPr>
          <p:cNvPr id="440" name="Picture 1206" descr="Picture 120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4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Sensemaking</a:t>
            </a:r>
          </a:p>
        </p:txBody>
      </p:sp>
      <p:sp>
        <p:nvSpPr>
          <p:cNvPr id="445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46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Sensemaking is the </a:t>
            </a:r>
            <a:r>
              <a:rPr b="1" dirty="0"/>
              <a:t>broader cognitive process of building an understanding of a situation from scattered evidence, of which interactive visual analysis is one crucial support tool.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Origin:</a:t>
            </a:r>
            <a:r>
              <a:rPr b="0" dirty="0"/>
              <a:t> sensemaking research began in </a:t>
            </a:r>
            <a:r>
              <a:rPr b="0" dirty="0" err="1"/>
              <a:t>organisational</a:t>
            </a:r>
            <a:r>
              <a:rPr b="0" dirty="0"/>
              <a:t> and cognitive science before being adapted to visual analytics.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Pirolli &amp; Card's sensemaking loop (2005)</a:t>
            </a:r>
            <a:r>
              <a:rPr b="0" dirty="0"/>
              <a:t> is the reference model most used in the visual analytics literature.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Two intertwined loops:</a:t>
            </a:r>
            <a:r>
              <a:rPr b="0" dirty="0"/>
              <a:t> a foraging loop (finding and filtering information) and a synthesis loop (building a coherent case from it).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 err="1"/>
              <a:t>Externalises</a:t>
            </a:r>
            <a:r>
              <a:rPr dirty="0"/>
              <a:t> cognition:</a:t>
            </a:r>
            <a:r>
              <a:rPr b="0" dirty="0"/>
              <a:t> visualization acts as a shared 'evidence file' that offloads working memory onto the screen.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Sensemaking is not a single step but a continuous loop of searching, structuring, and re-structuring understanding as new evidence arrives.</a:t>
            </a:r>
          </a:p>
        </p:txBody>
      </p:sp>
      <p:sp>
        <p:nvSpPr>
          <p:cNvPr id="447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Pirolli &amp; Card, The Sensemaking Process and Leverage Points (2005)</a:t>
            </a:r>
          </a:p>
        </p:txBody>
      </p:sp>
      <p:pic>
        <p:nvPicPr>
          <p:cNvPr id="448" name="Picture 1211" descr="Picture 121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186" y="1754506"/>
            <a:ext cx="7600001" cy="481059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AD1CFD-9FC5-6566-2837-57C7E2D5D51F}"/>
              </a:ext>
            </a:extLst>
          </p:cNvPr>
          <p:cNvSpPr txBox="1"/>
          <p:nvPr/>
        </p:nvSpPr>
        <p:spPr>
          <a:xfrm>
            <a:off x="5055023" y="849671"/>
            <a:ext cx="915216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Imagine a detective investigating a theft. The detective has CCTV footage, fingerprints, witness statements, and phone records. Each piece provides only partial information. The detective must connect them to understand what actually happened.</a:t>
            </a:r>
          </a:p>
          <a:p>
            <a:pPr>
              <a:buNone/>
            </a:pPr>
            <a:r>
              <a:rPr lang="en-IN" dirty="0"/>
              <a:t>That process is called sensemaking.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22101-107E-1E0A-30CB-B7D611CDE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81150"/>
            <a:ext cx="8230749" cy="3524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FDADEE-C2BD-1BA4-5C1B-5F79E0BAC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964" y="6762258"/>
            <a:ext cx="8402223" cy="35247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1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2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Sensemaking: Foraging and Synthesis in Detail</a:t>
            </a:r>
          </a:p>
        </p:txBody>
      </p:sp>
      <p:sp>
        <p:nvSpPr>
          <p:cNvPr id="453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54" name="BodyBox"/>
          <p:cNvSpPr txBox="1"/>
          <p:nvPr/>
        </p:nvSpPr>
        <p:spPr>
          <a:xfrm>
            <a:off x="681103" y="2050000"/>
            <a:ext cx="8950002" cy="5932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The Pirolli–Card model breaks sensemaking into concrete stages, each of which interactive visualization can directly support.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Foraging loop:</a:t>
            </a:r>
            <a:r>
              <a:rPr b="0"/>
              <a:t> search &amp; filter sources → read &amp; extract → shoebox (raw collected evidence) → evidence file (organised extracts).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Synthesis loop:</a:t>
            </a:r>
            <a:r>
              <a:rPr b="0"/>
              <a:t> evidence file → schema (structured representation) → hypotheses → presentation (report or decision).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Leverage points:</a:t>
            </a:r>
            <a:r>
              <a:rPr b="0"/>
              <a:t> Pirolli &amp; Card identify specific bottlenecks — e.g. the cost of foraging, or of re-structuring a schema — where good tool design has the biggest impact.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Visual analytics tools</a:t>
            </a:r>
            <a:r>
              <a:rPr b="0"/>
              <a:t> target these leverage points directly: coordinated views reduce foraging cost, and interactive schemas reduce restructuring cost.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Good visual analytics tool design is often really a matter of identifying which leverage point in the sensemaking loop is the analyst's true bottleneck, and targeting that specifically.</a:t>
            </a:r>
          </a:p>
        </p:txBody>
      </p:sp>
      <p:pic>
        <p:nvPicPr>
          <p:cNvPr id="455" name="d36_sensemaking2.png" descr="d36_sensemakin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456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Pirolli &amp; Card (2005)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9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0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Information Foraging</a:t>
            </a:r>
          </a:p>
        </p:txBody>
      </p:sp>
      <p:sp>
        <p:nvSpPr>
          <p:cNvPr id="461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62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Information foraging theory (Pirolli 2007) models information-seeking behaviour by analogy with animal foraging for food: seekers follow 'information scent' between patches of value.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Information scent:</a:t>
            </a:r>
            <a:r>
              <a:rPr b="0"/>
              <a:t> cues that help a searcher decide whether to drill down further into a source, or look elsewhere.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Scented widgets</a:t>
            </a:r>
            <a:r>
              <a:rPr b="0"/>
              <a:t> (Willett et al. 2007) add concise visual cues — small charts, icons — directly into filter controls to convey scent cheaply.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Patch model:</a:t>
            </a:r>
            <a:r>
              <a:rPr b="0"/>
              <a:t> an information source ('patch') yields diminishing returns the longer a user stays in it, motivating a move to the next patch.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Cost/benefit trade-off:</a:t>
            </a:r>
            <a:r>
              <a:rPr b="0"/>
              <a:t> users balance the cost of navigating to a new patch against the expected gain (see Numerical 6).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Information foraging theory explains why good affordances (clear scent) dramatically speed up analysis: users spend their limited attention on the most promising path rather than searching blindly.</a:t>
            </a:r>
          </a:p>
        </p:txBody>
      </p:sp>
      <p:sp>
        <p:nvSpPr>
          <p:cNvPr id="463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Pirolli, Information Foraging Theory (2007); Munzner, Visualization Analysis and Design (2014) §13.3.1, p. 303 (Willett et al. 2007)</a:t>
            </a:r>
          </a:p>
        </p:txBody>
      </p:sp>
      <p:pic>
        <p:nvPicPr>
          <p:cNvPr id="464" name="Picture 1221" descr="Picture 1221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747895" y="1843479"/>
            <a:ext cx="7600001" cy="481059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D8BA71-7941-5A2C-EEB8-1A39CAAABAF0}"/>
              </a:ext>
            </a:extLst>
          </p:cNvPr>
          <p:cNvSpPr txBox="1"/>
          <p:nvPr/>
        </p:nvSpPr>
        <p:spPr>
          <a:xfrm>
            <a:off x="3547382" y="8237000"/>
            <a:ext cx="918482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Sensemaking: Building an understanding from scattered evidence.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Foraging loop: Finding and filtering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Synthesis loop: Connecting evidence to build an explanation.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Externalizing cognition: Using visualizations to reduce the burden on memory.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Continuous process: New evidence can change the current understanding.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7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Numerical 6: Information Scent and Patch Value</a:t>
            </a:r>
          </a:p>
        </p:txBody>
      </p:sp>
      <p:sp>
        <p:nvSpPr>
          <p:cNvPr id="468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69" name="ProblemBox"/>
          <p:cNvSpPr/>
          <p:nvPr/>
        </p:nvSpPr>
        <p:spPr>
          <a:xfrm>
            <a:off x="681104" y="2149999"/>
            <a:ext cx="15968897" cy="2850002"/>
          </a:xfrm>
          <a:prstGeom prst="roundRect">
            <a:avLst>
              <a:gd name="adj" fmla="val 6000"/>
            </a:avLst>
          </a:prstGeom>
          <a:solidFill>
            <a:srgbClr val="FBEEE4"/>
          </a:solidFill>
          <a:ln w="19050">
            <a:solidFill>
              <a:srgbClr val="DFA267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0" name="ProblemText"/>
          <p:cNvSpPr txBox="1"/>
          <p:nvPr/>
        </p:nvSpPr>
        <p:spPr>
          <a:xfrm>
            <a:off x="931103" y="2299999"/>
            <a:ext cx="15468898" cy="3651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2700" b="1">
                <a:solidFill>
                  <a:srgbClr val="C55A11"/>
                </a:solidFill>
              </a:defRPr>
            </a:pPr>
            <a:r>
              <a:rPr dirty="0"/>
              <a:t>Problem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Two information patches are available. Patch A yields value V(t) = 10√t (arbitrary units) after foraging for t seconds inside it; travel time between patches is 4 s.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(a) What is the instantaneous rate of gain </a:t>
            </a:r>
            <a:r>
              <a:rPr dirty="0" err="1"/>
              <a:t>dV</a:t>
            </a:r>
            <a:r>
              <a:rPr dirty="0"/>
              <a:t>/dt at t = 4 s within a patch?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(b) Using the average-rate criterion (</a:t>
            </a:r>
            <a:r>
              <a:rPr dirty="0" err="1"/>
              <a:t>Charnov's</a:t>
            </a:r>
            <a:r>
              <a:rPr dirty="0"/>
              <a:t> marginal value theorem: leave when instantaneous rate falls to the overall average rate including travel), estimate the optimal patch-leaving time if the overall average rate achieved is 2 units/s.</a:t>
            </a:r>
          </a:p>
          <a:p>
            <a:pPr>
              <a:spcBef>
                <a:spcPts val="300"/>
              </a:spcBef>
              <a:defRPr sz="2500">
                <a:solidFill>
                  <a:srgbClr val="1A1A1A"/>
                </a:solidFill>
              </a:defRPr>
            </a:pPr>
            <a:r>
              <a:rPr dirty="0"/>
              <a:t>(c) If a scented widget lets the user identify a low-value patch instantly (0 s wasted) instead of after 4 s of foraging, how much time is saved per rejected patch?</a:t>
            </a:r>
          </a:p>
        </p:txBody>
      </p:sp>
      <p:sp>
        <p:nvSpPr>
          <p:cNvPr id="471" name="SolutionBox"/>
          <p:cNvSpPr/>
          <p:nvPr/>
        </p:nvSpPr>
        <p:spPr>
          <a:xfrm>
            <a:off x="681104" y="5200000"/>
            <a:ext cx="15968897" cy="4487001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9050">
            <a:solidFill>
              <a:srgbClr val="4472C4"/>
            </a:solidFill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2" name="SolutionText"/>
          <p:cNvSpPr txBox="1"/>
          <p:nvPr/>
        </p:nvSpPr>
        <p:spPr>
          <a:xfrm>
            <a:off x="931103" y="5350000"/>
            <a:ext cx="15468898" cy="2929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700" b="1">
                <a:solidFill>
                  <a:srgbClr val="4472C4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(a)</a:t>
            </a:r>
            <a:r>
              <a:rPr b="0" dirty="0">
                <a:solidFill>
                  <a:srgbClr val="1A1A1A"/>
                </a:solidFill>
              </a:rPr>
              <a:t> </a:t>
            </a:r>
            <a:r>
              <a:rPr b="0" dirty="0" err="1">
                <a:solidFill>
                  <a:srgbClr val="1A1A1A"/>
                </a:solidFill>
              </a:rPr>
              <a:t>dV</a:t>
            </a:r>
            <a:r>
              <a:rPr b="0" dirty="0">
                <a:solidFill>
                  <a:srgbClr val="1A1A1A"/>
                </a:solidFill>
              </a:rPr>
              <a:t>/dt = 10/(2√t); at t = 4: </a:t>
            </a:r>
            <a:r>
              <a:rPr b="0" dirty="0" err="1">
                <a:solidFill>
                  <a:srgbClr val="1A1A1A"/>
                </a:solidFill>
              </a:rPr>
              <a:t>dV</a:t>
            </a:r>
            <a:r>
              <a:rPr b="0" dirty="0">
                <a:solidFill>
                  <a:srgbClr val="1A1A1A"/>
                </a:solidFill>
              </a:rPr>
              <a:t>/dt = 10/(2×2) = 2.5 units/s</a:t>
            </a:r>
            <a:endParaRPr lang="en-IN" b="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lang="en-IN" sz="2500" b="1" dirty="0">
                <a:solidFill>
                  <a:srgbClr val="1F3864"/>
                </a:solidFill>
              </a:rPr>
              <a:t>After exploring the patch for 4 seconds, the user is gaining information at an instantaneous rate of 2.5 units per second.</a:t>
            </a:r>
            <a:endParaRPr b="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dirty="0"/>
              <a:t>(b)</a:t>
            </a:r>
            <a:r>
              <a:rPr b="0" dirty="0">
                <a:solidFill>
                  <a:srgbClr val="1A1A1A"/>
                </a:solidFill>
              </a:rPr>
              <a:t> Set </a:t>
            </a:r>
            <a:r>
              <a:rPr b="0" dirty="0" err="1">
                <a:solidFill>
                  <a:srgbClr val="1A1A1A"/>
                </a:solidFill>
              </a:rPr>
              <a:t>dV</a:t>
            </a:r>
            <a:r>
              <a:rPr b="0" dirty="0">
                <a:solidFill>
                  <a:srgbClr val="1A1A1A"/>
                </a:solidFill>
              </a:rPr>
              <a:t>/dt = 2: 10/(2√t) = 2 → √t = 2.5 → t = 6.25 s → leave the patch after ≈ 6.25 s of foraging</a:t>
            </a:r>
            <a:endParaRPr lang="en-IN" b="0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  <a:defRPr sz="2500" b="1">
                <a:solidFill>
                  <a:srgbClr val="1F3864"/>
                </a:solidFill>
              </a:defRPr>
            </a:pPr>
            <a:r>
              <a:rPr lang="en-IN" sz="2500" b="1" dirty="0">
                <a:solidFill>
                  <a:srgbClr val="1F3864"/>
                </a:solidFill>
              </a:rPr>
              <a:t>The user should continue exploring the patch until 6.25 seconds, then move to another patch. At that point, the additional information gained per second equals the overall average rate.</a:t>
            </a:r>
            <a:endParaRPr b="0" dirty="0">
              <a:solidFill>
                <a:srgbClr val="1A1A1A"/>
              </a:solidFill>
            </a:endParaRPr>
          </a:p>
        </p:txBody>
      </p:sp>
      <p:sp>
        <p:nvSpPr>
          <p:cNvPr id="473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Worked example applying information foraging / marginal value theorem concepts (Pirolli 2007; Charnov 1976)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3D792-AAF3-86D7-9683-37DC37091768}"/>
              </a:ext>
            </a:extLst>
          </p:cNvPr>
          <p:cNvSpPr txBox="1"/>
          <p:nvPr/>
        </p:nvSpPr>
        <p:spPr>
          <a:xfrm>
            <a:off x="816427" y="8486672"/>
            <a:ext cx="15327387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Patch: A source of information, such as a webpage, document, or group of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Foraging: Spending time exploring that source.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Marginal value theorem: A strategy for deciding when to stop exploring one source and move to another.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Scented widget: A visual control that provides clues about where useful information is likely to be found.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6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7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Iterative Analytical Reasoning</a:t>
            </a:r>
          </a:p>
        </p:txBody>
      </p:sp>
      <p:sp>
        <p:nvSpPr>
          <p:cNvPr id="478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79" name="BodyBox"/>
          <p:cNvSpPr txBox="1"/>
          <p:nvPr/>
        </p:nvSpPr>
        <p:spPr>
          <a:xfrm>
            <a:off x="681103" y="2050000"/>
            <a:ext cx="8950002" cy="5932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rPr dirty="0"/>
              <a:t>Analytical reasoning with visual analytics tools is iterative by nature: </a:t>
            </a:r>
            <a:r>
              <a:rPr b="1" dirty="0"/>
              <a:t>each cycle of view, interpret and act refines the analyst's model of the data and suggests the next action.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Not linear:</a:t>
            </a:r>
            <a:r>
              <a:rPr b="0" dirty="0"/>
              <a:t> analysts frequently loop back to earlier stages as new evidence reframes the question.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Supported by history / provenance:</a:t>
            </a:r>
            <a:r>
              <a:rPr b="0" dirty="0"/>
              <a:t> recording the sequence of interactions lets an analyst retrace, justify, or resume reasoning.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Combines top-down and bottom-up:</a:t>
            </a:r>
            <a:r>
              <a:rPr b="0" dirty="0"/>
              <a:t> a working hypothesis guides what to look at next, while new visual patterns can override or revise that hypothesis.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rPr dirty="0"/>
              <a:t>Terminates</a:t>
            </a:r>
            <a:r>
              <a:rPr b="0" dirty="0"/>
              <a:t> when the evidence converges on an actionable, well-supported conclusion, or resources (time) run out.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rPr dirty="0"/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rPr dirty="0"/>
              <a:t>The analytic reasoning process is fundamentally cyclic, not a single pass — visual analytics tools succeed by making each cycle of the loop as cheap and fast as possible.</a:t>
            </a:r>
          </a:p>
        </p:txBody>
      </p:sp>
      <p:sp>
        <p:nvSpPr>
          <p:cNvPr id="480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Thomas &amp; Cook, Illuminating the Path (2005); Pirolli &amp; Card (2005)</a:t>
            </a:r>
          </a:p>
        </p:txBody>
      </p:sp>
      <p:pic>
        <p:nvPicPr>
          <p:cNvPr id="481" name="Picture 1233" descr="Picture 123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4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5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Iterative Analytical Reasoning: A Worked Pattern</a:t>
            </a:r>
          </a:p>
        </p:txBody>
      </p:sp>
      <p:sp>
        <p:nvSpPr>
          <p:cNvPr id="486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87" name="BodyBox"/>
          <p:cNvSpPr txBox="1"/>
          <p:nvPr/>
        </p:nvSpPr>
        <p:spPr>
          <a:xfrm>
            <a:off x="681103" y="2050000"/>
            <a:ext cx="8950002" cy="5221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A typical iterative-reasoning session chains several of this lecture's idioms together, cycling through them multiple times as understanding deepens.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1. Overview:</a:t>
            </a:r>
            <a:r>
              <a:rPr b="0"/>
              <a:t> start with the full dataset (Shneiderman's mantra) to spot candidate regions of interest.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2. Filter + select:</a:t>
            </a:r>
            <a:r>
              <a:rPr b="0"/>
              <a:t> use dynamic queries or brushing to isolate a subset worth investigating.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3. Drill down / detail-on-demand:</a:t>
            </a:r>
            <a:r>
              <a:rPr b="0"/>
              <a:t> inspect individual items in the subset for supporting or disconfirming evidence.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4. Revise and repeat:</a:t>
            </a:r>
            <a:r>
              <a:rPr b="0"/>
              <a:t> update the working hypothesis and return to step 1 with a refined question.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Each of the interaction idioms covered earlier in this lecture is a building block; iterative analytical reasoning is what happens when an analyst chains many of them together across several cycles.</a:t>
            </a:r>
          </a:p>
        </p:txBody>
      </p:sp>
      <p:pic>
        <p:nvPicPr>
          <p:cNvPr id="488" name="d39_iterative2.png" descr="d39_iterativ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489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Synthesis based on Munzner, Visualization Analysis and Design (2014) Ch. 11–14 and Pirolli &amp; Card (2005)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2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 Analytics Workflows</a:t>
            </a:r>
          </a:p>
        </p:txBody>
      </p:sp>
      <p:sp>
        <p:nvSpPr>
          <p:cNvPr id="494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495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A visual analytics workflow is the repeatable end-to-end path a team follows from raw data to a decision, combining automated processing stages with interactive visual checkpoints.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Ingest &amp; clean:</a:t>
            </a:r>
            <a:r>
              <a:rPr b="0"/>
              <a:t> raw data is validated, cleaned and transformed into an analysis-ready form.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Automated analysis:</a:t>
            </a:r>
            <a:r>
              <a:rPr b="0"/>
              <a:t> statistics, clustering or machine-learning models process the data at scale.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Visual checkpoint:</a:t>
            </a:r>
            <a:r>
              <a:rPr b="0"/>
              <a:t> analysts inspect model output visually, catching errors automated metrics alone would miss.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Decision &amp; reporting:</a:t>
            </a:r>
            <a:r>
              <a:rPr b="0"/>
              <a:t> findings are packaged (dashboard, report, alert) for stakeholders who were not part of the analysis session.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A workflow is the sensemaking loop, the visual analytics pipeline and iterative reasoning all operating together at the scale of a team or organisation, not just one analyst's screen.</a:t>
            </a:r>
          </a:p>
        </p:txBody>
      </p:sp>
      <p:sp>
        <p:nvSpPr>
          <p:cNvPr id="496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Keim et al. (2008); Thomas &amp; Cook (2005)</a:t>
            </a:r>
          </a:p>
        </p:txBody>
      </p:sp>
      <p:pic>
        <p:nvPicPr>
          <p:cNvPr id="497" name="Picture 1243" descr="Picture 1243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0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1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 Analytics Workflows: Case Pattern</a:t>
            </a:r>
          </a:p>
        </p:txBody>
      </p:sp>
      <p:sp>
        <p:nvSpPr>
          <p:cNvPr id="502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03" name="BodyBox"/>
          <p:cNvSpPr txBox="1"/>
          <p:nvPr/>
        </p:nvSpPr>
        <p:spPr>
          <a:xfrm>
            <a:off x="681103" y="2050000"/>
            <a:ext cx="8950002" cy="55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2200">
                <a:solidFill>
                  <a:srgbClr val="1A1A1A"/>
                </a:solidFill>
              </a:defRPr>
            </a:pPr>
            <a:r>
              <a:t>Many operational visual analytics deployments (fraud monitoring, network security, epidemiology dashboards) follow a common case pattern built from this lecture's idioms.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Continuous monitoring view:</a:t>
            </a:r>
            <a:r>
              <a:rPr b="0"/>
              <a:t> an overview dashboard with linked, coordinated small multiples highlights emerging anomalies.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Triage via filtering:</a:t>
            </a:r>
            <a:r>
              <a:rPr b="0"/>
              <a:t> dynamic queries narrow thousands of events down to a shortlist worth human attention.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Human-in-the-loop confirmation:</a:t>
            </a:r>
            <a:r>
              <a:rPr b="0"/>
              <a:t> an analyst inspects flagged cases with details-on-demand before escalating.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 b="1">
                <a:solidFill>
                  <a:srgbClr val="1A1A1A"/>
                </a:solidFill>
              </a:defRPr>
            </a:pPr>
            <a:r>
              <a:t>Feedback to the model:</a:t>
            </a:r>
            <a:r>
              <a:rPr b="0"/>
              <a:t> confirmed and rejected cases are logged and used to retrain or recalibrate the automated detector.</a:t>
            </a:r>
          </a:p>
          <a:p>
            <a:pPr>
              <a:spcBef>
                <a:spcPts val="400"/>
              </a:spcBef>
              <a:defRPr sz="2200" b="1">
                <a:solidFill>
                  <a:srgbClr val="1F3864"/>
                </a:solidFill>
              </a:defRPr>
            </a:pPr>
            <a:r>
              <a:t>Key idea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2200">
                <a:solidFill>
                  <a:srgbClr val="1A1A1A"/>
                </a:solidFill>
              </a:defRPr>
            </a:pPr>
            <a:r>
              <a:t>The best visual analytics workflows close the loop back to the automated model — human judgement doesn't just consume the model's output, it improves the model over time.</a:t>
            </a:r>
          </a:p>
        </p:txBody>
      </p:sp>
      <p:pic>
        <p:nvPicPr>
          <p:cNvPr id="504" name="d41_workflow2.png" descr="d41_workflow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999" y="3869704"/>
            <a:ext cx="7600001" cy="481059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505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Keim et al. (2008); synthesis of operational visual analytics practice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8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9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Summary: Design Guidelines</a:t>
            </a:r>
          </a:p>
        </p:txBody>
      </p:sp>
      <p:sp>
        <p:nvSpPr>
          <p:cNvPr id="510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grpSp>
        <p:nvGrpSpPr>
          <p:cNvPr id="513" name="Circle"/>
          <p:cNvGrpSpPr/>
          <p:nvPr/>
        </p:nvGrpSpPr>
        <p:grpSpPr>
          <a:xfrm>
            <a:off x="681104" y="2149999"/>
            <a:ext cx="520001" cy="520001"/>
            <a:chOff x="0" y="0"/>
            <a:chExt cx="519999" cy="519999"/>
          </a:xfrm>
        </p:grpSpPr>
        <p:sp>
          <p:nvSpPr>
            <p:cNvPr id="511" name="Circle"/>
            <p:cNvSpPr/>
            <p:nvPr/>
          </p:nvSpPr>
          <p:spPr>
            <a:xfrm>
              <a:off x="0" y="0"/>
              <a:ext cx="520000" cy="520000"/>
            </a:xfrm>
            <a:prstGeom prst="ellipse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12" name="1"/>
            <p:cNvSpPr txBox="1"/>
            <p:nvPr/>
          </p:nvSpPr>
          <p:spPr>
            <a:xfrm>
              <a:off x="76151" y="135629"/>
              <a:ext cx="367698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514" name="ItemText"/>
          <p:cNvSpPr txBox="1"/>
          <p:nvPr/>
        </p:nvSpPr>
        <p:spPr>
          <a:xfrm>
            <a:off x="1399999" y="2079999"/>
            <a:ext cx="15300001" cy="649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A1A1A"/>
                </a:solidFill>
              </a:defRPr>
            </a:lvl1pPr>
          </a:lstStyle>
          <a:p>
            <a:r>
              <a:t>Interaction turns a static picture into a process — begin with Munzner's manipulate / facet / reduce / embed framework for organising the design space.</a:t>
            </a:r>
          </a:p>
        </p:txBody>
      </p:sp>
      <p:grpSp>
        <p:nvGrpSpPr>
          <p:cNvPr id="517" name="Circle"/>
          <p:cNvGrpSpPr/>
          <p:nvPr/>
        </p:nvGrpSpPr>
        <p:grpSpPr>
          <a:xfrm>
            <a:off x="681104" y="3000000"/>
            <a:ext cx="520001" cy="520001"/>
            <a:chOff x="0" y="0"/>
            <a:chExt cx="519999" cy="519999"/>
          </a:xfrm>
        </p:grpSpPr>
        <p:sp>
          <p:nvSpPr>
            <p:cNvPr id="515" name="Circle"/>
            <p:cNvSpPr/>
            <p:nvPr/>
          </p:nvSpPr>
          <p:spPr>
            <a:xfrm>
              <a:off x="0" y="0"/>
              <a:ext cx="520000" cy="520000"/>
            </a:xfrm>
            <a:prstGeom prst="ellipse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16" name="2"/>
            <p:cNvSpPr txBox="1"/>
            <p:nvPr/>
          </p:nvSpPr>
          <p:spPr>
            <a:xfrm>
              <a:off x="76151" y="135629"/>
              <a:ext cx="367698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518" name="ItemText"/>
          <p:cNvSpPr txBox="1"/>
          <p:nvPr/>
        </p:nvSpPr>
        <p:spPr>
          <a:xfrm>
            <a:off x="1399999" y="2930000"/>
            <a:ext cx="153000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A1A1A"/>
                </a:solidFill>
              </a:defRPr>
            </a:lvl1pPr>
          </a:lstStyle>
          <a:p>
            <a:r>
              <a:t>Use brushing and linked highlighting to connect coordinated views so patterns in one view can be checked against every other view.</a:t>
            </a:r>
          </a:p>
        </p:txBody>
      </p:sp>
      <p:grpSp>
        <p:nvGrpSpPr>
          <p:cNvPr id="521" name="Circle"/>
          <p:cNvGrpSpPr/>
          <p:nvPr/>
        </p:nvGrpSpPr>
        <p:grpSpPr>
          <a:xfrm>
            <a:off x="681104" y="3849999"/>
            <a:ext cx="520001" cy="520001"/>
            <a:chOff x="0" y="0"/>
            <a:chExt cx="519999" cy="519999"/>
          </a:xfrm>
        </p:grpSpPr>
        <p:sp>
          <p:nvSpPr>
            <p:cNvPr id="519" name="Circle"/>
            <p:cNvSpPr/>
            <p:nvPr/>
          </p:nvSpPr>
          <p:spPr>
            <a:xfrm>
              <a:off x="0" y="0"/>
              <a:ext cx="520000" cy="520000"/>
            </a:xfrm>
            <a:prstGeom prst="ellipse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20" name="3"/>
            <p:cNvSpPr txBox="1"/>
            <p:nvPr/>
          </p:nvSpPr>
          <p:spPr>
            <a:xfrm>
              <a:off x="76151" y="135629"/>
              <a:ext cx="367698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522" name="ItemText"/>
          <p:cNvSpPr txBox="1"/>
          <p:nvPr/>
        </p:nvSpPr>
        <p:spPr>
          <a:xfrm>
            <a:off x="1399999" y="3779999"/>
            <a:ext cx="1530000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A1A1A"/>
                </a:solidFill>
              </a:defRPr>
            </a:lvl1pPr>
          </a:lstStyle>
          <a:p>
            <a:r>
              <a:t>Support filtering and dynamic queries with immediate visual feedback — response time is part of the design, not an afterthought.</a:t>
            </a:r>
          </a:p>
        </p:txBody>
      </p:sp>
      <p:grpSp>
        <p:nvGrpSpPr>
          <p:cNvPr id="525" name="Circle"/>
          <p:cNvGrpSpPr/>
          <p:nvPr/>
        </p:nvGrpSpPr>
        <p:grpSpPr>
          <a:xfrm>
            <a:off x="681104" y="4699999"/>
            <a:ext cx="520001" cy="520001"/>
            <a:chOff x="0" y="0"/>
            <a:chExt cx="519999" cy="519999"/>
          </a:xfrm>
        </p:grpSpPr>
        <p:sp>
          <p:nvSpPr>
            <p:cNvPr id="523" name="Circle"/>
            <p:cNvSpPr/>
            <p:nvPr/>
          </p:nvSpPr>
          <p:spPr>
            <a:xfrm>
              <a:off x="0" y="0"/>
              <a:ext cx="520000" cy="520000"/>
            </a:xfrm>
            <a:prstGeom prst="ellipse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24" name="4"/>
            <p:cNvSpPr txBox="1"/>
            <p:nvPr/>
          </p:nvSpPr>
          <p:spPr>
            <a:xfrm>
              <a:off x="76151" y="135629"/>
              <a:ext cx="367698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526" name="ItemText"/>
          <p:cNvSpPr txBox="1"/>
          <p:nvPr/>
        </p:nvSpPr>
        <p:spPr>
          <a:xfrm>
            <a:off x="1399999" y="4629999"/>
            <a:ext cx="1530000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A1A1A"/>
                </a:solidFill>
              </a:defRPr>
            </a:lvl1pPr>
          </a:lstStyle>
          <a:p>
            <a:r>
              <a:t>Provide details-on-demand (tooltips, popups, drill-down) instead of cluttering the main view with every attribute at once.</a:t>
            </a:r>
          </a:p>
        </p:txBody>
      </p:sp>
      <p:grpSp>
        <p:nvGrpSpPr>
          <p:cNvPr id="529" name="Circle"/>
          <p:cNvGrpSpPr/>
          <p:nvPr/>
        </p:nvGrpSpPr>
        <p:grpSpPr>
          <a:xfrm>
            <a:off x="681104" y="5549999"/>
            <a:ext cx="520001" cy="520001"/>
            <a:chOff x="0" y="0"/>
            <a:chExt cx="519999" cy="519999"/>
          </a:xfrm>
        </p:grpSpPr>
        <p:sp>
          <p:nvSpPr>
            <p:cNvPr id="527" name="Circle"/>
            <p:cNvSpPr/>
            <p:nvPr/>
          </p:nvSpPr>
          <p:spPr>
            <a:xfrm>
              <a:off x="0" y="0"/>
              <a:ext cx="520000" cy="520000"/>
            </a:xfrm>
            <a:prstGeom prst="ellipse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28" name="5"/>
            <p:cNvSpPr txBox="1"/>
            <p:nvPr/>
          </p:nvSpPr>
          <p:spPr>
            <a:xfrm>
              <a:off x="76151" y="135629"/>
              <a:ext cx="367698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530" name="ItemText"/>
          <p:cNvSpPr txBox="1"/>
          <p:nvPr/>
        </p:nvSpPr>
        <p:spPr>
          <a:xfrm>
            <a:off x="1399999" y="5480000"/>
            <a:ext cx="153000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A1A1A"/>
                </a:solidFill>
              </a:defRPr>
            </a:lvl1pPr>
          </a:lstStyle>
          <a:p>
            <a:r>
              <a:t>Reach for focus+context (elision or distortion) when a single view must show both fine local detail and global structure together.</a:t>
            </a:r>
          </a:p>
        </p:txBody>
      </p:sp>
      <p:grpSp>
        <p:nvGrpSpPr>
          <p:cNvPr id="533" name="Circle"/>
          <p:cNvGrpSpPr/>
          <p:nvPr/>
        </p:nvGrpSpPr>
        <p:grpSpPr>
          <a:xfrm>
            <a:off x="681104" y="6400000"/>
            <a:ext cx="520001" cy="520001"/>
            <a:chOff x="0" y="0"/>
            <a:chExt cx="519999" cy="519999"/>
          </a:xfrm>
        </p:grpSpPr>
        <p:sp>
          <p:nvSpPr>
            <p:cNvPr id="531" name="Circle"/>
            <p:cNvSpPr/>
            <p:nvPr/>
          </p:nvSpPr>
          <p:spPr>
            <a:xfrm>
              <a:off x="0" y="0"/>
              <a:ext cx="520000" cy="520000"/>
            </a:xfrm>
            <a:prstGeom prst="ellipse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32" name="6"/>
            <p:cNvSpPr txBox="1"/>
            <p:nvPr/>
          </p:nvSpPr>
          <p:spPr>
            <a:xfrm>
              <a:off x="76151" y="135629"/>
              <a:ext cx="367698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6</a:t>
              </a:r>
            </a:p>
          </p:txBody>
        </p:sp>
      </p:grpSp>
      <p:sp>
        <p:nvSpPr>
          <p:cNvPr id="534" name="ItemText"/>
          <p:cNvSpPr txBox="1"/>
          <p:nvPr/>
        </p:nvSpPr>
        <p:spPr>
          <a:xfrm>
            <a:off x="1399999" y="6330000"/>
            <a:ext cx="15300001" cy="64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A1A1A"/>
                </a:solidFill>
              </a:defRPr>
            </a:lvl1pPr>
          </a:lstStyle>
          <a:p>
            <a:r>
              <a:t>Follow Shneiderman's mantra — overview first, zoom and filter, details-on-demand — as the default scaffolding for any interactive design.</a:t>
            </a:r>
          </a:p>
        </p:txBody>
      </p:sp>
      <p:grpSp>
        <p:nvGrpSpPr>
          <p:cNvPr id="537" name="Circle"/>
          <p:cNvGrpSpPr/>
          <p:nvPr/>
        </p:nvGrpSpPr>
        <p:grpSpPr>
          <a:xfrm>
            <a:off x="681104" y="7250000"/>
            <a:ext cx="520001" cy="520001"/>
            <a:chOff x="0" y="0"/>
            <a:chExt cx="519999" cy="519999"/>
          </a:xfrm>
        </p:grpSpPr>
        <p:sp>
          <p:nvSpPr>
            <p:cNvPr id="535" name="Circle"/>
            <p:cNvSpPr/>
            <p:nvPr/>
          </p:nvSpPr>
          <p:spPr>
            <a:xfrm>
              <a:off x="0" y="0"/>
              <a:ext cx="520000" cy="520000"/>
            </a:xfrm>
            <a:prstGeom prst="ellipse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36" name="7"/>
            <p:cNvSpPr txBox="1"/>
            <p:nvPr/>
          </p:nvSpPr>
          <p:spPr>
            <a:xfrm>
              <a:off x="76151" y="135629"/>
              <a:ext cx="367698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7</a:t>
              </a:r>
            </a:p>
          </p:txBody>
        </p:sp>
      </p:grpSp>
      <p:sp>
        <p:nvSpPr>
          <p:cNvPr id="538" name="ItemText"/>
          <p:cNvSpPr txBox="1"/>
          <p:nvPr/>
        </p:nvSpPr>
        <p:spPr>
          <a:xfrm>
            <a:off x="1399999" y="7179999"/>
            <a:ext cx="15300001" cy="649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A1A1A"/>
                </a:solidFill>
              </a:defRPr>
            </a:lvl1pPr>
          </a:lstStyle>
          <a:p>
            <a:r>
              <a:t>Treat visual analytics as a human-in-the-loop pipeline: automated analysis proposes, interactive visualization lets the analyst confirm, refine or reject.</a:t>
            </a:r>
          </a:p>
        </p:txBody>
      </p:sp>
      <p:grpSp>
        <p:nvGrpSpPr>
          <p:cNvPr id="541" name="Circle"/>
          <p:cNvGrpSpPr/>
          <p:nvPr/>
        </p:nvGrpSpPr>
        <p:grpSpPr>
          <a:xfrm>
            <a:off x="681104" y="8100000"/>
            <a:ext cx="520001" cy="520001"/>
            <a:chOff x="0" y="0"/>
            <a:chExt cx="519999" cy="519999"/>
          </a:xfrm>
        </p:grpSpPr>
        <p:sp>
          <p:nvSpPr>
            <p:cNvPr id="539" name="Circle"/>
            <p:cNvSpPr/>
            <p:nvPr/>
          </p:nvSpPr>
          <p:spPr>
            <a:xfrm>
              <a:off x="0" y="0"/>
              <a:ext cx="520000" cy="520000"/>
            </a:xfrm>
            <a:prstGeom prst="ellipse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40" name="8"/>
            <p:cNvSpPr txBox="1"/>
            <p:nvPr/>
          </p:nvSpPr>
          <p:spPr>
            <a:xfrm>
              <a:off x="76151" y="135629"/>
              <a:ext cx="367698" cy="248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8</a:t>
              </a:r>
            </a:p>
          </p:txBody>
        </p:sp>
      </p:grpSp>
      <p:sp>
        <p:nvSpPr>
          <p:cNvPr id="542" name="ItemText"/>
          <p:cNvSpPr txBox="1"/>
          <p:nvPr/>
        </p:nvSpPr>
        <p:spPr>
          <a:xfrm>
            <a:off x="1399999" y="8029999"/>
            <a:ext cx="15300001" cy="649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A1A1A"/>
                </a:solidFill>
              </a:defRPr>
            </a:lvl1pPr>
          </a:lstStyle>
          <a:p>
            <a:r>
              <a:t>Remember that analytical reasoning and sensemaking are iterative loops, not one-shot answers — design tools that make each loop cycle cheap and fast.</a:t>
            </a:r>
          </a:p>
        </p:txBody>
      </p:sp>
      <p:sp>
        <p:nvSpPr>
          <p:cNvPr id="543" name="SourceBox"/>
          <p:cNvSpPr txBox="1"/>
          <p:nvPr/>
        </p:nvSpPr>
        <p:spPr>
          <a:xfrm>
            <a:off x="681104" y="9930846"/>
            <a:ext cx="16600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1600" b="1">
                <a:solidFill>
                  <a:srgbClr val="C55A11"/>
                </a:solidFill>
              </a:defRPr>
            </a:pPr>
            <a:r>
              <a:t>Source: </a:t>
            </a:r>
            <a:r>
              <a:rPr b="0" i="1">
                <a:solidFill>
                  <a:srgbClr val="6B6B6B"/>
                </a:solidFill>
              </a:rPr>
              <a:t>Munzner (2014) Ch. 11–14; Thomas &amp; Cook (2005); Pirolli &amp; Card (2005); Keim et al. (2008)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6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7" name="TitleBox"/>
          <p:cNvSpPr txBox="1"/>
          <p:nvPr/>
        </p:nvSpPr>
        <p:spPr>
          <a:xfrm>
            <a:off x="681104" y="958463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Sources and References</a:t>
            </a:r>
          </a:p>
        </p:txBody>
      </p:sp>
      <p:sp>
        <p:nvSpPr>
          <p:cNvPr id="548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49" name="Refs"/>
          <p:cNvSpPr txBox="1"/>
          <p:nvPr/>
        </p:nvSpPr>
        <p:spPr>
          <a:xfrm>
            <a:off x="681104" y="2200000"/>
            <a:ext cx="16600001" cy="4010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T. Munzner, Visualization Analysis and Design, CRC Press, 2014 – §1.14, §3.7, §6.5, §6.7, §9, §11–14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J. S. Thomas &amp; K. A. Cook (eds.), Illuminating the Path: The Research and Development Agenda for Visual Analytics, IEEE CS Press, 2005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D. Keim, G. Andrienko, J.-D. Fekete et al., “Visual Analytics: Definition, Process, and Challenges,” in Information Visualization, Springer LNCS 4950, 2008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P. Pirolli &amp; S. Card, “The Sensemaking Process and Leverage Points for Analyst Technology,” Proc. Intl. Conf. on Intelligence Analysis, 2005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P. Pirolli, Information Foraging Theory: Adaptive Interaction with Information, Oxford University Press, 2007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B. Shneiderman, “The Eyes Have It: A Task by Data Type Taxonomy for Information Visualizations,” Proc. IEEE VL, 1996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C. Ahlberg &amp; B. Shneiderman, “Visual Information Seeking: Tight Coupling of Dynamic Query Filters with Starfield Displays,” CHI 1994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R. A. Becker &amp; W. S. Cleveland, “Brushing Scatterplots,” Technometrics 29(2), 1987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J. Heer &amp; S. Card, “DOITrees Revisited: Scalable, Space-Constrained Visualization of Hierarchical Data,” AVI 2004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W. Willett, J. Heer &amp; M. Agrawala, “Scented Widgets: Improving Navigation Cues with Embedded Visualizations,” IEEE TVCG 13(6), 2007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G. Furnas, “Generalized Fisheye Views,” CHI 1986; C. Ware &amp; R. Bobrow, “Motion to Support Rapid Interactive Queries,” ACM TAP 1(4), 2004</a:t>
            </a:r>
          </a:p>
          <a:p>
            <a:pPr marL="419999" indent="-339999">
              <a:spcBef>
                <a:spcPts val="400"/>
              </a:spcBef>
              <a:buSzPct val="100000"/>
              <a:buFont typeface="Arial"/>
              <a:buChar char="•"/>
              <a:defRPr sz="1900">
                <a:solidFill>
                  <a:srgbClr val="1A1A1A"/>
                </a:solidFill>
              </a:defRPr>
            </a:pPr>
            <a:r>
              <a:t>J. Wills, “Visual Exploration of Large Structured Datasets,” NTTS 1995 (EDV system); van Ham, “Using Multilevel Call Matrices,” InfoVis 2003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2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53" name="MCQHdr"/>
          <p:cNvSpPr txBox="1"/>
          <p:nvPr/>
        </p:nvSpPr>
        <p:spPr>
          <a:xfrm>
            <a:off x="826683" y="962025"/>
            <a:ext cx="1236001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MCQs</a:t>
            </a:r>
          </a:p>
        </p:txBody>
      </p:sp>
      <p:sp>
        <p:nvSpPr>
          <p:cNvPr id="554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5" name="MCQBody"/>
          <p:cNvSpPr txBox="1"/>
          <p:nvPr/>
        </p:nvSpPr>
        <p:spPr>
          <a:xfrm>
            <a:off x="826684" y="2149999"/>
            <a:ext cx="15900001" cy="357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800" b="1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rPr dirty="0"/>
              <a:t>1. Which of the following is NOT one of </a:t>
            </a:r>
            <a:r>
              <a:rPr dirty="0" err="1"/>
              <a:t>Munzner's</a:t>
            </a:r>
            <a:r>
              <a:rPr dirty="0"/>
              <a:t> five major ways to manage visual complexity?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A. Facet the data into multiple views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B. Reduce the data shown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C. Embed focus and context together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D. Randomize the layout on every frame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 b="1">
                <a:solidFill>
                  <a:srgbClr val="2E7D32"/>
                </a:solidFill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Answer: D</a:t>
            </a:r>
            <a:r>
              <a:rPr sz="2200" b="0" i="1" dirty="0">
                <a:solidFill>
                  <a:srgbClr val="6B6B6B"/>
                </a:solidFill>
              </a:rPr>
              <a:t>   (Randomizing layout is not one of derive / change / facet / reduce / embed.)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8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59" name="MCQHdr"/>
          <p:cNvSpPr txBox="1"/>
          <p:nvPr/>
        </p:nvSpPr>
        <p:spPr>
          <a:xfrm>
            <a:off x="826683" y="962025"/>
            <a:ext cx="1236001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MCQs</a:t>
            </a:r>
          </a:p>
        </p:txBody>
      </p:sp>
      <p:sp>
        <p:nvSpPr>
          <p:cNvPr id="560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1" name="MCQBody"/>
          <p:cNvSpPr txBox="1"/>
          <p:nvPr/>
        </p:nvSpPr>
        <p:spPr>
          <a:xfrm>
            <a:off x="826684" y="2149999"/>
            <a:ext cx="15900001" cy="3145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800" b="1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rPr dirty="0"/>
              <a:t>2. Linked highlighting between coordinated views is also known as: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A. Semantic zooming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B. Brushing or cross-filtering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C. Elision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D. Hyperbolic translation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 b="1">
                <a:solidFill>
                  <a:srgbClr val="2E7D32"/>
                </a:solidFill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Answer: B</a:t>
            </a:r>
            <a:r>
              <a:rPr sz="2200" b="0" i="1" dirty="0">
                <a:solidFill>
                  <a:srgbClr val="6B6B6B"/>
                </a:solidFill>
              </a:rPr>
              <a:t>   (</a:t>
            </a:r>
            <a:r>
              <a:rPr sz="2200" b="0" i="1" dirty="0" err="1">
                <a:solidFill>
                  <a:srgbClr val="6B6B6B"/>
                </a:solidFill>
              </a:rPr>
              <a:t>Munzner</a:t>
            </a:r>
            <a:r>
              <a:rPr sz="2200" b="0" i="1" dirty="0">
                <a:solidFill>
                  <a:srgbClr val="6B6B6B"/>
                </a:solidFill>
              </a:rPr>
              <a:t> §12.3.1 notes brushing and cross-filtering as synonyms.)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4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65" name="MCQHdr"/>
          <p:cNvSpPr txBox="1"/>
          <p:nvPr/>
        </p:nvSpPr>
        <p:spPr>
          <a:xfrm>
            <a:off x="826683" y="962025"/>
            <a:ext cx="1236001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MCQs</a:t>
            </a:r>
          </a:p>
        </p:txBody>
      </p:sp>
      <p:sp>
        <p:nvSpPr>
          <p:cNvPr id="566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7" name="MCQBody"/>
          <p:cNvSpPr txBox="1"/>
          <p:nvPr/>
        </p:nvSpPr>
        <p:spPr>
          <a:xfrm>
            <a:off x="826684" y="2149999"/>
            <a:ext cx="15900001" cy="3145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800" b="1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rPr dirty="0"/>
              <a:t>3. In Shneiderman's design mantra, what comes immediately after 'Overview first'?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A. Details-on-demand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B. Animate the transition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C. Zoom and filter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D. Aggregate everything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 b="1">
                <a:solidFill>
                  <a:srgbClr val="2E7D32"/>
                </a:solidFill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Answer: C</a:t>
            </a:r>
            <a:r>
              <a:rPr sz="2200" b="0" i="1" dirty="0">
                <a:solidFill>
                  <a:srgbClr val="6B6B6B"/>
                </a:solidFill>
              </a:rPr>
              <a:t>   ('Overview first, zoom and filter, then details-on-demand.')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0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71" name="MCQHdr"/>
          <p:cNvSpPr txBox="1"/>
          <p:nvPr/>
        </p:nvSpPr>
        <p:spPr>
          <a:xfrm>
            <a:off x="826683" y="962025"/>
            <a:ext cx="1236001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MCQs</a:t>
            </a:r>
          </a:p>
        </p:txBody>
      </p:sp>
      <p:sp>
        <p:nvSpPr>
          <p:cNvPr id="572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3" name="MCQBody"/>
          <p:cNvSpPr txBox="1"/>
          <p:nvPr/>
        </p:nvSpPr>
        <p:spPr>
          <a:xfrm>
            <a:off x="826684" y="2149999"/>
            <a:ext cx="15900001" cy="3145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800" b="1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rPr dirty="0"/>
              <a:t>4. With semantic zooming, what changes as an object's on-screen size grows?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A. Only its physical size, uniformly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B. Its representation, adapting to available pixels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C. Its position in the dataset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D. Nothing — semantic zoom only affects </a:t>
            </a:r>
            <a:r>
              <a:rPr dirty="0" err="1"/>
              <a:t>colour</a:t>
            </a:r>
            <a:endParaRPr dirty="0"/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 b="1">
                <a:solidFill>
                  <a:srgbClr val="2E7D32"/>
                </a:solidFill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Answer: B</a:t>
            </a:r>
            <a:r>
              <a:rPr sz="2200" b="0" i="1" dirty="0">
                <a:solidFill>
                  <a:srgbClr val="6B6B6B"/>
                </a:solidFill>
              </a:rPr>
              <a:t>   (Semantic zoom adapts the representation, not just the scale, unlike geometric zoom.)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6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77" name="MCQHdr"/>
          <p:cNvSpPr txBox="1"/>
          <p:nvPr/>
        </p:nvSpPr>
        <p:spPr>
          <a:xfrm>
            <a:off x="826683" y="962025"/>
            <a:ext cx="1236001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MCQs</a:t>
            </a:r>
          </a:p>
        </p:txBody>
      </p:sp>
      <p:sp>
        <p:nvSpPr>
          <p:cNvPr id="578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9" name="MCQBody"/>
          <p:cNvSpPr txBox="1"/>
          <p:nvPr/>
        </p:nvSpPr>
        <p:spPr>
          <a:xfrm>
            <a:off x="826684" y="2149999"/>
            <a:ext cx="15900001" cy="3145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800" b="1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rPr dirty="0"/>
              <a:t>5. The degree-of-interest (DOI) function used in </a:t>
            </a:r>
            <a:r>
              <a:rPr dirty="0" err="1"/>
              <a:t>focus+context</a:t>
            </a:r>
            <a:r>
              <a:rPr dirty="0"/>
              <a:t> idioms is defined as: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A. DOI = I(x) + D(</a:t>
            </a:r>
            <a:r>
              <a:rPr dirty="0" err="1"/>
              <a:t>x,y</a:t>
            </a:r>
            <a:r>
              <a:rPr dirty="0"/>
              <a:t>)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B. DOI = I(x) − D(</a:t>
            </a:r>
            <a:r>
              <a:rPr dirty="0" err="1"/>
              <a:t>x,y</a:t>
            </a:r>
            <a:r>
              <a:rPr dirty="0"/>
              <a:t>)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C. DOI = D(</a:t>
            </a:r>
            <a:r>
              <a:rPr dirty="0" err="1"/>
              <a:t>x,y</a:t>
            </a:r>
            <a:r>
              <a:rPr dirty="0"/>
              <a:t>) / I(x)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D. DOI = I(x) × D(</a:t>
            </a:r>
            <a:r>
              <a:rPr dirty="0" err="1"/>
              <a:t>x,y</a:t>
            </a:r>
            <a:r>
              <a:rPr dirty="0"/>
              <a:t>)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 b="1">
                <a:solidFill>
                  <a:srgbClr val="2E7D32"/>
                </a:solidFill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Answer: B</a:t>
            </a:r>
            <a:r>
              <a:rPr sz="2200" b="0" i="1" dirty="0">
                <a:solidFill>
                  <a:srgbClr val="6B6B6B"/>
                </a:solidFill>
              </a:rPr>
              <a:t>   (Furnas's DOI function subtracts distance-from-focus from an interest function.)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2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83" name="MCQHdr"/>
          <p:cNvSpPr txBox="1"/>
          <p:nvPr/>
        </p:nvSpPr>
        <p:spPr>
          <a:xfrm>
            <a:off x="826683" y="962025"/>
            <a:ext cx="1236001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MCQs</a:t>
            </a:r>
          </a:p>
        </p:txBody>
      </p:sp>
      <p:sp>
        <p:nvSpPr>
          <p:cNvPr id="584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5" name="MCQBody"/>
          <p:cNvSpPr txBox="1"/>
          <p:nvPr/>
        </p:nvSpPr>
        <p:spPr>
          <a:xfrm>
            <a:off x="826684" y="2149999"/>
            <a:ext cx="15900001" cy="357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800" b="1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rPr dirty="0"/>
              <a:t>6. Which term describes the standard definition of visual analytics from Thomas &amp; Cook (2005)?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A. Purely automated statistical modelling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B. The science of analytical reasoning facilitated by interactive visual interfaces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C. Static chart design for reports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D. A synonym for scientific visualization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 b="1">
                <a:solidFill>
                  <a:srgbClr val="2E7D32"/>
                </a:solidFill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Answer: B</a:t>
            </a:r>
            <a:r>
              <a:rPr sz="2200" b="0" i="1" dirty="0">
                <a:solidFill>
                  <a:srgbClr val="6B6B6B"/>
                </a:solidFill>
              </a:rPr>
              <a:t>   (This is the widely cited Thomas &amp; Cook definition.)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8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89" name="MCQHdr"/>
          <p:cNvSpPr txBox="1"/>
          <p:nvPr/>
        </p:nvSpPr>
        <p:spPr>
          <a:xfrm>
            <a:off x="826683" y="962025"/>
            <a:ext cx="1236001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MCQs</a:t>
            </a:r>
          </a:p>
        </p:txBody>
      </p:sp>
      <p:sp>
        <p:nvSpPr>
          <p:cNvPr id="590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1" name="MCQBody"/>
          <p:cNvSpPr txBox="1"/>
          <p:nvPr/>
        </p:nvSpPr>
        <p:spPr>
          <a:xfrm>
            <a:off x="826684" y="2149999"/>
            <a:ext cx="15900001" cy="3145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800" b="1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rPr dirty="0"/>
              <a:t>7. In the Pirolli &amp; Card sensemaking loop, the foraging loop is primarily concerned with: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A. Presenting the final report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B. Finding, filtering and extracting information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C. Testing a statistical hypothesis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D. Rendering the visual encoding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 b="1">
                <a:solidFill>
                  <a:srgbClr val="2E7D32"/>
                </a:solidFill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Answer: B</a:t>
            </a:r>
            <a:r>
              <a:rPr sz="2200" b="0" i="1" dirty="0">
                <a:solidFill>
                  <a:srgbClr val="6B6B6B"/>
                </a:solidFill>
              </a:rPr>
              <a:t>   (The foraging loop covers search, filter, read and extract, feeding the synthesis loop.)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Freeform 92"/>
          <p:cNvSpPr/>
          <p:nvPr/>
        </p:nvSpPr>
        <p:spPr>
          <a:xfrm>
            <a:off x="16629592" y="463796"/>
            <a:ext cx="1259397" cy="23319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4" name="TitleBox"/>
          <p:cNvSpPr txBox="1"/>
          <p:nvPr/>
        </p:nvSpPr>
        <p:spPr>
          <a:xfrm>
            <a:off x="681104" y="357407"/>
            <a:ext cx="1590000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C55A11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Visualization of Data, Understanding and Interpretation</a:t>
            </a:r>
          </a:p>
        </p:txBody>
      </p:sp>
      <p:sp>
        <p:nvSpPr>
          <p:cNvPr id="595" name="MCQHdr"/>
          <p:cNvSpPr txBox="1"/>
          <p:nvPr/>
        </p:nvSpPr>
        <p:spPr>
          <a:xfrm>
            <a:off x="826683" y="962025"/>
            <a:ext cx="12360011" cy="54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sz="3600" b="1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MCQs</a:t>
            </a:r>
          </a:p>
        </p:txBody>
      </p:sp>
      <p:sp>
        <p:nvSpPr>
          <p:cNvPr id="596" name="AutoShape 90"/>
          <p:cNvSpPr/>
          <p:nvPr/>
        </p:nvSpPr>
        <p:spPr>
          <a:xfrm>
            <a:off x="-1" y="1843479"/>
            <a:ext cx="12466199" cy="1"/>
          </a:xfrm>
          <a:prstGeom prst="line">
            <a:avLst/>
          </a:prstGeom>
          <a:ln w="28575" cap="rnd">
            <a:solidFill>
              <a:srgbClr val="DFA267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7" name="MCQBody"/>
          <p:cNvSpPr txBox="1"/>
          <p:nvPr/>
        </p:nvSpPr>
        <p:spPr>
          <a:xfrm>
            <a:off x="826684" y="2149999"/>
            <a:ext cx="15900001" cy="3145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800" b="1">
                <a:latin typeface="Calibri (MS) Bold"/>
                <a:ea typeface="Calibri (MS) Bold"/>
                <a:cs typeface="Calibri (MS) Bold"/>
                <a:sym typeface="Calibri (MS) Bold"/>
              </a:defRPr>
            </a:pPr>
            <a:r>
              <a:rPr dirty="0"/>
              <a:t>8. A dynamic query interface is best </a:t>
            </a:r>
            <a:r>
              <a:rPr dirty="0" err="1"/>
              <a:t>characterised</a:t>
            </a:r>
            <a:r>
              <a:rPr dirty="0"/>
              <a:t> by: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A. A tightly coupled loop where the display updates immediately as controls change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B. Batch submission of SQL queries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C. A one-time static report generated overnight</a:t>
            </a:r>
          </a:p>
          <a:p>
            <a:pPr algn="just">
              <a:lnSpc>
                <a:spcPts val="3400"/>
              </a:lnSpc>
              <a:defRPr sz="2800"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D. Manual re-coding of the visualization for every question</a:t>
            </a:r>
          </a:p>
          <a:p>
            <a:pPr algn="just">
              <a:lnSpc>
                <a:spcPts val="2200"/>
              </a:lnSpc>
              <a:defRPr sz="1200"/>
            </a:pPr>
            <a:endParaRPr dirty="0"/>
          </a:p>
          <a:p>
            <a:pPr algn="just">
              <a:lnSpc>
                <a:spcPts val="3400"/>
              </a:lnSpc>
              <a:defRPr sz="2800" b="1">
                <a:solidFill>
                  <a:srgbClr val="2E7D32"/>
                </a:solidFill>
                <a:latin typeface="Calibri (MS)"/>
                <a:ea typeface="Calibri (MS)"/>
                <a:cs typeface="Calibri (MS)"/>
                <a:sym typeface="Calibri (MS)"/>
              </a:defRPr>
            </a:pPr>
            <a:r>
              <a:rPr dirty="0"/>
              <a:t>Answer: A</a:t>
            </a:r>
            <a:r>
              <a:rPr sz="2200" b="0" i="1" dirty="0">
                <a:solidFill>
                  <a:srgbClr val="6B6B6B"/>
                </a:solidFill>
              </a:rPr>
              <a:t>   (Dynamic queries give an immediate, tightly coupled visual response to widget changes.)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AutoShape 3"/>
          <p:cNvSpPr/>
          <p:nvPr/>
        </p:nvSpPr>
        <p:spPr>
          <a:xfrm>
            <a:off x="7260756" y="5576944"/>
            <a:ext cx="6440690" cy="1"/>
          </a:xfrm>
          <a:prstGeom prst="line">
            <a:avLst/>
          </a:prstGeom>
          <a:ln w="28575" cap="rnd">
            <a:solidFill>
              <a:srgbClr val="ED7D3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0" name="TextBox 5"/>
          <p:cNvSpPr txBox="1"/>
          <p:nvPr/>
        </p:nvSpPr>
        <p:spPr>
          <a:xfrm>
            <a:off x="9143999" y="4695825"/>
            <a:ext cx="3681857" cy="719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700"/>
              </a:lnSpc>
              <a:defRPr sz="480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defRPr>
            </a:lvl1pPr>
          </a:lstStyle>
          <a:p>
            <a:r>
              <a:t>Thank You</a:t>
            </a:r>
          </a:p>
        </p:txBody>
      </p:sp>
      <p:sp>
        <p:nvSpPr>
          <p:cNvPr id="601" name="Freeform 7"/>
          <p:cNvSpPr/>
          <p:nvPr/>
        </p:nvSpPr>
        <p:spPr>
          <a:xfrm>
            <a:off x="2071105" y="1540573"/>
            <a:ext cx="3891654" cy="720582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10461</Words>
  <Application>Microsoft Office PowerPoint</Application>
  <PresentationFormat>Custom</PresentationFormat>
  <Paragraphs>694</Paragraphs>
  <Slides>64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prajwala talanki</cp:lastModifiedBy>
  <cp:revision>1</cp:revision>
  <dcterms:modified xsi:type="dcterms:W3CDTF">2026-10-22T08:35:10Z</dcterms:modified>
</cp:coreProperties>
</file>