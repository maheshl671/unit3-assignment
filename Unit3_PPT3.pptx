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302" r:id="rId22"/>
    <p:sldId id="303" r:id="rId23"/>
    <p:sldId id="276" r:id="rId24"/>
    <p:sldId id="304" r:id="rId25"/>
    <p:sldId id="277" r:id="rId26"/>
    <p:sldId id="278" r:id="rId27"/>
    <p:sldId id="279" r:id="rId28"/>
    <p:sldId id="280" r:id="rId29"/>
    <p:sldId id="281" r:id="rId30"/>
    <p:sldId id="282" r:id="rId31"/>
    <p:sldId id="305" r:id="rId32"/>
    <p:sldId id="283" r:id="rId33"/>
    <p:sldId id="284" r:id="rId34"/>
    <p:sldId id="285" r:id="rId35"/>
    <p:sldId id="286" r:id="rId36"/>
    <p:sldId id="287" r:id="rId37"/>
    <p:sldId id="306" r:id="rId38"/>
    <p:sldId id="288" r:id="rId39"/>
    <p:sldId id="289" r:id="rId40"/>
    <p:sldId id="290" r:id="rId41"/>
    <p:sldId id="292" r:id="rId42"/>
    <p:sldId id="294" r:id="rId43"/>
    <p:sldId id="296" r:id="rId44"/>
    <p:sldId id="298" r:id="rId45"/>
    <p:sldId id="300" r:id="rId46"/>
    <p:sldId id="301" r:id="rId47"/>
  </p:sldIdLst>
  <p:sldSz cx="18288000" cy="10287000"/>
  <p:notesSz cx="6858000" cy="9144000"/>
  <p:embeddedFontLst>
    <p:embeddedFont>
      <p:font typeface="Arial Bold" panose="020B0704020202020204" pitchFamily="34" charset="0"/>
      <p:regular r:id="rId49"/>
      <p:bold r:id="rId50"/>
    </p:embeddedFont>
    <p:embeddedFont>
      <p:font typeface="Calibri (MS)" panose="020B0604020202020204" charset="0"/>
      <p:regular r:id="rId51"/>
    </p:embeddedFont>
    <p:embeddedFont>
      <p:font typeface="Calibri (MS) Bold" panose="020B0604020202020204" charset="0"/>
      <p:regular r:id="rId52"/>
    </p:embeddedFont>
    <p:embeddedFont>
      <p:font typeface="Calibri (MS) Italics" panose="020B0604020202020204" charset="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BE406D-D9AC-4A57-91D9-A04632709BF9}" v="18" dt="2026-10-11T14:01:44.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wala talanki" userId="f96f43d5c5067f3b" providerId="LiveId" clId="{4B6E1711-CB52-4CF4-B5ED-8DDF63F8A93D}"/>
    <pc:docChg chg="undo custSel addSld delSld modSld sldOrd">
      <pc:chgData name="prajwala talanki" userId="f96f43d5c5067f3b" providerId="LiveId" clId="{4B6E1711-CB52-4CF4-B5ED-8DDF63F8A93D}" dt="2026-10-11T14:01:44.332" v="425"/>
      <pc:docMkLst>
        <pc:docMk/>
      </pc:docMkLst>
      <pc:sldChg chg="modSp mod">
        <pc:chgData name="prajwala talanki" userId="f96f43d5c5067f3b" providerId="LiveId" clId="{4B6E1711-CB52-4CF4-B5ED-8DDF63F8A93D}" dt="2026-10-08T06:59:27.846" v="10" actId="113"/>
        <pc:sldMkLst>
          <pc:docMk/>
          <pc:sldMk cId="0" sldId="258"/>
        </pc:sldMkLst>
        <pc:spChg chg="mod">
          <ac:chgData name="prajwala talanki" userId="f96f43d5c5067f3b" providerId="LiveId" clId="{4B6E1711-CB52-4CF4-B5ED-8DDF63F8A93D}" dt="2026-10-08T06:59:27.846" v="10" actId="113"/>
          <ac:spMkLst>
            <pc:docMk/>
            <pc:sldMk cId="0" sldId="258"/>
            <ac:spMk id="5" creationId="{00000000-0000-0000-0000-000000000000}"/>
          </ac:spMkLst>
        </pc:spChg>
      </pc:sldChg>
      <pc:sldChg chg="addSp modSp mod">
        <pc:chgData name="prajwala talanki" userId="f96f43d5c5067f3b" providerId="LiveId" clId="{4B6E1711-CB52-4CF4-B5ED-8DDF63F8A93D}" dt="2026-10-08T07:13:05.957" v="23" actId="113"/>
        <pc:sldMkLst>
          <pc:docMk/>
          <pc:sldMk cId="0" sldId="259"/>
        </pc:sldMkLst>
        <pc:spChg chg="mod">
          <ac:chgData name="prajwala talanki" userId="f96f43d5c5067f3b" providerId="LiveId" clId="{4B6E1711-CB52-4CF4-B5ED-8DDF63F8A93D}" dt="2026-10-08T07:13:05.957" v="23" actId="113"/>
          <ac:spMkLst>
            <pc:docMk/>
            <pc:sldMk cId="0" sldId="259"/>
            <ac:spMk id="5" creationId="{00000000-0000-0000-0000-000000000000}"/>
          </ac:spMkLst>
        </pc:spChg>
        <pc:spChg chg="add mod">
          <ac:chgData name="prajwala talanki" userId="f96f43d5c5067f3b" providerId="LiveId" clId="{4B6E1711-CB52-4CF4-B5ED-8DDF63F8A93D}" dt="2026-10-08T07:12:35.838" v="18" actId="113"/>
          <ac:spMkLst>
            <pc:docMk/>
            <pc:sldMk cId="0" sldId="259"/>
            <ac:spMk id="9" creationId="{7AA23C1F-E71E-E2C6-2ABD-B10CFBDCA9E7}"/>
          </ac:spMkLst>
        </pc:spChg>
      </pc:sldChg>
      <pc:sldChg chg="modSp mod">
        <pc:chgData name="prajwala talanki" userId="f96f43d5c5067f3b" providerId="LiveId" clId="{4B6E1711-CB52-4CF4-B5ED-8DDF63F8A93D}" dt="2026-10-08T07:13:25.222" v="24" actId="113"/>
        <pc:sldMkLst>
          <pc:docMk/>
          <pc:sldMk cId="0" sldId="260"/>
        </pc:sldMkLst>
        <pc:spChg chg="mod">
          <ac:chgData name="prajwala talanki" userId="f96f43d5c5067f3b" providerId="LiveId" clId="{4B6E1711-CB52-4CF4-B5ED-8DDF63F8A93D}" dt="2026-10-08T07:13:25.222" v="24" actId="113"/>
          <ac:spMkLst>
            <pc:docMk/>
            <pc:sldMk cId="0" sldId="260"/>
            <ac:spMk id="5" creationId="{00000000-0000-0000-0000-000000000000}"/>
          </ac:spMkLst>
        </pc:spChg>
      </pc:sldChg>
      <pc:sldChg chg="modSp mod">
        <pc:chgData name="prajwala talanki" userId="f96f43d5c5067f3b" providerId="LiveId" clId="{4B6E1711-CB52-4CF4-B5ED-8DDF63F8A93D}" dt="2026-10-08T07:13:54.095" v="30" actId="113"/>
        <pc:sldMkLst>
          <pc:docMk/>
          <pc:sldMk cId="0" sldId="261"/>
        </pc:sldMkLst>
        <pc:spChg chg="mod">
          <ac:chgData name="prajwala talanki" userId="f96f43d5c5067f3b" providerId="LiveId" clId="{4B6E1711-CB52-4CF4-B5ED-8DDF63F8A93D}" dt="2026-10-08T07:13:54.095" v="30" actId="113"/>
          <ac:spMkLst>
            <pc:docMk/>
            <pc:sldMk cId="0" sldId="261"/>
            <ac:spMk id="5" creationId="{00000000-0000-0000-0000-000000000000}"/>
          </ac:spMkLst>
        </pc:spChg>
      </pc:sldChg>
      <pc:sldChg chg="modSp mod">
        <pc:chgData name="prajwala talanki" userId="f96f43d5c5067f3b" providerId="LiveId" clId="{4B6E1711-CB52-4CF4-B5ED-8DDF63F8A93D}" dt="2026-10-08T07:14:37.998" v="36" actId="113"/>
        <pc:sldMkLst>
          <pc:docMk/>
          <pc:sldMk cId="0" sldId="262"/>
        </pc:sldMkLst>
        <pc:spChg chg="mod">
          <ac:chgData name="prajwala talanki" userId="f96f43d5c5067f3b" providerId="LiveId" clId="{4B6E1711-CB52-4CF4-B5ED-8DDF63F8A93D}" dt="2026-10-08T07:14:37.998" v="36" actId="113"/>
          <ac:spMkLst>
            <pc:docMk/>
            <pc:sldMk cId="0" sldId="262"/>
            <ac:spMk id="5" creationId="{00000000-0000-0000-0000-000000000000}"/>
          </ac:spMkLst>
        </pc:spChg>
      </pc:sldChg>
      <pc:sldChg chg="modSp mod">
        <pc:chgData name="prajwala talanki" userId="f96f43d5c5067f3b" providerId="LiveId" clId="{4B6E1711-CB52-4CF4-B5ED-8DDF63F8A93D}" dt="2026-10-08T07:14:51.565" v="37" actId="113"/>
        <pc:sldMkLst>
          <pc:docMk/>
          <pc:sldMk cId="0" sldId="263"/>
        </pc:sldMkLst>
        <pc:spChg chg="mod">
          <ac:chgData name="prajwala talanki" userId="f96f43d5c5067f3b" providerId="LiveId" clId="{4B6E1711-CB52-4CF4-B5ED-8DDF63F8A93D}" dt="2026-10-08T07:14:51.565" v="37" actId="113"/>
          <ac:spMkLst>
            <pc:docMk/>
            <pc:sldMk cId="0" sldId="263"/>
            <ac:spMk id="7" creationId="{00000000-0000-0000-0000-000000000000}"/>
          </ac:spMkLst>
        </pc:spChg>
      </pc:sldChg>
      <pc:sldChg chg="addSp modSp mod">
        <pc:chgData name="prajwala talanki" userId="f96f43d5c5067f3b" providerId="LiveId" clId="{4B6E1711-CB52-4CF4-B5ED-8DDF63F8A93D}" dt="2026-10-08T07:20:00.421" v="46"/>
        <pc:sldMkLst>
          <pc:docMk/>
          <pc:sldMk cId="0" sldId="264"/>
        </pc:sldMkLst>
        <pc:spChg chg="mod">
          <ac:chgData name="prajwala talanki" userId="f96f43d5c5067f3b" providerId="LiveId" clId="{4B6E1711-CB52-4CF4-B5ED-8DDF63F8A93D}" dt="2026-10-08T07:18:33.628" v="39" actId="113"/>
          <ac:spMkLst>
            <pc:docMk/>
            <pc:sldMk cId="0" sldId="264"/>
            <ac:spMk id="13" creationId="{00000000-0000-0000-0000-000000000000}"/>
          </ac:spMkLst>
        </pc:spChg>
        <pc:spChg chg="add mod">
          <ac:chgData name="prajwala talanki" userId="f96f43d5c5067f3b" providerId="LiveId" clId="{4B6E1711-CB52-4CF4-B5ED-8DDF63F8A93D}" dt="2026-10-08T07:19:24.819" v="43" actId="113"/>
          <ac:spMkLst>
            <pc:docMk/>
            <pc:sldMk cId="0" sldId="264"/>
            <ac:spMk id="15" creationId="{FFDAD17C-6F71-3DE0-85F5-011492422AB1}"/>
          </ac:spMkLst>
        </pc:spChg>
        <pc:spChg chg="add mod">
          <ac:chgData name="prajwala talanki" userId="f96f43d5c5067f3b" providerId="LiveId" clId="{4B6E1711-CB52-4CF4-B5ED-8DDF63F8A93D}" dt="2026-10-08T07:20:00.421" v="46"/>
          <ac:spMkLst>
            <pc:docMk/>
            <pc:sldMk cId="0" sldId="264"/>
            <ac:spMk id="17" creationId="{9104ABCC-EC51-8251-7632-DC29B0B42DCE}"/>
          </ac:spMkLst>
        </pc:spChg>
      </pc:sldChg>
      <pc:sldChg chg="modSp mod">
        <pc:chgData name="prajwala talanki" userId="f96f43d5c5067f3b" providerId="LiveId" clId="{4B6E1711-CB52-4CF4-B5ED-8DDF63F8A93D}" dt="2026-10-08T07:30:11.458" v="48" actId="113"/>
        <pc:sldMkLst>
          <pc:docMk/>
          <pc:sldMk cId="0" sldId="266"/>
        </pc:sldMkLst>
        <pc:spChg chg="mod">
          <ac:chgData name="prajwala talanki" userId="f96f43d5c5067f3b" providerId="LiveId" clId="{4B6E1711-CB52-4CF4-B5ED-8DDF63F8A93D}" dt="2026-10-08T07:30:11.458" v="48" actId="113"/>
          <ac:spMkLst>
            <pc:docMk/>
            <pc:sldMk cId="0" sldId="266"/>
            <ac:spMk id="5" creationId="{00000000-0000-0000-0000-000000000000}"/>
          </ac:spMkLst>
        </pc:spChg>
      </pc:sldChg>
      <pc:sldChg chg="modSp mod">
        <pc:chgData name="prajwala talanki" userId="f96f43d5c5067f3b" providerId="LiveId" clId="{4B6E1711-CB52-4CF4-B5ED-8DDF63F8A93D}" dt="2026-10-08T07:30:36.958" v="51" actId="113"/>
        <pc:sldMkLst>
          <pc:docMk/>
          <pc:sldMk cId="0" sldId="267"/>
        </pc:sldMkLst>
        <pc:spChg chg="mod">
          <ac:chgData name="prajwala talanki" userId="f96f43d5c5067f3b" providerId="LiveId" clId="{4B6E1711-CB52-4CF4-B5ED-8DDF63F8A93D}" dt="2026-10-08T07:30:36.958" v="51" actId="113"/>
          <ac:spMkLst>
            <pc:docMk/>
            <pc:sldMk cId="0" sldId="267"/>
            <ac:spMk id="5" creationId="{00000000-0000-0000-0000-000000000000}"/>
          </ac:spMkLst>
        </pc:spChg>
      </pc:sldChg>
      <pc:sldChg chg="modSp mod">
        <pc:chgData name="prajwala talanki" userId="f96f43d5c5067f3b" providerId="LiveId" clId="{4B6E1711-CB52-4CF4-B5ED-8DDF63F8A93D}" dt="2026-10-08T07:35:25.013" v="57" actId="113"/>
        <pc:sldMkLst>
          <pc:docMk/>
          <pc:sldMk cId="0" sldId="268"/>
        </pc:sldMkLst>
        <pc:spChg chg="mod">
          <ac:chgData name="prajwala talanki" userId="f96f43d5c5067f3b" providerId="LiveId" clId="{4B6E1711-CB52-4CF4-B5ED-8DDF63F8A93D}" dt="2026-10-08T07:35:25.013" v="57" actId="113"/>
          <ac:spMkLst>
            <pc:docMk/>
            <pc:sldMk cId="0" sldId="268"/>
            <ac:spMk id="5" creationId="{00000000-0000-0000-0000-000000000000}"/>
          </ac:spMkLst>
        </pc:spChg>
      </pc:sldChg>
      <pc:sldChg chg="modSp mod">
        <pc:chgData name="prajwala talanki" userId="f96f43d5c5067f3b" providerId="LiveId" clId="{4B6E1711-CB52-4CF4-B5ED-8DDF63F8A93D}" dt="2026-10-08T07:35:55.389" v="59" actId="113"/>
        <pc:sldMkLst>
          <pc:docMk/>
          <pc:sldMk cId="0" sldId="269"/>
        </pc:sldMkLst>
        <pc:spChg chg="mod">
          <ac:chgData name="prajwala talanki" userId="f96f43d5c5067f3b" providerId="LiveId" clId="{4B6E1711-CB52-4CF4-B5ED-8DDF63F8A93D}" dt="2026-10-08T07:35:55.389" v="59" actId="113"/>
          <ac:spMkLst>
            <pc:docMk/>
            <pc:sldMk cId="0" sldId="269"/>
            <ac:spMk id="5" creationId="{00000000-0000-0000-0000-000000000000}"/>
          </ac:spMkLst>
        </pc:spChg>
      </pc:sldChg>
      <pc:sldChg chg="modSp mod">
        <pc:chgData name="prajwala talanki" userId="f96f43d5c5067f3b" providerId="LiveId" clId="{4B6E1711-CB52-4CF4-B5ED-8DDF63F8A93D}" dt="2026-10-08T07:36:42.564" v="63" actId="113"/>
        <pc:sldMkLst>
          <pc:docMk/>
          <pc:sldMk cId="0" sldId="270"/>
        </pc:sldMkLst>
        <pc:spChg chg="mod">
          <ac:chgData name="prajwala talanki" userId="f96f43d5c5067f3b" providerId="LiveId" clId="{4B6E1711-CB52-4CF4-B5ED-8DDF63F8A93D}" dt="2026-10-08T07:36:42.564" v="63" actId="113"/>
          <ac:spMkLst>
            <pc:docMk/>
            <pc:sldMk cId="0" sldId="270"/>
            <ac:spMk id="6" creationId="{00000000-0000-0000-0000-000000000000}"/>
          </ac:spMkLst>
        </pc:spChg>
      </pc:sldChg>
      <pc:sldChg chg="modSp mod">
        <pc:chgData name="prajwala talanki" userId="f96f43d5c5067f3b" providerId="LiveId" clId="{4B6E1711-CB52-4CF4-B5ED-8DDF63F8A93D}" dt="2026-10-08T07:37:23.821" v="68" actId="113"/>
        <pc:sldMkLst>
          <pc:docMk/>
          <pc:sldMk cId="0" sldId="271"/>
        </pc:sldMkLst>
        <pc:spChg chg="mod">
          <ac:chgData name="prajwala talanki" userId="f96f43d5c5067f3b" providerId="LiveId" clId="{4B6E1711-CB52-4CF4-B5ED-8DDF63F8A93D}" dt="2026-10-08T07:37:23.821" v="68" actId="113"/>
          <ac:spMkLst>
            <pc:docMk/>
            <pc:sldMk cId="0" sldId="271"/>
            <ac:spMk id="5" creationId="{00000000-0000-0000-0000-000000000000}"/>
          </ac:spMkLst>
        </pc:spChg>
      </pc:sldChg>
      <pc:sldChg chg="modSp mod">
        <pc:chgData name="prajwala talanki" userId="f96f43d5c5067f3b" providerId="LiveId" clId="{4B6E1711-CB52-4CF4-B5ED-8DDF63F8A93D}" dt="2026-10-08T07:43:14.329" v="69" actId="113"/>
        <pc:sldMkLst>
          <pc:docMk/>
          <pc:sldMk cId="0" sldId="273"/>
        </pc:sldMkLst>
        <pc:spChg chg="mod">
          <ac:chgData name="prajwala talanki" userId="f96f43d5c5067f3b" providerId="LiveId" clId="{4B6E1711-CB52-4CF4-B5ED-8DDF63F8A93D}" dt="2026-10-08T07:43:14.329" v="69" actId="113"/>
          <ac:spMkLst>
            <pc:docMk/>
            <pc:sldMk cId="0" sldId="273"/>
            <ac:spMk id="7" creationId="{00000000-0000-0000-0000-000000000000}"/>
          </ac:spMkLst>
        </pc:spChg>
      </pc:sldChg>
      <pc:sldChg chg="addSp modSp mod">
        <pc:chgData name="prajwala talanki" userId="f96f43d5c5067f3b" providerId="LiveId" clId="{4B6E1711-CB52-4CF4-B5ED-8DDF63F8A93D}" dt="2026-10-08T07:51:39.442" v="84" actId="113"/>
        <pc:sldMkLst>
          <pc:docMk/>
          <pc:sldMk cId="0" sldId="274"/>
        </pc:sldMkLst>
        <pc:spChg chg="mod">
          <ac:chgData name="prajwala talanki" userId="f96f43d5c5067f3b" providerId="LiveId" clId="{4B6E1711-CB52-4CF4-B5ED-8DDF63F8A93D}" dt="2026-10-08T07:47:22.866" v="79" actId="113"/>
          <ac:spMkLst>
            <pc:docMk/>
            <pc:sldMk cId="0" sldId="274"/>
            <ac:spMk id="5" creationId="{00000000-0000-0000-0000-000000000000}"/>
          </ac:spMkLst>
        </pc:spChg>
        <pc:spChg chg="mod">
          <ac:chgData name="prajwala talanki" userId="f96f43d5c5067f3b" providerId="LiveId" clId="{4B6E1711-CB52-4CF4-B5ED-8DDF63F8A93D}" dt="2026-10-08T07:47:08.568" v="76" actId="1076"/>
          <ac:spMkLst>
            <pc:docMk/>
            <pc:sldMk cId="0" sldId="274"/>
            <ac:spMk id="6" creationId="{00000000-0000-0000-0000-000000000000}"/>
          </ac:spMkLst>
        </pc:spChg>
        <pc:spChg chg="add mod">
          <ac:chgData name="prajwala talanki" userId="f96f43d5c5067f3b" providerId="LiveId" clId="{4B6E1711-CB52-4CF4-B5ED-8DDF63F8A93D}" dt="2026-10-08T07:47:11.295" v="77" actId="1076"/>
          <ac:spMkLst>
            <pc:docMk/>
            <pc:sldMk cId="0" sldId="274"/>
            <ac:spMk id="10" creationId="{A94A8333-8DA8-D082-68CD-507516B302AD}"/>
          </ac:spMkLst>
        </pc:spChg>
        <pc:spChg chg="add mod">
          <ac:chgData name="prajwala talanki" userId="f96f43d5c5067f3b" providerId="LiveId" clId="{4B6E1711-CB52-4CF4-B5ED-8DDF63F8A93D}" dt="2026-10-08T07:50:18.751" v="81" actId="1076"/>
          <ac:spMkLst>
            <pc:docMk/>
            <pc:sldMk cId="0" sldId="274"/>
            <ac:spMk id="12" creationId="{76B877CB-F96D-C62B-6A21-30151E036DDE}"/>
          </ac:spMkLst>
        </pc:spChg>
        <pc:spChg chg="add mod">
          <ac:chgData name="prajwala talanki" userId="f96f43d5c5067f3b" providerId="LiveId" clId="{4B6E1711-CB52-4CF4-B5ED-8DDF63F8A93D}" dt="2026-10-08T07:51:39.442" v="84" actId="113"/>
          <ac:spMkLst>
            <pc:docMk/>
            <pc:sldMk cId="0" sldId="274"/>
            <ac:spMk id="14" creationId="{3069A08F-2CD7-8262-A22C-5C09C096A9EA}"/>
          </ac:spMkLst>
        </pc:spChg>
      </pc:sldChg>
      <pc:sldChg chg="addSp delSp modSp mod">
        <pc:chgData name="prajwala talanki" userId="f96f43d5c5067f3b" providerId="LiveId" clId="{4B6E1711-CB52-4CF4-B5ED-8DDF63F8A93D}" dt="2026-10-08T07:58:34.191" v="193"/>
        <pc:sldMkLst>
          <pc:docMk/>
          <pc:sldMk cId="0" sldId="275"/>
        </pc:sldMkLst>
        <pc:spChg chg="add mod">
          <ac:chgData name="prajwala talanki" userId="f96f43d5c5067f3b" providerId="LiveId" clId="{4B6E1711-CB52-4CF4-B5ED-8DDF63F8A93D}" dt="2026-10-08T07:54:28.774" v="174" actId="1076"/>
          <ac:spMkLst>
            <pc:docMk/>
            <pc:sldMk cId="0" sldId="275"/>
            <ac:spMk id="10" creationId="{E1D6207D-E40E-58E9-A645-7870C700FFEA}"/>
          </ac:spMkLst>
        </pc:spChg>
        <pc:spChg chg="add mod">
          <ac:chgData name="prajwala talanki" userId="f96f43d5c5067f3b" providerId="LiveId" clId="{4B6E1711-CB52-4CF4-B5ED-8DDF63F8A93D}" dt="2026-10-08T07:54:44.658" v="180" actId="20577"/>
          <ac:spMkLst>
            <pc:docMk/>
            <pc:sldMk cId="0" sldId="275"/>
            <ac:spMk id="14" creationId="{B6A27B7F-CCD3-D3F9-195F-9803072950D6}"/>
          </ac:spMkLst>
        </pc:spChg>
      </pc:sldChg>
      <pc:sldChg chg="addSp modSp mod">
        <pc:chgData name="prajwala talanki" userId="f96f43d5c5067f3b" providerId="LiveId" clId="{4B6E1711-CB52-4CF4-B5ED-8DDF63F8A93D}" dt="2026-10-11T13:24:41.953" v="208" actId="113"/>
        <pc:sldMkLst>
          <pc:docMk/>
          <pc:sldMk cId="0" sldId="276"/>
        </pc:sldMkLst>
        <pc:spChg chg="mod">
          <ac:chgData name="prajwala talanki" userId="f96f43d5c5067f3b" providerId="LiveId" clId="{4B6E1711-CB52-4CF4-B5ED-8DDF63F8A93D}" dt="2026-10-11T13:22:05.466" v="205" actId="113"/>
          <ac:spMkLst>
            <pc:docMk/>
            <pc:sldMk cId="0" sldId="276"/>
            <ac:spMk id="5" creationId="{00000000-0000-0000-0000-000000000000}"/>
          </ac:spMkLst>
        </pc:spChg>
        <pc:spChg chg="add mod">
          <ac:chgData name="prajwala talanki" userId="f96f43d5c5067f3b" providerId="LiveId" clId="{4B6E1711-CB52-4CF4-B5ED-8DDF63F8A93D}" dt="2026-10-11T13:24:41.953" v="208" actId="113"/>
          <ac:spMkLst>
            <pc:docMk/>
            <pc:sldMk cId="0" sldId="276"/>
            <ac:spMk id="10" creationId="{4A5DD178-ADFB-C5EA-6C88-3A50BED2A2F4}"/>
          </ac:spMkLst>
        </pc:spChg>
      </pc:sldChg>
      <pc:sldChg chg="modSp mod">
        <pc:chgData name="prajwala talanki" userId="f96f43d5c5067f3b" providerId="LiveId" clId="{4B6E1711-CB52-4CF4-B5ED-8DDF63F8A93D}" dt="2026-10-11T13:28:33.186" v="230" actId="113"/>
        <pc:sldMkLst>
          <pc:docMk/>
          <pc:sldMk cId="0" sldId="277"/>
        </pc:sldMkLst>
        <pc:spChg chg="mod">
          <ac:chgData name="prajwala talanki" userId="f96f43d5c5067f3b" providerId="LiveId" clId="{4B6E1711-CB52-4CF4-B5ED-8DDF63F8A93D}" dt="2026-10-11T13:28:33.186" v="230" actId="113"/>
          <ac:spMkLst>
            <pc:docMk/>
            <pc:sldMk cId="0" sldId="277"/>
            <ac:spMk id="8" creationId="{00000000-0000-0000-0000-000000000000}"/>
          </ac:spMkLst>
        </pc:spChg>
      </pc:sldChg>
      <pc:sldChg chg="addSp modSp mod">
        <pc:chgData name="prajwala talanki" userId="f96f43d5c5067f3b" providerId="LiveId" clId="{4B6E1711-CB52-4CF4-B5ED-8DDF63F8A93D}" dt="2026-10-11T13:31:52.595" v="244" actId="113"/>
        <pc:sldMkLst>
          <pc:docMk/>
          <pc:sldMk cId="0" sldId="278"/>
        </pc:sldMkLst>
        <pc:spChg chg="mod">
          <ac:chgData name="prajwala talanki" userId="f96f43d5c5067f3b" providerId="LiveId" clId="{4B6E1711-CB52-4CF4-B5ED-8DDF63F8A93D}" dt="2026-10-11T13:31:46.624" v="240" actId="1076"/>
          <ac:spMkLst>
            <pc:docMk/>
            <pc:sldMk cId="0" sldId="278"/>
            <ac:spMk id="6" creationId="{00000000-0000-0000-0000-000000000000}"/>
          </ac:spMkLst>
        </pc:spChg>
        <pc:spChg chg="add mod">
          <ac:chgData name="prajwala talanki" userId="f96f43d5c5067f3b" providerId="LiveId" clId="{4B6E1711-CB52-4CF4-B5ED-8DDF63F8A93D}" dt="2026-10-11T13:31:52.595" v="244" actId="113"/>
          <ac:spMkLst>
            <pc:docMk/>
            <pc:sldMk cId="0" sldId="278"/>
            <ac:spMk id="12" creationId="{148B0783-9F4C-63B6-E5D2-5C78ED3ACF65}"/>
          </ac:spMkLst>
        </pc:spChg>
      </pc:sldChg>
      <pc:sldChg chg="addSp delSp modSp mod">
        <pc:chgData name="prajwala talanki" userId="f96f43d5c5067f3b" providerId="LiveId" clId="{4B6E1711-CB52-4CF4-B5ED-8DDF63F8A93D}" dt="2026-10-11T13:36:35.623" v="283" actId="14100"/>
        <pc:sldMkLst>
          <pc:docMk/>
          <pc:sldMk cId="0" sldId="279"/>
        </pc:sldMkLst>
        <pc:spChg chg="mod">
          <ac:chgData name="prajwala talanki" userId="f96f43d5c5067f3b" providerId="LiveId" clId="{4B6E1711-CB52-4CF4-B5ED-8DDF63F8A93D}" dt="2026-10-11T13:35:13.303" v="270" actId="1076"/>
          <ac:spMkLst>
            <pc:docMk/>
            <pc:sldMk cId="0" sldId="279"/>
            <ac:spMk id="6" creationId="{00000000-0000-0000-0000-000000000000}"/>
          </ac:spMkLst>
        </pc:spChg>
        <pc:spChg chg="mod">
          <ac:chgData name="prajwala talanki" userId="f96f43d5c5067f3b" providerId="LiveId" clId="{4B6E1711-CB52-4CF4-B5ED-8DDF63F8A93D}" dt="2026-10-11T13:36:27.925" v="280"/>
          <ac:spMkLst>
            <pc:docMk/>
            <pc:sldMk cId="0" sldId="279"/>
            <ac:spMk id="7" creationId="{00000000-0000-0000-0000-000000000000}"/>
          </ac:spMkLst>
        </pc:spChg>
        <pc:spChg chg="add mod">
          <ac:chgData name="prajwala talanki" userId="f96f43d5c5067f3b" providerId="LiveId" clId="{4B6E1711-CB52-4CF4-B5ED-8DDF63F8A93D}" dt="2026-10-11T13:35:22.806" v="273" actId="1076"/>
          <ac:spMkLst>
            <pc:docMk/>
            <pc:sldMk cId="0" sldId="279"/>
            <ac:spMk id="11" creationId="{F6AB2FA1-43DC-8211-F771-9332181C5DCD}"/>
          </ac:spMkLst>
        </pc:spChg>
        <pc:spChg chg="add mod">
          <ac:chgData name="prajwala talanki" userId="f96f43d5c5067f3b" providerId="LiveId" clId="{4B6E1711-CB52-4CF4-B5ED-8DDF63F8A93D}" dt="2026-10-11T13:35:16.652" v="271" actId="14100"/>
          <ac:spMkLst>
            <pc:docMk/>
            <pc:sldMk cId="0" sldId="279"/>
            <ac:spMk id="13" creationId="{9E057FD5-32A8-15C2-D100-3A69F0DD4C18}"/>
          </ac:spMkLst>
        </pc:spChg>
        <pc:spChg chg="add mod">
          <ac:chgData name="prajwala talanki" userId="f96f43d5c5067f3b" providerId="LiveId" clId="{4B6E1711-CB52-4CF4-B5ED-8DDF63F8A93D}" dt="2026-10-11T13:35:25.931" v="274" actId="14100"/>
          <ac:spMkLst>
            <pc:docMk/>
            <pc:sldMk cId="0" sldId="279"/>
            <ac:spMk id="17" creationId="{DBD82B0E-66F6-5761-9D05-8EBEB9157F7F}"/>
          </ac:spMkLst>
        </pc:spChg>
        <pc:spChg chg="add mod">
          <ac:chgData name="prajwala talanki" userId="f96f43d5c5067f3b" providerId="LiveId" clId="{4B6E1711-CB52-4CF4-B5ED-8DDF63F8A93D}" dt="2026-10-11T13:35:33.781" v="278" actId="1076"/>
          <ac:spMkLst>
            <pc:docMk/>
            <pc:sldMk cId="0" sldId="279"/>
            <ac:spMk id="19" creationId="{E8E880F9-2D62-55F3-331E-2C75A366B66B}"/>
          </ac:spMkLst>
        </pc:spChg>
        <pc:spChg chg="add mod">
          <ac:chgData name="prajwala talanki" userId="f96f43d5c5067f3b" providerId="LiveId" clId="{4B6E1711-CB52-4CF4-B5ED-8DDF63F8A93D}" dt="2026-10-11T13:36:35.623" v="283" actId="14100"/>
          <ac:spMkLst>
            <pc:docMk/>
            <pc:sldMk cId="0" sldId="279"/>
            <ac:spMk id="21" creationId="{4C384160-DB23-65ED-6B26-9EFF23277D9E}"/>
          </ac:spMkLst>
        </pc:spChg>
        <pc:graphicFrameChg chg="del mod">
          <ac:chgData name="prajwala talanki" userId="f96f43d5c5067f3b" providerId="LiveId" clId="{4B6E1711-CB52-4CF4-B5ED-8DDF63F8A93D}" dt="2026-10-11T13:33:52.288" v="252" actId="478"/>
          <ac:graphicFrameMkLst>
            <pc:docMk/>
            <pc:sldMk cId="0" sldId="279"/>
            <ac:graphicFrameMk id="5" creationId="{00000000-0000-0000-0000-000000000000}"/>
          </ac:graphicFrameMkLst>
        </pc:graphicFrameChg>
        <pc:picChg chg="add mod">
          <ac:chgData name="prajwala talanki" userId="f96f43d5c5067f3b" providerId="LiveId" clId="{4B6E1711-CB52-4CF4-B5ED-8DDF63F8A93D}" dt="2026-10-11T13:34:46.672" v="269" actId="1076"/>
          <ac:picMkLst>
            <pc:docMk/>
            <pc:sldMk cId="0" sldId="279"/>
            <ac:picMk id="15" creationId="{B58CB494-CBDC-EEE7-9674-00CFEB8D0CA3}"/>
          </ac:picMkLst>
        </pc:picChg>
      </pc:sldChg>
      <pc:sldChg chg="modSp mod">
        <pc:chgData name="prajwala talanki" userId="f96f43d5c5067f3b" providerId="LiveId" clId="{4B6E1711-CB52-4CF4-B5ED-8DDF63F8A93D}" dt="2026-10-11T13:38:02.154" v="287" actId="113"/>
        <pc:sldMkLst>
          <pc:docMk/>
          <pc:sldMk cId="0" sldId="281"/>
        </pc:sldMkLst>
        <pc:spChg chg="mod">
          <ac:chgData name="prajwala talanki" userId="f96f43d5c5067f3b" providerId="LiveId" clId="{4B6E1711-CB52-4CF4-B5ED-8DDF63F8A93D}" dt="2026-10-11T13:38:02.154" v="287" actId="113"/>
          <ac:spMkLst>
            <pc:docMk/>
            <pc:sldMk cId="0" sldId="281"/>
            <ac:spMk id="5" creationId="{00000000-0000-0000-0000-000000000000}"/>
          </ac:spMkLst>
        </pc:spChg>
      </pc:sldChg>
      <pc:sldChg chg="addSp modSp mod">
        <pc:chgData name="prajwala talanki" userId="f96f43d5c5067f3b" providerId="LiveId" clId="{4B6E1711-CB52-4CF4-B5ED-8DDF63F8A93D}" dt="2026-10-11T13:41:21.716" v="321" actId="113"/>
        <pc:sldMkLst>
          <pc:docMk/>
          <pc:sldMk cId="0" sldId="282"/>
        </pc:sldMkLst>
        <pc:spChg chg="mod">
          <ac:chgData name="prajwala talanki" userId="f96f43d5c5067f3b" providerId="LiveId" clId="{4B6E1711-CB52-4CF4-B5ED-8DDF63F8A93D}" dt="2026-10-11T13:40:27.319" v="315" actId="20577"/>
          <ac:spMkLst>
            <pc:docMk/>
            <pc:sldMk cId="0" sldId="282"/>
            <ac:spMk id="11" creationId="{00000000-0000-0000-0000-000000000000}"/>
          </ac:spMkLst>
        </pc:spChg>
        <pc:spChg chg="mod">
          <ac:chgData name="prajwala talanki" userId="f96f43d5c5067f3b" providerId="LiveId" clId="{4B6E1711-CB52-4CF4-B5ED-8DDF63F8A93D}" dt="2026-10-11T13:39:16.482" v="289" actId="113"/>
          <ac:spMkLst>
            <pc:docMk/>
            <pc:sldMk cId="0" sldId="282"/>
            <ac:spMk id="13" creationId="{00000000-0000-0000-0000-000000000000}"/>
          </ac:spMkLst>
        </pc:spChg>
        <pc:spChg chg="add mod">
          <ac:chgData name="prajwala talanki" userId="f96f43d5c5067f3b" providerId="LiveId" clId="{4B6E1711-CB52-4CF4-B5ED-8DDF63F8A93D}" dt="2026-10-11T13:41:21.716" v="321" actId="113"/>
          <ac:spMkLst>
            <pc:docMk/>
            <pc:sldMk cId="0" sldId="282"/>
            <ac:spMk id="15" creationId="{502BDBDB-DBFD-CBF8-1A4D-D41D4B1DE035}"/>
          </ac:spMkLst>
        </pc:spChg>
      </pc:sldChg>
      <pc:sldChg chg="modSp mod">
        <pc:chgData name="prajwala talanki" userId="f96f43d5c5067f3b" providerId="LiveId" clId="{4B6E1711-CB52-4CF4-B5ED-8DDF63F8A93D}" dt="2026-10-11T13:49:54.318" v="347" actId="113"/>
        <pc:sldMkLst>
          <pc:docMk/>
          <pc:sldMk cId="0" sldId="283"/>
        </pc:sldMkLst>
        <pc:spChg chg="mod">
          <ac:chgData name="prajwala talanki" userId="f96f43d5c5067f3b" providerId="LiveId" clId="{4B6E1711-CB52-4CF4-B5ED-8DDF63F8A93D}" dt="2026-10-11T13:49:54.318" v="347" actId="113"/>
          <ac:spMkLst>
            <pc:docMk/>
            <pc:sldMk cId="0" sldId="283"/>
            <ac:spMk id="5" creationId="{00000000-0000-0000-0000-000000000000}"/>
          </ac:spMkLst>
        </pc:spChg>
      </pc:sldChg>
      <pc:sldChg chg="modSp mod">
        <pc:chgData name="prajwala talanki" userId="f96f43d5c5067f3b" providerId="LiveId" clId="{4B6E1711-CB52-4CF4-B5ED-8DDF63F8A93D}" dt="2026-10-11T13:50:27.983" v="350" actId="113"/>
        <pc:sldMkLst>
          <pc:docMk/>
          <pc:sldMk cId="0" sldId="284"/>
        </pc:sldMkLst>
        <pc:spChg chg="mod">
          <ac:chgData name="prajwala talanki" userId="f96f43d5c5067f3b" providerId="LiveId" clId="{4B6E1711-CB52-4CF4-B5ED-8DDF63F8A93D}" dt="2026-10-11T13:50:27.983" v="350" actId="113"/>
          <ac:spMkLst>
            <pc:docMk/>
            <pc:sldMk cId="0" sldId="284"/>
            <ac:spMk id="5" creationId="{00000000-0000-0000-0000-000000000000}"/>
          </ac:spMkLst>
        </pc:spChg>
      </pc:sldChg>
      <pc:sldChg chg="addSp modSp mod">
        <pc:chgData name="prajwala talanki" userId="f96f43d5c5067f3b" providerId="LiveId" clId="{4B6E1711-CB52-4CF4-B5ED-8DDF63F8A93D}" dt="2026-10-11T13:56:48.003" v="402" actId="20577"/>
        <pc:sldMkLst>
          <pc:docMk/>
          <pc:sldMk cId="0" sldId="286"/>
        </pc:sldMkLst>
        <pc:spChg chg="mod">
          <ac:chgData name="prajwala talanki" userId="f96f43d5c5067f3b" providerId="LiveId" clId="{4B6E1711-CB52-4CF4-B5ED-8DDF63F8A93D}" dt="2026-10-11T13:56:48.003" v="402" actId="20577"/>
          <ac:spMkLst>
            <pc:docMk/>
            <pc:sldMk cId="0" sldId="286"/>
            <ac:spMk id="5" creationId="{00000000-0000-0000-0000-000000000000}"/>
          </ac:spMkLst>
        </pc:spChg>
        <pc:spChg chg="add mod">
          <ac:chgData name="prajwala talanki" userId="f96f43d5c5067f3b" providerId="LiveId" clId="{4B6E1711-CB52-4CF4-B5ED-8DDF63F8A93D}" dt="2026-10-11T13:54:57.541" v="367" actId="20577"/>
          <ac:spMkLst>
            <pc:docMk/>
            <pc:sldMk cId="0" sldId="286"/>
            <ac:spMk id="9" creationId="{DFFB6799-49B8-DB21-E52A-8A6F113084FA}"/>
          </ac:spMkLst>
        </pc:spChg>
      </pc:sldChg>
      <pc:sldChg chg="addSp modSp add del mod">
        <pc:chgData name="prajwala talanki" userId="f96f43d5c5067f3b" providerId="LiveId" clId="{4B6E1711-CB52-4CF4-B5ED-8DDF63F8A93D}" dt="2026-10-11T13:59:05.049" v="420" actId="113"/>
        <pc:sldMkLst>
          <pc:docMk/>
          <pc:sldMk cId="0" sldId="287"/>
        </pc:sldMkLst>
        <pc:spChg chg="mod">
          <ac:chgData name="prajwala talanki" userId="f96f43d5c5067f3b" providerId="LiveId" clId="{4B6E1711-CB52-4CF4-B5ED-8DDF63F8A93D}" dt="2026-10-11T13:57:26.493" v="407" actId="14100"/>
          <ac:spMkLst>
            <pc:docMk/>
            <pc:sldMk cId="0" sldId="287"/>
            <ac:spMk id="5" creationId="{00000000-0000-0000-0000-000000000000}"/>
          </ac:spMkLst>
        </pc:spChg>
        <pc:spChg chg="mod">
          <ac:chgData name="prajwala talanki" userId="f96f43d5c5067f3b" providerId="LiveId" clId="{4B6E1711-CB52-4CF4-B5ED-8DDF63F8A93D}" dt="2026-10-11T13:57:50.694" v="409" actId="1036"/>
          <ac:spMkLst>
            <pc:docMk/>
            <pc:sldMk cId="0" sldId="287"/>
            <ac:spMk id="6" creationId="{00000000-0000-0000-0000-000000000000}"/>
          </ac:spMkLst>
        </pc:spChg>
        <pc:spChg chg="add mod">
          <ac:chgData name="prajwala talanki" userId="f96f43d5c5067f3b" providerId="LiveId" clId="{4B6E1711-CB52-4CF4-B5ED-8DDF63F8A93D}" dt="2026-10-11T13:57:23.144" v="406" actId="1076"/>
          <ac:spMkLst>
            <pc:docMk/>
            <pc:sldMk cId="0" sldId="287"/>
            <ac:spMk id="10" creationId="{9058E97E-9AC0-F15B-4AC0-2BD6DAD7C304}"/>
          </ac:spMkLst>
        </pc:spChg>
        <pc:spChg chg="add mod">
          <ac:chgData name="prajwala talanki" userId="f96f43d5c5067f3b" providerId="LiveId" clId="{4B6E1711-CB52-4CF4-B5ED-8DDF63F8A93D}" dt="2026-10-11T13:59:05.049" v="420" actId="113"/>
          <ac:spMkLst>
            <pc:docMk/>
            <pc:sldMk cId="0" sldId="287"/>
            <ac:spMk id="12" creationId="{570BA6CA-E462-7A45-FF20-D242ED1F5725}"/>
          </ac:spMkLst>
        </pc:spChg>
      </pc:sldChg>
      <pc:sldChg chg="modAnim">
        <pc:chgData name="prajwala talanki" userId="f96f43d5c5067f3b" providerId="LiveId" clId="{4B6E1711-CB52-4CF4-B5ED-8DDF63F8A93D}" dt="2026-10-11T14:00:47.448" v="421"/>
        <pc:sldMkLst>
          <pc:docMk/>
          <pc:sldMk cId="0" sldId="292"/>
        </pc:sldMkLst>
      </pc:sldChg>
      <pc:sldChg chg="modAnim">
        <pc:chgData name="prajwala talanki" userId="f96f43d5c5067f3b" providerId="LiveId" clId="{4B6E1711-CB52-4CF4-B5ED-8DDF63F8A93D}" dt="2026-10-11T14:01:16.734" v="422"/>
        <pc:sldMkLst>
          <pc:docMk/>
          <pc:sldMk cId="0" sldId="294"/>
        </pc:sldMkLst>
      </pc:sldChg>
      <pc:sldChg chg="modAnim">
        <pc:chgData name="prajwala talanki" userId="f96f43d5c5067f3b" providerId="LiveId" clId="{4B6E1711-CB52-4CF4-B5ED-8DDF63F8A93D}" dt="2026-10-11T14:01:26.270" v="423"/>
        <pc:sldMkLst>
          <pc:docMk/>
          <pc:sldMk cId="0" sldId="296"/>
        </pc:sldMkLst>
      </pc:sldChg>
      <pc:sldChg chg="modAnim">
        <pc:chgData name="prajwala talanki" userId="f96f43d5c5067f3b" providerId="LiveId" clId="{4B6E1711-CB52-4CF4-B5ED-8DDF63F8A93D}" dt="2026-10-11T14:01:31.194" v="424"/>
        <pc:sldMkLst>
          <pc:docMk/>
          <pc:sldMk cId="0" sldId="298"/>
        </pc:sldMkLst>
      </pc:sldChg>
      <pc:sldChg chg="modAnim">
        <pc:chgData name="prajwala talanki" userId="f96f43d5c5067f3b" providerId="LiveId" clId="{4B6E1711-CB52-4CF4-B5ED-8DDF63F8A93D}" dt="2026-10-11T14:01:44.332" v="425"/>
        <pc:sldMkLst>
          <pc:docMk/>
          <pc:sldMk cId="0" sldId="300"/>
        </pc:sldMkLst>
      </pc:sldChg>
      <pc:sldChg chg="addSp delSp modSp new mod ord">
        <pc:chgData name="prajwala talanki" userId="f96f43d5c5067f3b" providerId="LiveId" clId="{4B6E1711-CB52-4CF4-B5ED-8DDF63F8A93D}" dt="2026-10-08T07:58:25.674" v="190"/>
        <pc:sldMkLst>
          <pc:docMk/>
          <pc:sldMk cId="1630040543" sldId="302"/>
        </pc:sldMkLst>
        <pc:picChg chg="add mod">
          <ac:chgData name="prajwala talanki" userId="f96f43d5c5067f3b" providerId="LiveId" clId="{4B6E1711-CB52-4CF4-B5ED-8DDF63F8A93D}" dt="2026-10-08T07:58:19.037" v="188" actId="14100"/>
          <ac:picMkLst>
            <pc:docMk/>
            <pc:sldMk cId="1630040543" sldId="302"/>
            <ac:picMk id="5" creationId="{C008A128-737F-59BC-320C-DBC8AC46598F}"/>
          </ac:picMkLst>
        </pc:picChg>
      </pc:sldChg>
      <pc:sldChg chg="addSp modSp new mod">
        <pc:chgData name="prajwala talanki" userId="f96f43d5c5067f3b" providerId="LiveId" clId="{4B6E1711-CB52-4CF4-B5ED-8DDF63F8A93D}" dt="2026-10-08T07:59:10.009" v="203" actId="14100"/>
        <pc:sldMkLst>
          <pc:docMk/>
          <pc:sldMk cId="1460937047" sldId="303"/>
        </pc:sldMkLst>
        <pc:spChg chg="add mod">
          <ac:chgData name="prajwala talanki" userId="f96f43d5c5067f3b" providerId="LiveId" clId="{4B6E1711-CB52-4CF4-B5ED-8DDF63F8A93D}" dt="2026-10-08T07:59:10.009" v="203" actId="14100"/>
          <ac:spMkLst>
            <pc:docMk/>
            <pc:sldMk cId="1460937047" sldId="303"/>
            <ac:spMk id="3" creationId="{7DBC295F-127D-2F79-E36A-1035A50545C1}"/>
          </ac:spMkLst>
        </pc:spChg>
      </pc:sldChg>
      <pc:sldChg chg="addSp modSp new mod">
        <pc:chgData name="prajwala talanki" userId="f96f43d5c5067f3b" providerId="LiveId" clId="{4B6E1711-CB52-4CF4-B5ED-8DDF63F8A93D}" dt="2026-10-11T13:26:07.785" v="229" actId="403"/>
        <pc:sldMkLst>
          <pc:docMk/>
          <pc:sldMk cId="3493564697" sldId="304"/>
        </pc:sldMkLst>
        <pc:spChg chg="add mod">
          <ac:chgData name="prajwala talanki" userId="f96f43d5c5067f3b" providerId="LiveId" clId="{4B6E1711-CB52-4CF4-B5ED-8DDF63F8A93D}" dt="2026-10-11T13:25:59.349" v="223" actId="1076"/>
          <ac:spMkLst>
            <pc:docMk/>
            <pc:sldMk cId="3493564697" sldId="304"/>
            <ac:spMk id="3" creationId="{B3CD1234-5DCE-539E-E563-D728BF07728D}"/>
          </ac:spMkLst>
        </pc:spChg>
        <pc:spChg chg="add mod">
          <ac:chgData name="prajwala talanki" userId="f96f43d5c5067f3b" providerId="LiveId" clId="{4B6E1711-CB52-4CF4-B5ED-8DDF63F8A93D}" dt="2026-10-11T13:25:49.058" v="220" actId="403"/>
          <ac:spMkLst>
            <pc:docMk/>
            <pc:sldMk cId="3493564697" sldId="304"/>
            <ac:spMk id="5" creationId="{F07C710D-B9E7-D8B6-926C-B6FFDC6CC556}"/>
          </ac:spMkLst>
        </pc:spChg>
        <pc:spChg chg="add mod">
          <ac:chgData name="prajwala talanki" userId="f96f43d5c5067f3b" providerId="LiveId" clId="{4B6E1711-CB52-4CF4-B5ED-8DDF63F8A93D}" dt="2026-10-11T13:26:07.785" v="229" actId="403"/>
          <ac:spMkLst>
            <pc:docMk/>
            <pc:sldMk cId="3493564697" sldId="304"/>
            <ac:spMk id="9" creationId="{CE76FDA5-0A30-CBE8-6AC3-A2B792CA343B}"/>
          </ac:spMkLst>
        </pc:spChg>
        <pc:picChg chg="add mod">
          <ac:chgData name="prajwala talanki" userId="f96f43d5c5067f3b" providerId="LiveId" clId="{4B6E1711-CB52-4CF4-B5ED-8DDF63F8A93D}" dt="2026-10-11T13:25:29.458" v="216" actId="1076"/>
          <ac:picMkLst>
            <pc:docMk/>
            <pc:sldMk cId="3493564697" sldId="304"/>
            <ac:picMk id="7" creationId="{E569E77A-82E9-A791-0035-703EA9DABC89}"/>
          </ac:picMkLst>
        </pc:picChg>
      </pc:sldChg>
      <pc:sldChg chg="addSp modSp new mod modAnim">
        <pc:chgData name="prajwala talanki" userId="f96f43d5c5067f3b" providerId="LiveId" clId="{4B6E1711-CB52-4CF4-B5ED-8DDF63F8A93D}" dt="2026-10-11T13:48:01.667" v="345"/>
        <pc:sldMkLst>
          <pc:docMk/>
          <pc:sldMk cId="2673370490" sldId="305"/>
        </pc:sldMkLst>
        <pc:spChg chg="add mod">
          <ac:chgData name="prajwala talanki" userId="f96f43d5c5067f3b" providerId="LiveId" clId="{4B6E1711-CB52-4CF4-B5ED-8DDF63F8A93D}" dt="2026-10-11T13:41:39.848" v="324" actId="1076"/>
          <ac:spMkLst>
            <pc:docMk/>
            <pc:sldMk cId="2673370490" sldId="305"/>
            <ac:spMk id="3" creationId="{A6E799DB-7CB4-CCEF-6223-CB593B8F532C}"/>
          </ac:spMkLst>
        </pc:spChg>
        <pc:spChg chg="add mod">
          <ac:chgData name="prajwala talanki" userId="f96f43d5c5067f3b" providerId="LiveId" clId="{4B6E1711-CB52-4CF4-B5ED-8DDF63F8A93D}" dt="2026-10-11T13:42:00.143" v="328" actId="1076"/>
          <ac:spMkLst>
            <pc:docMk/>
            <pc:sldMk cId="2673370490" sldId="305"/>
            <ac:spMk id="7" creationId="{421422B0-28CC-C689-CE67-017BBCDC616D}"/>
          </ac:spMkLst>
        </pc:spChg>
        <pc:spChg chg="add mod">
          <ac:chgData name="prajwala talanki" userId="f96f43d5c5067f3b" providerId="LiveId" clId="{4B6E1711-CB52-4CF4-B5ED-8DDF63F8A93D}" dt="2026-10-11T13:44:31.704" v="330" actId="1076"/>
          <ac:spMkLst>
            <pc:docMk/>
            <pc:sldMk cId="2673370490" sldId="305"/>
            <ac:spMk id="9" creationId="{44167646-F262-9D8F-06E0-A7F5E70FC1B7}"/>
          </ac:spMkLst>
        </pc:spChg>
        <pc:spChg chg="add mod">
          <ac:chgData name="prajwala talanki" userId="f96f43d5c5067f3b" providerId="LiveId" clId="{4B6E1711-CB52-4CF4-B5ED-8DDF63F8A93D}" dt="2026-10-11T13:46:43.786" v="337" actId="403"/>
          <ac:spMkLst>
            <pc:docMk/>
            <pc:sldMk cId="2673370490" sldId="305"/>
            <ac:spMk id="11" creationId="{9758D13C-0761-3EF4-D5EB-B67EDE263C41}"/>
          </ac:spMkLst>
        </pc:spChg>
        <pc:spChg chg="add mod">
          <ac:chgData name="prajwala talanki" userId="f96f43d5c5067f3b" providerId="LiveId" clId="{4B6E1711-CB52-4CF4-B5ED-8DDF63F8A93D}" dt="2026-10-11T13:46:59.167" v="340" actId="1076"/>
          <ac:spMkLst>
            <pc:docMk/>
            <pc:sldMk cId="2673370490" sldId="305"/>
            <ac:spMk id="13" creationId="{ECC7C964-417D-71DB-290A-5730CD0AA139}"/>
          </ac:spMkLst>
        </pc:spChg>
        <pc:picChg chg="add mod">
          <ac:chgData name="prajwala talanki" userId="f96f43d5c5067f3b" providerId="LiveId" clId="{4B6E1711-CB52-4CF4-B5ED-8DDF63F8A93D}" dt="2026-10-11T13:41:49.602" v="326" actId="1076"/>
          <ac:picMkLst>
            <pc:docMk/>
            <pc:sldMk cId="2673370490" sldId="305"/>
            <ac:picMk id="5" creationId="{5C6A5DD9-ECB2-D5C3-2E54-D9BD89838710}"/>
          </ac:picMkLst>
        </pc:picChg>
        <pc:picChg chg="add mod">
          <ac:chgData name="prajwala talanki" userId="f96f43d5c5067f3b" providerId="LiveId" clId="{4B6E1711-CB52-4CF4-B5ED-8DDF63F8A93D}" dt="2026-10-11T13:47:58.316" v="344" actId="1076"/>
          <ac:picMkLst>
            <pc:docMk/>
            <pc:sldMk cId="2673370490" sldId="305"/>
            <ac:picMk id="15" creationId="{75E79600-C0C3-E31B-D708-957991BD2448}"/>
          </ac:picMkLst>
        </pc:picChg>
      </pc:sldChg>
      <pc:sldChg chg="addSp modSp new mod setBg">
        <pc:chgData name="prajwala talanki" userId="f96f43d5c5067f3b" providerId="LiveId" clId="{4B6E1711-CB52-4CF4-B5ED-8DDF63F8A93D}" dt="2026-10-11T13:58:30.980" v="415" actId="26606"/>
        <pc:sldMkLst>
          <pc:docMk/>
          <pc:sldMk cId="942838447" sldId="306"/>
        </pc:sldMkLst>
        <pc:spChg chg="add">
          <ac:chgData name="prajwala talanki" userId="f96f43d5c5067f3b" providerId="LiveId" clId="{4B6E1711-CB52-4CF4-B5ED-8DDF63F8A93D}" dt="2026-10-11T13:58:30.980" v="415" actId="26606"/>
          <ac:spMkLst>
            <pc:docMk/>
            <pc:sldMk cId="942838447" sldId="306"/>
            <ac:spMk id="8" creationId="{F3060C83-F051-4F0E-ABAD-AA0DFC48B218}"/>
          </ac:spMkLst>
        </pc:spChg>
        <pc:spChg chg="add">
          <ac:chgData name="prajwala talanki" userId="f96f43d5c5067f3b" providerId="LiveId" clId="{4B6E1711-CB52-4CF4-B5ED-8DDF63F8A93D}" dt="2026-10-11T13:58:30.980" v="415" actId="26606"/>
          <ac:spMkLst>
            <pc:docMk/>
            <pc:sldMk cId="942838447" sldId="306"/>
            <ac:spMk id="10" creationId="{83C98ABE-055B-441F-B07E-44F97F083C39}"/>
          </ac:spMkLst>
        </pc:spChg>
        <pc:spChg chg="add">
          <ac:chgData name="prajwala talanki" userId="f96f43d5c5067f3b" providerId="LiveId" clId="{4B6E1711-CB52-4CF4-B5ED-8DDF63F8A93D}" dt="2026-10-11T13:58:30.980" v="415" actId="26606"/>
          <ac:spMkLst>
            <pc:docMk/>
            <pc:sldMk cId="942838447" sldId="306"/>
            <ac:spMk id="12" creationId="{29FDB030-9B49-4CED-8CCD-4D99382388AC}"/>
          </ac:spMkLst>
        </pc:spChg>
        <pc:spChg chg="add">
          <ac:chgData name="prajwala talanki" userId="f96f43d5c5067f3b" providerId="LiveId" clId="{4B6E1711-CB52-4CF4-B5ED-8DDF63F8A93D}" dt="2026-10-11T13:58:30.980" v="415" actId="26606"/>
          <ac:spMkLst>
            <pc:docMk/>
            <pc:sldMk cId="942838447" sldId="306"/>
            <ac:spMk id="14" creationId="{3783CA14-24A1-485C-8B30-D6A5D87987AD}"/>
          </ac:spMkLst>
        </pc:spChg>
        <pc:spChg chg="add">
          <ac:chgData name="prajwala talanki" userId="f96f43d5c5067f3b" providerId="LiveId" clId="{4B6E1711-CB52-4CF4-B5ED-8DDF63F8A93D}" dt="2026-10-11T13:58:30.980" v="415" actId="26606"/>
          <ac:spMkLst>
            <pc:docMk/>
            <pc:sldMk cId="942838447" sldId="306"/>
            <ac:spMk id="16" creationId="{9A97C86A-04D6-40F7-AE84-31AB43E6A846}"/>
          </ac:spMkLst>
        </pc:spChg>
        <pc:spChg chg="add">
          <ac:chgData name="prajwala talanki" userId="f96f43d5c5067f3b" providerId="LiveId" clId="{4B6E1711-CB52-4CF4-B5ED-8DDF63F8A93D}" dt="2026-10-11T13:58:30.980" v="415" actId="26606"/>
          <ac:spMkLst>
            <pc:docMk/>
            <pc:sldMk cId="942838447" sldId="306"/>
            <ac:spMk id="18" creationId="{FF9F2414-84E8-453E-B1F3-389FDE8192D9}"/>
          </ac:spMkLst>
        </pc:spChg>
        <pc:spChg chg="add">
          <ac:chgData name="prajwala talanki" userId="f96f43d5c5067f3b" providerId="LiveId" clId="{4B6E1711-CB52-4CF4-B5ED-8DDF63F8A93D}" dt="2026-10-11T13:58:30.980" v="415" actId="26606"/>
          <ac:spMkLst>
            <pc:docMk/>
            <pc:sldMk cId="942838447" sldId="306"/>
            <ac:spMk id="20" creationId="{3ECA69A1-7536-43AC-85EF-C7106179F5ED}"/>
          </ac:spMkLst>
        </pc:spChg>
        <pc:picChg chg="add mod">
          <ac:chgData name="prajwala talanki" userId="f96f43d5c5067f3b" providerId="LiveId" clId="{4B6E1711-CB52-4CF4-B5ED-8DDF63F8A93D}" dt="2026-10-11T13:58:30.980" v="415" actId="26606"/>
          <ac:picMkLst>
            <pc:docMk/>
            <pc:sldMk cId="942838447" sldId="306"/>
            <ac:picMk id="3" creationId="{85C57BB7-E381-3040-C6D7-924E49660A8D}"/>
          </ac:picMkLst>
        </pc:picChg>
      </pc:sldChg>
      <pc:sldChg chg="addSp modSp new del mod">
        <pc:chgData name="prajwala talanki" userId="f96f43d5c5067f3b" providerId="LiveId" clId="{4B6E1711-CB52-4CF4-B5ED-8DDF63F8A93D}" dt="2026-10-11T13:57:56.467" v="412" actId="47"/>
        <pc:sldMkLst>
          <pc:docMk/>
          <pc:sldMk cId="1273487590" sldId="306"/>
        </pc:sldMkLst>
        <pc:spChg chg="add mod">
          <ac:chgData name="prajwala talanki" userId="f96f43d5c5067f3b" providerId="LiveId" clId="{4B6E1711-CB52-4CF4-B5ED-8DDF63F8A93D}" dt="2026-10-11T13:55:37.306" v="375" actId="14100"/>
          <ac:spMkLst>
            <pc:docMk/>
            <pc:sldMk cId="1273487590" sldId="306"/>
            <ac:spMk id="3" creationId="{EED2CD0E-9BCE-1835-8506-AD55C98A08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E60D57-BCBE-4109-AA0F-4DCF0080F689}"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518B0A-B477-43FF-9EFE-C5DE3DA843A3}" type="slidenum">
              <a:rPr lang="en-IN" smtClean="0"/>
              <a:t>‹#›</a:t>
            </a:fld>
            <a:endParaRPr lang="en-IN"/>
          </a:p>
        </p:txBody>
      </p:sp>
    </p:spTree>
    <p:extLst>
      <p:ext uri="{BB962C8B-B14F-4D97-AF65-F5344CB8AC3E}">
        <p14:creationId xmlns:p14="http://schemas.microsoft.com/office/powerpoint/2010/main" val="1190925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Occlusion</a:t>
            </a:r>
            <a:r>
              <a:rPr lang="en-IN" dirty="0"/>
              <a:t> means one visual element </a:t>
            </a:r>
            <a:r>
              <a:rPr lang="en-IN" b="1" dirty="0"/>
              <a:t>blocking or hiding another</a:t>
            </a:r>
            <a:r>
              <a:rPr lang="en-IN" dirty="0"/>
              <a:t> behind it, so part of the data can’t be seen from the current viewpoint.</a:t>
            </a:r>
          </a:p>
        </p:txBody>
      </p:sp>
      <p:sp>
        <p:nvSpPr>
          <p:cNvPr id="4" name="Slide Number Placeholder 3"/>
          <p:cNvSpPr>
            <a:spLocks noGrp="1"/>
          </p:cNvSpPr>
          <p:nvPr>
            <p:ph type="sldNum" sz="quarter" idx="5"/>
          </p:nvPr>
        </p:nvSpPr>
        <p:spPr/>
        <p:txBody>
          <a:bodyPr/>
          <a:lstStyle/>
          <a:p>
            <a:fld id="{8D518B0A-B477-43FF-9EFE-C5DE3DA843A3}" type="slidenum">
              <a:rPr lang="en-IN" smtClean="0"/>
              <a:t>13</a:t>
            </a:fld>
            <a:endParaRPr lang="en-IN"/>
          </a:p>
        </p:txBody>
      </p:sp>
    </p:spTree>
    <p:extLst>
      <p:ext uri="{BB962C8B-B14F-4D97-AF65-F5344CB8AC3E}">
        <p14:creationId xmlns:p14="http://schemas.microsoft.com/office/powerpoint/2010/main" val="2799087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CT scanner acquires images one </a:t>
            </a:r>
            <a:r>
              <a:rPr lang="en-IN" b="1" dirty="0"/>
              <a:t>axial</a:t>
            </a:r>
            <a:r>
              <a:rPr lang="en-IN" dirty="0"/>
              <a:t> slice at a time. These are horizontal cross-sections, as if you sliced a loaf of bread perpendicular to the body's long axis. Each slice is saved as a DICOM image. The scanner's raw output is therefore just a pile of 2D axial images.</a:t>
            </a:r>
          </a:p>
        </p:txBody>
      </p:sp>
      <p:sp>
        <p:nvSpPr>
          <p:cNvPr id="4" name="Slide Number Placeholder 3"/>
          <p:cNvSpPr>
            <a:spLocks noGrp="1"/>
          </p:cNvSpPr>
          <p:nvPr>
            <p:ph type="sldNum" sz="quarter" idx="5"/>
          </p:nvPr>
        </p:nvSpPr>
        <p:spPr/>
        <p:txBody>
          <a:bodyPr/>
          <a:lstStyle/>
          <a:p>
            <a:fld id="{8D518B0A-B477-43FF-9EFE-C5DE3DA843A3}" type="slidenum">
              <a:rPr lang="en-IN" smtClean="0"/>
              <a:t>17</a:t>
            </a:fld>
            <a:endParaRPr lang="en-IN"/>
          </a:p>
        </p:txBody>
      </p:sp>
    </p:spTree>
    <p:extLst>
      <p:ext uri="{BB962C8B-B14F-4D97-AF65-F5344CB8AC3E}">
        <p14:creationId xmlns:p14="http://schemas.microsoft.com/office/powerpoint/2010/main" val="3816531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95405" y="7042547"/>
            <a:ext cx="11061382" cy="571500"/>
          </a:xfrm>
          <a:prstGeom prst="rect">
            <a:avLst/>
          </a:prstGeom>
        </p:spPr>
        <p:txBody>
          <a:bodyPr lIns="0" tIns="0" rIns="0" bIns="0" rtlCol="0" anchor="t">
            <a:spAutoFit/>
          </a:bodyPr>
          <a:lstStyle/>
          <a:p>
            <a:pPr algn="l">
              <a:lnSpc>
                <a:spcPts val="4320"/>
              </a:lnSpc>
            </a:pPr>
            <a:r>
              <a:rPr lang="en-US" sz="3600" b="1">
                <a:solidFill>
                  <a:srgbClr val="000000"/>
                </a:solidFill>
                <a:latin typeface="Arial Bold"/>
                <a:ea typeface="Arial Bold"/>
                <a:cs typeface="Arial Bold"/>
                <a:sym typeface="Arial Bold"/>
              </a:rPr>
              <a:t>Dr.Prajwala TR (Course Instructor)</a:t>
            </a:r>
          </a:p>
        </p:txBody>
      </p:sp>
      <p:sp>
        <p:nvSpPr>
          <p:cNvPr id="3" name="TextBox 3"/>
          <p:cNvSpPr txBox="1"/>
          <p:nvPr/>
        </p:nvSpPr>
        <p:spPr>
          <a:xfrm>
            <a:off x="5795405" y="7663053"/>
            <a:ext cx="10829677" cy="571500"/>
          </a:xfrm>
          <a:prstGeom prst="rect">
            <a:avLst/>
          </a:prstGeom>
        </p:spPr>
        <p:txBody>
          <a:bodyPr lIns="0" tIns="0" rIns="0" bIns="0" rtlCol="0" anchor="t">
            <a:spAutoFit/>
          </a:bodyPr>
          <a:lstStyle/>
          <a:p>
            <a:pPr algn="l">
              <a:lnSpc>
                <a:spcPts val="4320"/>
              </a:lnSpc>
            </a:pPr>
            <a:r>
              <a:rPr lang="en-US" sz="3600">
                <a:solidFill>
                  <a:srgbClr val="000000"/>
                </a:solidFill>
                <a:latin typeface="Arial"/>
                <a:ea typeface="Arial"/>
                <a:cs typeface="Arial"/>
                <a:sym typeface="Arial"/>
              </a:rPr>
              <a:t>Dept. of CSE, PES University, Bangalore</a:t>
            </a:r>
          </a:p>
        </p:txBody>
      </p:sp>
      <p:sp>
        <p:nvSpPr>
          <p:cNvPr id="4" name="Freeform 4"/>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5795405" y="6622732"/>
            <a:ext cx="12088487" cy="0"/>
          </a:xfrm>
          <a:prstGeom prst="line">
            <a:avLst/>
          </a:prstGeom>
          <a:ln w="28575" cap="rnd">
            <a:solidFill>
              <a:srgbClr val="ED7D31"/>
            </a:solidFill>
            <a:prstDash val="solid"/>
            <a:headEnd type="none" w="sm" len="sm"/>
            <a:tailEnd type="none" w="sm" len="sm"/>
          </a:ln>
        </p:spPr>
        <p:txBody>
          <a:bodyPr/>
          <a:lstStyle/>
          <a:p>
            <a:endParaRPr lang="en-IN"/>
          </a:p>
        </p:txBody>
      </p:sp>
      <p:sp>
        <p:nvSpPr>
          <p:cNvPr id="6" name="Freeform 6"/>
          <p:cNvSpPr/>
          <p:nvPr/>
        </p:nvSpPr>
        <p:spPr>
          <a:xfrm>
            <a:off x="16283549" y="399097"/>
            <a:ext cx="1600343" cy="1617231"/>
          </a:xfrm>
          <a:custGeom>
            <a:avLst/>
            <a:gdLst/>
            <a:ahLst/>
            <a:cxnLst/>
            <a:rect l="l" t="t" r="r" b="b"/>
            <a:pathLst>
              <a:path w="1600343" h="1617231">
                <a:moveTo>
                  <a:pt x="0" y="0"/>
                </a:moveTo>
                <a:lnTo>
                  <a:pt x="1600343" y="0"/>
                </a:lnTo>
                <a:lnTo>
                  <a:pt x="1600343" y="1617231"/>
                </a:lnTo>
                <a:lnTo>
                  <a:pt x="0" y="16172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5795405" y="5120729"/>
            <a:ext cx="12088487" cy="704850"/>
          </a:xfrm>
          <a:prstGeom prst="rect">
            <a:avLst/>
          </a:prstGeom>
        </p:spPr>
        <p:txBody>
          <a:bodyPr lIns="0" tIns="0" rIns="0" bIns="0" rtlCol="0" anchor="t">
            <a:spAutoFit/>
          </a:bodyPr>
          <a:lstStyle/>
          <a:p>
            <a:pPr algn="ctr">
              <a:lnSpc>
                <a:spcPts val="4920"/>
              </a:lnSpc>
            </a:pPr>
            <a:r>
              <a:rPr lang="en-US" sz="4100" b="1">
                <a:solidFill>
                  <a:srgbClr val="2F5597"/>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5795405" y="914400"/>
            <a:ext cx="12088487" cy="1809750"/>
          </a:xfrm>
          <a:prstGeom prst="rect">
            <a:avLst/>
          </a:prstGeom>
        </p:spPr>
        <p:txBody>
          <a:bodyPr lIns="0" tIns="0" rIns="0" bIns="0" rtlCol="0" anchor="t">
            <a:spAutoFit/>
          </a:bodyPr>
          <a:lstStyle/>
          <a:p>
            <a:pPr algn="ctr">
              <a:lnSpc>
                <a:spcPts val="6720"/>
              </a:lnSpc>
            </a:pPr>
            <a:r>
              <a:rPr lang="en-US" sz="5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9494406" y="4305272"/>
            <a:ext cx="3663380" cy="685800"/>
          </a:xfrm>
          <a:prstGeom prst="rect">
            <a:avLst/>
          </a:prstGeom>
        </p:spPr>
        <p:txBody>
          <a:bodyPr lIns="0" tIns="0" rIns="0" bIns="0" rtlCol="0" anchor="t">
            <a:spAutoFit/>
          </a:bodyPr>
          <a:lstStyle/>
          <a:p>
            <a:pPr algn="ctr">
              <a:lnSpc>
                <a:spcPts val="4786"/>
              </a:lnSpc>
            </a:pPr>
            <a:r>
              <a:rPr lang="en-US" sz="3988" b="1">
                <a:solidFill>
                  <a:srgbClr val="2F5496"/>
                </a:solidFill>
                <a:latin typeface="Calibri (MS) Bold"/>
                <a:ea typeface="Calibri (MS) Bold"/>
                <a:cs typeface="Calibri (MS) Bold"/>
                <a:sym typeface="Calibri (MS) Bold"/>
              </a:rPr>
              <a:t>(UE24CS342AA9)</a:t>
            </a:r>
          </a:p>
        </p:txBody>
      </p:sp>
      <p:sp>
        <p:nvSpPr>
          <p:cNvPr id="10" name="TextBox 10"/>
          <p:cNvSpPr txBox="1"/>
          <p:nvPr/>
        </p:nvSpPr>
        <p:spPr>
          <a:xfrm>
            <a:off x="5795405" y="3275112"/>
            <a:ext cx="12088487" cy="685800"/>
          </a:xfrm>
          <a:prstGeom prst="rect">
            <a:avLst/>
          </a:prstGeom>
        </p:spPr>
        <p:txBody>
          <a:bodyPr lIns="0" tIns="0" rIns="0" bIns="0" rtlCol="0" anchor="t">
            <a:spAutoFit/>
          </a:bodyPr>
          <a:lstStyle/>
          <a:p>
            <a:pPr algn="ctr">
              <a:lnSpc>
                <a:spcPts val="4786"/>
              </a:lnSpc>
            </a:pPr>
            <a:r>
              <a:rPr lang="en-US" sz="3988" b="1" u="sng">
                <a:solidFill>
                  <a:srgbClr val="2F5496"/>
                </a:solidFill>
                <a:latin typeface="Calibri (MS) Bold"/>
                <a:ea typeface="Calibri (MS) Bold"/>
                <a:cs typeface="Calibri (MS) Bold"/>
                <a:sym typeface="Calibri (MS) Bold"/>
              </a:rPr>
              <a:t>Unit 2 : Advanced Visualization &amp; Storytelling </a:t>
            </a:r>
          </a:p>
        </p:txBody>
      </p:sp>
      <p:grpSp>
        <p:nvGrpSpPr>
          <p:cNvPr id="11" name="Group 11"/>
          <p:cNvGrpSpPr/>
          <p:nvPr/>
        </p:nvGrpSpPr>
        <p:grpSpPr>
          <a:xfrm>
            <a:off x="1028700" y="1028700"/>
            <a:ext cx="3891710" cy="7205853"/>
            <a:chOff x="0" y="0"/>
            <a:chExt cx="1679219" cy="3109227"/>
          </a:xfrm>
        </p:grpSpPr>
        <p:sp>
          <p:nvSpPr>
            <p:cNvPr id="12" name="Freeform 12"/>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Acknowledgement</a:t>
            </a:r>
          </a:p>
        </p:txBody>
      </p:sp>
      <p:sp>
        <p:nvSpPr>
          <p:cNvPr id="4" name="TextBox 4"/>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4188440" cy="1438275"/>
          </a:xfrm>
          <a:prstGeom prst="rect">
            <a:avLst/>
          </a:prstGeom>
        </p:spPr>
        <p:txBody>
          <a:bodyPr lIns="0" tIns="0" rIns="0" bIns="0" rtlCol="0" anchor="t">
            <a:spAutoFit/>
          </a:bodyPr>
          <a:lstStyle/>
          <a:p>
            <a:pPr algn="just">
              <a:lnSpc>
                <a:spcPts val="3600"/>
              </a:lnSpc>
            </a:pPr>
            <a:r>
              <a:rPr lang="en-US" sz="3000">
                <a:solidFill>
                  <a:srgbClr val="000000"/>
                </a:solidFill>
                <a:latin typeface="Calibri (MS)"/>
                <a:ea typeface="Calibri (MS)"/>
                <a:cs typeface="Calibri (MS)"/>
                <a:sym typeface="Calibri (MS)"/>
              </a:rPr>
              <a:t>The slides are prepared from  various resources from the Universities from abroad and India. Also, some material is taken from reliable resources from internet throughout this course.</a:t>
            </a: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Lecture Overview</a:t>
            </a:r>
          </a:p>
        </p:txBody>
      </p:sp>
      <p:sp>
        <p:nvSpPr>
          <p:cNvPr id="4" name="TextBox 4"/>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5657623"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In this lecture:</a:t>
            </a:r>
          </a:p>
          <a:p>
            <a:pPr algn="l">
              <a:lnSpc>
                <a:spcPts val="3600"/>
              </a:lnSpc>
            </a:pPr>
            <a:endParaRPr lang="en-US" sz="3000" b="1" dirty="0">
              <a:solidFill>
                <a:srgbClr val="000000"/>
              </a:solidFill>
              <a:latin typeface="Calibri (MS) Bold"/>
              <a:ea typeface="Calibri (MS) Bold"/>
              <a:cs typeface="Calibri (MS) Bold"/>
              <a:sym typeface="Calibri (MS) Bold"/>
            </a:endParaRP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understand how </a:t>
            </a:r>
            <a:r>
              <a:rPr lang="en-US" sz="3000" b="1" dirty="0">
                <a:solidFill>
                  <a:srgbClr val="000000"/>
                </a:solidFill>
                <a:latin typeface="Calibri (MS)"/>
                <a:ea typeface="Calibri (MS)"/>
                <a:cs typeface="Calibri (MS)"/>
                <a:sym typeface="Calibri (MS)"/>
              </a:rPr>
              <a:t>three-dimensional scientific data </a:t>
            </a:r>
            <a:r>
              <a:rPr lang="en-US" sz="3000" dirty="0">
                <a:solidFill>
                  <a:srgbClr val="000000"/>
                </a:solidFill>
                <a:latin typeface="Calibri (MS)"/>
                <a:ea typeface="Calibri (MS)"/>
                <a:cs typeface="Calibri (MS)"/>
                <a:sym typeface="Calibri (MS)"/>
              </a:rPr>
              <a:t>is represented and how voxels, grids, and spatial sampling support volume-based visualization.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explore how </a:t>
            </a:r>
            <a:r>
              <a:rPr lang="en-US" sz="3000" b="1" dirty="0">
                <a:solidFill>
                  <a:srgbClr val="000000"/>
                </a:solidFill>
                <a:latin typeface="Calibri (MS)"/>
                <a:ea typeface="Calibri (MS)"/>
                <a:cs typeface="Calibri (MS)"/>
                <a:sym typeface="Calibri (MS)"/>
              </a:rPr>
              <a:t>scalar values can be transformed into meaningful visual structures </a:t>
            </a:r>
            <a:r>
              <a:rPr lang="en-US" sz="3000" dirty="0">
                <a:solidFill>
                  <a:srgbClr val="000000"/>
                </a:solidFill>
                <a:latin typeface="Calibri (MS)"/>
                <a:ea typeface="Calibri (MS)"/>
                <a:cs typeface="Calibri (MS)"/>
                <a:sym typeface="Calibri (MS)"/>
              </a:rPr>
              <a:t>such as slices, contours, </a:t>
            </a:r>
            <a:r>
              <a:rPr lang="en-US" sz="3000" dirty="0" err="1">
                <a:solidFill>
                  <a:srgbClr val="000000"/>
                </a:solidFill>
                <a:latin typeface="Calibri (MS)"/>
                <a:ea typeface="Calibri (MS)"/>
                <a:cs typeface="Calibri (MS)"/>
                <a:sym typeface="Calibri (MS)"/>
              </a:rPr>
              <a:t>isosurfaces</a:t>
            </a:r>
            <a:r>
              <a:rPr lang="en-US" sz="3000" dirty="0">
                <a:solidFill>
                  <a:srgbClr val="000000"/>
                </a:solidFill>
                <a:latin typeface="Calibri (MS)"/>
                <a:ea typeface="Calibri (MS)"/>
                <a:cs typeface="Calibri (MS)"/>
                <a:sym typeface="Calibri (MS)"/>
              </a:rPr>
              <a:t>, and volumetric representations.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examine how </a:t>
            </a:r>
            <a:r>
              <a:rPr lang="en-US" sz="3000" b="1" dirty="0">
                <a:solidFill>
                  <a:srgbClr val="000000"/>
                </a:solidFill>
                <a:latin typeface="Calibri (MS)"/>
                <a:ea typeface="Calibri (MS)"/>
                <a:cs typeface="Calibri (MS)"/>
                <a:sym typeface="Calibri (MS)"/>
              </a:rPr>
              <a:t>direct volume rendering uses ray casting, transfer functions, opacity, color, and compositing to reveal internal structures.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understand how </a:t>
            </a:r>
            <a:r>
              <a:rPr lang="en-US" sz="3000" b="1" dirty="0">
                <a:solidFill>
                  <a:srgbClr val="000000"/>
                </a:solidFill>
                <a:latin typeface="Calibri (MS)"/>
                <a:ea typeface="Calibri (MS)"/>
                <a:cs typeface="Calibri (MS)"/>
                <a:sym typeface="Calibri (MS)"/>
              </a:rPr>
              <a:t>medical imaging data </a:t>
            </a:r>
            <a:r>
              <a:rPr lang="en-US" sz="3000" dirty="0">
                <a:solidFill>
                  <a:srgbClr val="000000"/>
                </a:solidFill>
                <a:latin typeface="Calibri (MS)"/>
                <a:ea typeface="Calibri (MS)"/>
                <a:cs typeface="Calibri (MS)"/>
                <a:sym typeface="Calibri (MS)"/>
              </a:rPr>
              <a:t>such as CT and MRI can be visualized to examine anatomy and identify meaningful regions within complex volumes.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study how </a:t>
            </a:r>
            <a:r>
              <a:rPr lang="en-US" sz="3000" b="1" dirty="0">
                <a:solidFill>
                  <a:srgbClr val="000000"/>
                </a:solidFill>
                <a:latin typeface="Calibri (MS)"/>
                <a:ea typeface="Calibri (MS)"/>
                <a:cs typeface="Calibri (MS)"/>
                <a:sym typeface="Calibri (MS)"/>
              </a:rPr>
              <a:t>segmentation separates anatomical structures </a:t>
            </a:r>
            <a:r>
              <a:rPr lang="en-US" sz="3000" dirty="0">
                <a:solidFill>
                  <a:srgbClr val="000000"/>
                </a:solidFill>
                <a:latin typeface="Calibri (MS)"/>
                <a:ea typeface="Calibri (MS)"/>
                <a:cs typeface="Calibri (MS)"/>
                <a:sym typeface="Calibri (MS)"/>
              </a:rPr>
              <a:t>and enables their visualization as distinct regions or three-dimensional surfaces.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We will examine how simulation data such as fluid flow, weather, atmospheric conditions, and engineering systems can be </a:t>
            </a:r>
            <a:r>
              <a:rPr lang="en-US" sz="3000" b="1" dirty="0">
                <a:solidFill>
                  <a:srgbClr val="000000"/>
                </a:solidFill>
                <a:latin typeface="Calibri (MS)"/>
                <a:ea typeface="Calibri (MS)"/>
                <a:cs typeface="Calibri (MS)"/>
                <a:sym typeface="Calibri (MS)"/>
              </a:rPr>
              <a:t>transformed</a:t>
            </a:r>
            <a:r>
              <a:rPr lang="en-US" sz="3000" dirty="0">
                <a:solidFill>
                  <a:srgbClr val="000000"/>
                </a:solidFill>
                <a:latin typeface="Calibri (MS)"/>
                <a:ea typeface="Calibri (MS)"/>
                <a:cs typeface="Calibri (MS)"/>
                <a:sym typeface="Calibri (MS)"/>
              </a:rPr>
              <a:t> into visual representations for analysis and interpretation.</a:t>
            </a: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64674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Volume visualization is the </a:t>
            </a:r>
            <a:r>
              <a:rPr lang="en-US" sz="3000" b="1" dirty="0">
                <a:solidFill>
                  <a:srgbClr val="000000"/>
                </a:solidFill>
                <a:latin typeface="Calibri (MS)"/>
                <a:ea typeface="Calibri (MS)"/>
                <a:cs typeface="Calibri (MS)"/>
                <a:sym typeface="Calibri (MS)"/>
              </a:rPr>
              <a:t>visual representation of data distributed throughout a three-dimensional spatial domain.</a:t>
            </a:r>
          </a:p>
          <a:p>
            <a:pPr algn="l">
              <a:lnSpc>
                <a:spcPts val="3600"/>
              </a:lnSpc>
            </a:pPr>
            <a:r>
              <a:rPr lang="en-US" sz="3000" dirty="0">
                <a:solidFill>
                  <a:srgbClr val="000000"/>
                </a:solidFill>
                <a:latin typeface="Calibri (MS)"/>
                <a:ea typeface="Calibri (MS)"/>
                <a:cs typeface="Calibri (MS)"/>
                <a:sym typeface="Calibri (MS)"/>
              </a:rPr>
              <a:t>Unlike a conventional 2D image, volumetric data contains information through </a:t>
            </a:r>
            <a:r>
              <a:rPr lang="en-US" sz="3000" b="1" dirty="0">
                <a:solidFill>
                  <a:srgbClr val="000000"/>
                </a:solidFill>
                <a:latin typeface="Calibri (MS)"/>
                <a:ea typeface="Calibri (MS)"/>
                <a:cs typeface="Calibri (MS)"/>
                <a:sym typeface="Calibri (MS)"/>
              </a:rPr>
              <a:t>depth, allowing structures inside a 3D region to be examined.</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Why Volume Visualization?</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Scientific and medical systems </a:t>
            </a:r>
            <a:r>
              <a:rPr lang="en-US" sz="3000" dirty="0">
                <a:solidFill>
                  <a:srgbClr val="000000"/>
                </a:solidFill>
                <a:latin typeface="Calibri (MS)"/>
                <a:ea typeface="Calibri (MS)"/>
                <a:cs typeface="Calibri (MS)"/>
                <a:sym typeface="Calibri (MS)"/>
              </a:rPr>
              <a:t>often generate data throughout a 3D volume.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A single 2D projection can hide structures located behind other structures.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Volume visualization provides representations for </a:t>
            </a:r>
            <a:r>
              <a:rPr lang="en-US" sz="3000" b="1" dirty="0">
                <a:solidFill>
                  <a:srgbClr val="000000"/>
                </a:solidFill>
                <a:latin typeface="Calibri (MS)"/>
                <a:ea typeface="Calibri (MS)"/>
                <a:cs typeface="Calibri (MS)"/>
                <a:sym typeface="Calibri (MS)"/>
              </a:rPr>
              <a:t>examining internal structure, spatial relationships, and boundaries.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Common sources include </a:t>
            </a:r>
            <a:r>
              <a:rPr lang="en-US" sz="3000" b="1" dirty="0">
                <a:solidFill>
                  <a:srgbClr val="000000"/>
                </a:solidFill>
                <a:latin typeface="Calibri (MS)"/>
                <a:ea typeface="Calibri (MS)"/>
                <a:cs typeface="Calibri (MS)"/>
                <a:sym typeface="Calibri (MS)"/>
              </a:rPr>
              <a:t>CT and MRI scans, scientific simulations, and computational models</a:t>
            </a:r>
            <a:r>
              <a:rPr lang="en-US" sz="3000" dirty="0">
                <a:solidFill>
                  <a:srgbClr val="000000"/>
                </a:solidFill>
                <a:latin typeface="Calibri (MS)"/>
                <a:ea typeface="Calibri (MS)"/>
                <a:cs typeface="Calibri (MS)"/>
                <a:sym typeface="Calibri (MS)"/>
              </a:rPr>
              <a:t>.</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Visualization techniques must determine how the values throughout the volume are converted into visible graphical information.</a:t>
            </a:r>
          </a:p>
          <a:p>
            <a:pPr algn="l">
              <a:lnSpc>
                <a:spcPts val="3600"/>
              </a:lnSpc>
              <a:spcBef>
                <a:spcPct val="0"/>
              </a:spcBef>
            </a:pPr>
            <a:endParaRPr lang="en-US" sz="3000" dirty="0">
              <a:solidFill>
                <a:srgbClr val="000000"/>
              </a:solidFill>
              <a:latin typeface="Calibri (MS)"/>
              <a:ea typeface="Calibri (MS)"/>
              <a:cs typeface="Calibri (MS)"/>
              <a:sym typeface="Calibri (MS)"/>
            </a:endParaRP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Visualization Fundamentals</a:t>
            </a:r>
          </a:p>
        </p:txBody>
      </p:sp>
      <p:sp>
        <p:nvSpPr>
          <p:cNvPr id="9" name="TextBox 8">
            <a:extLst>
              <a:ext uri="{FF2B5EF4-FFF2-40B4-BE49-F238E27FC236}">
                <a16:creationId xmlns:a16="http://schemas.microsoft.com/office/drawing/2014/main" id="{7AA23C1F-E71E-E2C6-2ABD-B10CFBDCA9E7}"/>
              </a:ext>
            </a:extLst>
          </p:cNvPr>
          <p:cNvSpPr txBox="1"/>
          <p:nvPr/>
        </p:nvSpPr>
        <p:spPr>
          <a:xfrm>
            <a:off x="3124199" y="9001809"/>
            <a:ext cx="13505393" cy="954107"/>
          </a:xfrm>
          <a:prstGeom prst="rect">
            <a:avLst/>
          </a:prstGeom>
          <a:noFill/>
        </p:spPr>
        <p:txBody>
          <a:bodyPr wrap="square">
            <a:spAutoFit/>
          </a:bodyPr>
          <a:lstStyle/>
          <a:p>
            <a:r>
              <a:rPr lang="en-IN" sz="2800" b="1" dirty="0"/>
              <a:t>volume visualization turns a 3D field of values into images that show what is inside the volume, not just its outer surface.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Basic Representation</a:t>
            </a:r>
          </a:p>
          <a:p>
            <a:pPr algn="ctr">
              <a:lnSpc>
                <a:spcPts val="3600"/>
              </a:lnSpc>
            </a:pPr>
            <a:r>
              <a:rPr lang="en-US" sz="3000" i="1" dirty="0">
                <a:solidFill>
                  <a:srgbClr val="000000"/>
                </a:solidFill>
                <a:latin typeface="Calibri (MS) Italics"/>
                <a:ea typeface="Calibri (MS) Italics"/>
                <a:cs typeface="Calibri (MS) Italics"/>
                <a:sym typeface="Calibri (MS) Italics"/>
              </a:rPr>
              <a:t>V(x, y, z) → s</a:t>
            </a:r>
          </a:p>
          <a:p>
            <a:pPr algn="l">
              <a:lnSpc>
                <a:spcPts val="3600"/>
              </a:lnSpc>
            </a:pPr>
            <a:r>
              <a:rPr lang="en-US" sz="3000" dirty="0">
                <a:solidFill>
                  <a:srgbClr val="000000"/>
                </a:solidFill>
                <a:latin typeface="Calibri (MS)"/>
                <a:ea typeface="Calibri (MS)"/>
                <a:cs typeface="Calibri (MS)"/>
                <a:sym typeface="Calibri (MS)"/>
              </a:rPr>
              <a:t>where: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x, y, z → spatial position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 → scalar value at that position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Typical Pipeline</a:t>
            </a:r>
          </a:p>
          <a:p>
            <a:pPr algn="l">
              <a:lnSpc>
                <a:spcPts val="3600"/>
              </a:lnSpc>
            </a:pPr>
            <a:r>
              <a:rPr lang="en-US" sz="3000" b="1" dirty="0">
                <a:solidFill>
                  <a:srgbClr val="000000"/>
                </a:solidFill>
                <a:latin typeface="Calibri (MS)"/>
                <a:ea typeface="Calibri (MS)"/>
                <a:cs typeface="Calibri (MS)"/>
                <a:sym typeface="Calibri (MS)"/>
              </a:rPr>
              <a:t>Volumetric Data → Visualization Method → 2D Display → Interpretation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Examples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Medical: CT / MRI volumes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Scientific: temperature or density fields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Engineering: simulated stress / thermal fields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Fluid simulation: 3D velocity and pressure data</a:t>
            </a:r>
          </a:p>
          <a:p>
            <a:pPr algn="l">
              <a:lnSpc>
                <a:spcPts val="3600"/>
              </a:lnSpc>
              <a:spcBef>
                <a:spcPct val="0"/>
              </a:spcBef>
            </a:pPr>
            <a:endParaRPr lang="en-US" sz="3000" dirty="0">
              <a:solidFill>
                <a:srgbClr val="000000"/>
              </a:solidFill>
              <a:latin typeface="Calibri (MS)"/>
              <a:ea typeface="Calibri (MS)"/>
              <a:cs typeface="Calibri (MS)"/>
              <a:sym typeface="Calibri (MS)"/>
            </a:endParaRPr>
          </a:p>
        </p:txBody>
      </p:sp>
      <p:sp>
        <p:nvSpPr>
          <p:cNvPr id="6" name="Freeform 6"/>
          <p:cNvSpPr/>
          <p:nvPr/>
        </p:nvSpPr>
        <p:spPr>
          <a:xfrm>
            <a:off x="12169058" y="3595816"/>
            <a:ext cx="5719950" cy="4271861"/>
          </a:xfrm>
          <a:custGeom>
            <a:avLst/>
            <a:gdLst/>
            <a:ahLst/>
            <a:cxnLst/>
            <a:rect l="l" t="t" r="r" b="b"/>
            <a:pathLst>
              <a:path w="5719950" h="4271861">
                <a:moveTo>
                  <a:pt x="0" y="0"/>
                </a:moveTo>
                <a:lnTo>
                  <a:pt x="5719949" y="0"/>
                </a:lnTo>
                <a:lnTo>
                  <a:pt x="5719949" y="4271861"/>
                </a:lnTo>
                <a:lnTo>
                  <a:pt x="0" y="4271861"/>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Visualization Fundamentals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55530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Volumetric data is data in which values are associated with locations throughout a three-dimensional spatial domain.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a:ea typeface="Calibri (MS)"/>
                <a:cs typeface="Calibri (MS)"/>
                <a:sym typeface="Calibri (MS)"/>
              </a:rPr>
              <a:t>A volumetric dataset can be represented as: </a:t>
            </a:r>
            <a:r>
              <a:rPr lang="en-US" sz="3000" b="1" i="1" dirty="0">
                <a:solidFill>
                  <a:srgbClr val="000000"/>
                </a:solidFill>
                <a:latin typeface="Calibri (MS) Italics"/>
                <a:ea typeface="Calibri (MS) Italics"/>
                <a:cs typeface="Calibri (MS) Italics"/>
                <a:sym typeface="Calibri (MS) Italics"/>
              </a:rPr>
              <a:t>V(x, y, z)</a:t>
            </a:r>
          </a:p>
          <a:p>
            <a:pPr algn="l">
              <a:lnSpc>
                <a:spcPts val="3600"/>
              </a:lnSpc>
            </a:pPr>
            <a:r>
              <a:rPr lang="en-US" sz="3000" b="1" dirty="0">
                <a:solidFill>
                  <a:srgbClr val="000000"/>
                </a:solidFill>
                <a:latin typeface="Calibri (MS)"/>
                <a:ea typeface="Calibri (MS)"/>
                <a:cs typeface="Calibri (MS)"/>
                <a:sym typeface="Calibri (MS)"/>
              </a:rPr>
              <a:t>where each spatial position corresponds to a measured or computed value.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Characteristics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Contains information along </a:t>
            </a:r>
            <a:r>
              <a:rPr lang="en-US" sz="3000" b="1" dirty="0">
                <a:solidFill>
                  <a:srgbClr val="000000"/>
                </a:solidFill>
                <a:latin typeface="Calibri (MS)"/>
                <a:ea typeface="Calibri (MS)"/>
                <a:cs typeface="Calibri (MS)"/>
                <a:sym typeface="Calibri (MS)"/>
              </a:rPr>
              <a:t>three spatial dimensions</a:t>
            </a:r>
            <a:r>
              <a:rPr lang="en-US" sz="3000" dirty="0">
                <a:solidFill>
                  <a:srgbClr val="000000"/>
                </a:solidFill>
                <a:latin typeface="Calibri (MS)"/>
                <a:ea typeface="Calibri (MS)"/>
                <a:cs typeface="Calibri (MS)"/>
                <a:sym typeface="Calibri (MS)"/>
              </a:rPr>
              <a:t>.</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Usually represented using a </a:t>
            </a:r>
            <a:r>
              <a:rPr lang="en-US" sz="3000" b="1" dirty="0">
                <a:solidFill>
                  <a:srgbClr val="000000"/>
                </a:solidFill>
                <a:latin typeface="Calibri (MS)"/>
                <a:ea typeface="Calibri (MS)"/>
                <a:cs typeface="Calibri (MS)"/>
                <a:sym typeface="Calibri (MS)"/>
              </a:rPr>
              <a:t>discrete</a:t>
            </a:r>
            <a:r>
              <a:rPr lang="en-US" sz="3000" dirty="0">
                <a:solidFill>
                  <a:srgbClr val="000000"/>
                </a:solidFill>
                <a:latin typeface="Calibri (MS)"/>
                <a:ea typeface="Calibri (MS)"/>
                <a:cs typeface="Calibri (MS)"/>
                <a:sym typeface="Calibri (MS)"/>
              </a:rPr>
              <a:t> set of spatial samples.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Each sample has </a:t>
            </a:r>
            <a:r>
              <a:rPr lang="en-US" sz="3000" b="1" dirty="0">
                <a:solidFill>
                  <a:srgbClr val="000000"/>
                </a:solidFill>
                <a:latin typeface="Calibri (MS)"/>
                <a:ea typeface="Calibri (MS)"/>
                <a:cs typeface="Calibri (MS)"/>
                <a:sym typeface="Calibri (MS)"/>
              </a:rPr>
              <a:t>a position and associated value.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Values may </a:t>
            </a:r>
            <a:r>
              <a:rPr lang="en-US" sz="3000" b="1" dirty="0">
                <a:solidFill>
                  <a:srgbClr val="000000"/>
                </a:solidFill>
                <a:latin typeface="Calibri (MS)"/>
                <a:ea typeface="Calibri (MS)"/>
                <a:cs typeface="Calibri (MS)"/>
                <a:sym typeface="Calibri (MS)"/>
              </a:rPr>
              <a:t>represent physical measurements or simulation outputs.</a:t>
            </a:r>
          </a:p>
          <a:p>
            <a:pPr marL="647703" lvl="1" indent="-323852"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Large volumes can contain </a:t>
            </a:r>
            <a:r>
              <a:rPr lang="en-US" sz="3000" b="1" dirty="0">
                <a:solidFill>
                  <a:srgbClr val="000000"/>
                </a:solidFill>
                <a:latin typeface="Calibri (MS)"/>
                <a:ea typeface="Calibri (MS)"/>
                <a:cs typeface="Calibri (MS)"/>
                <a:sym typeface="Calibri (MS)"/>
              </a:rPr>
              <a:t>millions</a:t>
            </a:r>
            <a:r>
              <a:rPr lang="en-US" sz="3000" dirty="0">
                <a:solidFill>
                  <a:srgbClr val="000000"/>
                </a:solidFill>
                <a:latin typeface="Calibri (MS)"/>
                <a:ea typeface="Calibri (MS)"/>
                <a:cs typeface="Calibri (MS)"/>
                <a:sym typeface="Calibri (MS)"/>
              </a:rPr>
              <a:t> of spatial samples.</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Volumetric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64674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Example: Medical Volume</a:t>
            </a:r>
          </a:p>
          <a:p>
            <a:pPr algn="l">
              <a:lnSpc>
                <a:spcPts val="3600"/>
              </a:lnSpc>
            </a:pPr>
            <a:r>
              <a:rPr lang="en-US" sz="3000" dirty="0">
                <a:solidFill>
                  <a:srgbClr val="000000"/>
                </a:solidFill>
                <a:latin typeface="Calibri (MS)"/>
                <a:ea typeface="Calibri (MS)"/>
                <a:cs typeface="Calibri (MS)"/>
                <a:sym typeface="Calibri (MS)"/>
              </a:rPr>
              <a:t>A CT scan can be represented as a 3D array:</a:t>
            </a:r>
          </a:p>
          <a:p>
            <a:pPr algn="ctr">
              <a:lnSpc>
                <a:spcPts val="3600"/>
              </a:lnSpc>
            </a:pPr>
            <a:r>
              <a:rPr lang="en-US" sz="3000" b="1" i="1" dirty="0" err="1">
                <a:solidFill>
                  <a:srgbClr val="000000"/>
                </a:solidFill>
                <a:latin typeface="Calibri (MS) Italics"/>
                <a:ea typeface="Calibri (MS) Italics"/>
                <a:cs typeface="Calibri (MS) Italics"/>
                <a:sym typeface="Calibri (MS) Italics"/>
              </a:rPr>
              <a:t>Nx</a:t>
            </a:r>
            <a:r>
              <a:rPr lang="en-US" sz="3000" b="1" i="1" dirty="0">
                <a:solidFill>
                  <a:srgbClr val="000000"/>
                </a:solidFill>
                <a:latin typeface="Calibri (MS) Italics"/>
                <a:ea typeface="Calibri (MS) Italics"/>
                <a:cs typeface="Calibri (MS) Italics"/>
                <a:sym typeface="Calibri (MS) Italics"/>
              </a:rPr>
              <a:t> × Ny × </a:t>
            </a:r>
            <a:r>
              <a:rPr lang="en-US" sz="3000" b="1" i="1" dirty="0" err="1">
                <a:solidFill>
                  <a:srgbClr val="000000"/>
                </a:solidFill>
                <a:latin typeface="Calibri (MS) Italics"/>
                <a:ea typeface="Calibri (MS) Italics"/>
                <a:cs typeface="Calibri (MS) Italics"/>
                <a:sym typeface="Calibri (MS) Italics"/>
              </a:rPr>
              <a:t>Nz</a:t>
            </a:r>
            <a:endParaRPr lang="en-US" sz="3000" b="1" i="1" dirty="0">
              <a:solidFill>
                <a:srgbClr val="000000"/>
              </a:solidFill>
              <a:latin typeface="Calibri (MS) Italics"/>
              <a:ea typeface="Calibri (MS) Italics"/>
              <a:cs typeface="Calibri (MS) Italics"/>
              <a:sym typeface="Calibri (MS) Italics"/>
            </a:endParaRPr>
          </a:p>
          <a:p>
            <a:pPr algn="l">
              <a:lnSpc>
                <a:spcPts val="3600"/>
              </a:lnSpc>
            </a:pPr>
            <a:r>
              <a:rPr lang="en-US" sz="3000" dirty="0">
                <a:solidFill>
                  <a:srgbClr val="000000"/>
                </a:solidFill>
                <a:latin typeface="Calibri (MS)"/>
                <a:ea typeface="Calibri (MS)"/>
                <a:cs typeface="Calibri (MS)"/>
                <a:sym typeface="Calibri (MS)"/>
              </a:rPr>
              <a:t>Each location contains an intensity-related scalar value.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For a volume of:</a:t>
            </a:r>
          </a:p>
          <a:p>
            <a:pPr algn="ctr">
              <a:lnSpc>
                <a:spcPts val="3600"/>
              </a:lnSpc>
            </a:pPr>
            <a:r>
              <a:rPr lang="en-US" sz="3000" b="1" i="1" dirty="0">
                <a:solidFill>
                  <a:srgbClr val="000000"/>
                </a:solidFill>
                <a:latin typeface="Calibri (MS) Italics"/>
                <a:ea typeface="Calibri (MS) Italics"/>
                <a:cs typeface="Calibri (MS) Italics"/>
                <a:sym typeface="Calibri (MS) Italics"/>
              </a:rPr>
              <a:t>256 × 256 × 128, </a:t>
            </a:r>
          </a:p>
          <a:p>
            <a:pPr algn="l">
              <a:lnSpc>
                <a:spcPts val="3600"/>
              </a:lnSpc>
            </a:pPr>
            <a:r>
              <a:rPr lang="en-US" sz="3000" dirty="0">
                <a:solidFill>
                  <a:srgbClr val="000000"/>
                </a:solidFill>
                <a:latin typeface="Calibri (MS)"/>
                <a:ea typeface="Calibri (MS)"/>
                <a:cs typeface="Calibri (MS)"/>
                <a:sym typeface="Calibri (MS)"/>
              </a:rPr>
              <a:t>the number of spatial samples is:</a:t>
            </a:r>
          </a:p>
          <a:p>
            <a:pPr algn="ctr">
              <a:lnSpc>
                <a:spcPts val="3600"/>
              </a:lnSpc>
            </a:pPr>
            <a:r>
              <a:rPr lang="en-US" sz="3000" b="1" i="1" dirty="0">
                <a:solidFill>
                  <a:srgbClr val="000000"/>
                </a:solidFill>
                <a:latin typeface="Calibri (MS) Italics"/>
                <a:ea typeface="Calibri (MS) Italics"/>
                <a:cs typeface="Calibri (MS) Italics"/>
                <a:sym typeface="Calibri (MS) Italics"/>
              </a:rPr>
              <a:t>256 × 256 × 128 = 8,388,608</a:t>
            </a:r>
          </a:p>
          <a:p>
            <a:pPr algn="l">
              <a:lnSpc>
                <a:spcPts val="3600"/>
              </a:lnSpc>
            </a:pPr>
            <a:endParaRPr lang="en-US" sz="3000" i="1" dirty="0">
              <a:solidFill>
                <a:srgbClr val="000000"/>
              </a:solidFill>
              <a:latin typeface="Calibri (MS) Italics"/>
              <a:ea typeface="Calibri (MS) Italics"/>
              <a:cs typeface="Calibri (MS) Italics"/>
              <a:sym typeface="Calibri (MS) Italics"/>
            </a:endParaRPr>
          </a:p>
          <a:p>
            <a:pPr algn="l">
              <a:lnSpc>
                <a:spcPts val="3600"/>
              </a:lnSpc>
            </a:pPr>
            <a:r>
              <a:rPr lang="en-US" sz="3000" dirty="0">
                <a:solidFill>
                  <a:srgbClr val="000000"/>
                </a:solidFill>
                <a:latin typeface="Calibri (MS)"/>
                <a:ea typeface="Calibri (MS)"/>
                <a:cs typeface="Calibri (MS)"/>
                <a:sym typeface="Calibri (MS)"/>
              </a:rPr>
              <a:t>Thus, even a single volume can contain millions of values.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Key Concept</a:t>
            </a:r>
          </a:p>
          <a:p>
            <a:pPr algn="l">
              <a:lnSpc>
                <a:spcPts val="3600"/>
              </a:lnSpc>
              <a:spcBef>
                <a:spcPct val="0"/>
              </a:spcBef>
            </a:pPr>
            <a:r>
              <a:rPr lang="en-US" sz="3000" dirty="0">
                <a:solidFill>
                  <a:srgbClr val="000000"/>
                </a:solidFill>
                <a:latin typeface="Calibri (MS)"/>
                <a:ea typeface="Calibri (MS)"/>
                <a:cs typeface="Calibri (MS)"/>
                <a:sym typeface="Calibri (MS)"/>
              </a:rPr>
              <a:t>Volumetric data preserves information about how a </a:t>
            </a:r>
            <a:r>
              <a:rPr lang="en-US" sz="3000" b="1" dirty="0">
                <a:solidFill>
                  <a:srgbClr val="000000"/>
                </a:solidFill>
                <a:latin typeface="Calibri (MS)"/>
                <a:ea typeface="Calibri (MS)"/>
                <a:cs typeface="Calibri (MS)"/>
                <a:sym typeface="Calibri (MS)"/>
              </a:rPr>
              <a:t>quantity</a:t>
            </a:r>
            <a:r>
              <a:rPr lang="en-US" sz="3000" dirty="0">
                <a:solidFill>
                  <a:srgbClr val="000000"/>
                </a:solidFill>
                <a:latin typeface="Calibri (MS)"/>
                <a:ea typeface="Calibri (MS)"/>
                <a:cs typeface="Calibri (MS)"/>
                <a:sym typeface="Calibri (MS)"/>
              </a:rPr>
              <a:t> </a:t>
            </a:r>
            <a:r>
              <a:rPr lang="en-US" sz="3000" b="1" dirty="0">
                <a:solidFill>
                  <a:srgbClr val="000000"/>
                </a:solidFill>
                <a:latin typeface="Calibri (MS)"/>
                <a:ea typeface="Calibri (MS)"/>
                <a:cs typeface="Calibri (MS)"/>
                <a:sym typeface="Calibri (MS)"/>
              </a:rPr>
              <a:t>varies</a:t>
            </a:r>
            <a:r>
              <a:rPr lang="en-US" sz="3000" dirty="0">
                <a:solidFill>
                  <a:srgbClr val="000000"/>
                </a:solidFill>
                <a:latin typeface="Calibri (MS)"/>
                <a:ea typeface="Calibri (MS)"/>
                <a:cs typeface="Calibri (MS)"/>
                <a:sym typeface="Calibri (MS)"/>
              </a:rPr>
              <a:t> throughout </a:t>
            </a:r>
            <a:r>
              <a:rPr lang="en-US" sz="3000" b="1" dirty="0">
                <a:solidFill>
                  <a:srgbClr val="000000"/>
                </a:solidFill>
                <a:latin typeface="Calibri (MS)"/>
                <a:ea typeface="Calibri (MS)"/>
                <a:cs typeface="Calibri (MS)"/>
                <a:sym typeface="Calibri (MS)"/>
              </a:rPr>
              <a:t>3D space</a:t>
            </a:r>
            <a:r>
              <a:rPr lang="en-US" sz="3000" dirty="0">
                <a:solidFill>
                  <a:srgbClr val="000000"/>
                </a:solidFill>
                <a:latin typeface="Calibri (MS)"/>
                <a:ea typeface="Calibri (MS)"/>
                <a:cs typeface="Calibri (MS)"/>
                <a:sym typeface="Calibri (MS)"/>
              </a:rPr>
              <a:t>.</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Volumetric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aphicFrame>
        <p:nvGraphicFramePr>
          <p:cNvPr id="5" name="Table 5"/>
          <p:cNvGraphicFramePr>
            <a:graphicFrameLocks noGrp="1"/>
          </p:cNvGraphicFramePr>
          <p:nvPr/>
        </p:nvGraphicFramePr>
        <p:xfrm>
          <a:off x="826684" y="4086618"/>
          <a:ext cx="9413501" cy="3514725"/>
        </p:xfrm>
        <a:graphic>
          <a:graphicData uri="http://schemas.openxmlformats.org/drawingml/2006/table">
            <a:tbl>
              <a:tblPr/>
              <a:tblGrid>
                <a:gridCol w="4276444">
                  <a:extLst>
                    <a:ext uri="{9D8B030D-6E8A-4147-A177-3AD203B41FA5}">
                      <a16:colId xmlns:a16="http://schemas.microsoft.com/office/drawing/2014/main" val="20000"/>
                    </a:ext>
                  </a:extLst>
                </a:gridCol>
                <a:gridCol w="5137057">
                  <a:extLst>
                    <a:ext uri="{9D8B030D-6E8A-4147-A177-3AD203B41FA5}">
                      <a16:colId xmlns:a16="http://schemas.microsoft.com/office/drawing/2014/main" val="20001"/>
                    </a:ext>
                  </a:extLst>
                </a:gridCol>
              </a:tblGrid>
              <a:tr h="702945">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Pixel</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Voxel</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extLst>
                  <a:ext uri="{0D108BD9-81ED-4DB2-BD59-A6C34878D82A}">
                    <a16:rowId xmlns:a16="http://schemas.microsoft.com/office/drawing/2014/main" val="10000"/>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2D image element</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3D volume element</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Position: (x, y)</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Position: (x,y,z)</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Represents an area</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Represents a volume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Example: photograph</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Example: CT/MRI volume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Freeform 6"/>
          <p:cNvSpPr/>
          <p:nvPr/>
        </p:nvSpPr>
        <p:spPr>
          <a:xfrm>
            <a:off x="10421909" y="3739005"/>
            <a:ext cx="7439190" cy="4775656"/>
          </a:xfrm>
          <a:custGeom>
            <a:avLst/>
            <a:gdLst/>
            <a:ahLst/>
            <a:cxnLst/>
            <a:rect l="l" t="t" r="r" b="b"/>
            <a:pathLst>
              <a:path w="7439190" h="4775656">
                <a:moveTo>
                  <a:pt x="0" y="0"/>
                </a:moveTo>
                <a:lnTo>
                  <a:pt x="7439190" y="0"/>
                </a:lnTo>
                <a:lnTo>
                  <a:pt x="7439190" y="4775657"/>
                </a:lnTo>
                <a:lnTo>
                  <a:pt x="0" y="4775657"/>
                </a:lnTo>
                <a:lnTo>
                  <a:pt x="0" y="0"/>
                </a:lnTo>
                <a:close/>
              </a:path>
            </a:pathLst>
          </a:custGeom>
          <a:blipFill>
            <a:blip r:embed="rId3"/>
            <a:stretch>
              <a:fillRect t="-4873" r="-375"/>
            </a:stretch>
          </a:blipFill>
        </p:spPr>
        <p:txBody>
          <a:bodyPr/>
          <a:lstStyle/>
          <a:p>
            <a:endParaRPr lang="en-IN"/>
          </a:p>
        </p:txBody>
      </p:sp>
      <p:sp>
        <p:nvSpPr>
          <p:cNvPr id="7" name="TextBox 7"/>
          <p:cNvSpPr txBox="1"/>
          <p:nvPr/>
        </p:nvSpPr>
        <p:spPr>
          <a:xfrm>
            <a:off x="826684" y="1991118"/>
            <a:ext cx="15533342" cy="1895475"/>
          </a:xfrm>
          <a:prstGeom prst="rect">
            <a:avLst/>
          </a:prstGeom>
        </p:spPr>
        <p:txBody>
          <a:bodyPr lIns="0" tIns="0" rIns="0" bIns="0" rtlCol="0" anchor="t">
            <a:spAutoFit/>
          </a:bodyPr>
          <a:lstStyle/>
          <a:p>
            <a:pPr algn="l">
              <a:lnSpc>
                <a:spcPts val="3600"/>
              </a:lnSpc>
              <a:spcBef>
                <a:spcPct val="0"/>
              </a:spcBef>
            </a:pPr>
            <a:r>
              <a:rPr lang="en-US" sz="3000" dirty="0">
                <a:solidFill>
                  <a:srgbClr val="000000"/>
                </a:solidFill>
                <a:latin typeface="Calibri (MS)"/>
                <a:ea typeface="Calibri (MS)"/>
                <a:cs typeface="Calibri (MS)"/>
                <a:sym typeface="Calibri (MS)"/>
              </a:rPr>
              <a:t>A </a:t>
            </a:r>
            <a:r>
              <a:rPr lang="en-US" sz="3000" b="1" dirty="0">
                <a:solidFill>
                  <a:srgbClr val="000000"/>
                </a:solidFill>
                <a:latin typeface="Calibri (MS) Bold"/>
                <a:ea typeface="Calibri (MS) Bold"/>
                <a:cs typeface="Calibri (MS) Bold"/>
                <a:sym typeface="Calibri (MS) Bold"/>
              </a:rPr>
              <a:t>voxel</a:t>
            </a:r>
            <a:r>
              <a:rPr lang="en-US" sz="3000" dirty="0">
                <a:solidFill>
                  <a:srgbClr val="000000"/>
                </a:solidFill>
                <a:latin typeface="Calibri (MS)"/>
                <a:ea typeface="Calibri (MS)"/>
                <a:cs typeface="Calibri (MS)"/>
                <a:sym typeface="Calibri (MS)"/>
              </a:rPr>
              <a:t> is a volumetric element representing a discrete region or sample within a three-dimensional dataset. The term is derived from </a:t>
            </a:r>
            <a:r>
              <a:rPr lang="en-US" sz="3000" b="1" dirty="0">
                <a:solidFill>
                  <a:srgbClr val="000000"/>
                </a:solidFill>
                <a:latin typeface="Calibri (MS)"/>
                <a:ea typeface="Calibri (MS)"/>
                <a:cs typeface="Calibri (MS)"/>
                <a:sym typeface="Calibri (MS)"/>
              </a:rPr>
              <a:t>volume + pixel.</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b="1" dirty="0">
                <a:solidFill>
                  <a:srgbClr val="000000"/>
                </a:solidFill>
                <a:latin typeface="Calibri (MS) Bold"/>
                <a:ea typeface="Calibri (MS) Bold"/>
                <a:cs typeface="Calibri (MS) Bold"/>
                <a:sym typeface="Calibri (MS) Bold"/>
              </a:rPr>
              <a:t>Pixel vs Voxel:</a:t>
            </a:r>
          </a:p>
        </p:txBody>
      </p:sp>
      <p:sp>
        <p:nvSpPr>
          <p:cNvPr id="8" name="TextBox 8"/>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Voxels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5750351" y="2402379"/>
            <a:ext cx="3946281" cy="679884"/>
          </a:xfrm>
          <a:custGeom>
            <a:avLst/>
            <a:gdLst/>
            <a:ahLst/>
            <a:cxnLst/>
            <a:rect l="l" t="t" r="r" b="b"/>
            <a:pathLst>
              <a:path w="3946281" h="679884">
                <a:moveTo>
                  <a:pt x="0" y="0"/>
                </a:moveTo>
                <a:lnTo>
                  <a:pt x="3946281" y="0"/>
                </a:lnTo>
                <a:lnTo>
                  <a:pt x="3946281" y="679883"/>
                </a:lnTo>
                <a:lnTo>
                  <a:pt x="0" y="679883"/>
                </a:lnTo>
                <a:lnTo>
                  <a:pt x="0" y="0"/>
                </a:lnTo>
                <a:close/>
              </a:path>
            </a:pathLst>
          </a:custGeom>
          <a:blipFill>
            <a:blip r:embed="rId3"/>
            <a:stretch>
              <a:fillRect/>
            </a:stretch>
          </a:blipFill>
        </p:spPr>
        <p:txBody>
          <a:bodyPr/>
          <a:lstStyle/>
          <a:p>
            <a:endParaRPr lang="en-IN"/>
          </a:p>
        </p:txBody>
      </p:sp>
      <p:sp>
        <p:nvSpPr>
          <p:cNvPr id="6" name="Freeform 6"/>
          <p:cNvSpPr/>
          <p:nvPr/>
        </p:nvSpPr>
        <p:spPr>
          <a:xfrm>
            <a:off x="10199132" y="2402379"/>
            <a:ext cx="5322392" cy="1624978"/>
          </a:xfrm>
          <a:custGeom>
            <a:avLst/>
            <a:gdLst/>
            <a:ahLst/>
            <a:cxnLst/>
            <a:rect l="l" t="t" r="r" b="b"/>
            <a:pathLst>
              <a:path w="5322392" h="1624978">
                <a:moveTo>
                  <a:pt x="0" y="0"/>
                </a:moveTo>
                <a:lnTo>
                  <a:pt x="5322392" y="0"/>
                </a:lnTo>
                <a:lnTo>
                  <a:pt x="5322392" y="1624978"/>
                </a:lnTo>
                <a:lnTo>
                  <a:pt x="0" y="1624978"/>
                </a:lnTo>
                <a:lnTo>
                  <a:pt x="0" y="0"/>
                </a:lnTo>
                <a:close/>
              </a:path>
            </a:pathLst>
          </a:custGeom>
          <a:blipFill>
            <a:blip r:embed="rId4"/>
            <a:stretch>
              <a:fillRect/>
            </a:stretch>
          </a:blipFill>
        </p:spPr>
        <p:txBody>
          <a:bodyPr/>
          <a:lstStyle/>
          <a:p>
            <a:endParaRPr lang="en-IN"/>
          </a:p>
        </p:txBody>
      </p:sp>
      <p:sp>
        <p:nvSpPr>
          <p:cNvPr id="7" name="Freeform 7"/>
          <p:cNvSpPr/>
          <p:nvPr/>
        </p:nvSpPr>
        <p:spPr>
          <a:xfrm>
            <a:off x="6798369" y="4208976"/>
            <a:ext cx="3400763" cy="587786"/>
          </a:xfrm>
          <a:custGeom>
            <a:avLst/>
            <a:gdLst/>
            <a:ahLst/>
            <a:cxnLst/>
            <a:rect l="l" t="t" r="r" b="b"/>
            <a:pathLst>
              <a:path w="3400763" h="587786">
                <a:moveTo>
                  <a:pt x="0" y="0"/>
                </a:moveTo>
                <a:lnTo>
                  <a:pt x="3400763" y="0"/>
                </a:lnTo>
                <a:lnTo>
                  <a:pt x="3400763" y="587786"/>
                </a:lnTo>
                <a:lnTo>
                  <a:pt x="0" y="587786"/>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826684" y="1991118"/>
            <a:ext cx="4923667"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Voxel Representation</a:t>
            </a:r>
          </a:p>
          <a:p>
            <a:pPr algn="l">
              <a:lnSpc>
                <a:spcPts val="3600"/>
              </a:lnSpc>
              <a:spcBef>
                <a:spcPct val="0"/>
              </a:spcBef>
            </a:pPr>
            <a:r>
              <a:rPr lang="en-US" sz="3000">
                <a:solidFill>
                  <a:srgbClr val="000000"/>
                </a:solidFill>
                <a:latin typeface="Calibri (MS)"/>
                <a:ea typeface="Calibri (MS)"/>
                <a:cs typeface="Calibri (MS)"/>
                <a:sym typeface="Calibri (MS)"/>
              </a:rPr>
              <a:t>Each voxel can be described by:</a:t>
            </a:r>
          </a:p>
        </p:txBody>
      </p:sp>
      <p:sp>
        <p:nvSpPr>
          <p:cNvPr id="9" name="TextBox 9"/>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Voxels</a:t>
            </a:r>
          </a:p>
        </p:txBody>
      </p:sp>
      <p:sp>
        <p:nvSpPr>
          <p:cNvPr id="11" name="TextBox 11"/>
          <p:cNvSpPr txBox="1"/>
          <p:nvPr/>
        </p:nvSpPr>
        <p:spPr>
          <a:xfrm>
            <a:off x="826684" y="3815687"/>
            <a:ext cx="5971685"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Voxel Dimensions</a:t>
            </a:r>
          </a:p>
          <a:p>
            <a:pPr algn="l">
              <a:lnSpc>
                <a:spcPts val="3600"/>
              </a:lnSpc>
              <a:spcBef>
                <a:spcPct val="0"/>
              </a:spcBef>
            </a:pPr>
            <a:r>
              <a:rPr lang="en-US" sz="3000">
                <a:solidFill>
                  <a:srgbClr val="000000"/>
                </a:solidFill>
                <a:latin typeface="Calibri (MS)"/>
                <a:ea typeface="Calibri (MS)"/>
                <a:cs typeface="Calibri (MS)"/>
                <a:sym typeface="Calibri (MS)"/>
              </a:rPr>
              <a:t>A voxel can have physical dimensions:</a:t>
            </a:r>
          </a:p>
        </p:txBody>
      </p:sp>
      <p:sp>
        <p:nvSpPr>
          <p:cNvPr id="12" name="TextBox 12"/>
          <p:cNvSpPr txBox="1"/>
          <p:nvPr/>
        </p:nvSpPr>
        <p:spPr>
          <a:xfrm>
            <a:off x="826684" y="4848225"/>
            <a:ext cx="12226076" cy="523875"/>
          </a:xfrm>
          <a:prstGeom prst="rect">
            <a:avLst/>
          </a:prstGeom>
        </p:spPr>
        <p:txBody>
          <a:bodyPr lIns="0" tIns="0" rIns="0" bIns="0" rtlCol="0" anchor="t">
            <a:spAutoFit/>
          </a:bodyPr>
          <a:lstStyle/>
          <a:p>
            <a:pPr algn="l">
              <a:lnSpc>
                <a:spcPts val="3600"/>
              </a:lnSpc>
              <a:spcBef>
                <a:spcPct val="0"/>
              </a:spcBef>
            </a:pPr>
            <a:r>
              <a:rPr lang="en-US" sz="3000">
                <a:solidFill>
                  <a:srgbClr val="000000"/>
                </a:solidFill>
                <a:latin typeface="Calibri (MS)"/>
                <a:ea typeface="Calibri (MS)"/>
                <a:cs typeface="Calibri (MS)"/>
                <a:sym typeface="Calibri (MS)"/>
              </a:rPr>
              <a:t>These dimensions determine the spatial resolution of the volume.</a:t>
            </a:r>
          </a:p>
        </p:txBody>
      </p:sp>
      <p:sp>
        <p:nvSpPr>
          <p:cNvPr id="13" name="TextBox 13"/>
          <p:cNvSpPr txBox="1"/>
          <p:nvPr/>
        </p:nvSpPr>
        <p:spPr>
          <a:xfrm>
            <a:off x="826684" y="5562600"/>
            <a:ext cx="15379237" cy="4181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Example: CT</a:t>
            </a:r>
          </a:p>
          <a:p>
            <a:pPr algn="l">
              <a:lnSpc>
                <a:spcPts val="3600"/>
              </a:lnSpc>
            </a:pPr>
            <a:r>
              <a:rPr lang="en-US" sz="3000" dirty="0">
                <a:solidFill>
                  <a:srgbClr val="000000"/>
                </a:solidFill>
                <a:latin typeface="Calibri (MS)"/>
                <a:ea typeface="Calibri (MS)"/>
                <a:cs typeface="Calibri (MS)"/>
                <a:sym typeface="Calibri (MS)"/>
              </a:rPr>
              <a:t>A CT dataset may contain: 512 × 512 × 300 voxels. </a:t>
            </a:r>
            <a:r>
              <a:rPr lang="en-US" sz="3000" b="1" dirty="0">
                <a:solidFill>
                  <a:srgbClr val="000000"/>
                </a:solidFill>
                <a:latin typeface="Calibri (MS)"/>
                <a:ea typeface="Calibri (MS)"/>
                <a:cs typeface="Calibri (MS)"/>
                <a:sym typeface="Calibri (MS)"/>
              </a:rPr>
              <a:t>Each voxel contains an intensity-related value that contributes to the representation of anatomical structures.</a:t>
            </a:r>
          </a:p>
          <a:p>
            <a:pPr algn="l">
              <a:lnSpc>
                <a:spcPts val="3600"/>
              </a:lnSpc>
            </a:pPr>
            <a:endParaRPr lang="en-US" sz="3000" b="1"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Important Distinction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A voxel is not simply a visual cube.</a:t>
            </a:r>
          </a:p>
          <a:p>
            <a:pPr marL="647703" lvl="1" indent="-323852" algn="l">
              <a:lnSpc>
                <a:spcPts val="3600"/>
              </a:lnSpc>
              <a:spcBef>
                <a:spcPct val="0"/>
              </a:spcBef>
              <a:buFont typeface="Arial"/>
              <a:buChar char="•"/>
            </a:pPr>
            <a:r>
              <a:rPr lang="en-US" sz="3000" b="1" dirty="0">
                <a:solidFill>
                  <a:srgbClr val="000000"/>
                </a:solidFill>
                <a:latin typeface="Calibri (MS)"/>
                <a:ea typeface="Calibri (MS)"/>
                <a:cs typeface="Calibri (MS)"/>
                <a:sym typeface="Calibri (MS)"/>
              </a:rPr>
              <a:t>It represents a discrete sample or spatial cell of the underlying volumetric data. The eventual visualization may represent those values using slices, surfaces, opacity, color, or other techniques.</a:t>
            </a:r>
          </a:p>
        </p:txBody>
      </p:sp>
      <p:sp>
        <p:nvSpPr>
          <p:cNvPr id="15" name="TextBox 14">
            <a:extLst>
              <a:ext uri="{FF2B5EF4-FFF2-40B4-BE49-F238E27FC236}">
                <a16:creationId xmlns:a16="http://schemas.microsoft.com/office/drawing/2014/main" id="{FFDAD17C-6F71-3DE0-85F5-011492422AB1}"/>
              </a:ext>
            </a:extLst>
          </p:cNvPr>
          <p:cNvSpPr txBox="1"/>
          <p:nvPr/>
        </p:nvSpPr>
        <p:spPr>
          <a:xfrm>
            <a:off x="8284246" y="7005645"/>
            <a:ext cx="9152164" cy="1015663"/>
          </a:xfrm>
          <a:prstGeom prst="rect">
            <a:avLst/>
          </a:prstGeom>
          <a:noFill/>
        </p:spPr>
        <p:txBody>
          <a:bodyPr wrap="square">
            <a:spAutoFit/>
          </a:bodyPr>
          <a:lstStyle/>
          <a:p>
            <a:r>
              <a:rPr lang="en-IN" sz="2000" b="1" dirty="0"/>
              <a:t>512 samples across, 512 down, and 300 slices deep, which is 78,643,200 voxels in total. Each one stores an intensity, and high intensity corresponds to dense material such as bone.</a:t>
            </a:r>
          </a:p>
        </p:txBody>
      </p:sp>
      <p:sp>
        <p:nvSpPr>
          <p:cNvPr id="17" name="TextBox 16">
            <a:extLst>
              <a:ext uri="{FF2B5EF4-FFF2-40B4-BE49-F238E27FC236}">
                <a16:creationId xmlns:a16="http://schemas.microsoft.com/office/drawing/2014/main" id="{9104ABCC-EC51-8251-7632-DC29B0B42DCE}"/>
              </a:ext>
            </a:extLst>
          </p:cNvPr>
          <p:cNvSpPr txBox="1"/>
          <p:nvPr/>
        </p:nvSpPr>
        <p:spPr>
          <a:xfrm>
            <a:off x="6798369" y="1098568"/>
            <a:ext cx="9152164" cy="1477328"/>
          </a:xfrm>
          <a:prstGeom prst="rect">
            <a:avLst/>
          </a:prstGeom>
          <a:noFill/>
        </p:spPr>
        <p:txBody>
          <a:bodyPr wrap="square">
            <a:spAutoFit/>
          </a:bodyPr>
          <a:lstStyle/>
          <a:p>
            <a:r>
              <a:rPr lang="en-IN" dirty="0"/>
              <a:t>If the spacing is 0.5 × 0.5 × 1 mm, you can work out the physical size of the scanned region:</a:t>
            </a:r>
          </a:p>
          <a:p>
            <a:pPr lvl="0"/>
            <a:r>
              <a:rPr lang="en-IN" dirty="0"/>
              <a:t>512 × 0.5 mm = 256 mm across</a:t>
            </a:r>
          </a:p>
          <a:p>
            <a:pPr lvl="0"/>
            <a:r>
              <a:rPr lang="en-IN" dirty="0"/>
              <a:t>300 × 1 mm = 300 mm deep</a:t>
            </a:r>
          </a:p>
          <a:p>
            <a:r>
              <a:rPr lang="en-IN" dirty="0"/>
              <a:t>voxel count tells you how many samples there are. Count × spacing tells you the real-world size of the region.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826684" y="2114943"/>
            <a:ext cx="15454893" cy="5937602"/>
          </a:xfrm>
          <a:custGeom>
            <a:avLst/>
            <a:gdLst/>
            <a:ahLst/>
            <a:cxnLst/>
            <a:rect l="l" t="t" r="r" b="b"/>
            <a:pathLst>
              <a:path w="15454893" h="5937602">
                <a:moveTo>
                  <a:pt x="0" y="0"/>
                </a:moveTo>
                <a:lnTo>
                  <a:pt x="15454893" y="0"/>
                </a:lnTo>
                <a:lnTo>
                  <a:pt x="15454893" y="5937602"/>
                </a:lnTo>
                <a:lnTo>
                  <a:pt x="0" y="5937602"/>
                </a:lnTo>
                <a:lnTo>
                  <a:pt x="0" y="0"/>
                </a:lnTo>
                <a:close/>
              </a:path>
            </a:pathLst>
          </a:custGeom>
          <a:blipFill>
            <a:blip r:embed="rId3"/>
            <a:stretch>
              <a:fillRect t="-13667" b="-31536"/>
            </a:stretch>
          </a:blipFill>
        </p:spPr>
        <p:txBody>
          <a:bodyPr/>
          <a:lstStyle/>
          <a:p>
            <a:endParaRPr lang="en-IN"/>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Voxels</a:t>
            </a:r>
          </a:p>
        </p:txBody>
      </p:sp>
      <p:sp>
        <p:nvSpPr>
          <p:cNvPr id="8" name="TextBox 8"/>
          <p:cNvSpPr txBox="1"/>
          <p:nvPr/>
        </p:nvSpPr>
        <p:spPr>
          <a:xfrm>
            <a:off x="2554495" y="8734425"/>
            <a:ext cx="2303399" cy="523875"/>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Calibri (MS)"/>
                <a:ea typeface="Calibri (MS)"/>
                <a:cs typeface="Calibri (MS)"/>
                <a:sym typeface="Calibri (MS)"/>
              </a:rPr>
              <a:t>Real Anatomy</a:t>
            </a:r>
          </a:p>
        </p:txBody>
      </p:sp>
      <p:sp>
        <p:nvSpPr>
          <p:cNvPr id="9" name="TextBox 9"/>
          <p:cNvSpPr txBox="1"/>
          <p:nvPr/>
        </p:nvSpPr>
        <p:spPr>
          <a:xfrm>
            <a:off x="7563784" y="8734425"/>
            <a:ext cx="2303399" cy="981075"/>
          </a:xfrm>
          <a:prstGeom prst="rect">
            <a:avLst/>
          </a:prstGeom>
        </p:spPr>
        <p:txBody>
          <a:bodyPr lIns="0" tIns="0" rIns="0" bIns="0" rtlCol="0" anchor="t">
            <a:spAutoFit/>
          </a:bodyPr>
          <a:lstStyle/>
          <a:p>
            <a:pPr algn="ctr">
              <a:lnSpc>
                <a:spcPts val="3600"/>
              </a:lnSpc>
            </a:pPr>
            <a:r>
              <a:rPr lang="en-US" sz="3000">
                <a:solidFill>
                  <a:srgbClr val="000000"/>
                </a:solidFill>
                <a:latin typeface="Calibri (MS)"/>
                <a:ea typeface="Calibri (MS)"/>
                <a:cs typeface="Calibri (MS)"/>
                <a:sym typeface="Calibri (MS)"/>
              </a:rPr>
              <a:t>Volume 3D</a:t>
            </a:r>
          </a:p>
          <a:p>
            <a:pPr algn="ctr">
              <a:lnSpc>
                <a:spcPts val="3600"/>
              </a:lnSpc>
              <a:spcBef>
                <a:spcPct val="0"/>
              </a:spcBef>
            </a:pPr>
            <a:r>
              <a:rPr lang="en-US" sz="3000">
                <a:solidFill>
                  <a:srgbClr val="000000"/>
                </a:solidFill>
                <a:latin typeface="Calibri (MS)"/>
                <a:ea typeface="Calibri (MS)"/>
                <a:cs typeface="Calibri (MS)"/>
                <a:sym typeface="Calibri (MS)"/>
              </a:rPr>
              <a:t>(Voxels)</a:t>
            </a:r>
          </a:p>
        </p:txBody>
      </p:sp>
      <p:sp>
        <p:nvSpPr>
          <p:cNvPr id="10" name="TextBox 10"/>
          <p:cNvSpPr txBox="1"/>
          <p:nvPr/>
        </p:nvSpPr>
        <p:spPr>
          <a:xfrm>
            <a:off x="12572283" y="8734425"/>
            <a:ext cx="2303399" cy="981075"/>
          </a:xfrm>
          <a:prstGeom prst="rect">
            <a:avLst/>
          </a:prstGeom>
        </p:spPr>
        <p:txBody>
          <a:bodyPr lIns="0" tIns="0" rIns="0" bIns="0" rtlCol="0" anchor="t">
            <a:spAutoFit/>
          </a:bodyPr>
          <a:lstStyle/>
          <a:p>
            <a:pPr algn="ctr">
              <a:lnSpc>
                <a:spcPts val="3600"/>
              </a:lnSpc>
            </a:pPr>
            <a:r>
              <a:rPr lang="en-US" sz="3000">
                <a:solidFill>
                  <a:srgbClr val="000000"/>
                </a:solidFill>
                <a:latin typeface="Calibri (MS)"/>
                <a:ea typeface="Calibri (MS)"/>
                <a:cs typeface="Calibri (MS)"/>
                <a:sym typeface="Calibri (MS)"/>
              </a:rPr>
              <a:t>Scans 2D</a:t>
            </a:r>
          </a:p>
          <a:p>
            <a:pPr algn="ctr">
              <a:lnSpc>
                <a:spcPts val="3600"/>
              </a:lnSpc>
              <a:spcBef>
                <a:spcPct val="0"/>
              </a:spcBef>
            </a:pPr>
            <a:r>
              <a:rPr lang="en-US" sz="3000">
                <a:solidFill>
                  <a:srgbClr val="000000"/>
                </a:solidFill>
                <a:latin typeface="Calibri (MS)"/>
                <a:ea typeface="Calibri (MS)"/>
                <a:cs typeface="Calibri (MS)"/>
                <a:sym typeface="Calibri (MS)"/>
              </a:rPr>
              <a:t>(Slices)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55530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A 3D grid is an organized set of spatial positions used to sample and store volumetric data.</a:t>
            </a:r>
          </a:p>
          <a:p>
            <a:pPr algn="l">
              <a:lnSpc>
                <a:spcPts val="3600"/>
              </a:lnSpc>
            </a:pPr>
            <a:r>
              <a:rPr lang="en-US" sz="3000" dirty="0">
                <a:solidFill>
                  <a:srgbClr val="000000"/>
                </a:solidFill>
                <a:latin typeface="Calibri (MS)"/>
                <a:ea typeface="Calibri (MS)"/>
                <a:cs typeface="Calibri (MS)"/>
                <a:sym typeface="Calibri (MS)"/>
              </a:rPr>
              <a:t>For a regular volume, the grid can be described by:</a:t>
            </a:r>
          </a:p>
          <a:p>
            <a:pPr algn="ctr">
              <a:lnSpc>
                <a:spcPts val="3600"/>
              </a:lnSpc>
            </a:pPr>
            <a:r>
              <a:rPr lang="en-US" sz="3000" b="1" i="1" dirty="0" err="1">
                <a:solidFill>
                  <a:srgbClr val="000000"/>
                </a:solidFill>
                <a:latin typeface="Calibri (MS) Italics"/>
                <a:ea typeface="Calibri (MS) Italics"/>
                <a:cs typeface="Calibri (MS) Italics"/>
                <a:sym typeface="Calibri (MS) Italics"/>
              </a:rPr>
              <a:t>Nx</a:t>
            </a:r>
            <a:r>
              <a:rPr lang="en-US" sz="3000" b="1" i="1" dirty="0">
                <a:solidFill>
                  <a:srgbClr val="000000"/>
                </a:solidFill>
                <a:latin typeface="Calibri (MS) Italics"/>
                <a:ea typeface="Calibri (MS) Italics"/>
                <a:cs typeface="Calibri (MS) Italics"/>
                <a:sym typeface="Calibri (MS) Italics"/>
              </a:rPr>
              <a:t> × Ny × </a:t>
            </a:r>
            <a:r>
              <a:rPr lang="en-US" sz="3000" b="1" i="1" dirty="0" err="1">
                <a:solidFill>
                  <a:srgbClr val="000000"/>
                </a:solidFill>
                <a:latin typeface="Calibri (MS) Italics"/>
                <a:ea typeface="Calibri (MS) Italics"/>
                <a:cs typeface="Calibri (MS) Italics"/>
                <a:sym typeface="Calibri (MS) Italics"/>
              </a:rPr>
              <a:t>Nz</a:t>
            </a:r>
            <a:endParaRPr lang="en-US" sz="3000" b="1" i="1" dirty="0">
              <a:solidFill>
                <a:srgbClr val="000000"/>
              </a:solidFill>
              <a:latin typeface="Calibri (MS) Italics"/>
              <a:ea typeface="Calibri (MS) Italics"/>
              <a:cs typeface="Calibri (MS) Italics"/>
              <a:sym typeface="Calibri (MS) Italics"/>
            </a:endParaRPr>
          </a:p>
          <a:p>
            <a:pPr algn="l">
              <a:lnSpc>
                <a:spcPts val="3600"/>
              </a:lnSpc>
            </a:pPr>
            <a:r>
              <a:rPr lang="en-US" sz="3000" dirty="0">
                <a:solidFill>
                  <a:srgbClr val="000000"/>
                </a:solidFill>
                <a:latin typeface="Calibri (MS)"/>
                <a:ea typeface="Calibri (MS)"/>
                <a:cs typeface="Calibri (MS)"/>
                <a:sym typeface="Calibri (MS)"/>
              </a:rPr>
              <a:t>where </a:t>
            </a:r>
            <a:r>
              <a:rPr lang="en-US" sz="3000" i="1" dirty="0" err="1">
                <a:solidFill>
                  <a:srgbClr val="000000"/>
                </a:solidFill>
                <a:latin typeface="Calibri (MS) Italics"/>
                <a:ea typeface="Calibri (MS) Italics"/>
                <a:cs typeface="Calibri (MS) Italics"/>
                <a:sym typeface="Calibri (MS) Italics"/>
              </a:rPr>
              <a:t>Nx</a:t>
            </a:r>
            <a:r>
              <a:rPr lang="en-US" sz="3000" i="1" dirty="0">
                <a:solidFill>
                  <a:srgbClr val="000000"/>
                </a:solidFill>
                <a:latin typeface="Calibri (MS) Italics"/>
                <a:ea typeface="Calibri (MS) Italics"/>
                <a:cs typeface="Calibri (MS) Italics"/>
                <a:sym typeface="Calibri (MS) Italics"/>
              </a:rPr>
              <a:t> , Ny , </a:t>
            </a:r>
            <a:r>
              <a:rPr lang="en-US" sz="3000" i="1" dirty="0" err="1">
                <a:solidFill>
                  <a:srgbClr val="000000"/>
                </a:solidFill>
                <a:latin typeface="Calibri (MS) Italics"/>
                <a:ea typeface="Calibri (MS) Italics"/>
                <a:cs typeface="Calibri (MS) Italics"/>
                <a:sym typeface="Calibri (MS) Italics"/>
              </a:rPr>
              <a:t>Nz</a:t>
            </a:r>
            <a:r>
              <a:rPr lang="en-US" sz="3000" dirty="0">
                <a:solidFill>
                  <a:srgbClr val="000000"/>
                </a:solidFill>
                <a:latin typeface="Calibri (MS)"/>
                <a:ea typeface="Calibri (MS)"/>
                <a:cs typeface="Calibri (MS)"/>
                <a:sym typeface="Calibri (MS)"/>
              </a:rPr>
              <a:t> are the numbers of samples along the three spatial axes.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Regular 3D Grid</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Predictable spatial arrangement.</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Uniform or systematically defined spacing.</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Efficient indexing and storage.</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Common in image and volume datasets.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b="1" dirty="0">
                <a:solidFill>
                  <a:srgbClr val="000000"/>
                </a:solidFill>
                <a:latin typeface="Calibri (MS) Bold"/>
                <a:ea typeface="Calibri (MS) Bold"/>
                <a:cs typeface="Calibri (MS) Bold"/>
                <a:sym typeface="Calibri (MS) Bold"/>
              </a:rPr>
              <a:t>Grid And Spatial Sampling</a:t>
            </a:r>
          </a:p>
        </p:txBody>
      </p:sp>
      <p:sp>
        <p:nvSpPr>
          <p:cNvPr id="6" name="Freeform 6"/>
          <p:cNvSpPr/>
          <p:nvPr/>
        </p:nvSpPr>
        <p:spPr>
          <a:xfrm>
            <a:off x="5149691" y="7582902"/>
            <a:ext cx="1844828" cy="538938"/>
          </a:xfrm>
          <a:custGeom>
            <a:avLst/>
            <a:gdLst/>
            <a:ahLst/>
            <a:cxnLst/>
            <a:rect l="l" t="t" r="r" b="b"/>
            <a:pathLst>
              <a:path w="1844828" h="538938">
                <a:moveTo>
                  <a:pt x="0" y="0"/>
                </a:moveTo>
                <a:lnTo>
                  <a:pt x="1844828" y="0"/>
                </a:lnTo>
                <a:lnTo>
                  <a:pt x="1844828" y="538938"/>
                </a:lnTo>
                <a:lnTo>
                  <a:pt x="0" y="538938"/>
                </a:lnTo>
                <a:lnTo>
                  <a:pt x="0" y="0"/>
                </a:lnTo>
                <a:close/>
              </a:path>
            </a:pathLst>
          </a:custGeom>
          <a:blipFill>
            <a:blip r:embed="rId3"/>
            <a:stretch>
              <a:fillRect/>
            </a:stretch>
          </a:blipFill>
        </p:spPr>
        <p:txBody>
          <a:bodyPr/>
          <a:lstStyle/>
          <a:p>
            <a:endParaRPr lang="en-IN"/>
          </a:p>
        </p:txBody>
      </p:sp>
      <p:sp>
        <p:nvSpPr>
          <p:cNvPr id="7" name="Freeform 7"/>
          <p:cNvSpPr/>
          <p:nvPr/>
        </p:nvSpPr>
        <p:spPr>
          <a:xfrm>
            <a:off x="6946894" y="8204744"/>
            <a:ext cx="2640142" cy="532287"/>
          </a:xfrm>
          <a:custGeom>
            <a:avLst/>
            <a:gdLst/>
            <a:ahLst/>
            <a:cxnLst/>
            <a:rect l="l" t="t" r="r" b="b"/>
            <a:pathLst>
              <a:path w="2640142" h="532287">
                <a:moveTo>
                  <a:pt x="0" y="0"/>
                </a:moveTo>
                <a:lnTo>
                  <a:pt x="2640142" y="0"/>
                </a:lnTo>
                <a:lnTo>
                  <a:pt x="2640142" y="532286"/>
                </a:lnTo>
                <a:lnTo>
                  <a:pt x="0" y="532286"/>
                </a:lnTo>
                <a:lnTo>
                  <a:pt x="0" y="0"/>
                </a:lnTo>
                <a:close/>
              </a:path>
            </a:pathLst>
          </a:custGeom>
          <a:blipFill>
            <a:blip r:embed="rId4"/>
            <a:stretch>
              <a:fillRect/>
            </a:stretch>
          </a:blipFill>
        </p:spPr>
        <p:txBody>
          <a:bodyPr/>
          <a:lstStyle/>
          <a:p>
            <a:endParaRPr lang="en-IN"/>
          </a:p>
        </p:txBody>
      </p:sp>
      <p:sp>
        <p:nvSpPr>
          <p:cNvPr id="8" name="TextBox 8"/>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3D Grids</a:t>
            </a:r>
          </a:p>
        </p:txBody>
      </p:sp>
      <p:sp>
        <p:nvSpPr>
          <p:cNvPr id="10" name="TextBox 10"/>
          <p:cNvSpPr txBox="1"/>
          <p:nvPr/>
        </p:nvSpPr>
        <p:spPr>
          <a:xfrm>
            <a:off x="826684" y="7597965"/>
            <a:ext cx="4301877" cy="523875"/>
          </a:xfrm>
          <a:prstGeom prst="rect">
            <a:avLst/>
          </a:prstGeom>
        </p:spPr>
        <p:txBody>
          <a:bodyPr lIns="0" tIns="0" rIns="0" bIns="0" rtlCol="0" anchor="t">
            <a:spAutoFit/>
          </a:bodyPr>
          <a:lstStyle/>
          <a:p>
            <a:pPr algn="l">
              <a:lnSpc>
                <a:spcPts val="3600"/>
              </a:lnSpc>
              <a:spcBef>
                <a:spcPct val="0"/>
              </a:spcBef>
            </a:pPr>
            <a:r>
              <a:rPr lang="en-US" sz="3000" dirty="0">
                <a:solidFill>
                  <a:srgbClr val="000000"/>
                </a:solidFill>
                <a:latin typeface="Calibri (MS)"/>
                <a:ea typeface="Calibri (MS)"/>
                <a:cs typeface="Calibri (MS)"/>
                <a:sym typeface="Calibri (MS)"/>
              </a:rPr>
              <a:t>A continuous phenomenon:</a:t>
            </a:r>
          </a:p>
        </p:txBody>
      </p:sp>
      <p:sp>
        <p:nvSpPr>
          <p:cNvPr id="11" name="TextBox 11"/>
          <p:cNvSpPr txBox="1"/>
          <p:nvPr/>
        </p:nvSpPr>
        <p:spPr>
          <a:xfrm>
            <a:off x="826684" y="8175612"/>
            <a:ext cx="6167835" cy="523875"/>
          </a:xfrm>
          <a:prstGeom prst="rect">
            <a:avLst/>
          </a:prstGeom>
        </p:spPr>
        <p:txBody>
          <a:bodyPr lIns="0" tIns="0" rIns="0" bIns="0" rtlCol="0" anchor="t">
            <a:spAutoFit/>
          </a:bodyPr>
          <a:lstStyle/>
          <a:p>
            <a:pPr algn="l">
              <a:lnSpc>
                <a:spcPts val="3600"/>
              </a:lnSpc>
              <a:spcBef>
                <a:spcPct val="0"/>
              </a:spcBef>
            </a:pPr>
            <a:r>
              <a:rPr lang="en-US" sz="3000">
                <a:solidFill>
                  <a:srgbClr val="000000"/>
                </a:solidFill>
                <a:latin typeface="Calibri (MS)"/>
                <a:ea typeface="Calibri (MS)"/>
                <a:cs typeface="Calibri (MS)"/>
                <a:sym typeface="Calibri (MS)"/>
              </a:rPr>
              <a:t>is sampled at discrete spatial positions:</a:t>
            </a:r>
          </a:p>
        </p:txBody>
      </p:sp>
      <p:sp>
        <p:nvSpPr>
          <p:cNvPr id="12" name="TextBox 12"/>
          <p:cNvSpPr txBox="1"/>
          <p:nvPr/>
        </p:nvSpPr>
        <p:spPr>
          <a:xfrm>
            <a:off x="826684" y="8794180"/>
            <a:ext cx="14465392" cy="523875"/>
          </a:xfrm>
          <a:prstGeom prst="rect">
            <a:avLst/>
          </a:prstGeom>
        </p:spPr>
        <p:txBody>
          <a:bodyPr lIns="0" tIns="0" rIns="0" bIns="0" rtlCol="0" anchor="t">
            <a:spAutoFit/>
          </a:bodyPr>
          <a:lstStyle/>
          <a:p>
            <a:pPr algn="l">
              <a:lnSpc>
                <a:spcPts val="3600"/>
              </a:lnSpc>
              <a:spcBef>
                <a:spcPct val="0"/>
              </a:spcBef>
            </a:pPr>
            <a:r>
              <a:rPr lang="en-US" sz="3000">
                <a:solidFill>
                  <a:srgbClr val="000000"/>
                </a:solidFill>
                <a:latin typeface="Calibri (MS)"/>
                <a:ea typeface="Calibri (MS)"/>
                <a:cs typeface="Calibri (MS)"/>
                <a:sym typeface="Calibri (MS)"/>
              </a:rPr>
              <a:t>The grid therefore determines where the field is represented numerically.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60102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Resolution</a:t>
            </a:r>
          </a:p>
          <a:p>
            <a:pPr algn="l">
              <a:lnSpc>
                <a:spcPts val="3600"/>
              </a:lnSpc>
            </a:pPr>
            <a:r>
              <a:rPr lang="en-US" sz="3000" b="1" dirty="0">
                <a:solidFill>
                  <a:srgbClr val="000000"/>
                </a:solidFill>
                <a:latin typeface="Calibri (MS)"/>
                <a:ea typeface="Calibri (MS)"/>
                <a:cs typeface="Calibri (MS)"/>
                <a:sym typeface="Calibri (MS)"/>
              </a:rPr>
              <a:t>Higher grid resolution:</a:t>
            </a:r>
          </a:p>
          <a:p>
            <a:pPr algn="ctr">
              <a:lnSpc>
                <a:spcPts val="3600"/>
              </a:lnSpc>
            </a:pPr>
            <a:r>
              <a:rPr lang="en-US" sz="3000" i="1" dirty="0" err="1">
                <a:solidFill>
                  <a:srgbClr val="000000"/>
                </a:solidFill>
                <a:latin typeface="Calibri (MS) Italics"/>
                <a:ea typeface="Calibri (MS) Italics"/>
                <a:cs typeface="Calibri (MS) Italics"/>
                <a:sym typeface="Calibri (MS) Italics"/>
              </a:rPr>
              <a:t>Nx</a:t>
            </a:r>
            <a:r>
              <a:rPr lang="en-US" sz="3000" i="1" dirty="0">
                <a:solidFill>
                  <a:srgbClr val="000000"/>
                </a:solidFill>
                <a:latin typeface="Calibri (MS) Italics"/>
                <a:ea typeface="Calibri (MS) Italics"/>
                <a:cs typeface="Calibri (MS) Italics"/>
                <a:sym typeface="Calibri (MS) Italics"/>
              </a:rPr>
              <a:t> , Ny , </a:t>
            </a:r>
            <a:r>
              <a:rPr lang="en-US" sz="3000" i="1" dirty="0" err="1">
                <a:solidFill>
                  <a:srgbClr val="000000"/>
                </a:solidFill>
                <a:latin typeface="Calibri (MS) Italics"/>
                <a:ea typeface="Calibri (MS) Italics"/>
                <a:cs typeface="Calibri (MS) Italics"/>
                <a:sym typeface="Calibri (MS) Italics"/>
              </a:rPr>
              <a:t>Nz</a:t>
            </a:r>
            <a:r>
              <a:rPr lang="en-US" sz="3000" dirty="0">
                <a:solidFill>
                  <a:srgbClr val="000000"/>
                </a:solidFill>
                <a:latin typeface="Calibri (MS)"/>
                <a:ea typeface="Calibri (MS)"/>
                <a:cs typeface="Calibri (MS)"/>
                <a:sym typeface="Calibri (MS)"/>
              </a:rPr>
              <a:t> ↑</a:t>
            </a:r>
          </a:p>
          <a:p>
            <a:pPr algn="l">
              <a:lnSpc>
                <a:spcPts val="3600"/>
              </a:lnSpc>
            </a:pPr>
            <a:r>
              <a:rPr lang="en-US" sz="3000" dirty="0">
                <a:solidFill>
                  <a:srgbClr val="000000"/>
                </a:solidFill>
                <a:latin typeface="Calibri (MS)"/>
                <a:ea typeface="Calibri (MS)"/>
                <a:cs typeface="Calibri (MS)"/>
                <a:sym typeface="Calibri (MS)"/>
              </a:rPr>
              <a:t>generally provides more spatial detail, but also increases: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Storage requirements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Processing requirements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Rendering workloa</a:t>
            </a:r>
            <a:r>
              <a:rPr lang="en-US" sz="3000" dirty="0">
                <a:solidFill>
                  <a:srgbClr val="000000"/>
                </a:solidFill>
                <a:latin typeface="Calibri (MS)"/>
                <a:ea typeface="Calibri (MS)"/>
                <a:cs typeface="Calibri (MS)"/>
                <a:sym typeface="Calibri (MS)"/>
              </a:rPr>
              <a:t>d</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Example</a:t>
            </a:r>
          </a:p>
          <a:p>
            <a:pPr algn="l">
              <a:lnSpc>
                <a:spcPts val="3600"/>
              </a:lnSpc>
            </a:pPr>
            <a:r>
              <a:rPr lang="en-US" sz="3000" dirty="0">
                <a:solidFill>
                  <a:srgbClr val="000000"/>
                </a:solidFill>
                <a:latin typeface="Calibri (MS)"/>
                <a:ea typeface="Calibri (MS)"/>
                <a:cs typeface="Calibri (MS)"/>
                <a:sym typeface="Calibri (MS)"/>
              </a:rPr>
              <a:t>A 512 × 512 × 300 volume contains 512 × 512 × 300 = 78,643,200 spatial samples.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t>
            </a:r>
            <a:r>
              <a:rPr lang="en-US" sz="3000" i="1" dirty="0">
                <a:solidFill>
                  <a:srgbClr val="000000"/>
                </a:solidFill>
                <a:latin typeface="Calibri (MS) Italics"/>
                <a:ea typeface="Calibri (MS) Italics"/>
                <a:cs typeface="Calibri (MS) Italics"/>
                <a:sym typeface="Calibri (MS) Italics"/>
              </a:rPr>
              <a:t>Key Idea: </a:t>
            </a:r>
            <a:r>
              <a:rPr lang="en-US" sz="3000" b="1" i="1" dirty="0">
                <a:solidFill>
                  <a:srgbClr val="000000"/>
                </a:solidFill>
                <a:latin typeface="Calibri (MS) Italics"/>
                <a:ea typeface="Calibri (MS) Italics"/>
                <a:cs typeface="Calibri (MS) Italics"/>
                <a:sym typeface="Calibri (MS) Italics"/>
              </a:rPr>
              <a:t>The grid is the discrete spatial structure through which a continuous 3D field becomes computationally representable.</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3D Grids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15533342" cy="60102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Volume slicing extracts a </a:t>
            </a:r>
            <a:r>
              <a:rPr lang="en-US" sz="3000" b="1" dirty="0">
                <a:solidFill>
                  <a:srgbClr val="000000"/>
                </a:solidFill>
                <a:latin typeface="Calibri (MS)"/>
                <a:ea typeface="Calibri (MS)"/>
                <a:cs typeface="Calibri (MS)"/>
                <a:sym typeface="Calibri (MS)"/>
              </a:rPr>
              <a:t>two-dimensional cross-section from a three-dimensional volume </a:t>
            </a:r>
            <a:r>
              <a:rPr lang="en-US" sz="3000" dirty="0">
                <a:solidFill>
                  <a:srgbClr val="000000"/>
                </a:solidFill>
                <a:latin typeface="Calibri (MS)"/>
                <a:ea typeface="Calibri (MS)"/>
                <a:cs typeface="Calibri (MS)"/>
                <a:sym typeface="Calibri (MS)"/>
              </a:rPr>
              <a:t>by selecting a plane through the dataset.</a:t>
            </a:r>
          </a:p>
          <a:p>
            <a:pPr algn="l">
              <a:lnSpc>
                <a:spcPts val="3600"/>
              </a:lnSpc>
            </a:pPr>
            <a:r>
              <a:rPr lang="en-US" sz="3000" dirty="0">
                <a:solidFill>
                  <a:srgbClr val="000000"/>
                </a:solidFill>
                <a:latin typeface="Calibri (MS)"/>
                <a:ea typeface="Calibri (MS)"/>
                <a:cs typeface="Calibri (MS)"/>
                <a:sym typeface="Calibri (MS)"/>
              </a:rPr>
              <a:t>For a scalar volume: </a:t>
            </a:r>
            <a:r>
              <a:rPr lang="en-US" sz="3000" b="1" i="1" dirty="0">
                <a:solidFill>
                  <a:srgbClr val="000000"/>
                </a:solidFill>
                <a:latin typeface="Calibri (MS) Italics"/>
                <a:ea typeface="Calibri (MS) Italics"/>
                <a:cs typeface="Calibri (MS) Italics"/>
                <a:sym typeface="Calibri (MS) Italics"/>
              </a:rPr>
              <a:t>V(x, y, z), </a:t>
            </a:r>
            <a:r>
              <a:rPr lang="en-US" sz="3000" b="1" dirty="0">
                <a:solidFill>
                  <a:srgbClr val="000000"/>
                </a:solidFill>
                <a:latin typeface="Calibri (MS)"/>
                <a:ea typeface="Calibri (MS)"/>
                <a:cs typeface="Calibri (MS)"/>
                <a:sym typeface="Calibri (MS)"/>
              </a:rPr>
              <a:t>a horizontal slice at </a:t>
            </a:r>
            <a:r>
              <a:rPr lang="en-US" sz="3000" b="1" i="1" dirty="0">
                <a:solidFill>
                  <a:srgbClr val="000000"/>
                </a:solidFill>
                <a:latin typeface="Calibri (MS) Italics"/>
                <a:ea typeface="Calibri (MS) Italics"/>
                <a:cs typeface="Calibri (MS) Italics"/>
                <a:sym typeface="Calibri (MS) Italics"/>
              </a:rPr>
              <a:t>z = z0 </a:t>
            </a:r>
            <a:r>
              <a:rPr lang="en-US" sz="3000" b="1" dirty="0">
                <a:solidFill>
                  <a:srgbClr val="000000"/>
                </a:solidFill>
                <a:latin typeface="Calibri (MS)"/>
                <a:ea typeface="Calibri (MS)"/>
                <a:cs typeface="Calibri (MS)"/>
                <a:sym typeface="Calibri (MS)"/>
              </a:rPr>
              <a:t>produces </a:t>
            </a:r>
            <a:r>
              <a:rPr lang="en-US" sz="3000" b="1" i="1" dirty="0">
                <a:solidFill>
                  <a:srgbClr val="000000"/>
                </a:solidFill>
                <a:latin typeface="Calibri (MS) Italics"/>
                <a:ea typeface="Calibri (MS) Italics"/>
                <a:cs typeface="Calibri (MS) Italics"/>
                <a:sym typeface="Calibri (MS) Italics"/>
              </a:rPr>
              <a:t>V(x, y, z0​)​</a:t>
            </a:r>
          </a:p>
          <a:p>
            <a:pPr algn="ctr">
              <a:lnSpc>
                <a:spcPts val="3600"/>
              </a:lnSpc>
            </a:pPr>
            <a:endParaRPr lang="en-US" sz="3000" i="1" dirty="0">
              <a:solidFill>
                <a:srgbClr val="000000"/>
              </a:solidFill>
              <a:latin typeface="Calibri (MS) Italics"/>
              <a:ea typeface="Calibri (MS) Italics"/>
              <a:cs typeface="Calibri (MS) Italics"/>
              <a:sym typeface="Calibri (MS) Italics"/>
            </a:endParaRPr>
          </a:p>
          <a:p>
            <a:pPr algn="l">
              <a:lnSpc>
                <a:spcPts val="3600"/>
              </a:lnSpc>
            </a:pPr>
            <a:r>
              <a:rPr lang="en-US" sz="3000" b="1" dirty="0">
                <a:solidFill>
                  <a:srgbClr val="000000"/>
                </a:solidFill>
                <a:latin typeface="Calibri (MS) Bold"/>
                <a:ea typeface="Calibri (MS) Bold"/>
                <a:cs typeface="Calibri (MS) Bold"/>
                <a:sym typeface="Calibri (MS) Bold"/>
              </a:rPr>
              <a:t>What Does A Slice Show?</a:t>
            </a:r>
          </a:p>
          <a:p>
            <a:pPr algn="l">
              <a:lnSpc>
                <a:spcPts val="3600"/>
              </a:lnSpc>
            </a:pPr>
            <a:r>
              <a:rPr lang="en-US" sz="3000" dirty="0">
                <a:solidFill>
                  <a:srgbClr val="000000"/>
                </a:solidFill>
                <a:latin typeface="Calibri (MS)"/>
                <a:ea typeface="Calibri (MS)"/>
                <a:cs typeface="Calibri (MS)"/>
                <a:sym typeface="Calibri (MS)"/>
              </a:rPr>
              <a:t>A slice converts: </a:t>
            </a:r>
            <a:r>
              <a:rPr lang="en-US" sz="3000" b="1" dirty="0">
                <a:solidFill>
                  <a:srgbClr val="000000"/>
                </a:solidFill>
                <a:latin typeface="Calibri (MS)"/>
                <a:ea typeface="Calibri (MS)"/>
                <a:cs typeface="Calibri (MS)"/>
                <a:sym typeface="Calibri (MS)"/>
              </a:rPr>
              <a:t>3D→2D </a:t>
            </a:r>
            <a:r>
              <a:rPr lang="en-US" sz="3000" dirty="0">
                <a:solidFill>
                  <a:srgbClr val="000000"/>
                </a:solidFill>
                <a:latin typeface="Calibri (MS)"/>
                <a:ea typeface="Calibri (MS)"/>
                <a:cs typeface="Calibri (MS)"/>
                <a:sym typeface="Calibri (MS)"/>
              </a:rPr>
              <a:t>while preserving the scalar values within the selected plane.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Advantages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Directly </a:t>
            </a:r>
            <a:r>
              <a:rPr lang="en-US" sz="3000" b="1" dirty="0">
                <a:solidFill>
                  <a:srgbClr val="000000"/>
                </a:solidFill>
                <a:latin typeface="Calibri (MS)"/>
                <a:ea typeface="Calibri (MS)"/>
                <a:cs typeface="Calibri (MS)"/>
                <a:sym typeface="Calibri (MS)"/>
              </a:rPr>
              <a:t>exposes internal regions </a:t>
            </a:r>
            <a:r>
              <a:rPr lang="en-US" sz="3000" dirty="0">
                <a:solidFill>
                  <a:srgbClr val="000000"/>
                </a:solidFill>
                <a:latin typeface="Calibri (MS)"/>
                <a:ea typeface="Calibri (MS)"/>
                <a:cs typeface="Calibri (MS)"/>
                <a:sym typeface="Calibri (MS)"/>
              </a:rPr>
              <a:t>of a volume.</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Avoids occlusion </a:t>
            </a:r>
            <a:r>
              <a:rPr lang="en-US" sz="3000" dirty="0">
                <a:solidFill>
                  <a:srgbClr val="000000"/>
                </a:solidFill>
                <a:latin typeface="Calibri (MS)"/>
                <a:ea typeface="Calibri (MS)"/>
                <a:cs typeface="Calibri (MS)"/>
                <a:sym typeface="Calibri (MS)"/>
              </a:rPr>
              <a:t>caused by surrounding structures.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Can display the resulting plane using a heatmap or grayscale image.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Allows </a:t>
            </a:r>
            <a:r>
              <a:rPr lang="en-US" sz="3000" b="1" dirty="0">
                <a:solidFill>
                  <a:srgbClr val="000000"/>
                </a:solidFill>
                <a:latin typeface="Calibri (MS)"/>
                <a:ea typeface="Calibri (MS)"/>
                <a:cs typeface="Calibri (MS)"/>
                <a:sym typeface="Calibri (MS)"/>
              </a:rPr>
              <a:t>detailed inspection of local structures</a:t>
            </a:r>
            <a:r>
              <a:rPr lang="en-US" sz="3000" dirty="0">
                <a:solidFill>
                  <a:srgbClr val="000000"/>
                </a:solidFill>
                <a:latin typeface="Calibri (MS)"/>
                <a:ea typeface="Calibri (MS)"/>
                <a:cs typeface="Calibri (MS)"/>
                <a:sym typeface="Calibri (MS)"/>
              </a:rPr>
              <a:t>.</a:t>
            </a:r>
          </a:p>
          <a:p>
            <a:pPr marL="647703" lvl="1" indent="-323852"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Computationally simpler than rendering the entire volume.</a:t>
            </a:r>
          </a:p>
        </p:txBody>
      </p:sp>
      <p:sp>
        <p:nvSpPr>
          <p:cNvPr id="6" name="Freeform 6"/>
          <p:cNvSpPr/>
          <p:nvPr/>
        </p:nvSpPr>
        <p:spPr>
          <a:xfrm>
            <a:off x="12678979" y="5472633"/>
            <a:ext cx="5027526" cy="3785667"/>
          </a:xfrm>
          <a:custGeom>
            <a:avLst/>
            <a:gdLst/>
            <a:ahLst/>
            <a:cxnLst/>
            <a:rect l="l" t="t" r="r" b="b"/>
            <a:pathLst>
              <a:path w="5027526" h="3785667">
                <a:moveTo>
                  <a:pt x="0" y="0"/>
                </a:moveTo>
                <a:lnTo>
                  <a:pt x="5027526" y="0"/>
                </a:lnTo>
                <a:lnTo>
                  <a:pt x="5027526" y="3785667"/>
                </a:lnTo>
                <a:lnTo>
                  <a:pt x="0" y="3785667"/>
                </a:lnTo>
                <a:lnTo>
                  <a:pt x="0" y="0"/>
                </a:lnTo>
                <a:close/>
              </a:path>
            </a:pathLst>
          </a:custGeom>
          <a:blipFill>
            <a:blip r:embed="rId4"/>
            <a:stretch>
              <a:fillRect l="-23300" t="-26567" r="-33247" b="-41912"/>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Slicing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1991118"/>
            <a:ext cx="9524347" cy="7839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Limitation</a:t>
            </a:r>
          </a:p>
          <a:p>
            <a:pPr algn="l">
              <a:lnSpc>
                <a:spcPts val="3600"/>
              </a:lnSpc>
            </a:pPr>
            <a:r>
              <a:rPr lang="en-US" sz="3000" dirty="0">
                <a:solidFill>
                  <a:srgbClr val="000000"/>
                </a:solidFill>
                <a:latin typeface="Calibri (MS)"/>
                <a:ea typeface="Calibri (MS)"/>
                <a:cs typeface="Calibri (MS)"/>
                <a:sym typeface="Calibri (MS)"/>
              </a:rPr>
              <a:t>A single slice represents only one plane of the volume.</a:t>
            </a:r>
          </a:p>
          <a:p>
            <a:pPr algn="l">
              <a:lnSpc>
                <a:spcPts val="3600"/>
              </a:lnSpc>
            </a:pPr>
            <a:r>
              <a:rPr lang="en-US" sz="3000" dirty="0">
                <a:solidFill>
                  <a:srgbClr val="000000"/>
                </a:solidFill>
                <a:latin typeface="Calibri (MS)"/>
                <a:ea typeface="Calibri (MS)"/>
                <a:cs typeface="Calibri (MS)"/>
                <a:sym typeface="Calibri (MS)"/>
              </a:rPr>
              <a:t>Important structures may therefore lie: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Between slices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Outside the selected plane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At an orientation not aligned with the selected plane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Applications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CT examination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MRI analysis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3D simulation inspection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Temperature distribution within a solid</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Internal structure analysis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Important Visualization Principle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Sl</a:t>
            </a:r>
            <a:r>
              <a:rPr lang="en-US" sz="3000" b="1" dirty="0">
                <a:solidFill>
                  <a:srgbClr val="000000"/>
                </a:solidFill>
                <a:latin typeface="Calibri (MS)"/>
                <a:ea typeface="Calibri (MS)"/>
                <a:cs typeface="Calibri (MS)"/>
                <a:sym typeface="Calibri (MS)"/>
              </a:rPr>
              <a:t>icing does not reconstruct the entire 3D structure.</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It provides a controlled 2D view into the volume.</a:t>
            </a:r>
          </a:p>
        </p:txBody>
      </p:sp>
      <p:sp>
        <p:nvSpPr>
          <p:cNvPr id="6" name="Freeform 6"/>
          <p:cNvSpPr/>
          <p:nvPr/>
        </p:nvSpPr>
        <p:spPr>
          <a:xfrm>
            <a:off x="12737425" y="7172353"/>
            <a:ext cx="1842731" cy="2908864"/>
          </a:xfrm>
          <a:custGeom>
            <a:avLst/>
            <a:gdLst/>
            <a:ahLst/>
            <a:cxnLst/>
            <a:rect l="l" t="t" r="r" b="b"/>
            <a:pathLst>
              <a:path w="1842731" h="2908864">
                <a:moveTo>
                  <a:pt x="0" y="0"/>
                </a:moveTo>
                <a:lnTo>
                  <a:pt x="1842731" y="0"/>
                </a:lnTo>
                <a:lnTo>
                  <a:pt x="1842731" y="2908864"/>
                </a:lnTo>
                <a:lnTo>
                  <a:pt x="0" y="2908864"/>
                </a:lnTo>
                <a:lnTo>
                  <a:pt x="0" y="0"/>
                </a:lnTo>
                <a:close/>
              </a:path>
            </a:pathLst>
          </a:custGeom>
          <a:blipFill>
            <a:blip r:embed="rId3"/>
            <a:stretch>
              <a:fillRect l="-297510" b="-7894"/>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Slicing</a:t>
            </a:r>
          </a:p>
        </p:txBody>
      </p:sp>
      <p:sp>
        <p:nvSpPr>
          <p:cNvPr id="9" name="Freeform 9"/>
          <p:cNvSpPr/>
          <p:nvPr/>
        </p:nvSpPr>
        <p:spPr>
          <a:xfrm>
            <a:off x="12561549" y="4325656"/>
            <a:ext cx="2194484" cy="2656197"/>
          </a:xfrm>
          <a:custGeom>
            <a:avLst/>
            <a:gdLst/>
            <a:ahLst/>
            <a:cxnLst/>
            <a:rect l="l" t="t" r="r" b="b"/>
            <a:pathLst>
              <a:path w="2194484" h="2656197">
                <a:moveTo>
                  <a:pt x="0" y="0"/>
                </a:moveTo>
                <a:lnTo>
                  <a:pt x="2194483" y="0"/>
                </a:lnTo>
                <a:lnTo>
                  <a:pt x="2194483" y="2656197"/>
                </a:lnTo>
                <a:lnTo>
                  <a:pt x="0" y="2656197"/>
                </a:lnTo>
                <a:lnTo>
                  <a:pt x="0" y="0"/>
                </a:lnTo>
                <a:close/>
              </a:path>
            </a:pathLst>
          </a:custGeom>
          <a:blipFill>
            <a:blip r:embed="rId3"/>
            <a:stretch>
              <a:fillRect l="-121667" r="-90980" b="-10672"/>
            </a:stretch>
          </a:blipFill>
        </p:spPr>
        <p:txBody>
          <a:bodyPr/>
          <a:lstStyle/>
          <a:p>
            <a:endParaRPr lang="en-IN"/>
          </a:p>
        </p:txBody>
      </p:sp>
      <p:sp>
        <p:nvSpPr>
          <p:cNvPr id="10" name="Freeform 10"/>
          <p:cNvSpPr/>
          <p:nvPr/>
        </p:nvSpPr>
        <p:spPr>
          <a:xfrm>
            <a:off x="12359020" y="2057793"/>
            <a:ext cx="2599540" cy="2081322"/>
          </a:xfrm>
          <a:custGeom>
            <a:avLst/>
            <a:gdLst/>
            <a:ahLst/>
            <a:cxnLst/>
            <a:rect l="l" t="t" r="r" b="b"/>
            <a:pathLst>
              <a:path w="2599540" h="2081322">
                <a:moveTo>
                  <a:pt x="0" y="0"/>
                </a:moveTo>
                <a:lnTo>
                  <a:pt x="2599541" y="0"/>
                </a:lnTo>
                <a:lnTo>
                  <a:pt x="2599541" y="2081322"/>
                </a:lnTo>
                <a:lnTo>
                  <a:pt x="0" y="2081322"/>
                </a:lnTo>
                <a:lnTo>
                  <a:pt x="0" y="0"/>
                </a:lnTo>
                <a:close/>
              </a:path>
            </a:pathLst>
          </a:custGeom>
          <a:blipFill>
            <a:blip r:embed="rId3"/>
            <a:stretch>
              <a:fillRect t="-42091" r="-182579" b="-9129"/>
            </a:stretch>
          </a:blipFill>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10380875" y="2193943"/>
            <a:ext cx="5942236" cy="6264650"/>
          </a:xfrm>
          <a:custGeom>
            <a:avLst/>
            <a:gdLst/>
            <a:ahLst/>
            <a:cxnLst/>
            <a:rect l="l" t="t" r="r" b="b"/>
            <a:pathLst>
              <a:path w="5942236" h="6264650">
                <a:moveTo>
                  <a:pt x="0" y="0"/>
                </a:moveTo>
                <a:lnTo>
                  <a:pt x="5942236" y="0"/>
                </a:lnTo>
                <a:lnTo>
                  <a:pt x="5942236" y="6264650"/>
                </a:lnTo>
                <a:lnTo>
                  <a:pt x="0" y="6264650"/>
                </a:lnTo>
                <a:lnTo>
                  <a:pt x="0" y="0"/>
                </a:lnTo>
                <a:close/>
              </a:path>
            </a:pathLst>
          </a:custGeom>
          <a:blipFill>
            <a:blip r:embed="rId3"/>
            <a:stretch>
              <a:fillRect l="-5167" t="-5715" r="-6283"/>
            </a:stretch>
          </a:blipFill>
        </p:spPr>
        <p:txBody>
          <a:bodyPr/>
          <a:lstStyle/>
          <a:p>
            <a:endParaRPr lang="en-IN"/>
          </a:p>
        </p:txBody>
      </p:sp>
      <p:sp>
        <p:nvSpPr>
          <p:cNvPr id="6" name="TextBox 6"/>
          <p:cNvSpPr txBox="1"/>
          <p:nvPr/>
        </p:nvSpPr>
        <p:spPr>
          <a:xfrm>
            <a:off x="826684" y="1991118"/>
            <a:ext cx="9247710" cy="6467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Orthogonal Slices</a:t>
            </a:r>
          </a:p>
          <a:p>
            <a:pPr algn="l">
              <a:lnSpc>
                <a:spcPts val="3600"/>
              </a:lnSpc>
            </a:pPr>
            <a:r>
              <a:rPr lang="en-US" sz="3000" dirty="0">
                <a:solidFill>
                  <a:srgbClr val="000000"/>
                </a:solidFill>
                <a:latin typeface="Calibri (MS)"/>
                <a:ea typeface="Calibri (MS)"/>
                <a:cs typeface="Calibri (MS)"/>
                <a:sym typeface="Calibri (MS)"/>
              </a:rPr>
              <a:t>An orthogonal slice is </a:t>
            </a:r>
            <a:r>
              <a:rPr lang="en-US" sz="3000" b="1" dirty="0">
                <a:solidFill>
                  <a:srgbClr val="000000"/>
                </a:solidFill>
                <a:latin typeface="Calibri (MS)"/>
                <a:ea typeface="Calibri (MS)"/>
                <a:cs typeface="Calibri (MS)"/>
                <a:sym typeface="Calibri (MS)"/>
              </a:rPr>
              <a:t>a cross-section taken perpendicular to one of the principal spatial axes.</a:t>
            </a:r>
          </a:p>
          <a:p>
            <a:pPr algn="l">
              <a:lnSpc>
                <a:spcPts val="3600"/>
              </a:lnSpc>
            </a:pPr>
            <a:r>
              <a:rPr lang="en-US" sz="3000" dirty="0">
                <a:solidFill>
                  <a:srgbClr val="000000"/>
                </a:solidFill>
                <a:latin typeface="Calibri (MS)"/>
                <a:ea typeface="Calibri (MS)"/>
                <a:cs typeface="Calibri (MS)"/>
                <a:sym typeface="Calibri (MS)"/>
              </a:rPr>
              <a:t>For a 3D medical volume, the three standard orientations are:</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Axial: z = z0 (Horizontal cross-section)</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Coronal: y = y0 (Front-to-back cross-section)</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Sagittal: x = x0 (Left-to-right cross-section)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Multiplanar Reconstruction (MPR)</a:t>
            </a:r>
          </a:p>
          <a:p>
            <a:pPr algn="l">
              <a:lnSpc>
                <a:spcPts val="3600"/>
              </a:lnSpc>
            </a:pPr>
            <a:r>
              <a:rPr lang="en-US" sz="3000" b="1" dirty="0">
                <a:solidFill>
                  <a:srgbClr val="000000"/>
                </a:solidFill>
                <a:latin typeface="Calibri (MS)"/>
                <a:ea typeface="Calibri (MS)"/>
                <a:cs typeface="Calibri (MS)"/>
                <a:sym typeface="Calibri (MS)"/>
              </a:rPr>
              <a:t>Multiplanar reconstruction generates 2D views from a 3D volumetric dataset along selected planes.</a:t>
            </a:r>
          </a:p>
          <a:p>
            <a:pPr algn="l">
              <a:lnSpc>
                <a:spcPts val="3600"/>
              </a:lnSpc>
            </a:pPr>
            <a:r>
              <a:rPr lang="en-US" sz="3000" dirty="0">
                <a:solidFill>
                  <a:srgbClr val="000000"/>
                </a:solidFill>
                <a:latin typeface="Calibri (MS)"/>
                <a:ea typeface="Calibri (MS)"/>
                <a:cs typeface="Calibri (MS)"/>
                <a:sym typeface="Calibri (MS)"/>
              </a:rPr>
              <a:t>Instead of examining </a:t>
            </a:r>
            <a:r>
              <a:rPr lang="en-US" sz="3000" b="1" dirty="0">
                <a:solidFill>
                  <a:srgbClr val="000000"/>
                </a:solidFill>
                <a:latin typeface="Calibri (MS)"/>
                <a:ea typeface="Calibri (MS)"/>
                <a:cs typeface="Calibri (MS)"/>
                <a:sym typeface="Calibri (MS)"/>
              </a:rPr>
              <a:t>only one orientation, multiple planes can be displayed simultaneously.</a:t>
            </a:r>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Orthogonal Slices And Multiplanar Reconstruction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84898" cy="7381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Why MPR Is Useful</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Provides </a:t>
            </a:r>
            <a:r>
              <a:rPr lang="en-US" sz="3000" b="1" dirty="0">
                <a:solidFill>
                  <a:srgbClr val="000000"/>
                </a:solidFill>
                <a:latin typeface="Calibri (MS)"/>
                <a:ea typeface="Calibri (MS)"/>
                <a:cs typeface="Calibri (MS)"/>
                <a:sym typeface="Calibri (MS)"/>
              </a:rPr>
              <a:t>complementary</a:t>
            </a:r>
            <a:r>
              <a:rPr lang="en-US" sz="3000" dirty="0">
                <a:solidFill>
                  <a:srgbClr val="000000"/>
                </a:solidFill>
                <a:latin typeface="Calibri (MS)"/>
                <a:ea typeface="Calibri (MS)"/>
                <a:cs typeface="Calibri (MS)"/>
                <a:sym typeface="Calibri (MS)"/>
              </a:rPr>
              <a:t> views of the same 3D structure.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Makes </a:t>
            </a:r>
            <a:r>
              <a:rPr lang="en-US" sz="3000" b="1" dirty="0">
                <a:solidFill>
                  <a:srgbClr val="000000"/>
                </a:solidFill>
                <a:latin typeface="Calibri (MS)"/>
                <a:ea typeface="Calibri (MS)"/>
                <a:cs typeface="Calibri (MS)"/>
                <a:sym typeface="Calibri (MS)"/>
              </a:rPr>
              <a:t>spatial relationships easier </a:t>
            </a:r>
            <a:r>
              <a:rPr lang="en-US" sz="3000" dirty="0">
                <a:solidFill>
                  <a:srgbClr val="000000"/>
                </a:solidFill>
                <a:latin typeface="Calibri (MS)"/>
                <a:ea typeface="Calibri (MS)"/>
                <a:cs typeface="Calibri (MS)"/>
                <a:sym typeface="Calibri (MS)"/>
              </a:rPr>
              <a:t>to establish.</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Allows a structure identified in one plane to be located in other planes.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Reduces dependence on a single viewing </a:t>
            </a:r>
            <a:r>
              <a:rPr lang="en-US" sz="3000" dirty="0">
                <a:solidFill>
                  <a:srgbClr val="000000"/>
                </a:solidFill>
                <a:latin typeface="Calibri (MS)"/>
                <a:ea typeface="Calibri (MS)"/>
                <a:cs typeface="Calibri (MS)"/>
                <a:sym typeface="Calibri (MS)"/>
              </a:rPr>
              <a:t>orientation.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Commonly used for examining medical volume datasets.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Orthogonal vs Oblique Reconstruction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Orthogonal: aligned with the principal axes.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Oblique: uses a plane at an arbitrary orientation.</a:t>
            </a:r>
          </a:p>
          <a:p>
            <a:pPr algn="l">
              <a:lnSpc>
                <a:spcPts val="3600"/>
              </a:lnSpc>
            </a:pPr>
            <a:r>
              <a:rPr lang="en-US" sz="3000" dirty="0">
                <a:solidFill>
                  <a:srgbClr val="000000"/>
                </a:solidFill>
                <a:latin typeface="Calibri (MS)"/>
                <a:ea typeface="Calibri (MS)"/>
                <a:cs typeface="Calibri (MS)"/>
                <a:sym typeface="Calibri (MS)"/>
              </a:rPr>
              <a:t>Oblique planes are useful when a structure does not align with the standard anatomical planes.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Key Concept</a:t>
            </a:r>
          </a:p>
          <a:p>
            <a:pPr algn="l">
              <a:lnSpc>
                <a:spcPts val="3600"/>
              </a:lnSpc>
            </a:pPr>
            <a:r>
              <a:rPr lang="en-US" sz="3000" b="1" dirty="0">
                <a:solidFill>
                  <a:srgbClr val="000000"/>
                </a:solidFill>
                <a:latin typeface="Calibri (MS)"/>
                <a:ea typeface="Calibri (MS)"/>
                <a:cs typeface="Calibri (MS)"/>
                <a:sym typeface="Calibri (MS)"/>
              </a:rPr>
              <a:t>One 3D Volume → Multiple 2D Views</a:t>
            </a:r>
          </a:p>
          <a:p>
            <a:pPr algn="l">
              <a:lnSpc>
                <a:spcPts val="3600"/>
              </a:lnSpc>
            </a:pPr>
            <a:r>
              <a:rPr lang="en-US" sz="3000" dirty="0">
                <a:solidFill>
                  <a:srgbClr val="000000"/>
                </a:solidFill>
                <a:latin typeface="Calibri (MS)"/>
                <a:ea typeface="Calibri (MS)"/>
                <a:cs typeface="Calibri (MS)"/>
                <a:sym typeface="Calibri (MS)"/>
              </a:rPr>
              <a:t>MPR therefore </a:t>
            </a:r>
            <a:r>
              <a:rPr lang="en-US" sz="3000" b="1" dirty="0">
                <a:solidFill>
                  <a:srgbClr val="000000"/>
                </a:solidFill>
                <a:latin typeface="Calibri (MS)"/>
                <a:ea typeface="Calibri (MS)"/>
                <a:cs typeface="Calibri (MS)"/>
                <a:sym typeface="Calibri (MS)"/>
              </a:rPr>
              <a:t>provides multiple coordinated cross-sectional views </a:t>
            </a:r>
            <a:r>
              <a:rPr lang="en-US" sz="3000" dirty="0">
                <a:solidFill>
                  <a:srgbClr val="000000"/>
                </a:solidFill>
                <a:latin typeface="Calibri (MS)"/>
                <a:ea typeface="Calibri (MS)"/>
                <a:cs typeface="Calibri (MS)"/>
                <a:sym typeface="Calibri (MS)"/>
              </a:rPr>
              <a:t>of the same volumetric data, rather than creating independent datasets.</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Orthogonal Slices And Multiplanar Reconstruction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826684" y="2114943"/>
            <a:ext cx="13867493" cy="7263099"/>
          </a:xfrm>
          <a:custGeom>
            <a:avLst/>
            <a:gdLst/>
            <a:ahLst/>
            <a:cxnLst/>
            <a:rect l="l" t="t" r="r" b="b"/>
            <a:pathLst>
              <a:path w="13867493" h="7263099">
                <a:moveTo>
                  <a:pt x="0" y="0"/>
                </a:moveTo>
                <a:lnTo>
                  <a:pt x="13867493" y="0"/>
                </a:lnTo>
                <a:lnTo>
                  <a:pt x="13867493" y="7263099"/>
                </a:lnTo>
                <a:lnTo>
                  <a:pt x="0" y="7263099"/>
                </a:lnTo>
                <a:lnTo>
                  <a:pt x="0" y="0"/>
                </a:lnTo>
                <a:close/>
              </a:path>
            </a:pathLst>
          </a:custGeom>
          <a:blipFill>
            <a:blip r:embed="rId4"/>
            <a:stretch>
              <a:fillRect/>
            </a:stretch>
          </a:blipFill>
        </p:spPr>
        <p:txBody>
          <a:bodyPr/>
          <a:lstStyle/>
          <a:p>
            <a:endParaRPr lang="en-IN"/>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Orthogonal Slices And Multiplanar Reconstruction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Isosurface Visualization</a:t>
            </a:r>
          </a:p>
        </p:txBody>
      </p:sp>
      <p:sp>
        <p:nvSpPr>
          <p:cNvPr id="7" name="TextBox 7"/>
          <p:cNvSpPr txBox="1"/>
          <p:nvPr/>
        </p:nvSpPr>
        <p:spPr>
          <a:xfrm>
            <a:off x="826684" y="2048268"/>
            <a:ext cx="15584898" cy="60102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a:ea typeface="Calibri (MS)"/>
                <a:cs typeface="Calibri (MS)"/>
                <a:sym typeface="Calibri (MS)"/>
              </a:rPr>
              <a:t>An </a:t>
            </a:r>
            <a:r>
              <a:rPr lang="en-US" sz="3000" b="1" dirty="0" err="1">
                <a:solidFill>
                  <a:srgbClr val="000000"/>
                </a:solidFill>
                <a:latin typeface="Calibri (MS)"/>
                <a:ea typeface="Calibri (MS)"/>
                <a:cs typeface="Calibri (MS)"/>
                <a:sym typeface="Calibri (MS)"/>
              </a:rPr>
              <a:t>isosurface</a:t>
            </a:r>
            <a:r>
              <a:rPr lang="en-US" sz="3000" b="1" dirty="0">
                <a:solidFill>
                  <a:srgbClr val="000000"/>
                </a:solidFill>
                <a:latin typeface="Calibri (MS)"/>
                <a:ea typeface="Calibri (MS)"/>
                <a:cs typeface="Calibri (MS)"/>
                <a:sym typeface="Calibri (MS)"/>
              </a:rPr>
              <a:t> is a three-dimensional surface connecting locations within a volume where the scalar field has a constant value.</a:t>
            </a:r>
          </a:p>
          <a:p>
            <a:pPr algn="l">
              <a:lnSpc>
                <a:spcPts val="3600"/>
              </a:lnSpc>
            </a:pPr>
            <a:endParaRPr lang="en-US" sz="3000" b="1" dirty="0">
              <a:solidFill>
                <a:srgbClr val="000000"/>
              </a:solidFill>
              <a:latin typeface="Calibri (MS)"/>
              <a:ea typeface="Calibri (MS)"/>
              <a:cs typeface="Calibri (MS)"/>
              <a:sym typeface="Calibri (MS)"/>
            </a:endParaRPr>
          </a:p>
          <a:p>
            <a:pPr algn="l">
              <a:lnSpc>
                <a:spcPts val="3600"/>
              </a:lnSpc>
            </a:pPr>
            <a:r>
              <a:rPr lang="en-US" sz="3000" b="1" i="1" dirty="0">
                <a:solidFill>
                  <a:srgbClr val="000000"/>
                </a:solidFill>
                <a:latin typeface="Calibri (MS) Italics"/>
                <a:ea typeface="Calibri (MS) Italics"/>
                <a:cs typeface="Calibri (MS) Italics"/>
                <a:sym typeface="Calibri (MS) Italics"/>
              </a:rPr>
              <a:t>S(x, y) = c → </a:t>
            </a:r>
            <a:r>
              <a:rPr lang="en-US" sz="3000" b="1" i="1" dirty="0" err="1">
                <a:solidFill>
                  <a:srgbClr val="000000"/>
                </a:solidFill>
                <a:latin typeface="Calibri (MS) Italics"/>
                <a:ea typeface="Calibri (MS) Italics"/>
                <a:cs typeface="Calibri (MS) Italics"/>
                <a:sym typeface="Calibri (MS) Italics"/>
              </a:rPr>
              <a:t>Isocontour</a:t>
            </a:r>
            <a:r>
              <a:rPr lang="en-US" sz="3000" b="1" i="1" dirty="0">
                <a:solidFill>
                  <a:srgbClr val="000000"/>
                </a:solidFill>
                <a:latin typeface="Calibri (MS) Italics"/>
                <a:ea typeface="Calibri (MS) Italics"/>
                <a:cs typeface="Calibri (MS) Italics"/>
                <a:sym typeface="Calibri (MS) Italics"/>
              </a:rPr>
              <a:t> (2D)</a:t>
            </a:r>
          </a:p>
          <a:p>
            <a:pPr algn="l">
              <a:lnSpc>
                <a:spcPts val="3600"/>
              </a:lnSpc>
            </a:pPr>
            <a:r>
              <a:rPr lang="en-US" sz="3000" b="1" i="1" dirty="0">
                <a:solidFill>
                  <a:srgbClr val="000000"/>
                </a:solidFill>
                <a:latin typeface="Calibri (MS) Italics"/>
                <a:ea typeface="Calibri (MS) Italics"/>
                <a:cs typeface="Calibri (MS) Italics"/>
                <a:sym typeface="Calibri (MS) Italics"/>
              </a:rPr>
              <a:t>V(x, y, z) = c → </a:t>
            </a:r>
            <a:r>
              <a:rPr lang="en-US" sz="3000" b="1" i="1" dirty="0" err="1">
                <a:solidFill>
                  <a:srgbClr val="000000"/>
                </a:solidFill>
                <a:latin typeface="Calibri (MS) Italics"/>
                <a:ea typeface="Calibri (MS) Italics"/>
                <a:cs typeface="Calibri (MS) Italics"/>
                <a:sym typeface="Calibri (MS) Italics"/>
              </a:rPr>
              <a:t>Isosurface</a:t>
            </a:r>
            <a:r>
              <a:rPr lang="en-US" sz="3000" b="1" i="1" dirty="0">
                <a:solidFill>
                  <a:srgbClr val="000000"/>
                </a:solidFill>
                <a:latin typeface="Calibri (MS) Italics"/>
                <a:ea typeface="Calibri (MS) Italics"/>
                <a:cs typeface="Calibri (MS) Italics"/>
                <a:sym typeface="Calibri (MS) Italics"/>
              </a:rPr>
              <a:t> (3D)</a:t>
            </a:r>
          </a:p>
          <a:p>
            <a:pPr algn="l">
              <a:lnSpc>
                <a:spcPts val="3600"/>
              </a:lnSpc>
            </a:pPr>
            <a:endParaRPr lang="en-US" sz="3000" i="1" dirty="0">
              <a:solidFill>
                <a:srgbClr val="000000"/>
              </a:solidFill>
              <a:latin typeface="Calibri (MS) Italics"/>
              <a:ea typeface="Calibri (MS) Italics"/>
              <a:cs typeface="Calibri (MS) Italics"/>
              <a:sym typeface="Calibri (MS) Italics"/>
            </a:endParaRPr>
          </a:p>
          <a:p>
            <a:pPr algn="l">
              <a:lnSpc>
                <a:spcPts val="3600"/>
              </a:lnSpc>
            </a:pPr>
            <a:r>
              <a:rPr lang="en-US" sz="3000" b="1" dirty="0">
                <a:solidFill>
                  <a:srgbClr val="000000"/>
                </a:solidFill>
                <a:latin typeface="Calibri (MS) Bold"/>
                <a:ea typeface="Calibri (MS) Bold"/>
                <a:cs typeface="Calibri (MS) Bold"/>
                <a:sym typeface="Calibri (MS) Bold"/>
              </a:rPr>
              <a:t>Key Characteristics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Represents a selected scalar level as a 3D surface.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Reveals the shape and spatial extent of regions with similar scalar values.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Commonly used for anatomical structures, material boundaries, and simulation features.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The selected threshold cc determines which structure is extracted.</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Unlike slicing, the representation is a 3D geometric surface rather than a 2D cross-section.</a:t>
            </a:r>
          </a:p>
          <a:p>
            <a:pPr algn="l">
              <a:lnSpc>
                <a:spcPts val="3600"/>
              </a:lnSpc>
            </a:pPr>
            <a:endParaRPr lang="en-US" sz="3000" dirty="0">
              <a:solidFill>
                <a:srgbClr val="000000"/>
              </a:solidFill>
              <a:latin typeface="Calibri (MS)"/>
              <a:ea typeface="Calibri (MS)"/>
              <a:cs typeface="Calibri (MS)"/>
              <a:sym typeface="Calibri (M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1639513" cy="7839075"/>
          </a:xfrm>
          <a:prstGeom prst="rect">
            <a:avLst/>
          </a:prstGeom>
        </p:spPr>
        <p:txBody>
          <a:bodyPr lIns="0" tIns="0" rIns="0" bIns="0" rtlCol="0" anchor="t">
            <a:spAutoFit/>
          </a:bodyPr>
          <a:lstStyle/>
          <a:p>
            <a:pPr algn="l">
              <a:lnSpc>
                <a:spcPts val="3600"/>
              </a:lnSpc>
            </a:pPr>
            <a:r>
              <a:rPr lang="en-US" sz="3000" dirty="0" err="1">
                <a:solidFill>
                  <a:srgbClr val="000000"/>
                </a:solidFill>
                <a:latin typeface="Calibri (MS)"/>
                <a:ea typeface="Calibri (MS)"/>
                <a:cs typeface="Calibri (MS)"/>
                <a:sym typeface="Calibri (MS)"/>
              </a:rPr>
              <a:t>Isosurface</a:t>
            </a:r>
            <a:r>
              <a:rPr lang="en-US" sz="3000" dirty="0">
                <a:solidFill>
                  <a:srgbClr val="000000"/>
                </a:solidFill>
                <a:latin typeface="Calibri (MS)"/>
                <a:ea typeface="Calibri (MS)"/>
                <a:cs typeface="Calibri (MS)"/>
                <a:sym typeface="Calibri (MS)"/>
              </a:rPr>
              <a:t> extraction converts a selected </a:t>
            </a:r>
            <a:r>
              <a:rPr lang="en-US" sz="3000" b="1" dirty="0">
                <a:solidFill>
                  <a:srgbClr val="000000"/>
                </a:solidFill>
                <a:latin typeface="Calibri (MS)"/>
                <a:ea typeface="Calibri (MS)"/>
                <a:cs typeface="Calibri (MS)"/>
                <a:sym typeface="Calibri (MS)"/>
              </a:rPr>
              <a:t>scalar level within a volumetric dataset into explicit 3D surface geometry.</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Basic Pipeline</a:t>
            </a:r>
          </a:p>
          <a:p>
            <a:pPr algn="l">
              <a:lnSpc>
                <a:spcPts val="3600"/>
              </a:lnSpc>
            </a:pPr>
            <a:r>
              <a:rPr lang="en-US" sz="3000" i="1" dirty="0">
                <a:solidFill>
                  <a:srgbClr val="000000"/>
                </a:solidFill>
                <a:latin typeface="Calibri (MS) Italics"/>
                <a:ea typeface="Calibri (MS) Italics"/>
                <a:cs typeface="Calibri (MS) Italics"/>
                <a:sym typeface="Calibri (MS) Italics"/>
              </a:rPr>
              <a:t>Scalar Volume → Threshold c → Surface Extraction → 3D Mesh</a:t>
            </a:r>
          </a:p>
          <a:p>
            <a:pPr algn="l">
              <a:lnSpc>
                <a:spcPts val="3600"/>
              </a:lnSpc>
            </a:pPr>
            <a:r>
              <a:rPr lang="en-US" sz="3000" dirty="0">
                <a:solidFill>
                  <a:srgbClr val="000000"/>
                </a:solidFill>
                <a:latin typeface="Calibri (MS)"/>
                <a:ea typeface="Calibri (MS)"/>
                <a:cs typeface="Calibri (MS)"/>
                <a:sym typeface="Calibri (MS)"/>
              </a:rPr>
              <a:t>The resulting surface is commonly represented using triangles.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Marching Cubes</a:t>
            </a:r>
          </a:p>
          <a:p>
            <a:pPr algn="l">
              <a:lnSpc>
                <a:spcPts val="3600"/>
              </a:lnSpc>
            </a:pPr>
            <a:r>
              <a:rPr lang="en-US" sz="3000" dirty="0">
                <a:solidFill>
                  <a:srgbClr val="000000"/>
                </a:solidFill>
                <a:latin typeface="Calibri (MS)"/>
                <a:ea typeface="Calibri (MS)"/>
                <a:cs typeface="Calibri (MS)"/>
                <a:sym typeface="Calibri (MS)"/>
              </a:rPr>
              <a:t>Marching Cubes is a widely used </a:t>
            </a:r>
            <a:r>
              <a:rPr lang="en-US" sz="3000" b="1" dirty="0">
                <a:solidFill>
                  <a:srgbClr val="000000"/>
                </a:solidFill>
                <a:latin typeface="Calibri (MS)"/>
                <a:ea typeface="Calibri (MS)"/>
                <a:cs typeface="Calibri (MS)"/>
                <a:sym typeface="Calibri (MS)"/>
              </a:rPr>
              <a:t>algorithm for extracting an </a:t>
            </a:r>
            <a:r>
              <a:rPr lang="en-US" sz="3000" b="1" dirty="0" err="1">
                <a:solidFill>
                  <a:srgbClr val="000000"/>
                </a:solidFill>
                <a:latin typeface="Calibri (MS)"/>
                <a:ea typeface="Calibri (MS)"/>
                <a:cs typeface="Calibri (MS)"/>
                <a:sym typeface="Calibri (MS)"/>
              </a:rPr>
              <a:t>isosurface</a:t>
            </a:r>
            <a:r>
              <a:rPr lang="en-US" sz="3000" b="1" dirty="0">
                <a:solidFill>
                  <a:srgbClr val="000000"/>
                </a:solidFill>
                <a:latin typeface="Calibri (MS)"/>
                <a:ea typeface="Calibri (MS)"/>
                <a:cs typeface="Calibri (MS)"/>
                <a:sym typeface="Calibri (MS)"/>
              </a:rPr>
              <a:t> from a 3D scalar grid.</a:t>
            </a:r>
          </a:p>
          <a:p>
            <a:pPr algn="l">
              <a:lnSpc>
                <a:spcPts val="3600"/>
              </a:lnSpc>
            </a:pPr>
            <a:r>
              <a:rPr lang="en-US" sz="3000" dirty="0">
                <a:solidFill>
                  <a:srgbClr val="000000"/>
                </a:solidFill>
                <a:latin typeface="Calibri (MS)"/>
                <a:ea typeface="Calibri (MS)"/>
                <a:cs typeface="Calibri (MS)"/>
                <a:sym typeface="Calibri (MS)"/>
              </a:rPr>
              <a:t>Conceptually, each </a:t>
            </a:r>
            <a:r>
              <a:rPr lang="en-US" sz="3000" b="1" dirty="0">
                <a:solidFill>
                  <a:srgbClr val="000000"/>
                </a:solidFill>
                <a:latin typeface="Calibri (MS)"/>
                <a:ea typeface="Calibri (MS)"/>
                <a:cs typeface="Calibri (MS)"/>
                <a:sym typeface="Calibri (MS)"/>
              </a:rPr>
              <a:t>voxel cell </a:t>
            </a:r>
            <a:r>
              <a:rPr lang="en-US" sz="3000" dirty="0">
                <a:solidFill>
                  <a:srgbClr val="000000"/>
                </a:solidFill>
                <a:latin typeface="Calibri (MS)"/>
                <a:ea typeface="Calibri (MS)"/>
                <a:cs typeface="Calibri (MS)"/>
                <a:sym typeface="Calibri (MS)"/>
              </a:rPr>
              <a:t>is examined to determine how the selected </a:t>
            </a:r>
            <a:r>
              <a:rPr lang="en-US" sz="3000" dirty="0" err="1">
                <a:solidFill>
                  <a:srgbClr val="000000"/>
                </a:solidFill>
                <a:latin typeface="Calibri (MS)"/>
                <a:ea typeface="Calibri (MS)"/>
                <a:cs typeface="Calibri (MS)"/>
                <a:sym typeface="Calibri (MS)"/>
              </a:rPr>
              <a:t>isosurface</a:t>
            </a:r>
            <a:r>
              <a:rPr lang="en-US" sz="3000" dirty="0">
                <a:solidFill>
                  <a:srgbClr val="000000"/>
                </a:solidFill>
                <a:latin typeface="Calibri (MS)"/>
                <a:ea typeface="Calibri (MS)"/>
                <a:cs typeface="Calibri (MS)"/>
                <a:sym typeface="Calibri (MS)"/>
              </a:rPr>
              <a:t> intersects its boundaries.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Why Triangles?</a:t>
            </a:r>
          </a:p>
          <a:p>
            <a:pPr algn="l">
              <a:lnSpc>
                <a:spcPts val="3600"/>
              </a:lnSpc>
            </a:pPr>
            <a:r>
              <a:rPr lang="en-US" sz="3000" dirty="0">
                <a:solidFill>
                  <a:srgbClr val="000000"/>
                </a:solidFill>
                <a:latin typeface="Calibri (MS)"/>
                <a:ea typeface="Calibri (MS)"/>
                <a:cs typeface="Calibri (MS)"/>
                <a:sym typeface="Calibri (MS)"/>
              </a:rPr>
              <a:t>The extracted surface is represented as a polygonal mesh, commonly using triangles because triangular geometry can represent complex surfaces efficiently.</a:t>
            </a:r>
          </a:p>
        </p:txBody>
      </p:sp>
      <p:sp>
        <p:nvSpPr>
          <p:cNvPr id="6" name="Freeform 6"/>
          <p:cNvSpPr/>
          <p:nvPr/>
        </p:nvSpPr>
        <p:spPr>
          <a:xfrm>
            <a:off x="10891463" y="2430684"/>
            <a:ext cx="5754459" cy="2712816"/>
          </a:xfrm>
          <a:custGeom>
            <a:avLst/>
            <a:gdLst/>
            <a:ahLst/>
            <a:cxnLst/>
            <a:rect l="l" t="t" r="r" b="b"/>
            <a:pathLst>
              <a:path w="5754459" h="2712816">
                <a:moveTo>
                  <a:pt x="0" y="0"/>
                </a:moveTo>
                <a:lnTo>
                  <a:pt x="5754459" y="0"/>
                </a:lnTo>
                <a:lnTo>
                  <a:pt x="5754459" y="2712816"/>
                </a:lnTo>
                <a:lnTo>
                  <a:pt x="0" y="2712816"/>
                </a:lnTo>
                <a:lnTo>
                  <a:pt x="0" y="0"/>
                </a:lnTo>
                <a:close/>
              </a:path>
            </a:pathLst>
          </a:custGeom>
          <a:blipFill>
            <a:blip r:embed="rId3"/>
            <a:stretch>
              <a:fillRect/>
            </a:stretch>
          </a:blipFill>
        </p:spPr>
        <p:txBody>
          <a:bodyPr/>
          <a:lstStyle/>
          <a:p>
            <a:endParaRPr lang="en-IN" dirty="0"/>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Isosurface Extraction</a:t>
            </a:r>
          </a:p>
        </p:txBody>
      </p:sp>
      <p:sp>
        <p:nvSpPr>
          <p:cNvPr id="10" name="TextBox 9">
            <a:extLst>
              <a:ext uri="{FF2B5EF4-FFF2-40B4-BE49-F238E27FC236}">
                <a16:creationId xmlns:a16="http://schemas.microsoft.com/office/drawing/2014/main" id="{A94A8333-8DA8-D082-68CD-507516B302AD}"/>
              </a:ext>
            </a:extLst>
          </p:cNvPr>
          <p:cNvSpPr txBox="1"/>
          <p:nvPr/>
        </p:nvSpPr>
        <p:spPr>
          <a:xfrm>
            <a:off x="12770286" y="5399829"/>
            <a:ext cx="5091489" cy="4154984"/>
          </a:xfrm>
          <a:prstGeom prst="rect">
            <a:avLst/>
          </a:prstGeom>
          <a:noFill/>
        </p:spPr>
        <p:txBody>
          <a:bodyPr wrap="square">
            <a:spAutoFit/>
          </a:bodyPr>
          <a:lstStyle/>
          <a:p>
            <a:pPr rtl="0">
              <a:buNone/>
            </a:pPr>
            <a:r>
              <a:rPr lang="en-IN" sz="2400" dirty="0"/>
              <a:t>Each cube is one cell of the volume. Its 8 corners are 8 neighbouring voxels.</a:t>
            </a:r>
          </a:p>
          <a:p>
            <a:pPr marL="342900" lvl="0" indent="-342900" rtl="0">
              <a:buFont typeface="Arial" panose="020B0604020202020204" pitchFamily="34" charset="0"/>
              <a:buChar char="•"/>
            </a:pPr>
            <a:r>
              <a:rPr lang="en-IN" sz="2400" dirty="0"/>
              <a:t>An </a:t>
            </a:r>
            <a:r>
              <a:rPr lang="en-IN" sz="2400" b="1" dirty="0"/>
              <a:t>orange dot</a:t>
            </a:r>
            <a:r>
              <a:rPr lang="en-IN" sz="2400" dirty="0"/>
              <a:t> on a corner means that voxel's value is </a:t>
            </a:r>
            <a:r>
              <a:rPr lang="en-IN" sz="2400" b="1" dirty="0"/>
              <a:t>≥ c</a:t>
            </a:r>
            <a:r>
              <a:rPr lang="en-IN" sz="2400" dirty="0"/>
              <a:t>, so it is </a:t>
            </a:r>
            <a:r>
              <a:rPr lang="en-IN" sz="2400" i="1" dirty="0"/>
              <a:t>inside</a:t>
            </a:r>
            <a:r>
              <a:rPr lang="en-IN" sz="2400" dirty="0"/>
              <a:t> the surface.</a:t>
            </a:r>
          </a:p>
          <a:p>
            <a:pPr marL="342900" lvl="0" indent="-342900" rtl="0">
              <a:buFont typeface="Arial" panose="020B0604020202020204" pitchFamily="34" charset="0"/>
              <a:buChar char="•"/>
            </a:pPr>
            <a:r>
              <a:rPr lang="en-IN" sz="2400" dirty="0"/>
              <a:t>A corner </a:t>
            </a:r>
            <a:r>
              <a:rPr lang="en-IN" sz="2400" b="1" dirty="0"/>
              <a:t>without a dot</a:t>
            </a:r>
            <a:r>
              <a:rPr lang="en-IN" sz="2400" dirty="0"/>
              <a:t> means its value is </a:t>
            </a:r>
            <a:r>
              <a:rPr lang="en-IN" sz="2400" b="1" dirty="0"/>
              <a:t>&lt; c</a:t>
            </a:r>
            <a:r>
              <a:rPr lang="en-IN" sz="2400" dirty="0"/>
              <a:t>, so it is </a:t>
            </a:r>
            <a:r>
              <a:rPr lang="en-IN" sz="2400" i="1" dirty="0"/>
              <a:t>outside</a:t>
            </a:r>
            <a:r>
              <a:rPr lang="en-IN" sz="2400" dirty="0"/>
              <a:t>.</a:t>
            </a:r>
          </a:p>
          <a:p>
            <a:pPr marL="342900" lvl="0" indent="-342900" rtl="0">
              <a:buFont typeface="Arial" panose="020B0604020202020204" pitchFamily="34" charset="0"/>
              <a:buChar char="•"/>
            </a:pPr>
            <a:r>
              <a:rPr lang="en-IN" sz="2400" dirty="0"/>
              <a:t>The </a:t>
            </a:r>
            <a:r>
              <a:rPr lang="en-IN" sz="2400" b="1" dirty="0"/>
              <a:t>orange shaded shapes</a:t>
            </a:r>
            <a:r>
              <a:rPr lang="en-IN" sz="2400" dirty="0"/>
              <a:t> are the triangles Marching Cubes creates in that cell. They separate the dotted corners from the undotted ones.</a:t>
            </a:r>
          </a:p>
        </p:txBody>
      </p:sp>
      <p:sp>
        <p:nvSpPr>
          <p:cNvPr id="12" name="TextBox 11">
            <a:extLst>
              <a:ext uri="{FF2B5EF4-FFF2-40B4-BE49-F238E27FC236}">
                <a16:creationId xmlns:a16="http://schemas.microsoft.com/office/drawing/2014/main" id="{76B877CB-F96D-C62B-6A21-30151E036DDE}"/>
              </a:ext>
            </a:extLst>
          </p:cNvPr>
          <p:cNvSpPr txBox="1"/>
          <p:nvPr/>
        </p:nvSpPr>
        <p:spPr>
          <a:xfrm>
            <a:off x="9525000" y="9646176"/>
            <a:ext cx="9152164" cy="369332"/>
          </a:xfrm>
          <a:prstGeom prst="rect">
            <a:avLst/>
          </a:prstGeom>
          <a:noFill/>
        </p:spPr>
        <p:txBody>
          <a:bodyPr wrap="square">
            <a:spAutoFit/>
          </a:bodyPr>
          <a:lstStyle/>
          <a:p>
            <a:r>
              <a:rPr lang="en-IN" dirty="0"/>
              <a:t>the surface must cut every edge that joins a dotted corner to an undotted corner,</a:t>
            </a:r>
          </a:p>
        </p:txBody>
      </p:sp>
      <p:sp>
        <p:nvSpPr>
          <p:cNvPr id="14" name="TextBox 13">
            <a:extLst>
              <a:ext uri="{FF2B5EF4-FFF2-40B4-BE49-F238E27FC236}">
                <a16:creationId xmlns:a16="http://schemas.microsoft.com/office/drawing/2014/main" id="{3069A08F-2CD7-8262-A22C-5C09C096A9EA}"/>
              </a:ext>
            </a:extLst>
          </p:cNvPr>
          <p:cNvSpPr txBox="1"/>
          <p:nvPr/>
        </p:nvSpPr>
        <p:spPr>
          <a:xfrm>
            <a:off x="6285366" y="1013102"/>
            <a:ext cx="9348106" cy="923330"/>
          </a:xfrm>
          <a:prstGeom prst="rect">
            <a:avLst/>
          </a:prstGeom>
          <a:noFill/>
        </p:spPr>
        <p:txBody>
          <a:bodyPr wrap="square">
            <a:spAutoFit/>
          </a:bodyPr>
          <a:lstStyle/>
          <a:p>
            <a:r>
              <a:rPr lang="en-IN" b="1" dirty="0"/>
              <a:t>If it's 15 °C at 6 am and 35 °C at noon, then at some moment in between it was exactly 25 °C. You may not know when, but it must have happened. Marching Cubes uses the same reasoning, and linear interpolation estimates the "when."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11162112" y="3144725"/>
            <a:ext cx="6726895" cy="6777473"/>
          </a:xfrm>
          <a:custGeom>
            <a:avLst/>
            <a:gdLst/>
            <a:ahLst/>
            <a:cxnLst/>
            <a:rect l="l" t="t" r="r" b="b"/>
            <a:pathLst>
              <a:path w="6726895" h="6777473">
                <a:moveTo>
                  <a:pt x="0" y="0"/>
                </a:moveTo>
                <a:lnTo>
                  <a:pt x="6726895" y="0"/>
                </a:lnTo>
                <a:lnTo>
                  <a:pt x="6726895" y="6777473"/>
                </a:lnTo>
                <a:lnTo>
                  <a:pt x="0" y="6777473"/>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826684" y="2048268"/>
            <a:ext cx="9499322" cy="60102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Advantages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Produces explicit geometric surfaces.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Supports standard 3D rendering techniques.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Allows rotation, lighting, shading, and measurement of extracted geometry.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Useful when the primary analytical goal is the shape of a selected structure.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Limitation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The chosen threshold c strongly influences the resulting geometry.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Different values of cc can produce different surfaces from the same volume.</a:t>
            </a:r>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Isosurface Extraction</a:t>
            </a:r>
          </a:p>
        </p:txBody>
      </p:sp>
      <p:sp>
        <p:nvSpPr>
          <p:cNvPr id="10" name="TextBox 9">
            <a:extLst>
              <a:ext uri="{FF2B5EF4-FFF2-40B4-BE49-F238E27FC236}">
                <a16:creationId xmlns:a16="http://schemas.microsoft.com/office/drawing/2014/main" id="{E1D6207D-E40E-58E9-A645-7870C700FFEA}"/>
              </a:ext>
            </a:extLst>
          </p:cNvPr>
          <p:cNvSpPr txBox="1"/>
          <p:nvPr/>
        </p:nvSpPr>
        <p:spPr>
          <a:xfrm>
            <a:off x="228600" y="8058543"/>
            <a:ext cx="9152164" cy="1200329"/>
          </a:xfrm>
          <a:prstGeom prst="rect">
            <a:avLst/>
          </a:prstGeom>
          <a:noFill/>
        </p:spPr>
        <p:txBody>
          <a:bodyPr wrap="square">
            <a:spAutoFit/>
          </a:bodyPr>
          <a:lstStyle/>
          <a:p>
            <a:r>
              <a:rPr lang="en-IN" sz="2400" b="1" dirty="0"/>
              <a:t>so there are 2⁸ = 256 possible patterns. Most of them are the same shape seen from another direction using rotation/complement etc so 15 sample  are sufficient </a:t>
            </a:r>
          </a:p>
        </p:txBody>
      </p:sp>
      <p:sp>
        <p:nvSpPr>
          <p:cNvPr id="14" name="TextBox 13">
            <a:extLst>
              <a:ext uri="{FF2B5EF4-FFF2-40B4-BE49-F238E27FC236}">
                <a16:creationId xmlns:a16="http://schemas.microsoft.com/office/drawing/2014/main" id="{B6A27B7F-CCD3-D3F9-195F-9803072950D6}"/>
              </a:ext>
            </a:extLst>
          </p:cNvPr>
          <p:cNvSpPr txBox="1"/>
          <p:nvPr/>
        </p:nvSpPr>
        <p:spPr>
          <a:xfrm>
            <a:off x="2591884" y="9604416"/>
            <a:ext cx="9152164" cy="461665"/>
          </a:xfrm>
          <a:prstGeom prst="rect">
            <a:avLst/>
          </a:prstGeom>
          <a:noFill/>
        </p:spPr>
        <p:txBody>
          <a:bodyPr wrap="square">
            <a:spAutoFit/>
          </a:bodyPr>
          <a:lstStyle/>
          <a:p>
            <a:r>
              <a:rPr lang="en-IN" sz="2400" b="1" dirty="0"/>
              <a:t>● = voxel value ≥ c (inside); shaded = generated triangles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08A128-737F-59BC-320C-DBC8AC4659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190500"/>
            <a:ext cx="17411700" cy="9677400"/>
          </a:xfrm>
          <a:prstGeom prst="rect">
            <a:avLst/>
          </a:prstGeom>
        </p:spPr>
      </p:pic>
    </p:spTree>
    <p:extLst>
      <p:ext uri="{BB962C8B-B14F-4D97-AF65-F5344CB8AC3E}">
        <p14:creationId xmlns:p14="http://schemas.microsoft.com/office/powerpoint/2010/main" val="1630040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BC295F-127D-2F79-E36A-1035A50545C1}"/>
              </a:ext>
            </a:extLst>
          </p:cNvPr>
          <p:cNvSpPr txBox="1"/>
          <p:nvPr/>
        </p:nvSpPr>
        <p:spPr>
          <a:xfrm>
            <a:off x="533400" y="32657"/>
            <a:ext cx="17297400" cy="8956298"/>
          </a:xfrm>
          <a:prstGeom prst="rect">
            <a:avLst/>
          </a:prstGeom>
          <a:noFill/>
        </p:spPr>
        <p:txBody>
          <a:bodyPr wrap="square">
            <a:spAutoFit/>
          </a:bodyPr>
          <a:lstStyle/>
          <a:p>
            <a:pPr rtl="0">
              <a:buNone/>
            </a:pPr>
            <a:r>
              <a:rPr lang="en-IN" sz="3200" b="1" dirty="0"/>
              <a:t>Analogy:</a:t>
            </a:r>
            <a:r>
              <a:rPr lang="en-IN" sz="3200" dirty="0"/>
              <a:t> imagine a block of jelly with a hidden fruit inside. You can't see the fruit, but you can poke a needle at regular points and measure "fruit or jelly?" Marching Cubes uses those pokes to trace the fruit's outer skin.</a:t>
            </a:r>
          </a:p>
          <a:p>
            <a:pPr rtl="0">
              <a:buNone/>
            </a:pPr>
            <a:r>
              <a:rPr lang="en-IN" sz="3200" b="1" dirty="0"/>
              <a:t>Step 0: choose the threshold c.</a:t>
            </a:r>
            <a:r>
              <a:rPr lang="en-IN" sz="3200" dirty="0"/>
              <a:t> Decide what counts as "inside." For example, "anything denser than 300 is bone."</a:t>
            </a:r>
          </a:p>
          <a:p>
            <a:pPr rtl="0">
              <a:buNone/>
            </a:pPr>
            <a:r>
              <a:rPr lang="en-IN" sz="3200" b="1" dirty="0"/>
              <a:t>Step 1: split the volume into tiny cubes.</a:t>
            </a:r>
            <a:r>
              <a:rPr lang="en-IN" sz="3200" dirty="0"/>
              <a:t> Each cube's 8 corners are 8 neighbouring voxels.</a:t>
            </a:r>
          </a:p>
          <a:p>
            <a:pPr rtl="0">
              <a:buNone/>
            </a:pPr>
            <a:r>
              <a:rPr lang="en-IN" sz="3200" b="1" dirty="0"/>
              <a:t>Step 2: for one cube, label each corner.</a:t>
            </a:r>
            <a:r>
              <a:rPr lang="en-IN" sz="3200" dirty="0"/>
              <a:t> Above c is </a:t>
            </a:r>
            <a:r>
              <a:rPr lang="en-IN" sz="3200" i="1" dirty="0"/>
              <a:t>inside</a:t>
            </a:r>
            <a:r>
              <a:rPr lang="en-IN" sz="3200" dirty="0"/>
              <a:t> (●). Below c is </a:t>
            </a:r>
            <a:r>
              <a:rPr lang="en-IN" sz="3200" i="1" dirty="0"/>
              <a:t>outside</a:t>
            </a:r>
            <a:r>
              <a:rPr lang="en-IN" sz="3200" dirty="0"/>
              <a:t> (○).</a:t>
            </a:r>
          </a:p>
          <a:p>
            <a:pPr rtl="0">
              <a:buNone/>
            </a:pPr>
            <a:r>
              <a:rPr lang="en-IN" sz="3200" b="1" dirty="0"/>
              <a:t>Step 3: decide whether the surface passes through this cube.</a:t>
            </a:r>
            <a:endParaRPr lang="en-IN" sz="3200" dirty="0"/>
          </a:p>
          <a:p>
            <a:pPr marL="342900" lvl="0" indent="-342900" rtl="0">
              <a:buFont typeface="Arial" panose="020B0604020202020204" pitchFamily="34" charset="0"/>
              <a:buChar char="•"/>
            </a:pPr>
            <a:r>
              <a:rPr lang="en-IN" sz="3200" dirty="0"/>
              <a:t>All ● or all ○: the cube is completely inside or completely outside, so there is no surface here. Skip it.</a:t>
            </a:r>
          </a:p>
          <a:p>
            <a:pPr marL="342900" lvl="0" indent="-342900" rtl="0">
              <a:buFont typeface="Arial" panose="020B0604020202020204" pitchFamily="34" charset="0"/>
              <a:buChar char="•"/>
            </a:pPr>
            <a:r>
              <a:rPr lang="en-IN" sz="3200" dirty="0"/>
              <a:t>A mix of ● and ○: the boundary must pass through this cube.</a:t>
            </a:r>
          </a:p>
          <a:p>
            <a:pPr rtl="0">
              <a:buNone/>
            </a:pPr>
            <a:r>
              <a:rPr lang="en-IN" sz="3200" b="1" dirty="0"/>
              <a:t>Step 4: find where the boundary crosses.</a:t>
            </a:r>
            <a:r>
              <a:rPr lang="en-IN" sz="3200" dirty="0"/>
              <a:t> On every edge joining a ● to a ○, the value passes through c, so the surface crosses there. Interpolation finds the exact spot, e.g. 69% of the way along the edge.</a:t>
            </a:r>
          </a:p>
          <a:p>
            <a:pPr rtl="0">
              <a:buNone/>
            </a:pPr>
            <a:r>
              <a:rPr lang="en-IN" sz="3200" b="1" dirty="0"/>
              <a:t>Step 5: connect the crossing points into triangles.</a:t>
            </a:r>
            <a:r>
              <a:rPr lang="en-IN" sz="3200" dirty="0"/>
              <a:t> A ready-made lookup table (the 15-case figure) says exactly how to join them for that pattern of ● and ○. No calculation is needed; it's a lookup.</a:t>
            </a:r>
          </a:p>
          <a:p>
            <a:pPr rtl="0">
              <a:buNone/>
            </a:pPr>
            <a:r>
              <a:rPr lang="en-IN" sz="3200" b="1" dirty="0"/>
              <a:t>Step 6: march to the next cube and repeat.</a:t>
            </a:r>
            <a:r>
              <a:rPr lang="en-IN" sz="3200" dirty="0"/>
              <a:t> Do this for every cube in the volume. This step is where the name "Marching" comes from.</a:t>
            </a:r>
          </a:p>
          <a:p>
            <a:pPr rtl="0">
              <a:buNone/>
            </a:pPr>
            <a:r>
              <a:rPr lang="en-IN" sz="3200" b="1" dirty="0"/>
              <a:t>Step 7: join everything.</a:t>
            </a:r>
            <a:r>
              <a:rPr lang="en-IN" sz="3200" dirty="0"/>
              <a:t> The small triangles from all the cubes join up like tiles into one smooth, closed surface. That surface is your 3D object.</a:t>
            </a:r>
          </a:p>
        </p:txBody>
      </p:sp>
    </p:spTree>
    <p:extLst>
      <p:ext uri="{BB962C8B-B14F-4D97-AF65-F5344CB8AC3E}">
        <p14:creationId xmlns:p14="http://schemas.microsoft.com/office/powerpoint/2010/main" val="1460937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487048"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Direct volume rendering (DVR)</a:t>
            </a:r>
            <a:r>
              <a:rPr lang="en-US" sz="3000" dirty="0">
                <a:solidFill>
                  <a:srgbClr val="000000"/>
                </a:solidFill>
                <a:latin typeface="Calibri (MS)"/>
                <a:ea typeface="Calibri (MS)"/>
                <a:cs typeface="Calibri (MS)"/>
                <a:sym typeface="Calibri (MS)"/>
              </a:rPr>
              <a:t> creates </a:t>
            </a:r>
            <a:r>
              <a:rPr lang="en-US" sz="3000" b="1" dirty="0">
                <a:solidFill>
                  <a:srgbClr val="000000"/>
                </a:solidFill>
                <a:latin typeface="Calibri (MS)"/>
                <a:ea typeface="Calibri (MS)"/>
                <a:cs typeface="Calibri (MS)"/>
                <a:sym typeface="Calibri (MS)"/>
              </a:rPr>
              <a:t>an image directly from volumetric data without first extracting explicit surface geometry.</a:t>
            </a:r>
          </a:p>
          <a:p>
            <a:pPr algn="l">
              <a:lnSpc>
                <a:spcPts val="3600"/>
              </a:lnSpc>
            </a:pPr>
            <a:r>
              <a:rPr lang="en-US" sz="3000" dirty="0">
                <a:solidFill>
                  <a:srgbClr val="000000"/>
                </a:solidFill>
                <a:latin typeface="Calibri (MS)"/>
                <a:ea typeface="Calibri (MS)"/>
                <a:cs typeface="Calibri (MS)"/>
                <a:sym typeface="Calibri (MS)"/>
              </a:rPr>
              <a:t>Instead of asking: “Which voxels form a surface?”</a:t>
            </a:r>
          </a:p>
          <a:p>
            <a:pPr algn="l">
              <a:lnSpc>
                <a:spcPts val="3600"/>
              </a:lnSpc>
            </a:pPr>
            <a:r>
              <a:rPr lang="en-US" sz="3000" dirty="0">
                <a:solidFill>
                  <a:srgbClr val="000000"/>
                </a:solidFill>
                <a:latin typeface="Calibri (MS)"/>
                <a:ea typeface="Calibri (MS)"/>
                <a:cs typeface="Calibri (MS)"/>
                <a:sym typeface="Calibri (MS)"/>
              </a:rPr>
              <a:t>DVR asks: “</a:t>
            </a:r>
            <a:r>
              <a:rPr lang="en-US" sz="3000" b="1" dirty="0">
                <a:solidFill>
                  <a:srgbClr val="000000"/>
                </a:solidFill>
                <a:latin typeface="Calibri (MS)"/>
                <a:ea typeface="Calibri (MS)"/>
                <a:cs typeface="Calibri (MS)"/>
                <a:sym typeface="Calibri (MS)"/>
              </a:rPr>
              <a:t>How should the values throughout the volume contribute to the final image</a:t>
            </a:r>
            <a:r>
              <a:rPr lang="en-US" sz="3000" dirty="0">
                <a:solidFill>
                  <a:srgbClr val="000000"/>
                </a:solidFill>
                <a:latin typeface="Calibri (MS)"/>
                <a:ea typeface="Calibri (MS)"/>
                <a:cs typeface="Calibri (MS)"/>
                <a:sym typeface="Calibri (MS)"/>
              </a:rPr>
              <a:t>?”</a:t>
            </a:r>
          </a:p>
          <a:p>
            <a:pPr algn="l">
              <a:lnSpc>
                <a:spcPts val="3600"/>
              </a:lnSpc>
            </a:pPr>
            <a:r>
              <a:rPr lang="en-US" sz="3000" b="1" dirty="0">
                <a:solidFill>
                  <a:srgbClr val="000000"/>
                </a:solidFill>
                <a:latin typeface="Calibri (MS) Bold"/>
                <a:ea typeface="Calibri (MS) Bold"/>
                <a:cs typeface="Calibri (MS) Bold"/>
                <a:sym typeface="Calibri (MS) Bold"/>
              </a:rPr>
              <a:t>Pipeline: </a:t>
            </a:r>
            <a:r>
              <a:rPr lang="en-US" sz="3000" i="1" dirty="0">
                <a:solidFill>
                  <a:srgbClr val="000000"/>
                </a:solidFill>
                <a:latin typeface="Calibri (MS) Italics"/>
                <a:ea typeface="Calibri (MS) Italics"/>
                <a:cs typeface="Calibri (MS) Italics"/>
                <a:sym typeface="Calibri (MS) Italics"/>
              </a:rPr>
              <a:t>Volume Data → Transfer Function → Volume Rendering → Image</a:t>
            </a:r>
          </a:p>
          <a:p>
            <a:pPr algn="l">
              <a:lnSpc>
                <a:spcPts val="3600"/>
              </a:lnSpc>
            </a:pPr>
            <a:endParaRPr lang="en-US" sz="3000" i="1" dirty="0">
              <a:solidFill>
                <a:srgbClr val="000000"/>
              </a:solidFill>
              <a:latin typeface="Calibri (MS) Italics"/>
              <a:ea typeface="Calibri (MS) Italics"/>
              <a:cs typeface="Calibri (MS) Italics"/>
              <a:sym typeface="Calibri (MS) Italics"/>
            </a:endParaRPr>
          </a:p>
          <a:p>
            <a:pPr algn="l">
              <a:lnSpc>
                <a:spcPts val="3600"/>
              </a:lnSpc>
            </a:pPr>
            <a:r>
              <a:rPr lang="en-US" sz="3000" b="1" dirty="0">
                <a:solidFill>
                  <a:srgbClr val="000000"/>
                </a:solidFill>
                <a:latin typeface="Calibri (MS) Bold"/>
                <a:ea typeface="Calibri (MS) Bold"/>
                <a:cs typeface="Calibri (MS) Bold"/>
                <a:sym typeface="Calibri (MS) Bold"/>
              </a:rPr>
              <a:t>Key Difference</a:t>
            </a:r>
          </a:p>
          <a:p>
            <a:pPr marL="647703" lvl="1" indent="-323852" algn="l">
              <a:lnSpc>
                <a:spcPts val="3600"/>
              </a:lnSpc>
              <a:buFont typeface="Arial"/>
              <a:buChar char="•"/>
            </a:pPr>
            <a:r>
              <a:rPr lang="en-US" sz="3000" dirty="0" err="1">
                <a:solidFill>
                  <a:srgbClr val="000000"/>
                </a:solidFill>
                <a:latin typeface="Calibri (MS)"/>
                <a:ea typeface="Calibri (MS)"/>
                <a:cs typeface="Calibri (MS)"/>
                <a:sym typeface="Calibri (MS)"/>
              </a:rPr>
              <a:t>Isosurface</a:t>
            </a:r>
            <a:r>
              <a:rPr lang="en-US" sz="3000" dirty="0">
                <a:solidFill>
                  <a:srgbClr val="000000"/>
                </a:solidFill>
                <a:latin typeface="Calibri (MS)"/>
                <a:ea typeface="Calibri (MS)"/>
                <a:cs typeface="Calibri (MS)"/>
                <a:sym typeface="Calibri (MS)"/>
              </a:rPr>
              <a:t> Rendering: Volume → Surface Extraction → 3D Geometry → Image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Direct Volume Rendering: Volume→ Color + Opacity → Image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Why Use DVR?</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Multiple structures can contribute to the image.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Semi-transparent regions can reveal internal structures.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No explicit surface extraction is required.</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Useful when meaningful structures cannot be represented by a single threshold.</a:t>
            </a:r>
          </a:p>
        </p:txBody>
      </p:sp>
      <p:sp>
        <p:nvSpPr>
          <p:cNvPr id="6" name="Freeform 6"/>
          <p:cNvSpPr/>
          <p:nvPr/>
        </p:nvSpPr>
        <p:spPr>
          <a:xfrm>
            <a:off x="13704052" y="4428695"/>
            <a:ext cx="4184955" cy="3308730"/>
          </a:xfrm>
          <a:custGeom>
            <a:avLst/>
            <a:gdLst/>
            <a:ahLst/>
            <a:cxnLst/>
            <a:rect l="l" t="t" r="r" b="b"/>
            <a:pathLst>
              <a:path w="4184955" h="3308730">
                <a:moveTo>
                  <a:pt x="0" y="0"/>
                </a:moveTo>
                <a:lnTo>
                  <a:pt x="4184955" y="0"/>
                </a:lnTo>
                <a:lnTo>
                  <a:pt x="4184955" y="3308730"/>
                </a:lnTo>
                <a:lnTo>
                  <a:pt x="0" y="3308730"/>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Direct Volume Rendering</a:t>
            </a:r>
          </a:p>
        </p:txBody>
      </p:sp>
      <p:sp>
        <p:nvSpPr>
          <p:cNvPr id="10" name="TextBox 9">
            <a:extLst>
              <a:ext uri="{FF2B5EF4-FFF2-40B4-BE49-F238E27FC236}">
                <a16:creationId xmlns:a16="http://schemas.microsoft.com/office/drawing/2014/main" id="{4A5DD178-ADFB-C5EA-6C88-3A50BED2A2F4}"/>
              </a:ext>
            </a:extLst>
          </p:cNvPr>
          <p:cNvSpPr txBox="1"/>
          <p:nvPr/>
        </p:nvSpPr>
        <p:spPr>
          <a:xfrm>
            <a:off x="7890115" y="1043678"/>
            <a:ext cx="9152164" cy="923330"/>
          </a:xfrm>
          <a:prstGeom prst="rect">
            <a:avLst/>
          </a:prstGeom>
          <a:noFill/>
        </p:spPr>
        <p:txBody>
          <a:bodyPr wrap="square">
            <a:spAutoFit/>
          </a:bodyPr>
          <a:lstStyle/>
          <a:p>
            <a:r>
              <a:rPr lang="en-IN" b="1" dirty="0"/>
              <a:t>For every pixel, DVR sends a ray through the volume, gives each point along it a colour and a transparency, and blends them front to back. Near, solid things dominate, and faint things just tint the view.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CD1234-5DCE-539E-E563-D728BF07728D}"/>
              </a:ext>
            </a:extLst>
          </p:cNvPr>
          <p:cNvSpPr txBox="1"/>
          <p:nvPr/>
        </p:nvSpPr>
        <p:spPr>
          <a:xfrm>
            <a:off x="195943" y="190500"/>
            <a:ext cx="17678400" cy="1200329"/>
          </a:xfrm>
          <a:prstGeom prst="rect">
            <a:avLst/>
          </a:prstGeom>
          <a:noFill/>
        </p:spPr>
        <p:txBody>
          <a:bodyPr wrap="square">
            <a:spAutoFit/>
          </a:bodyPr>
          <a:lstStyle/>
          <a:p>
            <a:r>
              <a:rPr lang="en-IN" sz="2400" b="1" dirty="0"/>
              <a:t>Analogy:</a:t>
            </a:r>
            <a:r>
              <a:rPr lang="en-IN" sz="2400" dirty="0"/>
              <a:t> imagine looking through a stack of </a:t>
            </a:r>
            <a:r>
              <a:rPr lang="en-IN" sz="2400" b="1" dirty="0"/>
              <a:t>tinted glass sheets</a:t>
            </a:r>
            <a:r>
              <a:rPr lang="en-IN" sz="2400" dirty="0"/>
              <a:t>. Some are almost clear, some are cloudy, and some are nearly solid. What you see is a mix: a little of the clear ones, a lot of the first cloudy one, and almost nothing from the sheets hidden behind a solid one. DVR does exactly this, once for every pixel.</a:t>
            </a:r>
          </a:p>
        </p:txBody>
      </p:sp>
      <p:sp>
        <p:nvSpPr>
          <p:cNvPr id="5" name="TextBox 4">
            <a:extLst>
              <a:ext uri="{FF2B5EF4-FFF2-40B4-BE49-F238E27FC236}">
                <a16:creationId xmlns:a16="http://schemas.microsoft.com/office/drawing/2014/main" id="{F07C710D-B9E7-D8B6-926C-B6FFDC6CC556}"/>
              </a:ext>
            </a:extLst>
          </p:cNvPr>
          <p:cNvSpPr txBox="1"/>
          <p:nvPr/>
        </p:nvSpPr>
        <p:spPr>
          <a:xfrm>
            <a:off x="413657" y="1141631"/>
            <a:ext cx="9144000" cy="9325630"/>
          </a:xfrm>
          <a:prstGeom prst="rect">
            <a:avLst/>
          </a:prstGeom>
          <a:noFill/>
        </p:spPr>
        <p:txBody>
          <a:bodyPr wrap="square">
            <a:spAutoFit/>
          </a:bodyPr>
          <a:lstStyle/>
          <a:p>
            <a:pPr rtl="0">
              <a:buNone/>
            </a:pPr>
            <a:r>
              <a:rPr lang="en-IN" sz="2400" b="1" dirty="0"/>
              <a:t>Step by step</a:t>
            </a:r>
          </a:p>
          <a:p>
            <a:pPr rtl="0">
              <a:buNone/>
            </a:pPr>
            <a:r>
              <a:rPr lang="en-IN" sz="2400" b="1" dirty="0"/>
              <a:t>Step 1: decide the “look” of each value (the transfer function).</a:t>
            </a:r>
            <a:br>
              <a:rPr lang="en-IN" sz="2400" dirty="0"/>
            </a:br>
            <a:r>
              <a:rPr lang="en-IN" sz="2400" dirty="0"/>
              <a:t>Before rendering, you set a rule, for example:</a:t>
            </a:r>
          </a:p>
          <a:p>
            <a:pPr marL="342900" lvl="0" indent="-342900" rtl="0">
              <a:buFont typeface="Arial" panose="020B0604020202020204" pitchFamily="34" charset="0"/>
              <a:buChar char="•"/>
            </a:pPr>
            <a:r>
              <a:rPr lang="en-IN" sz="2400" dirty="0"/>
              <a:t>Air → invisible</a:t>
            </a:r>
          </a:p>
          <a:p>
            <a:pPr marL="342900" lvl="0" indent="-342900" rtl="0">
              <a:buFont typeface="Arial" panose="020B0604020202020204" pitchFamily="34" charset="0"/>
              <a:buChar char="•"/>
            </a:pPr>
            <a:r>
              <a:rPr lang="en-IN" sz="2400" dirty="0"/>
              <a:t>Soft tissue → faint blue, mostly see-through</a:t>
            </a:r>
          </a:p>
          <a:p>
            <a:pPr marL="342900" lvl="0" indent="-342900" rtl="0">
              <a:buFont typeface="Arial" panose="020B0604020202020204" pitchFamily="34" charset="0"/>
              <a:buChar char="•"/>
            </a:pPr>
            <a:r>
              <a:rPr lang="en-IN" sz="2400" dirty="0"/>
              <a:t>Vessels → bright blue, half see-through</a:t>
            </a:r>
          </a:p>
          <a:p>
            <a:pPr marL="342900" lvl="0" indent="-342900" rtl="0">
              <a:buFont typeface="Arial" panose="020B0604020202020204" pitchFamily="34" charset="0"/>
              <a:buChar char="•"/>
            </a:pPr>
            <a:r>
              <a:rPr lang="en-IN" sz="2400" dirty="0"/>
              <a:t>Bone → white, almost solid</a:t>
            </a:r>
          </a:p>
          <a:p>
            <a:pPr rtl="0">
              <a:buNone/>
            </a:pPr>
            <a:r>
              <a:rPr lang="en-IN" sz="2400" b="1" dirty="0"/>
              <a:t>Step 2: shoot a ray from each pixel into the volume.</a:t>
            </a:r>
            <a:br>
              <a:rPr lang="en-IN" sz="2400" dirty="0"/>
            </a:br>
            <a:r>
              <a:rPr lang="en-IN" sz="2400" dirty="0"/>
              <a:t>Picture a straight line going from your eye, through the pixel, through the whole body.</a:t>
            </a:r>
          </a:p>
          <a:p>
            <a:pPr rtl="0">
              <a:buNone/>
            </a:pPr>
            <a:r>
              <a:rPr lang="en-IN" sz="2400" b="1" dirty="0"/>
              <a:t>Step 3: take samples along the ray.</a:t>
            </a:r>
            <a:br>
              <a:rPr lang="en-IN" sz="2400" dirty="0"/>
            </a:br>
            <a:r>
              <a:rPr lang="en-IN" sz="2400" dirty="0"/>
              <a:t>At small regular steps along the line, read the voxel value at that point.</a:t>
            </a:r>
          </a:p>
          <a:p>
            <a:pPr rtl="0">
              <a:buNone/>
            </a:pPr>
            <a:r>
              <a:rPr lang="en-IN" sz="2400" b="1" dirty="0"/>
              <a:t>Step 4: turn each sample into colour + opacity.</a:t>
            </a:r>
            <a:br>
              <a:rPr lang="en-IN" sz="2400" dirty="0"/>
            </a:br>
            <a:r>
              <a:rPr lang="en-IN" sz="2400" dirty="0"/>
              <a:t>Look up the value in the transfer function. “This is soft tissue, so it’s faint blue with opacity 0.2.”</a:t>
            </a:r>
          </a:p>
          <a:p>
            <a:pPr rtl="0">
              <a:buNone/>
            </a:pPr>
            <a:r>
              <a:rPr lang="en-IN" sz="2400" b="1" dirty="0"/>
              <a:t>Step 5: blend the samples front to back.</a:t>
            </a:r>
            <a:br>
              <a:rPr lang="en-IN" sz="2400" dirty="0"/>
            </a:br>
            <a:r>
              <a:rPr lang="en-IN" sz="2400" dirty="0"/>
              <a:t>Keep track of </a:t>
            </a:r>
            <a:r>
              <a:rPr lang="en-IN" sz="2400" b="1" dirty="0"/>
              <a:t>how much visibility is left</a:t>
            </a:r>
            <a:r>
              <a:rPr lang="en-IN" sz="2400" dirty="0"/>
              <a:t>, starting at 100%. Each sample:</a:t>
            </a:r>
          </a:p>
          <a:p>
            <a:pPr marL="342900" lvl="0" indent="-342900" rtl="0">
              <a:buFont typeface="Arial" panose="020B0604020202020204" pitchFamily="34" charset="0"/>
              <a:buChar char="•"/>
            </a:pPr>
            <a:r>
              <a:rPr lang="en-IN" sz="2400" dirty="0"/>
              <a:t>adds its colour, weighted by its opacity × the remaining visibility, and</a:t>
            </a:r>
          </a:p>
          <a:p>
            <a:pPr marL="342900" lvl="0" indent="-342900" rtl="0">
              <a:buFont typeface="Arial" panose="020B0604020202020204" pitchFamily="34" charset="0"/>
              <a:buChar char="•"/>
            </a:pPr>
            <a:r>
              <a:rPr lang="en-IN" sz="2400" dirty="0"/>
              <a:t>uses up that share of visibility for everything behind it.</a:t>
            </a:r>
          </a:p>
          <a:p>
            <a:pPr rtl="0">
              <a:buNone/>
            </a:pPr>
            <a:r>
              <a:rPr lang="en-IN" sz="2400" b="1" dirty="0"/>
              <a:t>Step 6: stop early when it’s solid.</a:t>
            </a:r>
            <a:br>
              <a:rPr lang="en-IN" sz="2400" dirty="0"/>
            </a:br>
            <a:r>
              <a:rPr lang="en-IN" sz="2400" dirty="0"/>
              <a:t>Once visibility is nearly used up, nothing behind can be seen, so the ray stops.</a:t>
            </a:r>
          </a:p>
          <a:p>
            <a:pPr rtl="0">
              <a:buNone/>
            </a:pPr>
            <a:r>
              <a:rPr lang="en-IN" sz="2400" b="1" dirty="0"/>
              <a:t>Step 7: that blended colour is the pixel.</a:t>
            </a:r>
            <a:r>
              <a:rPr lang="en-IN" sz="2400" dirty="0"/>
              <a:t> Repeat for every pixel and you have the image.</a:t>
            </a:r>
          </a:p>
          <a:p>
            <a:pPr rtl="0">
              <a:buNone/>
            </a:pPr>
            <a:r>
              <a:rPr lang="en-IN" sz="2400" b="1" dirty="0"/>
              <a:t>One ray, worked with numbers</a:t>
            </a:r>
          </a:p>
        </p:txBody>
      </p:sp>
      <p:pic>
        <p:nvPicPr>
          <p:cNvPr id="7" name="Picture 6">
            <a:extLst>
              <a:ext uri="{FF2B5EF4-FFF2-40B4-BE49-F238E27FC236}">
                <a16:creationId xmlns:a16="http://schemas.microsoft.com/office/drawing/2014/main" id="{E569E77A-82E9-A791-0035-703EA9DABC89}"/>
              </a:ext>
            </a:extLst>
          </p:cNvPr>
          <p:cNvPicPr>
            <a:picLocks noChangeAspect="1"/>
          </p:cNvPicPr>
          <p:nvPr/>
        </p:nvPicPr>
        <p:blipFill>
          <a:blip r:embed="rId2"/>
          <a:stretch>
            <a:fillRect/>
          </a:stretch>
        </p:blipFill>
        <p:spPr>
          <a:xfrm>
            <a:off x="9715500" y="1174288"/>
            <a:ext cx="8345065" cy="2476846"/>
          </a:xfrm>
          <a:prstGeom prst="rect">
            <a:avLst/>
          </a:prstGeom>
        </p:spPr>
      </p:pic>
      <p:sp>
        <p:nvSpPr>
          <p:cNvPr id="9" name="TextBox 8">
            <a:extLst>
              <a:ext uri="{FF2B5EF4-FFF2-40B4-BE49-F238E27FC236}">
                <a16:creationId xmlns:a16="http://schemas.microsoft.com/office/drawing/2014/main" id="{CE76FDA5-0A30-CBE8-6AC3-A2B792CA343B}"/>
              </a:ext>
            </a:extLst>
          </p:cNvPr>
          <p:cNvSpPr txBox="1"/>
          <p:nvPr/>
        </p:nvSpPr>
        <p:spPr>
          <a:xfrm>
            <a:off x="9557657" y="4266337"/>
            <a:ext cx="7663543" cy="4401205"/>
          </a:xfrm>
          <a:prstGeom prst="rect">
            <a:avLst/>
          </a:prstGeom>
          <a:noFill/>
        </p:spPr>
        <p:txBody>
          <a:bodyPr wrap="square">
            <a:spAutoFit/>
          </a:bodyPr>
          <a:lstStyle/>
          <a:p>
            <a:pPr rtl="0">
              <a:buNone/>
            </a:pPr>
            <a:r>
              <a:rPr lang="en-IN" sz="2800" b="1" dirty="0"/>
              <a:t>What you achieve</a:t>
            </a:r>
          </a:p>
          <a:p>
            <a:pPr marL="342900" lvl="0" indent="-342900" rtl="0">
              <a:buFont typeface="Arial" panose="020B0604020202020204" pitchFamily="34" charset="0"/>
              <a:buChar char="•"/>
            </a:pPr>
            <a:r>
              <a:rPr lang="en-IN" sz="2800" b="1" dirty="0"/>
              <a:t>One image that shows many structures at once,</a:t>
            </a:r>
            <a:r>
              <a:rPr lang="en-IN" sz="2800" dirty="0"/>
              <a:t> each in its own colour.</a:t>
            </a:r>
          </a:p>
          <a:p>
            <a:pPr marL="342900" lvl="0" indent="-342900" rtl="0">
              <a:buFont typeface="Arial" panose="020B0604020202020204" pitchFamily="34" charset="0"/>
              <a:buChar char="•"/>
            </a:pPr>
            <a:r>
              <a:rPr lang="en-IN" sz="2800" b="1" dirty="0"/>
              <a:t>See-through layers,</a:t>
            </a:r>
            <a:r>
              <a:rPr lang="en-IN" sz="2800" dirty="0"/>
              <a:t> so internal organs are visible inside the body without cutting it open.</a:t>
            </a:r>
          </a:p>
          <a:p>
            <a:pPr marL="342900" lvl="0" indent="-342900" rtl="0">
              <a:buFont typeface="Arial" panose="020B0604020202020204" pitchFamily="34" charset="0"/>
              <a:buChar char="•"/>
            </a:pPr>
            <a:r>
              <a:rPr lang="en-IN" sz="2800" b="1" dirty="0"/>
              <a:t>Instant control by changing the transfer function.</a:t>
            </a:r>
            <a:r>
              <a:rPr lang="en-IN" sz="2800" dirty="0"/>
              <a:t> Make soft tissue opacity 0 and only the skeleton remains. Raise it and organs appear. The data never changes, only the “glasses” you look through.</a:t>
            </a:r>
          </a:p>
        </p:txBody>
      </p:sp>
    </p:spTree>
    <p:extLst>
      <p:ext uri="{BB962C8B-B14F-4D97-AF65-F5344CB8AC3E}">
        <p14:creationId xmlns:p14="http://schemas.microsoft.com/office/powerpoint/2010/main" val="349356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7150687" y="7432079"/>
            <a:ext cx="2891336" cy="541449"/>
          </a:xfrm>
          <a:custGeom>
            <a:avLst/>
            <a:gdLst/>
            <a:ahLst/>
            <a:cxnLst/>
            <a:rect l="l" t="t" r="r" b="b"/>
            <a:pathLst>
              <a:path w="2891336" h="541449">
                <a:moveTo>
                  <a:pt x="0" y="0"/>
                </a:moveTo>
                <a:lnTo>
                  <a:pt x="2891336" y="0"/>
                </a:lnTo>
                <a:lnTo>
                  <a:pt x="2891336" y="541449"/>
                </a:lnTo>
                <a:lnTo>
                  <a:pt x="0" y="541449"/>
                </a:lnTo>
                <a:lnTo>
                  <a:pt x="0" y="0"/>
                </a:lnTo>
                <a:close/>
              </a:path>
            </a:pathLst>
          </a:custGeom>
          <a:blipFill>
            <a:blip r:embed="rId3"/>
            <a:stretch>
              <a:fillRect/>
            </a:stretch>
          </a:blipFill>
        </p:spPr>
        <p:txBody>
          <a:bodyPr/>
          <a:lstStyle/>
          <a:p>
            <a:endParaRPr lang="en-IN"/>
          </a:p>
        </p:txBody>
      </p:sp>
      <p:sp>
        <p:nvSpPr>
          <p:cNvPr id="6" name="Freeform 6"/>
          <p:cNvSpPr/>
          <p:nvPr/>
        </p:nvSpPr>
        <p:spPr>
          <a:xfrm>
            <a:off x="826684" y="7973528"/>
            <a:ext cx="4386075" cy="1981354"/>
          </a:xfrm>
          <a:custGeom>
            <a:avLst/>
            <a:gdLst/>
            <a:ahLst/>
            <a:cxnLst/>
            <a:rect l="l" t="t" r="r" b="b"/>
            <a:pathLst>
              <a:path w="4386075" h="1981354">
                <a:moveTo>
                  <a:pt x="0" y="0"/>
                </a:moveTo>
                <a:lnTo>
                  <a:pt x="4386075" y="0"/>
                </a:lnTo>
                <a:lnTo>
                  <a:pt x="4386075" y="1981354"/>
                </a:lnTo>
                <a:lnTo>
                  <a:pt x="0" y="1981354"/>
                </a:lnTo>
                <a:lnTo>
                  <a:pt x="0" y="0"/>
                </a:lnTo>
                <a:close/>
              </a:path>
            </a:pathLst>
          </a:custGeom>
          <a:blipFill>
            <a:blip r:embed="rId4"/>
            <a:stretch>
              <a:fillRect/>
            </a:stretch>
          </a:blipFill>
        </p:spPr>
        <p:txBody>
          <a:bodyPr/>
          <a:lstStyle/>
          <a:p>
            <a:endParaRPr lang="en-IN"/>
          </a:p>
        </p:txBody>
      </p:sp>
      <p:sp>
        <p:nvSpPr>
          <p:cNvPr id="7" name="Freeform 7"/>
          <p:cNvSpPr/>
          <p:nvPr/>
        </p:nvSpPr>
        <p:spPr>
          <a:xfrm>
            <a:off x="12466197" y="3287607"/>
            <a:ext cx="5422810" cy="4209052"/>
          </a:xfrm>
          <a:custGeom>
            <a:avLst/>
            <a:gdLst/>
            <a:ahLst/>
            <a:cxnLst/>
            <a:rect l="l" t="t" r="r" b="b"/>
            <a:pathLst>
              <a:path w="5422810" h="4209052">
                <a:moveTo>
                  <a:pt x="0" y="0"/>
                </a:moveTo>
                <a:lnTo>
                  <a:pt x="5422810" y="0"/>
                </a:lnTo>
                <a:lnTo>
                  <a:pt x="5422810" y="4209053"/>
                </a:lnTo>
                <a:lnTo>
                  <a:pt x="0" y="4209053"/>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826684" y="2048268"/>
            <a:ext cx="11422185" cy="50958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Ray casting is </a:t>
            </a:r>
            <a:r>
              <a:rPr lang="en-US" sz="3000" b="1" dirty="0">
                <a:solidFill>
                  <a:srgbClr val="000000"/>
                </a:solidFill>
                <a:latin typeface="Calibri (MS)"/>
                <a:ea typeface="Calibri (MS)"/>
                <a:cs typeface="Calibri (MS)"/>
                <a:sym typeface="Calibri (MS)"/>
              </a:rPr>
              <a:t>a volume-rendering approach </a:t>
            </a:r>
            <a:r>
              <a:rPr lang="en-US" sz="3000" dirty="0">
                <a:solidFill>
                  <a:srgbClr val="000000"/>
                </a:solidFill>
                <a:latin typeface="Calibri (MS)"/>
                <a:ea typeface="Calibri (MS)"/>
                <a:cs typeface="Calibri (MS)"/>
                <a:sym typeface="Calibri (MS)"/>
              </a:rPr>
              <a:t>in which rays are projected through the volume and sampled at multiple locations along their paths.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Basic Process</a:t>
            </a:r>
          </a:p>
          <a:p>
            <a:pPr algn="l">
              <a:lnSpc>
                <a:spcPts val="3600"/>
              </a:lnSpc>
            </a:pPr>
            <a:r>
              <a:rPr lang="en-US" sz="3000" dirty="0">
                <a:solidFill>
                  <a:srgbClr val="000000"/>
                </a:solidFill>
                <a:latin typeface="Calibri (MS)"/>
                <a:ea typeface="Calibri (MS)"/>
                <a:cs typeface="Calibri (MS)"/>
                <a:sym typeface="Calibri (MS)"/>
              </a:rPr>
              <a:t>For each viewing ray:</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A ray enters the volume.</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The ray samples the volume at successive positions.</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Each sample obtains a scalar value.</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The scalar value is mapped to color and opacity.</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Contributions from samples are accumulated.</a:t>
            </a:r>
          </a:p>
          <a:p>
            <a:pPr marL="647703" lvl="1" indent="-323852" algn="l">
              <a:lnSpc>
                <a:spcPts val="3600"/>
              </a:lnSpc>
              <a:buAutoNum type="arabicPeriod"/>
            </a:pPr>
            <a:r>
              <a:rPr lang="en-US" sz="3000" dirty="0">
                <a:solidFill>
                  <a:srgbClr val="000000"/>
                </a:solidFill>
                <a:latin typeface="Calibri (MS)"/>
                <a:ea typeface="Calibri (MS)"/>
                <a:cs typeface="Calibri (MS)"/>
                <a:sym typeface="Calibri (MS)"/>
              </a:rPr>
              <a:t>The accumulated result becomes the corresponding image pixel.</a:t>
            </a:r>
          </a:p>
        </p:txBody>
      </p:sp>
      <p:sp>
        <p:nvSpPr>
          <p:cNvPr id="9" name="TextBox 9"/>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Ray Casting</a:t>
            </a:r>
          </a:p>
        </p:txBody>
      </p:sp>
      <p:sp>
        <p:nvSpPr>
          <p:cNvPr id="11" name="TextBox 11"/>
          <p:cNvSpPr txBox="1"/>
          <p:nvPr/>
        </p:nvSpPr>
        <p:spPr>
          <a:xfrm>
            <a:off x="826684" y="7449653"/>
            <a:ext cx="6324002"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ray can be represented parametrically: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3848153" y="2114943"/>
            <a:ext cx="3185683" cy="659107"/>
          </a:xfrm>
          <a:custGeom>
            <a:avLst/>
            <a:gdLst/>
            <a:ahLst/>
            <a:cxnLst/>
            <a:rect l="l" t="t" r="r" b="b"/>
            <a:pathLst>
              <a:path w="3185683" h="659107">
                <a:moveTo>
                  <a:pt x="0" y="0"/>
                </a:moveTo>
                <a:lnTo>
                  <a:pt x="3185683" y="0"/>
                </a:lnTo>
                <a:lnTo>
                  <a:pt x="3185683" y="659107"/>
                </a:lnTo>
                <a:lnTo>
                  <a:pt x="0" y="659107"/>
                </a:lnTo>
                <a:lnTo>
                  <a:pt x="0" y="0"/>
                </a:lnTo>
                <a:close/>
              </a:path>
            </a:pathLst>
          </a:custGeom>
          <a:blipFill>
            <a:blip r:embed="rId3"/>
            <a:stretch>
              <a:fillRect/>
            </a:stretch>
          </a:blipFill>
        </p:spPr>
        <p:txBody>
          <a:bodyPr/>
          <a:lstStyle/>
          <a:p>
            <a:endParaRPr lang="en-IN"/>
          </a:p>
        </p:txBody>
      </p:sp>
      <p:sp>
        <p:nvSpPr>
          <p:cNvPr id="6" name="Freeform 6"/>
          <p:cNvSpPr/>
          <p:nvPr/>
        </p:nvSpPr>
        <p:spPr>
          <a:xfrm>
            <a:off x="4119922" y="3895119"/>
            <a:ext cx="10048156" cy="5136278"/>
          </a:xfrm>
          <a:custGeom>
            <a:avLst/>
            <a:gdLst/>
            <a:ahLst/>
            <a:cxnLst/>
            <a:rect l="l" t="t" r="r" b="b"/>
            <a:pathLst>
              <a:path w="10048156" h="5136278">
                <a:moveTo>
                  <a:pt x="0" y="0"/>
                </a:moveTo>
                <a:lnTo>
                  <a:pt x="10048156" y="0"/>
                </a:lnTo>
                <a:lnTo>
                  <a:pt x="10048156" y="5136278"/>
                </a:lnTo>
                <a:lnTo>
                  <a:pt x="0" y="5136278"/>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826684" y="2964550"/>
            <a:ext cx="11902073" cy="981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t>
            </a:r>
            <a:r>
              <a:rPr lang="en-US" sz="3000" i="1">
                <a:solidFill>
                  <a:srgbClr val="000000"/>
                </a:solidFill>
                <a:latin typeface="Calibri (MS) Italics"/>
                <a:ea typeface="Calibri (MS) Italics"/>
                <a:cs typeface="Calibri (MS) Italics"/>
                <a:sym typeface="Calibri (MS) Italics"/>
              </a:rPr>
              <a:t>The final pixel does not necessarily correspond to one voxel.</a:t>
            </a:r>
          </a:p>
          <a:p>
            <a:pPr algn="l">
              <a:lnSpc>
                <a:spcPts val="3600"/>
              </a:lnSpc>
            </a:pPr>
            <a:r>
              <a:rPr lang="en-US" sz="3000" i="1">
                <a:solidFill>
                  <a:srgbClr val="000000"/>
                </a:solidFill>
                <a:latin typeface="Calibri (MS) Italics"/>
                <a:ea typeface="Calibri (MS) Italics"/>
                <a:cs typeface="Calibri (MS) Italics"/>
                <a:sym typeface="Calibri (MS) Italics"/>
              </a:rPr>
              <a:t>Instead: Pixel = Accumulated Contribution Of Multiple Sample</a:t>
            </a:r>
          </a:p>
        </p:txBody>
      </p:sp>
      <p:sp>
        <p:nvSpPr>
          <p:cNvPr id="8" name="TextBox 8"/>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Ray Casting</a:t>
            </a:r>
          </a:p>
        </p:txBody>
      </p:sp>
      <p:sp>
        <p:nvSpPr>
          <p:cNvPr id="10" name="TextBox 10"/>
          <p:cNvSpPr txBox="1"/>
          <p:nvPr/>
        </p:nvSpPr>
        <p:spPr>
          <a:xfrm>
            <a:off x="826684" y="2200668"/>
            <a:ext cx="3021469"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Sampling occurs at:</a:t>
            </a:r>
          </a:p>
        </p:txBody>
      </p:sp>
      <p:sp>
        <p:nvSpPr>
          <p:cNvPr id="12" name="TextBox 11">
            <a:extLst>
              <a:ext uri="{FF2B5EF4-FFF2-40B4-BE49-F238E27FC236}">
                <a16:creationId xmlns:a16="http://schemas.microsoft.com/office/drawing/2014/main" id="{148B0783-9F4C-63B6-E5D2-5C78ED3ACF65}"/>
              </a:ext>
            </a:extLst>
          </p:cNvPr>
          <p:cNvSpPr txBox="1"/>
          <p:nvPr/>
        </p:nvSpPr>
        <p:spPr>
          <a:xfrm>
            <a:off x="2591884" y="9319532"/>
            <a:ext cx="9152164" cy="830997"/>
          </a:xfrm>
          <a:prstGeom prst="rect">
            <a:avLst/>
          </a:prstGeom>
          <a:noFill/>
        </p:spPr>
        <p:txBody>
          <a:bodyPr wrap="square">
            <a:spAutoFit/>
          </a:bodyPr>
          <a:lstStyle/>
          <a:p>
            <a:r>
              <a:rPr lang="en-IN" sz="2400" b="1" dirty="0"/>
              <a:t>DVR works by giving every voxel a colour + opacity and blending them into an image.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6" name="Freeform 6"/>
          <p:cNvSpPr/>
          <p:nvPr/>
        </p:nvSpPr>
        <p:spPr>
          <a:xfrm>
            <a:off x="10122445" y="5695089"/>
            <a:ext cx="7338871" cy="4128115"/>
          </a:xfrm>
          <a:custGeom>
            <a:avLst/>
            <a:gdLst/>
            <a:ahLst/>
            <a:cxnLst/>
            <a:rect l="l" t="t" r="r" b="b"/>
            <a:pathLst>
              <a:path w="7338871" h="4128115">
                <a:moveTo>
                  <a:pt x="0" y="0"/>
                </a:moveTo>
                <a:lnTo>
                  <a:pt x="7338870" y="0"/>
                </a:lnTo>
                <a:lnTo>
                  <a:pt x="7338870" y="4128115"/>
                </a:lnTo>
                <a:lnTo>
                  <a:pt x="0" y="4128115"/>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826684" y="2048268"/>
            <a:ext cx="15547860" cy="4616648"/>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A transfer function maps </a:t>
            </a:r>
            <a:r>
              <a:rPr lang="en-US" sz="3000" b="1" dirty="0">
                <a:solidFill>
                  <a:srgbClr val="000000"/>
                </a:solidFill>
                <a:latin typeface="Calibri (MS)"/>
                <a:ea typeface="Calibri (MS)"/>
                <a:cs typeface="Calibri (MS)"/>
                <a:sym typeface="Calibri (MS)"/>
              </a:rPr>
              <a:t>numerical values in volumetric data to visual properties such as color and opacity.</a:t>
            </a:r>
          </a:p>
          <a:p>
            <a:pPr algn="l">
              <a:lnSpc>
                <a:spcPts val="3600"/>
              </a:lnSpc>
            </a:pPr>
            <a:r>
              <a:rPr lang="en-US" sz="3000" i="1" dirty="0">
                <a:solidFill>
                  <a:srgbClr val="000000"/>
                </a:solidFill>
                <a:latin typeface="Calibri (MS) Italics"/>
                <a:ea typeface="Calibri (MS) Italics"/>
                <a:cs typeface="Calibri (MS) Italics"/>
                <a:sym typeface="Calibri (MS) Italics"/>
              </a:rPr>
              <a:t>T(s) → (C, α)</a:t>
            </a:r>
            <a:r>
              <a:rPr lang="en-US" sz="3000" dirty="0">
                <a:solidFill>
                  <a:srgbClr val="000000"/>
                </a:solidFill>
                <a:latin typeface="Calibri (MS)"/>
                <a:ea typeface="Calibri (MS)"/>
                <a:cs typeface="Calibri (MS)"/>
                <a:sym typeface="Calibri (MS)"/>
              </a:rPr>
              <a:t> where: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 → scalar value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 → assigned </a:t>
            </a:r>
            <a:r>
              <a:rPr lang="en-US" sz="3000" dirty="0" err="1">
                <a:solidFill>
                  <a:srgbClr val="000000"/>
                </a:solidFill>
                <a:latin typeface="Calibri (MS)"/>
                <a:ea typeface="Calibri (MS)"/>
                <a:cs typeface="Calibri (MS)"/>
                <a:sym typeface="Calibri (MS)"/>
              </a:rPr>
              <a:t>colour</a:t>
            </a:r>
            <a:endParaRPr lang="en-US" sz="3000" dirty="0">
              <a:solidFill>
                <a:srgbClr val="000000"/>
              </a:solidFill>
              <a:latin typeface="Calibri (MS)"/>
              <a:ea typeface="Calibri (MS)"/>
              <a:cs typeface="Calibri (MS)"/>
              <a:sym typeface="Calibri (MS)"/>
            </a:endParaRP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α → assigned opacity</a:t>
            </a:r>
          </a:p>
          <a:p>
            <a:pPr marL="323851" lvl="1" algn="l">
              <a:lnSpc>
                <a:spcPct val="100000"/>
              </a:lnSpc>
            </a:pPr>
            <a:r>
              <a:rPr lang="en-IN" sz="3200" dirty="0"/>
              <a:t>from 0 (invisible) to 1 (solid)</a:t>
            </a:r>
            <a:endParaRPr lang="en-US" sz="3000" dirty="0">
              <a:solidFill>
                <a:srgbClr val="000000"/>
              </a:solidFill>
              <a:latin typeface="Calibri (MS)"/>
              <a:ea typeface="Calibri (MS)"/>
              <a:cs typeface="Calibri (MS)"/>
              <a:sym typeface="Calibri (MS)"/>
            </a:endParaRP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Example</a:t>
            </a:r>
          </a:p>
          <a:p>
            <a:pPr algn="l">
              <a:lnSpc>
                <a:spcPts val="3600"/>
              </a:lnSpc>
            </a:pPr>
            <a:r>
              <a:rPr lang="en-US" sz="3000" dirty="0">
                <a:solidFill>
                  <a:srgbClr val="000000"/>
                </a:solidFill>
                <a:latin typeface="Calibri (MS)"/>
                <a:ea typeface="Calibri (MS)"/>
                <a:cs typeface="Calibri (MS)"/>
                <a:sym typeface="Calibri (MS)"/>
              </a:rPr>
              <a:t>Suppose a CT volume contains several ranges of intensity:</a:t>
            </a:r>
          </a:p>
        </p:txBody>
      </p:sp>
      <p:sp>
        <p:nvSpPr>
          <p:cNvPr id="8" name="TextBox 8"/>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Transfer Functions</a:t>
            </a:r>
          </a:p>
        </p:txBody>
      </p:sp>
      <p:sp>
        <p:nvSpPr>
          <p:cNvPr id="11" name="TextBox 10">
            <a:extLst>
              <a:ext uri="{FF2B5EF4-FFF2-40B4-BE49-F238E27FC236}">
                <a16:creationId xmlns:a16="http://schemas.microsoft.com/office/drawing/2014/main" id="{F6AB2FA1-43DC-8211-F771-9332181C5DCD}"/>
              </a:ext>
            </a:extLst>
          </p:cNvPr>
          <p:cNvSpPr txBox="1"/>
          <p:nvPr/>
        </p:nvSpPr>
        <p:spPr>
          <a:xfrm>
            <a:off x="5136419" y="2536801"/>
            <a:ext cx="6629400" cy="954107"/>
          </a:xfrm>
          <a:prstGeom prst="rect">
            <a:avLst/>
          </a:prstGeom>
          <a:noFill/>
        </p:spPr>
        <p:txBody>
          <a:bodyPr wrap="square">
            <a:spAutoFit/>
          </a:bodyPr>
          <a:lstStyle/>
          <a:p>
            <a:r>
              <a:rPr lang="en-IN" sz="2800" b="1" dirty="0"/>
              <a:t>Volume Data → Transfer Function → Volume Rendering → Image</a:t>
            </a:r>
          </a:p>
        </p:txBody>
      </p:sp>
      <p:sp>
        <p:nvSpPr>
          <p:cNvPr id="13" name="TextBox 12">
            <a:extLst>
              <a:ext uri="{FF2B5EF4-FFF2-40B4-BE49-F238E27FC236}">
                <a16:creationId xmlns:a16="http://schemas.microsoft.com/office/drawing/2014/main" id="{9E057FD5-32A8-15C2-D100-3A69F0DD4C18}"/>
              </a:ext>
            </a:extLst>
          </p:cNvPr>
          <p:cNvSpPr txBox="1"/>
          <p:nvPr/>
        </p:nvSpPr>
        <p:spPr>
          <a:xfrm>
            <a:off x="5410200" y="3542824"/>
            <a:ext cx="6781800" cy="1200329"/>
          </a:xfrm>
          <a:prstGeom prst="rect">
            <a:avLst/>
          </a:prstGeom>
          <a:noFill/>
        </p:spPr>
        <p:txBody>
          <a:bodyPr wrap="square">
            <a:spAutoFit/>
          </a:bodyPr>
          <a:lstStyle/>
          <a:p>
            <a:r>
              <a:rPr lang="en-IN" sz="2400" b="1" dirty="0"/>
              <a:t>explains </a:t>
            </a:r>
            <a:r>
              <a:rPr lang="en-IN" sz="2400" b="1" i="1" dirty="0"/>
              <a:t>how</a:t>
            </a:r>
            <a:r>
              <a:rPr lang="en-IN" sz="2400" b="1" dirty="0"/>
              <a:t> each voxel gets that colour and opacity. That’s the job of the transfer function, T(s) → (C, α).</a:t>
            </a:r>
          </a:p>
        </p:txBody>
      </p:sp>
      <p:pic>
        <p:nvPicPr>
          <p:cNvPr id="15" name="Picture 14">
            <a:extLst>
              <a:ext uri="{FF2B5EF4-FFF2-40B4-BE49-F238E27FC236}">
                <a16:creationId xmlns:a16="http://schemas.microsoft.com/office/drawing/2014/main" id="{B58CB494-CBDC-EEE7-9674-00CFEB8D0CA3}"/>
              </a:ext>
            </a:extLst>
          </p:cNvPr>
          <p:cNvPicPr>
            <a:picLocks noChangeAspect="1"/>
          </p:cNvPicPr>
          <p:nvPr/>
        </p:nvPicPr>
        <p:blipFill>
          <a:blip r:embed="rId4"/>
          <a:stretch>
            <a:fillRect/>
          </a:stretch>
        </p:blipFill>
        <p:spPr>
          <a:xfrm>
            <a:off x="825906" y="6664916"/>
            <a:ext cx="8863787" cy="3411661"/>
          </a:xfrm>
          <a:prstGeom prst="rect">
            <a:avLst/>
          </a:prstGeom>
        </p:spPr>
      </p:pic>
      <p:sp>
        <p:nvSpPr>
          <p:cNvPr id="17" name="TextBox 16">
            <a:extLst>
              <a:ext uri="{FF2B5EF4-FFF2-40B4-BE49-F238E27FC236}">
                <a16:creationId xmlns:a16="http://schemas.microsoft.com/office/drawing/2014/main" id="{DBD82B0E-66F6-5761-9D05-8EBEB9157F7F}"/>
              </a:ext>
            </a:extLst>
          </p:cNvPr>
          <p:cNvSpPr txBox="1"/>
          <p:nvPr/>
        </p:nvSpPr>
        <p:spPr>
          <a:xfrm>
            <a:off x="6285366" y="4686147"/>
            <a:ext cx="6180831" cy="1200329"/>
          </a:xfrm>
          <a:prstGeom prst="rect">
            <a:avLst/>
          </a:prstGeom>
          <a:noFill/>
        </p:spPr>
        <p:txBody>
          <a:bodyPr wrap="square">
            <a:spAutoFit/>
          </a:bodyPr>
          <a:lstStyle/>
          <a:p>
            <a:r>
              <a:rPr lang="en-IN" sz="2400" b="1" dirty="0"/>
              <a:t>Think of it as a lookup chart: “If the value is in this range, use this colour and this much solidity.</a:t>
            </a:r>
          </a:p>
        </p:txBody>
      </p:sp>
      <p:sp>
        <p:nvSpPr>
          <p:cNvPr id="19" name="TextBox 18">
            <a:extLst>
              <a:ext uri="{FF2B5EF4-FFF2-40B4-BE49-F238E27FC236}">
                <a16:creationId xmlns:a16="http://schemas.microsoft.com/office/drawing/2014/main" id="{E8E880F9-2D62-55F3-331E-2C75A366B66B}"/>
              </a:ext>
            </a:extLst>
          </p:cNvPr>
          <p:cNvSpPr txBox="1"/>
          <p:nvPr/>
        </p:nvSpPr>
        <p:spPr>
          <a:xfrm>
            <a:off x="11846539" y="2533882"/>
            <a:ext cx="5071391" cy="1200329"/>
          </a:xfrm>
          <a:prstGeom prst="rect">
            <a:avLst/>
          </a:prstGeom>
          <a:noFill/>
        </p:spPr>
        <p:txBody>
          <a:bodyPr wrap="square">
            <a:spAutoFit/>
          </a:bodyPr>
          <a:lstStyle/>
          <a:p>
            <a:r>
              <a:rPr lang="en-IN" b="1" dirty="0"/>
              <a:t>Opacity curve (the graph):</a:t>
            </a:r>
            <a:r>
              <a:rPr lang="en-IN" dirty="0"/>
              <a:t> the horizontal axis is the scalar value (low → high) and the vertical axis is opacity. Here it’s a </a:t>
            </a:r>
            <a:r>
              <a:rPr lang="en-IN" b="1" dirty="0"/>
              <a:t>straight rising line</a:t>
            </a:r>
            <a:r>
              <a:rPr lang="en-IN" dirty="0"/>
              <a:t>, so the higher the value, the more solid the voxel.</a:t>
            </a:r>
          </a:p>
        </p:txBody>
      </p:sp>
      <p:sp>
        <p:nvSpPr>
          <p:cNvPr id="21" name="TextBox 20">
            <a:extLst>
              <a:ext uri="{FF2B5EF4-FFF2-40B4-BE49-F238E27FC236}">
                <a16:creationId xmlns:a16="http://schemas.microsoft.com/office/drawing/2014/main" id="{4C384160-DB23-65ED-6B26-9EFF23277D9E}"/>
              </a:ext>
            </a:extLst>
          </p:cNvPr>
          <p:cNvSpPr txBox="1"/>
          <p:nvPr/>
        </p:nvSpPr>
        <p:spPr>
          <a:xfrm>
            <a:off x="12053511" y="3766715"/>
            <a:ext cx="5071391" cy="1200329"/>
          </a:xfrm>
          <a:prstGeom prst="rect">
            <a:avLst/>
          </a:prstGeom>
          <a:noFill/>
        </p:spPr>
        <p:txBody>
          <a:bodyPr wrap="square">
            <a:spAutoFit/>
          </a:bodyPr>
          <a:lstStyle/>
          <a:p>
            <a:r>
              <a:rPr lang="en-IN" b="1" dirty="0"/>
              <a:t>Colour gradient (the bar below it):</a:t>
            </a:r>
            <a:r>
              <a:rPr lang="en-IN" dirty="0"/>
              <a:t> purple → blue → teal → green → yellow. Low values get purple, high values get yellow. The small circles are control points you can drag to change the colours.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7381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transfer function commonly controls two independent visual properties: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Opacity Mapping</a:t>
            </a:r>
          </a:p>
          <a:p>
            <a:pPr algn="l">
              <a:lnSpc>
                <a:spcPts val="3600"/>
              </a:lnSpc>
            </a:pPr>
            <a:r>
              <a:rPr lang="en-US" sz="3000">
                <a:solidFill>
                  <a:srgbClr val="000000"/>
                </a:solidFill>
                <a:latin typeface="Calibri (MS)"/>
                <a:ea typeface="Calibri (MS)"/>
                <a:cs typeface="Calibri (MS)"/>
                <a:sym typeface="Calibri (MS)"/>
              </a:rPr>
              <a:t>Opacity mapping determines how transparent or opaque a voxel becomes based on its scalar value.</a:t>
            </a:r>
          </a:p>
          <a:p>
            <a:pPr algn="l">
              <a:lnSpc>
                <a:spcPts val="3600"/>
              </a:lnSpc>
            </a:pPr>
            <a:r>
              <a:rPr lang="en-US" sz="3000" i="1">
                <a:solidFill>
                  <a:srgbClr val="000000"/>
                </a:solidFill>
                <a:latin typeface="Calibri (MS) Italics"/>
                <a:ea typeface="Calibri (MS) Italics"/>
                <a:cs typeface="Calibri (MS) Italics"/>
                <a:sym typeface="Calibri (MS) Italics"/>
              </a:rPr>
              <a:t>s → α </a:t>
            </a:r>
            <a:r>
              <a:rPr lang="en-US" sz="3000">
                <a:solidFill>
                  <a:srgbClr val="000000"/>
                </a:solidFill>
                <a:latin typeface="Calibri (MS)"/>
                <a:ea typeface="Calibri (MS)"/>
                <a:cs typeface="Calibri (MS)"/>
                <a:sym typeface="Calibri (MS)"/>
              </a:rPr>
              <a:t>where </a:t>
            </a:r>
            <a:r>
              <a:rPr lang="en-US" sz="3000" i="1">
                <a:solidFill>
                  <a:srgbClr val="000000"/>
                </a:solidFill>
                <a:latin typeface="Calibri (MS) Italics"/>
                <a:ea typeface="Calibri (MS) Italics"/>
                <a:cs typeface="Calibri (MS) Italics"/>
                <a:sym typeface="Calibri (MS) Italics"/>
              </a:rPr>
              <a:t>0 ≤ α ≤ 1 </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α = 0 → fully transparent</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α = 1 → fully opaque</a:t>
            </a:r>
          </a:p>
          <a:p>
            <a:pPr algn="l">
              <a:lnSpc>
                <a:spcPts val="3600"/>
              </a:lnSpc>
            </a:pPr>
            <a:r>
              <a:rPr lang="en-US" sz="3000">
                <a:solidFill>
                  <a:srgbClr val="000000"/>
                </a:solidFill>
                <a:latin typeface="Calibri (MS)"/>
                <a:ea typeface="Calibri (MS)"/>
                <a:cs typeface="Calibri (MS)"/>
                <a:sym typeface="Calibri (MS)"/>
              </a:rPr>
              <a:t>Purpose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Opacity determines visibility.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Low opacity allows structures behind a region to remain visible.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Colour Mapping</a:t>
            </a:r>
          </a:p>
          <a:p>
            <a:pPr algn="l">
              <a:lnSpc>
                <a:spcPts val="3600"/>
              </a:lnSpc>
            </a:pPr>
            <a:r>
              <a:rPr lang="en-US" sz="3000">
                <a:solidFill>
                  <a:srgbClr val="000000"/>
                </a:solidFill>
                <a:latin typeface="Calibri (MS)"/>
                <a:ea typeface="Calibri (MS)"/>
                <a:cs typeface="Calibri (MS)"/>
                <a:sym typeface="Calibri (MS)"/>
              </a:rPr>
              <a:t>Colour mapping assigns a color to a scalar value.</a:t>
            </a:r>
          </a:p>
          <a:p>
            <a:pPr algn="l">
              <a:lnSpc>
                <a:spcPts val="3600"/>
              </a:lnSpc>
            </a:pPr>
            <a:r>
              <a:rPr lang="en-US" sz="3000" i="1">
                <a:solidFill>
                  <a:srgbClr val="000000"/>
                </a:solidFill>
                <a:latin typeface="Calibri (MS) Italics"/>
                <a:ea typeface="Calibri (MS) Italics"/>
                <a:cs typeface="Calibri (MS) Italics"/>
                <a:sym typeface="Calibri (MS) Italics"/>
              </a:rPr>
              <a:t>s → C</a:t>
            </a:r>
          </a:p>
          <a:p>
            <a:pPr algn="l">
              <a:lnSpc>
                <a:spcPts val="3600"/>
              </a:lnSpc>
            </a:pPr>
            <a:r>
              <a:rPr lang="en-US" sz="3000">
                <a:solidFill>
                  <a:srgbClr val="000000"/>
                </a:solidFill>
                <a:latin typeface="Calibri (MS)"/>
                <a:ea typeface="Calibri (MS)"/>
                <a:cs typeface="Calibri (MS)"/>
                <a:sym typeface="Calibri (MS)"/>
              </a:rPr>
              <a:t>Purpose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Color primarily communicates scalar differentiation.</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Opacity And Color Mapping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4638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Combined Mapping</a:t>
            </a:r>
          </a:p>
          <a:p>
            <a:pPr algn="l">
              <a:lnSpc>
                <a:spcPts val="3600"/>
              </a:lnSpc>
            </a:pPr>
            <a:r>
              <a:rPr lang="en-US" sz="3000" dirty="0">
                <a:solidFill>
                  <a:srgbClr val="000000"/>
                </a:solidFill>
                <a:latin typeface="Calibri (MS)"/>
                <a:ea typeface="Calibri (MS)"/>
                <a:cs typeface="Calibri (MS)"/>
                <a:sym typeface="Calibri (MS)"/>
              </a:rPr>
              <a:t>s → (C, α)</a:t>
            </a:r>
          </a:p>
          <a:p>
            <a:pPr algn="l">
              <a:lnSpc>
                <a:spcPts val="3600"/>
              </a:lnSpc>
            </a:pPr>
            <a:r>
              <a:rPr lang="en-US" sz="3000" dirty="0">
                <a:solidFill>
                  <a:srgbClr val="000000"/>
                </a:solidFill>
                <a:latin typeface="Calibri (MS)"/>
                <a:ea typeface="Calibri (MS)"/>
                <a:cs typeface="Calibri (MS)"/>
                <a:sym typeface="Calibri (MS)"/>
              </a:rPr>
              <a:t>Therefore, a </a:t>
            </a:r>
            <a:r>
              <a:rPr lang="en-US" sz="3000" b="1" dirty="0">
                <a:solidFill>
                  <a:srgbClr val="000000"/>
                </a:solidFill>
                <a:latin typeface="Calibri (MS)"/>
                <a:ea typeface="Calibri (MS)"/>
                <a:cs typeface="Calibri (MS)"/>
                <a:sym typeface="Calibri (MS)"/>
              </a:rPr>
              <a:t>voxel's scalar value can determine both— what </a:t>
            </a:r>
            <a:r>
              <a:rPr lang="en-US" sz="3000" b="1" dirty="0" err="1">
                <a:solidFill>
                  <a:srgbClr val="000000"/>
                </a:solidFill>
                <a:latin typeface="Calibri (MS)"/>
                <a:ea typeface="Calibri (MS)"/>
                <a:cs typeface="Calibri (MS)"/>
                <a:sym typeface="Calibri (MS)"/>
              </a:rPr>
              <a:t>colour</a:t>
            </a:r>
            <a:r>
              <a:rPr lang="en-US" sz="3000" b="1" dirty="0">
                <a:solidFill>
                  <a:srgbClr val="000000"/>
                </a:solidFill>
                <a:latin typeface="Calibri (MS)"/>
                <a:ea typeface="Calibri (MS)"/>
                <a:cs typeface="Calibri (MS)"/>
                <a:sym typeface="Calibri (MS)"/>
              </a:rPr>
              <a:t> it has and how visible it is.</a:t>
            </a:r>
          </a:p>
          <a:p>
            <a:pPr algn="l">
              <a:lnSpc>
                <a:spcPts val="3600"/>
              </a:lnSpc>
            </a:pPr>
            <a:endParaRPr lang="en-US" sz="3000" b="1"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Design Consideration</a:t>
            </a:r>
          </a:p>
          <a:p>
            <a:pPr algn="l">
              <a:lnSpc>
                <a:spcPts val="3600"/>
              </a:lnSpc>
            </a:pPr>
            <a:r>
              <a:rPr lang="en-US" sz="3000" dirty="0" err="1">
                <a:solidFill>
                  <a:srgbClr val="000000"/>
                </a:solidFill>
                <a:latin typeface="Calibri (MS)"/>
                <a:ea typeface="Calibri (MS)"/>
                <a:cs typeface="Calibri (MS)"/>
                <a:sym typeface="Calibri (MS)"/>
              </a:rPr>
              <a:t>Colour</a:t>
            </a:r>
            <a:r>
              <a:rPr lang="en-US" sz="3000" dirty="0">
                <a:solidFill>
                  <a:srgbClr val="000000"/>
                </a:solidFill>
                <a:latin typeface="Calibri (MS)"/>
                <a:ea typeface="Calibri (MS)"/>
                <a:cs typeface="Calibri (MS)"/>
                <a:sym typeface="Calibri (MS)"/>
              </a:rPr>
              <a:t> and opacity should have distinct analytical roles.</a:t>
            </a:r>
          </a:p>
          <a:p>
            <a:pPr algn="l">
              <a:lnSpc>
                <a:spcPts val="3600"/>
              </a:lnSpc>
            </a:pPr>
            <a:r>
              <a:rPr lang="en-US" sz="3000" dirty="0">
                <a:solidFill>
                  <a:srgbClr val="000000"/>
                </a:solidFill>
                <a:latin typeface="Calibri (MS)"/>
                <a:ea typeface="Calibri (MS)"/>
                <a:cs typeface="Calibri (MS)"/>
                <a:sym typeface="Calibri (MS)"/>
              </a:rPr>
              <a:t>For example:</a:t>
            </a:r>
          </a:p>
          <a:p>
            <a:pPr marL="647703" lvl="1" indent="-323852" algn="l">
              <a:lnSpc>
                <a:spcPts val="3600"/>
              </a:lnSpc>
              <a:buFont typeface="Arial"/>
              <a:buChar char="•"/>
            </a:pPr>
            <a:r>
              <a:rPr lang="en-US" sz="3000" b="1" dirty="0" err="1">
                <a:solidFill>
                  <a:srgbClr val="000000"/>
                </a:solidFill>
                <a:latin typeface="Calibri (MS)"/>
                <a:ea typeface="Calibri (MS)"/>
                <a:cs typeface="Calibri (MS)"/>
                <a:sym typeface="Calibri (MS)"/>
              </a:rPr>
              <a:t>Colour</a:t>
            </a:r>
            <a:r>
              <a:rPr lang="en-US" sz="3000" b="1" dirty="0">
                <a:solidFill>
                  <a:srgbClr val="000000"/>
                </a:solidFill>
                <a:latin typeface="Calibri (MS)"/>
                <a:ea typeface="Calibri (MS)"/>
                <a:cs typeface="Calibri (MS)"/>
                <a:sym typeface="Calibri (MS)"/>
              </a:rPr>
              <a:t> → differentiate tissue/material</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Opacity → reveal or suppress structures</a:t>
            </a:r>
          </a:p>
          <a:p>
            <a:pPr algn="l">
              <a:lnSpc>
                <a:spcPts val="3600"/>
              </a:lnSpc>
            </a:pPr>
            <a:r>
              <a:rPr lang="en-US" sz="3000" b="1" dirty="0">
                <a:solidFill>
                  <a:srgbClr val="000000"/>
                </a:solidFill>
                <a:latin typeface="Calibri (MS)"/>
                <a:ea typeface="Calibri (MS)"/>
                <a:cs typeface="Calibri (MS)"/>
                <a:sym typeface="Calibri (MS)"/>
              </a:rPr>
              <a:t>This prevents a single visual channel from carrying too many unrelated meanings.</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Opacity And Color Mapping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5755662" y="3176763"/>
            <a:ext cx="5107244" cy="676710"/>
          </a:xfrm>
          <a:custGeom>
            <a:avLst/>
            <a:gdLst/>
            <a:ahLst/>
            <a:cxnLst/>
            <a:rect l="l" t="t" r="r" b="b"/>
            <a:pathLst>
              <a:path w="5107244" h="676710">
                <a:moveTo>
                  <a:pt x="0" y="0"/>
                </a:moveTo>
                <a:lnTo>
                  <a:pt x="5107243" y="0"/>
                </a:lnTo>
                <a:lnTo>
                  <a:pt x="5107243" y="676710"/>
                </a:lnTo>
                <a:lnTo>
                  <a:pt x="0" y="676710"/>
                </a:lnTo>
                <a:lnTo>
                  <a:pt x="0" y="0"/>
                </a:lnTo>
                <a:close/>
              </a:path>
            </a:pathLst>
          </a:custGeom>
          <a:blipFill>
            <a:blip r:embed="rId3"/>
            <a:stretch>
              <a:fillRect/>
            </a:stretch>
          </a:blipFill>
        </p:spPr>
        <p:txBody>
          <a:bodyPr/>
          <a:lstStyle/>
          <a:p>
            <a:endParaRPr lang="en-IN"/>
          </a:p>
        </p:txBody>
      </p:sp>
      <p:sp>
        <p:nvSpPr>
          <p:cNvPr id="6" name="Freeform 6"/>
          <p:cNvSpPr/>
          <p:nvPr/>
        </p:nvSpPr>
        <p:spPr>
          <a:xfrm>
            <a:off x="1592960" y="3853473"/>
            <a:ext cx="4692406" cy="557385"/>
          </a:xfrm>
          <a:custGeom>
            <a:avLst/>
            <a:gdLst/>
            <a:ahLst/>
            <a:cxnLst/>
            <a:rect l="l" t="t" r="r" b="b"/>
            <a:pathLst>
              <a:path w="4692406" h="557385">
                <a:moveTo>
                  <a:pt x="0" y="0"/>
                </a:moveTo>
                <a:lnTo>
                  <a:pt x="4692407" y="0"/>
                </a:lnTo>
                <a:lnTo>
                  <a:pt x="4692407" y="557385"/>
                </a:lnTo>
                <a:lnTo>
                  <a:pt x="0" y="557385"/>
                </a:lnTo>
                <a:lnTo>
                  <a:pt x="0" y="0"/>
                </a:lnTo>
                <a:close/>
              </a:path>
            </a:pathLst>
          </a:custGeom>
          <a:blipFill>
            <a:blip r:embed="rId4"/>
            <a:stretch>
              <a:fillRect/>
            </a:stretch>
          </a:blipFill>
        </p:spPr>
        <p:txBody>
          <a:bodyPr/>
          <a:lstStyle/>
          <a:p>
            <a:endParaRPr lang="en-IN"/>
          </a:p>
        </p:txBody>
      </p:sp>
      <p:sp>
        <p:nvSpPr>
          <p:cNvPr id="7" name="Freeform 7"/>
          <p:cNvSpPr/>
          <p:nvPr/>
        </p:nvSpPr>
        <p:spPr>
          <a:xfrm>
            <a:off x="11549269" y="3286518"/>
            <a:ext cx="4825275" cy="2513787"/>
          </a:xfrm>
          <a:custGeom>
            <a:avLst/>
            <a:gdLst/>
            <a:ahLst/>
            <a:cxnLst/>
            <a:rect l="l" t="t" r="r" b="b"/>
            <a:pathLst>
              <a:path w="4825275" h="2513787">
                <a:moveTo>
                  <a:pt x="0" y="0"/>
                </a:moveTo>
                <a:lnTo>
                  <a:pt x="4825275" y="0"/>
                </a:lnTo>
                <a:lnTo>
                  <a:pt x="4825275" y="2513787"/>
                </a:lnTo>
                <a:lnTo>
                  <a:pt x="0" y="2513787"/>
                </a:lnTo>
                <a:lnTo>
                  <a:pt x="0" y="0"/>
                </a:lnTo>
                <a:close/>
              </a:path>
            </a:pathLst>
          </a:custGeom>
          <a:blipFill>
            <a:blip r:embed="rId5"/>
            <a:stretch>
              <a:fillRect t="-4131"/>
            </a:stretch>
          </a:blipFill>
        </p:spPr>
        <p:txBody>
          <a:bodyPr/>
          <a:lstStyle/>
          <a:p>
            <a:endParaRPr lang="en-IN"/>
          </a:p>
        </p:txBody>
      </p:sp>
      <p:sp>
        <p:nvSpPr>
          <p:cNvPr id="8" name="TextBox 8"/>
          <p:cNvSpPr txBox="1"/>
          <p:nvPr/>
        </p:nvSpPr>
        <p:spPr>
          <a:xfrm>
            <a:off x="826684" y="2048268"/>
            <a:ext cx="15547860"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Volume compositing combines the color and opacity contributions of multiple samples along a viewing ray to produce the final pixel color.</a:t>
            </a:r>
          </a:p>
        </p:txBody>
      </p:sp>
      <p:sp>
        <p:nvSpPr>
          <p:cNvPr id="9" name="TextBox 9"/>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Compositing</a:t>
            </a:r>
          </a:p>
        </p:txBody>
      </p:sp>
      <p:sp>
        <p:nvSpPr>
          <p:cNvPr id="11" name="TextBox 11"/>
          <p:cNvSpPr txBox="1"/>
          <p:nvPr/>
        </p:nvSpPr>
        <p:spPr>
          <a:xfrm>
            <a:off x="538978" y="2907359"/>
            <a:ext cx="4801976" cy="923330"/>
          </a:xfrm>
          <a:prstGeom prst="rect">
            <a:avLst/>
          </a:prstGeom>
        </p:spPr>
        <p:txBody>
          <a:bodyPr lIns="0" tIns="0" rIns="0" bIns="0" rtlCol="0" anchor="t">
            <a:spAutoFit/>
          </a:bodyPr>
          <a:lstStyle/>
          <a:p>
            <a:pPr algn="l">
              <a:lnSpc>
                <a:spcPts val="3600"/>
              </a:lnSpc>
            </a:pPr>
            <a:r>
              <a:rPr lang="en-US" sz="2400" dirty="0">
                <a:solidFill>
                  <a:srgbClr val="000000"/>
                </a:solidFill>
                <a:latin typeface="Calibri (MS)"/>
                <a:ea typeface="Calibri (MS)"/>
                <a:cs typeface="Calibri (MS)"/>
                <a:sym typeface="Calibri (MS)"/>
              </a:rPr>
              <a:t>For front-to-back compositing: </a:t>
            </a:r>
            <a:r>
              <a:rPr lang="en-US" sz="2400" dirty="0" err="1">
                <a:solidFill>
                  <a:srgbClr val="000000"/>
                </a:solidFill>
                <a:latin typeface="Calibri (MS)"/>
                <a:ea typeface="Calibri (MS)"/>
                <a:cs typeface="Calibri (MS)"/>
                <a:sym typeface="Calibri (MS)"/>
              </a:rPr>
              <a:t>colour</a:t>
            </a:r>
            <a:r>
              <a:rPr lang="en-US" sz="2400" dirty="0">
                <a:solidFill>
                  <a:srgbClr val="000000"/>
                </a:solidFill>
                <a:latin typeface="Calibri (MS)"/>
                <a:ea typeface="Calibri (MS)"/>
                <a:cs typeface="Calibri (MS)"/>
                <a:sym typeface="Calibri (MS)"/>
              </a:rPr>
              <a:t> and opacity</a:t>
            </a:r>
          </a:p>
        </p:txBody>
      </p:sp>
      <p:sp>
        <p:nvSpPr>
          <p:cNvPr id="12" name="TextBox 12"/>
          <p:cNvSpPr txBox="1"/>
          <p:nvPr/>
        </p:nvSpPr>
        <p:spPr>
          <a:xfrm>
            <a:off x="826684" y="3846415"/>
            <a:ext cx="696337"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and</a:t>
            </a:r>
          </a:p>
        </p:txBody>
      </p:sp>
      <p:sp>
        <p:nvSpPr>
          <p:cNvPr id="13" name="TextBox 13"/>
          <p:cNvSpPr txBox="1"/>
          <p:nvPr/>
        </p:nvSpPr>
        <p:spPr>
          <a:xfrm>
            <a:off x="826684" y="4601358"/>
            <a:ext cx="10520546" cy="5553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Simple Interpretation</a:t>
            </a:r>
          </a:p>
          <a:p>
            <a:pPr algn="l">
              <a:lnSpc>
                <a:spcPts val="3600"/>
              </a:lnSpc>
            </a:pPr>
            <a:r>
              <a:rPr lang="en-US" sz="3000" b="1" dirty="0">
                <a:solidFill>
                  <a:srgbClr val="000000"/>
                </a:solidFill>
                <a:latin typeface="Calibri (MS)"/>
                <a:ea typeface="Calibri (MS)"/>
                <a:cs typeface="Calibri (MS)"/>
                <a:sym typeface="Calibri (MS)"/>
              </a:rPr>
              <a:t>A highly opaque sample contributes strongly to the final pixel</a:t>
            </a:r>
            <a:r>
              <a:rPr lang="en-US" sz="3000" dirty="0">
                <a:solidFill>
                  <a:srgbClr val="000000"/>
                </a:solidFill>
                <a:latin typeface="Calibri (MS)"/>
                <a:ea typeface="Calibri (MS)"/>
                <a:cs typeface="Calibri (MS)"/>
                <a:sym typeface="Calibri (MS)"/>
              </a:rPr>
              <a:t>.</a:t>
            </a:r>
          </a:p>
          <a:p>
            <a:pPr algn="l">
              <a:lnSpc>
                <a:spcPts val="3600"/>
              </a:lnSpc>
            </a:pPr>
            <a:r>
              <a:rPr lang="en-US" sz="3000" dirty="0">
                <a:solidFill>
                  <a:srgbClr val="000000"/>
                </a:solidFill>
                <a:latin typeface="Calibri (MS)"/>
                <a:ea typeface="Calibri (MS)"/>
                <a:cs typeface="Calibri (MS)"/>
                <a:sym typeface="Calibri (MS)"/>
              </a:rPr>
              <a:t>A transparent sample contributes little.</a:t>
            </a:r>
          </a:p>
          <a:p>
            <a:pPr algn="l">
              <a:lnSpc>
                <a:spcPts val="3600"/>
              </a:lnSpc>
            </a:pPr>
            <a:r>
              <a:rPr lang="en-US" sz="3000" dirty="0">
                <a:solidFill>
                  <a:srgbClr val="000000"/>
                </a:solidFill>
                <a:latin typeface="Calibri (MS)"/>
                <a:ea typeface="Calibri (MS)"/>
                <a:cs typeface="Calibri (MS)"/>
                <a:sym typeface="Calibri (MS)"/>
              </a:rPr>
              <a:t>As opacity accumulates: α → 1, later samples contribute progressively less to the final image</a:t>
            </a:r>
            <a:r>
              <a:rPr lang="en-US" sz="3000" b="1" dirty="0">
                <a:solidFill>
                  <a:srgbClr val="000000"/>
                </a:solidFill>
                <a:latin typeface="Calibri (MS) Bold"/>
                <a:ea typeface="Calibri (MS) Bold"/>
                <a:cs typeface="Calibri (MS) Bold"/>
                <a:sym typeface="Calibri (MS) Bold"/>
              </a:rPr>
              <a:t>.</a:t>
            </a:r>
          </a:p>
          <a:p>
            <a:pPr algn="l">
              <a:lnSpc>
                <a:spcPts val="3600"/>
              </a:lnSpc>
            </a:pPr>
            <a:endParaRPr lang="en-US" sz="3000" b="1" dirty="0">
              <a:solidFill>
                <a:srgbClr val="000000"/>
              </a:solidFill>
              <a:latin typeface="Calibri (MS) Bold"/>
              <a:ea typeface="Calibri (MS) Bold"/>
              <a:cs typeface="Calibri (MS) Bold"/>
              <a:sym typeface="Calibri (MS) Bold"/>
            </a:endParaRPr>
          </a:p>
          <a:p>
            <a:pPr algn="l">
              <a:lnSpc>
                <a:spcPts val="3600"/>
              </a:lnSpc>
            </a:pPr>
            <a:r>
              <a:rPr lang="en-US" sz="3000" b="1" dirty="0">
                <a:solidFill>
                  <a:srgbClr val="000000"/>
                </a:solidFill>
                <a:latin typeface="Calibri (MS) Bold"/>
                <a:ea typeface="Calibri (MS) Bold"/>
                <a:cs typeface="Calibri (MS) Bold"/>
                <a:sym typeface="Calibri (MS) Bold"/>
              </a:rPr>
              <a:t>Why Compositing Matters</a:t>
            </a:r>
          </a:p>
          <a:p>
            <a:pPr algn="l">
              <a:lnSpc>
                <a:spcPts val="3600"/>
              </a:lnSpc>
            </a:pPr>
            <a:r>
              <a:rPr lang="en-US" sz="3000" dirty="0">
                <a:solidFill>
                  <a:srgbClr val="000000"/>
                </a:solidFill>
                <a:latin typeface="Calibri (MS)"/>
                <a:ea typeface="Calibri (MS)"/>
                <a:cs typeface="Calibri (MS)"/>
                <a:sym typeface="Calibri (MS)"/>
              </a:rPr>
              <a:t>It allows direct volume rendering to represent:</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Semi-transparent structures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Overlapping materials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Internal structures</a:t>
            </a:r>
          </a:p>
          <a:p>
            <a:pPr marL="647703" lvl="1" indent="-323852" algn="l">
              <a:lnSpc>
                <a:spcPts val="3600"/>
              </a:lnSpc>
              <a:buFont typeface="Arial"/>
              <a:buChar char="•"/>
            </a:pPr>
            <a:r>
              <a:rPr lang="en-US" sz="3000" b="1" dirty="0">
                <a:solidFill>
                  <a:srgbClr val="000000"/>
                </a:solidFill>
                <a:latin typeface="Calibri (MS)"/>
                <a:ea typeface="Calibri (MS)"/>
                <a:cs typeface="Calibri (MS)"/>
                <a:sym typeface="Calibri (MS)"/>
              </a:rPr>
              <a:t>Depth-dependent visibility</a:t>
            </a:r>
          </a:p>
        </p:txBody>
      </p:sp>
      <p:sp>
        <p:nvSpPr>
          <p:cNvPr id="15" name="TextBox 14">
            <a:extLst>
              <a:ext uri="{FF2B5EF4-FFF2-40B4-BE49-F238E27FC236}">
                <a16:creationId xmlns:a16="http://schemas.microsoft.com/office/drawing/2014/main" id="{502BDBDB-DBFD-CBF8-1A4D-D41D4B1DE035}"/>
              </a:ext>
            </a:extLst>
          </p:cNvPr>
          <p:cNvSpPr txBox="1"/>
          <p:nvPr/>
        </p:nvSpPr>
        <p:spPr>
          <a:xfrm>
            <a:off x="9385824" y="7777067"/>
            <a:ext cx="9152164" cy="1815882"/>
          </a:xfrm>
          <a:prstGeom prst="rect">
            <a:avLst/>
          </a:prstGeom>
          <a:noFill/>
        </p:spPr>
        <p:txBody>
          <a:bodyPr wrap="square">
            <a:spAutoFit/>
          </a:bodyPr>
          <a:lstStyle/>
          <a:p>
            <a:r>
              <a:rPr lang="en-IN" sz="2800" b="1" dirty="0"/>
              <a:t>Compositing walks along the ray from front to back. Each sample adds (visibility left × its opacity) of its colour, so near, solid samples dominate, and once the ray is nearly opaque, everything behind is hidden.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E799DB-7CB4-CCEF-6223-CB593B8F532C}"/>
              </a:ext>
            </a:extLst>
          </p:cNvPr>
          <p:cNvSpPr txBox="1"/>
          <p:nvPr/>
        </p:nvSpPr>
        <p:spPr>
          <a:xfrm>
            <a:off x="304800" y="647700"/>
            <a:ext cx="9144000" cy="369332"/>
          </a:xfrm>
          <a:prstGeom prst="rect">
            <a:avLst/>
          </a:prstGeom>
          <a:noFill/>
        </p:spPr>
        <p:txBody>
          <a:bodyPr wrap="square">
            <a:spAutoFit/>
          </a:bodyPr>
          <a:lstStyle/>
          <a:p>
            <a:r>
              <a:rPr lang="en-IN" dirty="0"/>
              <a:t>A ray passes through three samples, front to back. Colours are RGB on a 0–1 scale.</a:t>
            </a:r>
          </a:p>
        </p:txBody>
      </p:sp>
      <p:pic>
        <p:nvPicPr>
          <p:cNvPr id="5" name="Picture 4">
            <a:extLst>
              <a:ext uri="{FF2B5EF4-FFF2-40B4-BE49-F238E27FC236}">
                <a16:creationId xmlns:a16="http://schemas.microsoft.com/office/drawing/2014/main" id="{5C6A5DD9-ECB2-D5C3-2E54-D9BD89838710}"/>
              </a:ext>
            </a:extLst>
          </p:cNvPr>
          <p:cNvPicPr>
            <a:picLocks noChangeAspect="1"/>
          </p:cNvPicPr>
          <p:nvPr/>
        </p:nvPicPr>
        <p:blipFill>
          <a:blip r:embed="rId2"/>
          <a:stretch>
            <a:fillRect/>
          </a:stretch>
        </p:blipFill>
        <p:spPr>
          <a:xfrm>
            <a:off x="304800" y="1866900"/>
            <a:ext cx="10621857" cy="2267266"/>
          </a:xfrm>
          <a:prstGeom prst="rect">
            <a:avLst/>
          </a:prstGeom>
        </p:spPr>
      </p:pic>
      <p:sp>
        <p:nvSpPr>
          <p:cNvPr id="7" name="TextBox 6">
            <a:extLst>
              <a:ext uri="{FF2B5EF4-FFF2-40B4-BE49-F238E27FC236}">
                <a16:creationId xmlns:a16="http://schemas.microsoft.com/office/drawing/2014/main" id="{421422B0-28CC-C689-CE67-017BBCDC616D}"/>
              </a:ext>
            </a:extLst>
          </p:cNvPr>
          <p:cNvSpPr txBox="1"/>
          <p:nvPr/>
        </p:nvSpPr>
        <p:spPr>
          <a:xfrm>
            <a:off x="533400" y="4134166"/>
            <a:ext cx="9144000" cy="369332"/>
          </a:xfrm>
          <a:prstGeom prst="rect">
            <a:avLst/>
          </a:prstGeom>
          <a:noFill/>
        </p:spPr>
        <p:txBody>
          <a:bodyPr wrap="square">
            <a:spAutoFit/>
          </a:bodyPr>
          <a:lstStyle/>
          <a:p>
            <a:r>
              <a:rPr lang="en-IN" b="1" dirty="0"/>
              <a:t>Start:</a:t>
            </a:r>
            <a:r>
              <a:rPr lang="en-IN" dirty="0"/>
              <a:t> </a:t>
            </a:r>
            <a:r>
              <a:rPr lang="en-IN" dirty="0" err="1"/>
              <a:t>C_in</a:t>
            </a:r>
            <a:r>
              <a:rPr lang="en-IN" dirty="0"/>
              <a:t> = (0, 0, 0), α_in = 0. Nothing has been seen yet.</a:t>
            </a:r>
          </a:p>
        </p:txBody>
      </p:sp>
      <p:sp>
        <p:nvSpPr>
          <p:cNvPr id="9" name="TextBox 8">
            <a:extLst>
              <a:ext uri="{FF2B5EF4-FFF2-40B4-BE49-F238E27FC236}">
                <a16:creationId xmlns:a16="http://schemas.microsoft.com/office/drawing/2014/main" id="{44167646-F262-9D8F-06E0-A7F5E70FC1B7}"/>
              </a:ext>
            </a:extLst>
          </p:cNvPr>
          <p:cNvSpPr txBox="1"/>
          <p:nvPr/>
        </p:nvSpPr>
        <p:spPr>
          <a:xfrm>
            <a:off x="517071" y="5143500"/>
            <a:ext cx="9144000" cy="4247317"/>
          </a:xfrm>
          <a:prstGeom prst="rect">
            <a:avLst/>
          </a:prstGeom>
          <a:noFill/>
        </p:spPr>
        <p:txBody>
          <a:bodyPr wrap="square">
            <a:spAutoFit/>
          </a:bodyPr>
          <a:lstStyle/>
          <a:p>
            <a:pPr rtl="0">
              <a:buNone/>
            </a:pPr>
            <a:r>
              <a:rPr lang="en-IN" b="1" dirty="0"/>
              <a:t>Sample 1: skin</a:t>
            </a:r>
            <a:endParaRPr lang="en-IN" dirty="0"/>
          </a:p>
          <a:p>
            <a:pPr marL="342900" lvl="0" indent="-342900" rtl="0">
              <a:buFont typeface="Arial" panose="020B0604020202020204" pitchFamily="34" charset="0"/>
              <a:buChar char="•"/>
            </a:pPr>
            <a:r>
              <a:rPr lang="en-IN" dirty="0"/>
              <a:t>Share = (1 − 0) × 0.2 = </a:t>
            </a:r>
            <a:r>
              <a:rPr lang="en-IN" b="1" dirty="0"/>
              <a:t>0.2</a:t>
            </a:r>
            <a:endParaRPr lang="en-IN" dirty="0"/>
          </a:p>
          <a:p>
            <a:pPr marL="342900" lvl="0" indent="-342900" rtl="0">
              <a:buFont typeface="Arial" panose="020B0604020202020204" pitchFamily="34" charset="0"/>
              <a:buChar char="•"/>
            </a:pPr>
            <a:r>
              <a:rPr lang="en-IN" dirty="0"/>
              <a:t>C_out = (0, 0, 0) + 0.2 × (1.0, 0.8, 0.6) = </a:t>
            </a:r>
            <a:r>
              <a:rPr lang="en-IN" b="1" dirty="0"/>
              <a:t>(0.20, 0.16, 0.12)</a:t>
            </a:r>
            <a:endParaRPr lang="en-IN" dirty="0"/>
          </a:p>
          <a:p>
            <a:pPr marL="342900" lvl="0" indent="-342900" rtl="0">
              <a:buFont typeface="Arial" panose="020B0604020202020204" pitchFamily="34" charset="0"/>
              <a:buChar char="•"/>
            </a:pPr>
            <a:r>
              <a:rPr lang="en-IN" dirty="0"/>
              <a:t>α_out = 0 + 0.2 = </a:t>
            </a:r>
            <a:r>
              <a:rPr lang="en-IN" b="1" dirty="0"/>
              <a:t>0.20</a:t>
            </a:r>
            <a:r>
              <a:rPr lang="en-IN" dirty="0"/>
              <a:t>, so 80% visibility is left.</a:t>
            </a:r>
          </a:p>
          <a:p>
            <a:pPr rtl="0">
              <a:buNone/>
            </a:pPr>
            <a:r>
              <a:rPr lang="en-IN" b="1" dirty="0"/>
              <a:t>Sample 2: soft tissue</a:t>
            </a:r>
            <a:endParaRPr lang="en-IN" dirty="0"/>
          </a:p>
          <a:p>
            <a:pPr marL="342900" lvl="0" indent="-342900" rtl="0">
              <a:buFont typeface="Arial" panose="020B0604020202020204" pitchFamily="34" charset="0"/>
              <a:buChar char="•"/>
            </a:pPr>
            <a:r>
              <a:rPr lang="en-IN" dirty="0"/>
              <a:t>Share = (1 − 0.20) × 0.3 = 0.8 × 0.3 = </a:t>
            </a:r>
            <a:r>
              <a:rPr lang="en-IN" b="1" dirty="0"/>
              <a:t>0.24</a:t>
            </a:r>
            <a:endParaRPr lang="en-IN" dirty="0"/>
          </a:p>
          <a:p>
            <a:pPr marL="342900" lvl="0" indent="-342900" rtl="0">
              <a:buFont typeface="Arial" panose="020B0604020202020204" pitchFamily="34" charset="0"/>
              <a:buChar char="•"/>
            </a:pPr>
            <a:r>
              <a:rPr lang="en-IN" dirty="0"/>
              <a:t>Added colour = 0.24 × (0.2, 0.4, 1.0) = (0.048, 0.096, 0.24)</a:t>
            </a:r>
          </a:p>
          <a:p>
            <a:pPr marL="342900" lvl="0" indent="-342900" rtl="0">
              <a:buFont typeface="Arial" panose="020B0604020202020204" pitchFamily="34" charset="0"/>
              <a:buChar char="•"/>
            </a:pPr>
            <a:r>
              <a:rPr lang="en-IN" dirty="0"/>
              <a:t>C_out = (0.20, 0.16, 0.12) + (0.048, 0.096, 0.24) = </a:t>
            </a:r>
            <a:r>
              <a:rPr lang="en-IN" b="1" dirty="0"/>
              <a:t>(0.248, 0.256, 0.36)</a:t>
            </a:r>
            <a:endParaRPr lang="en-IN" dirty="0"/>
          </a:p>
          <a:p>
            <a:pPr marL="342900" lvl="0" indent="-342900" rtl="0">
              <a:buFont typeface="Arial" panose="020B0604020202020204" pitchFamily="34" charset="0"/>
              <a:buChar char="•"/>
            </a:pPr>
            <a:r>
              <a:rPr lang="en-IN" dirty="0"/>
              <a:t>α_out = 0.20 + 0.24 = </a:t>
            </a:r>
            <a:r>
              <a:rPr lang="en-IN" b="1" dirty="0"/>
              <a:t>0.44</a:t>
            </a:r>
            <a:r>
              <a:rPr lang="en-IN" dirty="0"/>
              <a:t>, so 56% visibility is left.</a:t>
            </a:r>
          </a:p>
          <a:p>
            <a:pPr rtl="0">
              <a:buNone/>
            </a:pPr>
            <a:r>
              <a:rPr lang="en-IN" b="1" dirty="0"/>
              <a:t>Sample 3: bone</a:t>
            </a:r>
            <a:endParaRPr lang="en-IN" dirty="0"/>
          </a:p>
          <a:p>
            <a:pPr marL="342900" lvl="0" indent="-342900" rtl="0">
              <a:buFont typeface="Arial" panose="020B0604020202020204" pitchFamily="34" charset="0"/>
              <a:buChar char="•"/>
            </a:pPr>
            <a:r>
              <a:rPr lang="en-IN" dirty="0"/>
              <a:t>Share = (1 − 0.44) × 0.8 = 0.56 × 0.8 = </a:t>
            </a:r>
            <a:r>
              <a:rPr lang="en-IN" b="1" dirty="0"/>
              <a:t>0.448</a:t>
            </a:r>
            <a:endParaRPr lang="en-IN" dirty="0"/>
          </a:p>
          <a:p>
            <a:pPr marL="342900" lvl="0" indent="-342900" rtl="0">
              <a:buFont typeface="Arial" panose="020B0604020202020204" pitchFamily="34" charset="0"/>
              <a:buChar char="•"/>
            </a:pPr>
            <a:r>
              <a:rPr lang="en-IN" dirty="0"/>
              <a:t>Added colour = 0.448 × (1, 1, 1) = (0.448, 0.448, 0.448)</a:t>
            </a:r>
          </a:p>
          <a:p>
            <a:pPr marL="342900" lvl="0" indent="-342900" rtl="0">
              <a:buFont typeface="Arial" panose="020B0604020202020204" pitchFamily="34" charset="0"/>
              <a:buChar char="•"/>
            </a:pPr>
            <a:r>
              <a:rPr lang="en-IN" dirty="0"/>
              <a:t>C_out = (0.248, 0.256, 0.36) + (0.448, 0.448, 0.448) = </a:t>
            </a:r>
            <a:r>
              <a:rPr lang="en-IN" b="1" dirty="0"/>
              <a:t>(0.696, 0.704, 0.808)</a:t>
            </a:r>
            <a:endParaRPr lang="en-IN" dirty="0"/>
          </a:p>
          <a:p>
            <a:pPr marL="342900" lvl="0" indent="-342900" rtl="0">
              <a:buFont typeface="Arial" panose="020B0604020202020204" pitchFamily="34" charset="0"/>
              <a:buChar char="•"/>
            </a:pPr>
            <a:r>
              <a:rPr lang="en-IN" dirty="0"/>
              <a:t>α_out = 0.44 + 0.448 = </a:t>
            </a:r>
            <a:r>
              <a:rPr lang="en-IN" b="1" dirty="0"/>
              <a:t>0.888</a:t>
            </a:r>
            <a:r>
              <a:rPr lang="en-IN" dirty="0"/>
              <a:t>, so only 11.2% visibility is left.</a:t>
            </a:r>
          </a:p>
          <a:p>
            <a:pPr rtl="0">
              <a:buNone/>
            </a:pPr>
            <a:r>
              <a:rPr lang="en-IN" b="1" dirty="0"/>
              <a:t>Final pixel:</a:t>
            </a:r>
            <a:r>
              <a:rPr lang="en-IN" dirty="0"/>
              <a:t> (0.70, 0.70, 0.81) × 255 ≈ </a:t>
            </a:r>
            <a:r>
              <a:rPr lang="en-IN" b="1" dirty="0"/>
              <a:t>RGB (177, 180, 206)</a:t>
            </a:r>
            <a:r>
              <a:rPr lang="en-IN" dirty="0"/>
              <a:t>, a light bluish-white.</a:t>
            </a:r>
          </a:p>
        </p:txBody>
      </p:sp>
      <p:sp>
        <p:nvSpPr>
          <p:cNvPr id="11" name="TextBox 10">
            <a:extLst>
              <a:ext uri="{FF2B5EF4-FFF2-40B4-BE49-F238E27FC236}">
                <a16:creationId xmlns:a16="http://schemas.microsoft.com/office/drawing/2014/main" id="{9758D13C-0761-3EF4-D5EB-B67EDE263C41}"/>
              </a:ext>
            </a:extLst>
          </p:cNvPr>
          <p:cNvSpPr txBox="1"/>
          <p:nvPr/>
        </p:nvSpPr>
        <p:spPr>
          <a:xfrm>
            <a:off x="8915400" y="5512832"/>
            <a:ext cx="9225642" cy="2246769"/>
          </a:xfrm>
          <a:prstGeom prst="rect">
            <a:avLst/>
          </a:prstGeom>
          <a:noFill/>
        </p:spPr>
        <p:txBody>
          <a:bodyPr wrap="square">
            <a:spAutoFit/>
          </a:bodyPr>
          <a:lstStyle/>
          <a:p>
            <a:pPr marL="342900" lvl="0" indent="-342900" rtl="0">
              <a:buFont typeface="Arial" panose="020B0604020202020204" pitchFamily="34" charset="0"/>
              <a:buChar char="•"/>
            </a:pPr>
            <a:r>
              <a:rPr lang="en-IN" sz="2000" dirty="0"/>
              <a:t>A highly opaque sample contributes strongly”: bone, with α = 0.8, takes the biggest share even though it is the farthest of the three.</a:t>
            </a:r>
          </a:p>
          <a:p>
            <a:pPr marL="342900" lvl="0" indent="-342900" rtl="0">
              <a:buFont typeface="Arial" panose="020B0604020202020204" pitchFamily="34" charset="0"/>
              <a:buChar char="•"/>
            </a:pPr>
            <a:r>
              <a:rPr lang="en-IN" sz="2000" dirty="0"/>
              <a:t>“A transparent sample contributes little”: skin, with α = 0.2, adds only a light peach tint.</a:t>
            </a:r>
          </a:p>
          <a:p>
            <a:pPr marL="342900" lvl="0" indent="-342900" rtl="0">
              <a:buFont typeface="Arial" panose="020B0604020202020204" pitchFamily="34" charset="0"/>
              <a:buChar char="•"/>
            </a:pPr>
            <a:r>
              <a:rPr lang="en-IN" sz="2000" dirty="0"/>
              <a:t>“As α → 1, later samples contribute less”: after bone, α = 0.888, so anything further back can add at most 11.2%. Once α gets close to 1 (say 0.99), the renderer stops the ray early. This is called </a:t>
            </a:r>
            <a:r>
              <a:rPr lang="en-IN" sz="2000" i="1" dirty="0"/>
              <a:t>early ray termination</a:t>
            </a:r>
            <a:r>
              <a:rPr lang="en-IN" sz="2000" dirty="0"/>
              <a:t>, and it saves computation.</a:t>
            </a:r>
          </a:p>
        </p:txBody>
      </p:sp>
      <p:sp>
        <p:nvSpPr>
          <p:cNvPr id="13" name="TextBox 12">
            <a:extLst>
              <a:ext uri="{FF2B5EF4-FFF2-40B4-BE49-F238E27FC236}">
                <a16:creationId xmlns:a16="http://schemas.microsoft.com/office/drawing/2014/main" id="{ECC7C964-417D-71DB-290A-5730CD0AA139}"/>
              </a:ext>
            </a:extLst>
          </p:cNvPr>
          <p:cNvSpPr txBox="1"/>
          <p:nvPr/>
        </p:nvSpPr>
        <p:spPr>
          <a:xfrm>
            <a:off x="10058400" y="8538102"/>
            <a:ext cx="9225642" cy="1200329"/>
          </a:xfrm>
          <a:prstGeom prst="rect">
            <a:avLst/>
          </a:prstGeom>
          <a:noFill/>
        </p:spPr>
        <p:txBody>
          <a:bodyPr wrap="square">
            <a:spAutoFit/>
          </a:bodyPr>
          <a:lstStyle/>
          <a:p>
            <a:pPr rtl="0">
              <a:buNone/>
            </a:pPr>
            <a:r>
              <a:rPr lang="en-IN" dirty="0"/>
              <a:t>Put the bone </a:t>
            </a:r>
            <a:r>
              <a:rPr lang="en-IN" b="1" dirty="0"/>
              <a:t>first</a:t>
            </a:r>
            <a:r>
              <a:rPr lang="en-IN" dirty="0"/>
              <a:t> instead:</a:t>
            </a:r>
          </a:p>
          <a:p>
            <a:pPr marL="342900" lvl="0" indent="-342900" rtl="0">
              <a:buFont typeface="Arial" panose="020B0604020202020204" pitchFamily="34" charset="0"/>
              <a:buChar char="•"/>
            </a:pPr>
            <a:r>
              <a:rPr lang="en-IN" dirty="0"/>
              <a:t>Bone: share = </a:t>
            </a:r>
            <a:r>
              <a:rPr lang="en-IN" b="1" dirty="0"/>
              <a:t>0.8</a:t>
            </a:r>
            <a:endParaRPr lang="en-IN" dirty="0"/>
          </a:p>
          <a:p>
            <a:pPr marL="342900" lvl="0" indent="-342900" rtl="0">
              <a:buFont typeface="Arial" panose="020B0604020202020204" pitchFamily="34" charset="0"/>
              <a:buChar char="•"/>
            </a:pPr>
            <a:r>
              <a:rPr lang="en-IN" dirty="0"/>
              <a:t>Skin: (1 − 0.8) × 0.2 = </a:t>
            </a:r>
            <a:r>
              <a:rPr lang="en-IN" b="1" dirty="0"/>
              <a:t>0.04</a:t>
            </a:r>
            <a:endParaRPr lang="en-IN" dirty="0"/>
          </a:p>
          <a:p>
            <a:pPr marL="342900" lvl="0" indent="-342900" rtl="0">
              <a:buFont typeface="Arial" panose="020B0604020202020204" pitchFamily="34" charset="0"/>
              <a:buChar char="•"/>
            </a:pPr>
            <a:r>
              <a:rPr lang="en-IN" dirty="0"/>
              <a:t>Tissue: (1 − 0.84) × 0.3 = </a:t>
            </a:r>
            <a:r>
              <a:rPr lang="en-IN" b="1" dirty="0"/>
              <a:t>0.048</a:t>
            </a:r>
            <a:endParaRPr lang="en-IN" dirty="0"/>
          </a:p>
        </p:txBody>
      </p:sp>
      <p:pic>
        <p:nvPicPr>
          <p:cNvPr id="15" name="Picture 14">
            <a:extLst>
              <a:ext uri="{FF2B5EF4-FFF2-40B4-BE49-F238E27FC236}">
                <a16:creationId xmlns:a16="http://schemas.microsoft.com/office/drawing/2014/main" id="{75E79600-C0C3-E31B-D708-957991BD2448}"/>
              </a:ext>
            </a:extLst>
          </p:cNvPr>
          <p:cNvPicPr>
            <a:picLocks noChangeAspect="1"/>
          </p:cNvPicPr>
          <p:nvPr/>
        </p:nvPicPr>
        <p:blipFill>
          <a:blip r:embed="rId3"/>
          <a:stretch>
            <a:fillRect/>
          </a:stretch>
        </p:blipFill>
        <p:spPr>
          <a:xfrm>
            <a:off x="11353800" y="2581413"/>
            <a:ext cx="6010912" cy="1712922"/>
          </a:xfrm>
          <a:prstGeom prst="rect">
            <a:avLst/>
          </a:prstGeom>
        </p:spPr>
      </p:pic>
    </p:spTree>
    <p:extLst>
      <p:ext uri="{BB962C8B-B14F-4D97-AF65-F5344CB8AC3E}">
        <p14:creationId xmlns:p14="http://schemas.microsoft.com/office/powerpoint/2010/main" val="267337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685800" y="1953986"/>
            <a:ext cx="15547860" cy="7381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1. Occlusion</a:t>
            </a:r>
          </a:p>
          <a:p>
            <a:pPr algn="l">
              <a:lnSpc>
                <a:spcPts val="3600"/>
              </a:lnSpc>
            </a:pPr>
            <a:r>
              <a:rPr lang="en-US" sz="3000" dirty="0">
                <a:solidFill>
                  <a:srgbClr val="000000"/>
                </a:solidFill>
                <a:latin typeface="Calibri (MS)"/>
                <a:ea typeface="Calibri (MS)"/>
                <a:cs typeface="Calibri (MS)"/>
                <a:sym typeface="Calibri (MS)"/>
              </a:rPr>
              <a:t>Structures closer to the viewer can obscure structures deeper inside the volume.</a:t>
            </a:r>
          </a:p>
          <a:p>
            <a:pPr algn="l">
              <a:lnSpc>
                <a:spcPts val="3600"/>
              </a:lnSpc>
            </a:pPr>
            <a:r>
              <a:rPr lang="en-US" sz="3000" dirty="0">
                <a:solidFill>
                  <a:srgbClr val="000000"/>
                </a:solidFill>
                <a:latin typeface="Calibri (MS)"/>
                <a:ea typeface="Calibri (MS)"/>
                <a:cs typeface="Calibri (MS)"/>
                <a:sym typeface="Calibri (MS)"/>
              </a:rPr>
              <a:t>Front Structure → Hidden Internal Structure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2. Transfer-Function Selection</a:t>
            </a:r>
          </a:p>
          <a:p>
            <a:pPr algn="l">
              <a:lnSpc>
                <a:spcPts val="3600"/>
              </a:lnSpc>
            </a:pPr>
            <a:r>
              <a:rPr lang="en-US" sz="3000" dirty="0">
                <a:solidFill>
                  <a:srgbClr val="000000"/>
                </a:solidFill>
                <a:latin typeface="Calibri (MS)"/>
                <a:ea typeface="Calibri (MS)"/>
                <a:cs typeface="Calibri (MS)"/>
                <a:sym typeface="Calibri (MS)"/>
              </a:rPr>
              <a:t>Different materials may have overlapping scalar-value ranges. Therefore</a:t>
            </a:r>
            <a:r>
              <a:rPr lang="en-US" sz="3000" b="1" dirty="0">
                <a:solidFill>
                  <a:srgbClr val="000000"/>
                </a:solidFill>
                <a:latin typeface="Calibri (MS)"/>
                <a:ea typeface="Calibri (MS)"/>
                <a:cs typeface="Calibri (MS)"/>
                <a:sym typeface="Calibri (MS)"/>
              </a:rPr>
              <a:t>,  a scalar value does not lead to a unique structure. </a:t>
            </a:r>
            <a:r>
              <a:rPr lang="en-US" sz="3000" dirty="0">
                <a:solidFill>
                  <a:srgbClr val="000000"/>
                </a:solidFill>
                <a:latin typeface="Calibri (MS)"/>
                <a:ea typeface="Calibri (MS)"/>
                <a:cs typeface="Calibri (MS)"/>
                <a:sym typeface="Calibri (MS)"/>
              </a:rPr>
              <a:t>A simple transfer function may fail to separate important features.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3. Depth Perception</a:t>
            </a:r>
          </a:p>
          <a:p>
            <a:pPr algn="l">
              <a:lnSpc>
                <a:spcPts val="3600"/>
              </a:lnSpc>
            </a:pPr>
            <a:r>
              <a:rPr lang="en-US" sz="3000" dirty="0">
                <a:solidFill>
                  <a:srgbClr val="000000"/>
                </a:solidFill>
                <a:latin typeface="Calibri (MS)"/>
                <a:ea typeface="Calibri (MS)"/>
                <a:cs typeface="Calibri (MS)"/>
                <a:sym typeface="Calibri (MS)"/>
              </a:rPr>
              <a:t>A 3D volume is ultimately displayed on a 2D screen.</a:t>
            </a:r>
          </a:p>
          <a:p>
            <a:pPr algn="l">
              <a:lnSpc>
                <a:spcPts val="3600"/>
              </a:lnSpc>
            </a:pPr>
            <a:r>
              <a:rPr lang="en-US" sz="3000" dirty="0">
                <a:solidFill>
                  <a:srgbClr val="000000"/>
                </a:solidFill>
                <a:latin typeface="Calibri (MS)"/>
                <a:ea typeface="Calibri (MS)"/>
                <a:cs typeface="Calibri (MS)"/>
                <a:sym typeface="Calibri (MS)"/>
              </a:rPr>
              <a:t>Depth must therefore be inferred from cues such as: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Occlusion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Shading</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Perspective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Motion</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Stereoscopic cues</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Rendering Challenges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4. Computational Cost</a:t>
            </a:r>
          </a:p>
          <a:p>
            <a:pPr algn="l">
              <a:lnSpc>
                <a:spcPts val="3600"/>
              </a:lnSpc>
            </a:pPr>
            <a:r>
              <a:rPr lang="en-US" sz="3000" dirty="0">
                <a:solidFill>
                  <a:srgbClr val="000000"/>
                </a:solidFill>
                <a:latin typeface="Calibri (MS)"/>
                <a:ea typeface="Calibri (MS)"/>
                <a:cs typeface="Calibri (MS)"/>
                <a:sym typeface="Calibri (MS)"/>
              </a:rPr>
              <a:t>Large volumes require: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Many voxel accesses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Many ray samples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Transfer-function calculations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Compositing operations</a:t>
            </a:r>
          </a:p>
          <a:p>
            <a:pPr algn="l">
              <a:lnSpc>
                <a:spcPts val="3600"/>
              </a:lnSpc>
            </a:pPr>
            <a:r>
              <a:rPr lang="en-US" sz="3000" b="1" dirty="0">
                <a:solidFill>
                  <a:srgbClr val="000000"/>
                </a:solidFill>
                <a:latin typeface="Calibri (MS)"/>
                <a:ea typeface="Calibri (MS)"/>
                <a:cs typeface="Calibri (MS)"/>
                <a:sym typeface="Calibri (MS)"/>
              </a:rPr>
              <a:t>Therefore: Volume Resolution↑ ⇒ Rendering Workload↑</a:t>
            </a:r>
          </a:p>
          <a:p>
            <a:pPr algn="l">
              <a:lnSpc>
                <a:spcPts val="3600"/>
              </a:lnSpc>
            </a:pPr>
            <a:endParaRPr lang="en-US" sz="3000" b="1"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5. Visual Complexity</a:t>
            </a:r>
          </a:p>
          <a:p>
            <a:pPr algn="l">
              <a:lnSpc>
                <a:spcPts val="3600"/>
              </a:lnSpc>
            </a:pPr>
            <a:r>
              <a:rPr lang="en-US" sz="3000" dirty="0">
                <a:solidFill>
                  <a:srgbClr val="000000"/>
                </a:solidFill>
                <a:latin typeface="Calibri (MS)"/>
                <a:ea typeface="Calibri (MS)"/>
                <a:cs typeface="Calibri (MS)"/>
                <a:sym typeface="Calibri (MS)"/>
              </a:rPr>
              <a:t>Showing </a:t>
            </a:r>
            <a:r>
              <a:rPr lang="en-US" sz="3000" b="1" dirty="0">
                <a:solidFill>
                  <a:srgbClr val="000000"/>
                </a:solidFill>
                <a:latin typeface="Calibri (MS)"/>
                <a:ea typeface="Calibri (MS)"/>
                <a:cs typeface="Calibri (MS)"/>
                <a:sym typeface="Calibri (MS)"/>
              </a:rPr>
              <a:t>too many structures simultaneously </a:t>
            </a:r>
            <a:r>
              <a:rPr lang="en-US" sz="3000" dirty="0">
                <a:solidFill>
                  <a:srgbClr val="000000"/>
                </a:solidFill>
                <a:latin typeface="Calibri (MS)"/>
                <a:ea typeface="Calibri (MS)"/>
                <a:cs typeface="Calibri (MS)"/>
                <a:sym typeface="Calibri (MS)"/>
              </a:rPr>
              <a:t>can make interpretation difficult.</a:t>
            </a:r>
          </a:p>
          <a:p>
            <a:pPr algn="l">
              <a:lnSpc>
                <a:spcPts val="3600"/>
              </a:lnSpc>
            </a:pPr>
            <a:r>
              <a:rPr lang="en-US" sz="3000" dirty="0">
                <a:solidFill>
                  <a:srgbClr val="000000"/>
                </a:solidFill>
                <a:latin typeface="Calibri (MS)"/>
                <a:ea typeface="Calibri (MS)"/>
                <a:cs typeface="Calibri (MS)"/>
                <a:sym typeface="Calibri (MS)"/>
              </a:rPr>
              <a:t>The goal is therefore not to show everything but to reveal relevant structure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Overall Design Trade-off:</a:t>
            </a:r>
          </a:p>
          <a:p>
            <a:pPr algn="ctr">
              <a:lnSpc>
                <a:spcPts val="3600"/>
              </a:lnSpc>
            </a:pPr>
            <a:r>
              <a:rPr lang="en-US" sz="3000" b="1" i="1" dirty="0">
                <a:solidFill>
                  <a:srgbClr val="000000"/>
                </a:solidFill>
                <a:latin typeface="Calibri (MS) Italics"/>
                <a:ea typeface="Calibri (MS) Italics"/>
                <a:cs typeface="Calibri (MS) Italics"/>
                <a:sym typeface="Calibri (MS) Italics"/>
              </a:rPr>
              <a:t>Detail ↔ Visibility ↔ Interpretability ↔ Computational Cost</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Volume Rendering Challenges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7839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Medical visualization represents anatomical structures, physiological measurements, and medical imaging data using visual techniques.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Major Imaging Sources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CT: X-ray attenuation; strong for bone and density structures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MRI: Magnetic-resonance signals; strong soft-tissue contrast</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Both produce volumetric data represented as 3D voxel grids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Visualization Techniques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Orthogonal Slices: Axial, coronal, sagittal views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MPR: Arbitrary cross-sectional planes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Isosurfaces: Extract selected anatomical boundaries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Volume Rendering: Display information throughout the volume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Key Challenge</a:t>
            </a:r>
          </a:p>
          <a:p>
            <a:pPr algn="l">
              <a:lnSpc>
                <a:spcPts val="3600"/>
              </a:lnSpc>
            </a:pPr>
            <a:r>
              <a:rPr lang="en-US" sz="3000">
                <a:solidFill>
                  <a:srgbClr val="000000"/>
                </a:solidFill>
                <a:latin typeface="Calibri (MS)"/>
                <a:ea typeface="Calibri (MS)"/>
                <a:cs typeface="Calibri (MS)"/>
                <a:sym typeface="Calibri (MS)"/>
              </a:rPr>
              <a:t>Medical volumes are 3D, but occlusion, depth perception, and visual complexity can make internal structures difficult to interpret.</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Medical Visualization And Imaging Data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7848302"/>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a:ea typeface="Calibri (MS)"/>
                <a:cs typeface="Calibri (MS)"/>
                <a:sym typeface="Calibri (MS)"/>
              </a:rPr>
              <a:t>Segmentation divides a medical volume into meaningful anatomical or pathological regions where each label represents a different structure.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Example</a:t>
            </a:r>
          </a:p>
          <a:p>
            <a:pPr algn="l">
              <a:lnSpc>
                <a:spcPts val="3600"/>
              </a:lnSpc>
            </a:pPr>
            <a:r>
              <a:rPr lang="en-US" sz="3000" dirty="0">
                <a:solidFill>
                  <a:srgbClr val="000000"/>
                </a:solidFill>
                <a:latin typeface="Calibri (MS)"/>
                <a:ea typeface="Calibri (MS)"/>
                <a:cs typeface="Calibri (MS)"/>
                <a:sym typeface="Calibri (MS)"/>
              </a:rPr>
              <a:t>A CT/MRI volume can be segmented into:</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Bone</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Organs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Blood vessels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Tumor</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Surrounding tissue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Visualization After Segmentation</a:t>
            </a:r>
          </a:p>
          <a:p>
            <a:pPr algn="l">
              <a:lnSpc>
                <a:spcPts val="3600"/>
              </a:lnSpc>
            </a:pPr>
            <a:endParaRPr lang="en-US" sz="3000" b="1" dirty="0">
              <a:solidFill>
                <a:srgbClr val="000000"/>
              </a:solidFill>
              <a:latin typeface="Calibri (MS) Bold"/>
              <a:ea typeface="Calibri (MS) Bold"/>
              <a:cs typeface="Calibri (MS) Bold"/>
              <a:sym typeface="Calibri (MS) Bold"/>
            </a:endParaRP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Color overlays </a:t>
            </a:r>
            <a:r>
              <a:rPr lang="en-US" sz="3000" b="1" dirty="0">
                <a:solidFill>
                  <a:srgbClr val="000000"/>
                </a:solidFill>
                <a:latin typeface="Calibri (MS)"/>
                <a:ea typeface="Calibri (MS)"/>
                <a:cs typeface="Calibri (MS)"/>
                <a:sym typeface="Calibri (MS)"/>
              </a:rPr>
              <a:t>→ highlight regions on slices(MPR)</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Surface extraction → </a:t>
            </a:r>
            <a:r>
              <a:rPr lang="en-US" sz="3000" b="1" dirty="0">
                <a:solidFill>
                  <a:srgbClr val="000000"/>
                </a:solidFill>
                <a:latin typeface="Calibri (MS)"/>
                <a:ea typeface="Calibri (MS)"/>
                <a:cs typeface="Calibri (MS)"/>
                <a:sym typeface="Calibri (MS)"/>
              </a:rPr>
              <a:t>create explicit 3D structures(marching cubes)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Volume rendering → </a:t>
            </a:r>
            <a:r>
              <a:rPr lang="en-US" sz="3000" b="1" dirty="0">
                <a:solidFill>
                  <a:srgbClr val="000000"/>
                </a:solidFill>
                <a:latin typeface="Calibri (MS)"/>
                <a:ea typeface="Calibri (MS)"/>
                <a:cs typeface="Calibri (MS)"/>
                <a:sym typeface="Calibri (MS)"/>
              </a:rPr>
              <a:t>display multiple structures simultaneously(VDR)</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Hybrid views → </a:t>
            </a:r>
            <a:r>
              <a:rPr lang="en-US" sz="3000" b="1" dirty="0">
                <a:solidFill>
                  <a:srgbClr val="000000"/>
                </a:solidFill>
                <a:latin typeface="Calibri (MS)"/>
                <a:ea typeface="Calibri (MS)"/>
                <a:cs typeface="Calibri (MS)"/>
                <a:sym typeface="Calibri (MS)"/>
              </a:rPr>
              <a:t>combine slices, surfaces, and volume rendering</a:t>
            </a:r>
          </a:p>
        </p:txBody>
      </p:sp>
      <p:sp>
        <p:nvSpPr>
          <p:cNvPr id="6" name="TextBox 6"/>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Segmentation And Anatomical Visualization</a:t>
            </a:r>
          </a:p>
        </p:txBody>
      </p:sp>
      <p:sp>
        <p:nvSpPr>
          <p:cNvPr id="9" name="TextBox 8">
            <a:extLst>
              <a:ext uri="{FF2B5EF4-FFF2-40B4-BE49-F238E27FC236}">
                <a16:creationId xmlns:a16="http://schemas.microsoft.com/office/drawing/2014/main" id="{DFFB6799-49B8-DB21-E52A-8A6F113084FA}"/>
              </a:ext>
            </a:extLst>
          </p:cNvPr>
          <p:cNvSpPr txBox="1"/>
          <p:nvPr/>
        </p:nvSpPr>
        <p:spPr>
          <a:xfrm>
            <a:off x="8309152" y="2647375"/>
            <a:ext cx="9152164" cy="6001643"/>
          </a:xfrm>
          <a:prstGeom prst="rect">
            <a:avLst/>
          </a:prstGeom>
          <a:noFill/>
        </p:spPr>
        <p:txBody>
          <a:bodyPr wrap="square">
            <a:spAutoFit/>
          </a:bodyPr>
          <a:lstStyle/>
          <a:p>
            <a:pPr rtl="0">
              <a:buNone/>
            </a:pPr>
            <a:r>
              <a:rPr lang="en-IN" sz="2400" b="1" dirty="0"/>
              <a:t>A transfer function decides colour from the value alone. But different structures often have very similar values:</a:t>
            </a:r>
          </a:p>
          <a:p>
            <a:pPr marL="342900" lvl="0" indent="-342900" rtl="0">
              <a:buFont typeface="Arial" panose="020B0604020202020204" pitchFamily="34" charset="0"/>
              <a:buChar char="•"/>
            </a:pPr>
            <a:r>
              <a:rPr lang="en-IN" sz="2400" b="1" dirty="0"/>
              <a:t>Liver ≈ 55, kidney ≈ 40, spleen ≈ 50, and some tumours ≈ 40–60 (approximate CT values in HU)</a:t>
            </a:r>
          </a:p>
          <a:p>
            <a:pPr marL="342900" lvl="0" indent="-342900" rtl="0">
              <a:buFont typeface="Arial" panose="020B0604020202020204" pitchFamily="34" charset="0"/>
              <a:buChar char="•"/>
            </a:pPr>
            <a:r>
              <a:rPr lang="en-IN" sz="2400" b="1" dirty="0"/>
              <a:t>In the table, the tumour (48) and the liver (55) are almost the same value.</a:t>
            </a:r>
          </a:p>
          <a:p>
            <a:pPr rtl="0">
              <a:buNone/>
            </a:pPr>
            <a:r>
              <a:rPr lang="en-IN" sz="2400" b="1" dirty="0"/>
              <a:t>With only a transfer function, they would get the same colour, and you couldn’t tell them apart. Likewise, no single threshold c can extract the tumour as an </a:t>
            </a:r>
            <a:r>
              <a:rPr lang="en-IN" sz="2400" b="1" dirty="0" err="1"/>
              <a:t>isosurface</a:t>
            </a:r>
            <a:r>
              <a:rPr lang="en-IN" sz="2400" b="1" dirty="0"/>
              <a:t> without pulling in the liver around it.</a:t>
            </a:r>
          </a:p>
          <a:p>
            <a:pPr rtl="0">
              <a:buNone/>
            </a:pPr>
            <a:r>
              <a:rPr lang="en-IN" sz="2400" b="1" dirty="0"/>
              <a:t> </a:t>
            </a:r>
          </a:p>
          <a:p>
            <a:r>
              <a:rPr lang="en-IN" sz="2400" dirty="0"/>
              <a:t>Segmentation solves this by using </a:t>
            </a:r>
            <a:r>
              <a:rPr lang="en-IN" sz="2400" b="1" dirty="0"/>
              <a:t>more than the value</a:t>
            </a:r>
            <a:r>
              <a:rPr lang="en-IN" sz="2400" dirty="0"/>
              <a:t>: location, shape, connectivity, texture, or a doctor’s or an AI model’s judgement. Once each voxel is labelled, you can colour the </a:t>
            </a:r>
            <a:r>
              <a:rPr lang="en-IN" sz="2400" b="1" dirty="0"/>
              <a:t>tumour red and the liver brown</a:t>
            </a:r>
            <a:r>
              <a:rPr lang="en-IN" sz="2400" dirty="0"/>
              <a:t> even though their values are almost identical.</a:t>
            </a:r>
            <a:endParaRPr lang="en-IN" sz="2400" b="1" dirty="0"/>
          </a:p>
          <a:p>
            <a:pPr rtl="0">
              <a:buNone/>
            </a:pPr>
            <a:endParaRPr lang="en-IN" sz="2400" b="1" dirty="0"/>
          </a:p>
          <a:p>
            <a:pPr rtl="0">
              <a:buNone/>
            </a:pPr>
            <a:endParaRPr lang="en-IN" sz="24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598849" y="6434530"/>
            <a:ext cx="8316551" cy="3433370"/>
          </a:xfrm>
          <a:custGeom>
            <a:avLst/>
            <a:gdLst/>
            <a:ahLst/>
            <a:cxnLst/>
            <a:rect l="l" t="t" r="r" b="b"/>
            <a:pathLst>
              <a:path w="10164071" h="4055773">
                <a:moveTo>
                  <a:pt x="0" y="0"/>
                </a:moveTo>
                <a:lnTo>
                  <a:pt x="10164070" y="0"/>
                </a:lnTo>
                <a:lnTo>
                  <a:pt x="10164070" y="4055773"/>
                </a:lnTo>
                <a:lnTo>
                  <a:pt x="0" y="4055773"/>
                </a:lnTo>
                <a:lnTo>
                  <a:pt x="0" y="0"/>
                </a:lnTo>
                <a:close/>
              </a:path>
            </a:pathLst>
          </a:custGeom>
          <a:blipFill>
            <a:blip r:embed="rId3"/>
            <a:stretch>
              <a:fillRect t="-34201" b="-32921"/>
            </a:stretch>
          </a:blipFill>
        </p:spPr>
        <p:txBody>
          <a:bodyPr/>
          <a:lstStyle/>
          <a:p>
            <a:endParaRPr lang="en-IN"/>
          </a:p>
        </p:txBody>
      </p:sp>
      <p:sp>
        <p:nvSpPr>
          <p:cNvPr id="6" name="TextBox 6"/>
          <p:cNvSpPr txBox="1"/>
          <p:nvPr/>
        </p:nvSpPr>
        <p:spPr>
          <a:xfrm>
            <a:off x="826684" y="2127052"/>
            <a:ext cx="7910141" cy="4616648"/>
          </a:xfrm>
          <a:prstGeom prst="rect">
            <a:avLst/>
          </a:prstGeom>
        </p:spPr>
        <p:txBody>
          <a:bodyPr wrap="square"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Why It Matters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Isolates structures from complex volumes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Enables quantitative measurements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Reveals spatial relationships</a:t>
            </a:r>
          </a:p>
          <a:p>
            <a:pPr marL="647703" lvl="1" indent="-323852" algn="l">
              <a:lnSpc>
                <a:spcPts val="3600"/>
              </a:lnSpc>
              <a:buFont typeface="Arial"/>
              <a:buChar char="•"/>
            </a:pPr>
            <a:r>
              <a:rPr lang="en-US" sz="3000" dirty="0">
                <a:solidFill>
                  <a:srgbClr val="000000"/>
                </a:solidFill>
                <a:latin typeface="Calibri (MS)"/>
                <a:ea typeface="Calibri (MS)"/>
                <a:cs typeface="Calibri (MS)"/>
                <a:sym typeface="Calibri (MS)"/>
              </a:rPr>
              <a:t>Provides input for 3D reconstruction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Important Distinction:</a:t>
            </a:r>
          </a:p>
          <a:p>
            <a:pPr algn="l">
              <a:lnSpc>
                <a:spcPts val="3600"/>
              </a:lnSpc>
            </a:pPr>
            <a:r>
              <a:rPr lang="en-US" sz="3000" i="1" dirty="0">
                <a:solidFill>
                  <a:srgbClr val="000000"/>
                </a:solidFill>
                <a:latin typeface="Calibri (MS) Italics"/>
                <a:ea typeface="Calibri (MS) Italics"/>
                <a:cs typeface="Calibri (MS) Italics"/>
                <a:sym typeface="Calibri (MS) Italics"/>
              </a:rPr>
              <a:t>Segmentation creates meaningful regions; visualization determines how those regions are presented.</a:t>
            </a:r>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Segmentation And Anatomical Visualization</a:t>
            </a:r>
          </a:p>
        </p:txBody>
      </p:sp>
      <p:sp>
        <p:nvSpPr>
          <p:cNvPr id="10" name="TextBox 9">
            <a:extLst>
              <a:ext uri="{FF2B5EF4-FFF2-40B4-BE49-F238E27FC236}">
                <a16:creationId xmlns:a16="http://schemas.microsoft.com/office/drawing/2014/main" id="{9058E97E-9AC0-F15B-4AC0-2BD6DAD7C304}"/>
              </a:ext>
            </a:extLst>
          </p:cNvPr>
          <p:cNvSpPr txBox="1"/>
          <p:nvPr/>
        </p:nvSpPr>
        <p:spPr>
          <a:xfrm>
            <a:off x="8736825" y="1843480"/>
            <a:ext cx="9152164" cy="5509200"/>
          </a:xfrm>
          <a:prstGeom prst="rect">
            <a:avLst/>
          </a:prstGeom>
          <a:noFill/>
        </p:spPr>
        <p:txBody>
          <a:bodyPr wrap="square">
            <a:spAutoFit/>
          </a:bodyPr>
          <a:lstStyle/>
          <a:p>
            <a:pPr rtl="0">
              <a:buNone/>
            </a:pPr>
            <a:r>
              <a:rPr lang="en-IN" sz="3200" b="1" dirty="0"/>
              <a:t>How segmentation is done (brief)</a:t>
            </a:r>
          </a:p>
          <a:p>
            <a:pPr marL="342900" lvl="0" indent="-342900" rtl="0">
              <a:buFont typeface="Arial" panose="020B0604020202020204" pitchFamily="34" charset="0"/>
              <a:buChar char="•"/>
            </a:pPr>
            <a:r>
              <a:rPr lang="en-IN" sz="3200" b="1" dirty="0"/>
              <a:t>Thresholding:</a:t>
            </a:r>
            <a:r>
              <a:rPr lang="en-IN" sz="3200" dirty="0"/>
              <a:t> “all voxels above 300 = bone.” This works for bone, but not for similar soft tissues.</a:t>
            </a:r>
          </a:p>
          <a:p>
            <a:pPr marL="342900" lvl="0" indent="-342900" rtl="0">
              <a:buFont typeface="Arial" panose="020B0604020202020204" pitchFamily="34" charset="0"/>
              <a:buChar char="•"/>
            </a:pPr>
            <a:r>
              <a:rPr lang="en-IN" sz="3200" b="1" dirty="0"/>
              <a:t>Region growing:</a:t>
            </a:r>
            <a:r>
              <a:rPr lang="en-IN" sz="3200" dirty="0"/>
              <a:t> start from a seed point inside the organ and keep adding neighbouring voxels with similar values.</a:t>
            </a:r>
          </a:p>
          <a:p>
            <a:pPr marL="342900" lvl="0" indent="-342900" rtl="0">
              <a:buFont typeface="Arial" panose="020B0604020202020204" pitchFamily="34" charset="0"/>
              <a:buChar char="•"/>
            </a:pPr>
            <a:r>
              <a:rPr lang="en-IN" sz="3200" b="1" dirty="0"/>
              <a:t>Manual or semi-automatic:</a:t>
            </a:r>
            <a:r>
              <a:rPr lang="en-IN" sz="3200" dirty="0"/>
              <a:t> a radiologist outlines the structure slice by slice.</a:t>
            </a:r>
          </a:p>
          <a:p>
            <a:pPr marL="342900" lvl="0" indent="-342900" rtl="0">
              <a:buFont typeface="Arial" panose="020B0604020202020204" pitchFamily="34" charset="0"/>
              <a:buChar char="•"/>
            </a:pPr>
            <a:r>
              <a:rPr lang="en-IN" sz="3200" b="1" dirty="0"/>
              <a:t>Deep learning:</a:t>
            </a:r>
            <a:r>
              <a:rPr lang="en-IN" sz="3200" dirty="0"/>
              <a:t> models such as U-Net label every voxel automatically. This is now the most common approach.</a:t>
            </a:r>
          </a:p>
        </p:txBody>
      </p:sp>
      <p:sp>
        <p:nvSpPr>
          <p:cNvPr id="12" name="TextBox 11">
            <a:extLst>
              <a:ext uri="{FF2B5EF4-FFF2-40B4-BE49-F238E27FC236}">
                <a16:creationId xmlns:a16="http://schemas.microsoft.com/office/drawing/2014/main" id="{570BA6CA-E462-7A45-FF20-D242ED1F5725}"/>
              </a:ext>
            </a:extLst>
          </p:cNvPr>
          <p:cNvSpPr txBox="1"/>
          <p:nvPr/>
        </p:nvSpPr>
        <p:spPr>
          <a:xfrm>
            <a:off x="9372602" y="8385316"/>
            <a:ext cx="9152164" cy="1200329"/>
          </a:xfrm>
          <a:prstGeom prst="rect">
            <a:avLst/>
          </a:prstGeom>
          <a:noFill/>
        </p:spPr>
        <p:txBody>
          <a:bodyPr wrap="square">
            <a:spAutoFit/>
          </a:bodyPr>
          <a:lstStyle/>
          <a:p>
            <a:r>
              <a:rPr lang="en-IN" sz="2400" b="1" dirty="0"/>
              <a:t>Segmentation labels every voxel with the structure it belongs to (bone, organ, vessel, tumour), so you can show, colour, measure and render each structure separately, even when their raw values look the </a:t>
            </a:r>
            <a:r>
              <a:rPr lang="en-IN" sz="2400" b="1" dirty="0" err="1"/>
              <a:t>sa</a:t>
            </a:r>
            <a:endParaRPr lang="en-IN" sz="24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564234" y="-380505"/>
            <a:ext cx="2741457" cy="2065483"/>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337461" y="633219"/>
            <a:ext cx="968052" cy="96805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5065223" y="982710"/>
            <a:ext cx="1031208" cy="103120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4034964" y="0"/>
            <a:ext cx="4253036" cy="2221255"/>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64516" y="9173251"/>
            <a:ext cx="2241769" cy="111374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5C57BB7-E381-3040-C6D7-924E49660A8D}"/>
              </a:ext>
            </a:extLst>
          </p:cNvPr>
          <p:cNvPicPr>
            <a:picLocks noChangeAspect="1"/>
          </p:cNvPicPr>
          <p:nvPr/>
        </p:nvPicPr>
        <p:blipFill>
          <a:blip r:embed="rId2"/>
          <a:stretch>
            <a:fillRect/>
          </a:stretch>
        </p:blipFill>
        <p:spPr>
          <a:xfrm>
            <a:off x="965200" y="2955671"/>
            <a:ext cx="16357599" cy="4375656"/>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406120" y="9679714"/>
            <a:ext cx="1222354" cy="607286"/>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2838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547860" cy="7839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Simulation visualization represents computed or measured variables produced by scientific and engineering simulations.</a:t>
            </a:r>
          </a:p>
          <a:p>
            <a:pPr algn="l">
              <a:lnSpc>
                <a:spcPts val="3600"/>
              </a:lnSpc>
            </a:pPr>
            <a:r>
              <a:rPr lang="en-US" sz="3000" b="1">
                <a:solidFill>
                  <a:srgbClr val="000000"/>
                </a:solidFill>
                <a:latin typeface="Calibri (MS) Bold"/>
                <a:ea typeface="Calibri (MS) Bold"/>
                <a:cs typeface="Calibri (MS) Bold"/>
                <a:sym typeface="Calibri (MS) Bold"/>
              </a:rPr>
              <a:t>Simulation Data</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Scalar fields → temperature, pressure, density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Vector fields → velocity, wind direction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Tensor fields → stress, strain, shear</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Data may vary across space, time, or both</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Common Visualization Techniques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Color Maps → scalar magnitude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Contours / Isosurfaces → boundaries and levels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Glyphs → vector magnitude and direction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Streamlines → flow structure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Volume Rendering → internal 3D distributions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Animation → temporal evolution</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Typical Pipeline: </a:t>
            </a:r>
            <a:r>
              <a:rPr lang="en-US" sz="3000">
                <a:solidFill>
                  <a:srgbClr val="000000"/>
                </a:solidFill>
                <a:latin typeface="Calibri (MS)"/>
                <a:ea typeface="Calibri (MS)"/>
                <a:cs typeface="Calibri (MS)"/>
                <a:sym typeface="Calibri (MS)"/>
              </a:rPr>
              <a:t>Simulation → Spatial Field → Derived Variables → Visual Encoding → Analysis</a:t>
            </a:r>
          </a:p>
        </p:txBody>
      </p:sp>
      <p:sp>
        <p:nvSpPr>
          <p:cNvPr id="6" name="Freeform 6"/>
          <p:cNvSpPr/>
          <p:nvPr/>
        </p:nvSpPr>
        <p:spPr>
          <a:xfrm>
            <a:off x="11346892" y="3303530"/>
            <a:ext cx="6542115" cy="3679940"/>
          </a:xfrm>
          <a:custGeom>
            <a:avLst/>
            <a:gdLst/>
            <a:ahLst/>
            <a:cxnLst/>
            <a:rect l="l" t="t" r="r" b="b"/>
            <a:pathLst>
              <a:path w="6542115" h="3679940">
                <a:moveTo>
                  <a:pt x="0" y="0"/>
                </a:moveTo>
                <a:lnTo>
                  <a:pt x="6542115" y="0"/>
                </a:lnTo>
                <a:lnTo>
                  <a:pt x="6542115" y="3679940"/>
                </a:lnTo>
                <a:lnTo>
                  <a:pt x="0" y="3679940"/>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Simulation Data Visualization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Freeform 5"/>
          <p:cNvSpPr/>
          <p:nvPr/>
        </p:nvSpPr>
        <p:spPr>
          <a:xfrm>
            <a:off x="11755496" y="2114943"/>
            <a:ext cx="4485506" cy="2864625"/>
          </a:xfrm>
          <a:custGeom>
            <a:avLst/>
            <a:gdLst/>
            <a:ahLst/>
            <a:cxnLst/>
            <a:rect l="l" t="t" r="r" b="b"/>
            <a:pathLst>
              <a:path w="4485506" h="2864625">
                <a:moveTo>
                  <a:pt x="0" y="0"/>
                </a:moveTo>
                <a:lnTo>
                  <a:pt x="4485506" y="0"/>
                </a:lnTo>
                <a:lnTo>
                  <a:pt x="4485506" y="2864625"/>
                </a:lnTo>
                <a:lnTo>
                  <a:pt x="0" y="2864625"/>
                </a:lnTo>
                <a:lnTo>
                  <a:pt x="0" y="0"/>
                </a:lnTo>
                <a:close/>
              </a:path>
            </a:pathLst>
          </a:custGeom>
          <a:blipFill>
            <a:blip r:embed="rId3"/>
            <a:stretch>
              <a:fillRect/>
            </a:stretch>
          </a:blipFill>
        </p:spPr>
        <p:txBody>
          <a:bodyPr/>
          <a:lstStyle/>
          <a:p>
            <a:endParaRPr lang="en-IN"/>
          </a:p>
        </p:txBody>
      </p:sp>
      <p:sp>
        <p:nvSpPr>
          <p:cNvPr id="6" name="Freeform 6"/>
          <p:cNvSpPr/>
          <p:nvPr/>
        </p:nvSpPr>
        <p:spPr>
          <a:xfrm>
            <a:off x="10436165" y="5248468"/>
            <a:ext cx="7124168" cy="4009832"/>
          </a:xfrm>
          <a:custGeom>
            <a:avLst/>
            <a:gdLst/>
            <a:ahLst/>
            <a:cxnLst/>
            <a:rect l="l" t="t" r="r" b="b"/>
            <a:pathLst>
              <a:path w="7124168" h="4009832">
                <a:moveTo>
                  <a:pt x="0" y="0"/>
                </a:moveTo>
                <a:lnTo>
                  <a:pt x="7124168" y="0"/>
                </a:lnTo>
                <a:lnTo>
                  <a:pt x="7124168" y="4009832"/>
                </a:lnTo>
                <a:lnTo>
                  <a:pt x="0" y="4009832"/>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826684" y="2048268"/>
            <a:ext cx="10540221" cy="7381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Data Characteristics</a:t>
            </a:r>
          </a:p>
          <a:p>
            <a:pPr algn="l">
              <a:lnSpc>
                <a:spcPts val="3600"/>
              </a:lnSpc>
            </a:pPr>
            <a:r>
              <a:rPr lang="en-US" sz="3000">
                <a:solidFill>
                  <a:srgbClr val="000000"/>
                </a:solidFill>
                <a:latin typeface="Calibri (MS)"/>
                <a:ea typeface="Calibri (MS)"/>
                <a:cs typeface="Calibri (MS)"/>
                <a:sym typeface="Calibri (MS)"/>
              </a:rPr>
              <a:t>Weather simulations combine multiple spatial and temporal fields: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Temperature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Atmospheric pressure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Wind speed</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Wind direction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Humidity / precipitation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Storm trajectories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Encodings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Temperature: Color</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Pressure: Contours / Isolines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Wind direction: Glyph Orientation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Wind speed: Glyph Size / Density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Flow: Streamlines / Animation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Storm path: Trajectory</a:t>
            </a:r>
          </a:p>
        </p:txBody>
      </p:sp>
      <p:sp>
        <p:nvSpPr>
          <p:cNvPr id="8" name="TextBox 8"/>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Weather And Atmospheric Visualization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AutoShape 4"/>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5" name="TextBox 5"/>
          <p:cNvSpPr txBox="1"/>
          <p:nvPr/>
        </p:nvSpPr>
        <p:spPr>
          <a:xfrm>
            <a:off x="826684" y="2048268"/>
            <a:ext cx="15423703" cy="7381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Computational Fluid Dynamics (CFD)</a:t>
            </a:r>
          </a:p>
          <a:p>
            <a:pPr algn="l">
              <a:lnSpc>
                <a:spcPts val="3600"/>
              </a:lnSpc>
            </a:pPr>
            <a:r>
              <a:rPr lang="en-US" sz="3000">
                <a:solidFill>
                  <a:srgbClr val="000000"/>
                </a:solidFill>
                <a:latin typeface="Calibri (MS)"/>
                <a:ea typeface="Calibri (MS)"/>
                <a:cs typeface="Calibri (MS)"/>
                <a:sym typeface="Calibri (MS)"/>
              </a:rPr>
              <a:t>CFD simulations model fluid behaviour using variables such as velocity, pressure, temperature, density, vorticity</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Velocity vectors → direction + magnitude</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Streamlines → flow paths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Pressure contours → spatial pressure distribution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Isosurfaces → regions at selected scalar values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Particle/trajectory plots → movement through the flow</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Animation → evolving flow behaviour</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Other Engineering Examples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Aerodynamics: airflow around aircraft or vehicles</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Structural Simulation: stress and deformation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Thermal Simulation: temperature distribution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Combustion: temperature and chemical concentration</a:t>
            </a:r>
          </a:p>
          <a:p>
            <a:pPr marL="647703" lvl="1" indent="-323852" algn="l">
              <a:lnSpc>
                <a:spcPts val="3600"/>
              </a:lnSpc>
              <a:buFont typeface="Arial"/>
              <a:buChar char="•"/>
            </a:pPr>
            <a:r>
              <a:rPr lang="en-US" sz="3000">
                <a:solidFill>
                  <a:srgbClr val="000000"/>
                </a:solidFill>
                <a:latin typeface="Calibri (MS)"/>
                <a:ea typeface="Calibri (MS)"/>
                <a:cs typeface="Calibri (MS)"/>
                <a:sym typeface="Calibri (MS)"/>
              </a:rPr>
              <a:t>Mechanical Systems: motion and force fields</a:t>
            </a:r>
          </a:p>
        </p:txBody>
      </p:sp>
      <p:sp>
        <p:nvSpPr>
          <p:cNvPr id="6" name="Freeform 6"/>
          <p:cNvSpPr/>
          <p:nvPr/>
        </p:nvSpPr>
        <p:spPr>
          <a:xfrm>
            <a:off x="11744049" y="3402194"/>
            <a:ext cx="6144958" cy="4775833"/>
          </a:xfrm>
          <a:custGeom>
            <a:avLst/>
            <a:gdLst/>
            <a:ahLst/>
            <a:cxnLst/>
            <a:rect l="l" t="t" r="r" b="b"/>
            <a:pathLst>
              <a:path w="6144958" h="4775833">
                <a:moveTo>
                  <a:pt x="0" y="0"/>
                </a:moveTo>
                <a:lnTo>
                  <a:pt x="6144958" y="0"/>
                </a:lnTo>
                <a:lnTo>
                  <a:pt x="6144958" y="4775833"/>
                </a:lnTo>
                <a:lnTo>
                  <a:pt x="0" y="4775833"/>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26684" y="962025"/>
            <a:ext cx="1163951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Engineering And Scientific Simulation</a:t>
            </a:r>
          </a:p>
        </p:txBody>
      </p:sp>
      <p:sp>
        <p:nvSpPr>
          <p:cNvPr id="9" name="TextBox 9"/>
          <p:cNvSpPr txBox="1"/>
          <p:nvPr/>
        </p:nvSpPr>
        <p:spPr>
          <a:xfrm>
            <a:off x="12971063" y="8325713"/>
            <a:ext cx="3690931" cy="523875"/>
          </a:xfrm>
          <a:prstGeom prst="rect">
            <a:avLst/>
          </a:prstGeom>
        </p:spPr>
        <p:txBody>
          <a:bodyPr lIns="0" tIns="0" rIns="0" bIns="0" rtlCol="0" anchor="t">
            <a:spAutoFit/>
          </a:bodyPr>
          <a:lstStyle/>
          <a:p>
            <a:pPr algn="l">
              <a:lnSpc>
                <a:spcPts val="3600"/>
              </a:lnSpc>
            </a:pPr>
            <a:r>
              <a:rPr lang="en-US" sz="3000" i="1">
                <a:solidFill>
                  <a:srgbClr val="000000"/>
                </a:solidFill>
                <a:latin typeface="Calibri (MS) Italics"/>
                <a:ea typeface="Calibri (MS) Italics"/>
                <a:cs typeface="Calibri (MS) Italics"/>
                <a:sym typeface="Calibri (MS) Italics"/>
              </a:rPr>
              <a:t>Combustion Simulation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08573" cy="4638675"/>
          </a:xfrm>
          <a:prstGeom prst="rect">
            <a:avLst/>
          </a:prstGeom>
        </p:spPr>
        <p:txBody>
          <a:bodyPr lIns="0" tIns="0" rIns="0" bIns="0" rtlCol="0" anchor="t">
            <a:spAutoFit/>
          </a:bodyPr>
          <a:lstStyle/>
          <a:p>
            <a:pPr algn="l">
              <a:lnSpc>
                <a:spcPts val="3600"/>
              </a:lnSpc>
              <a:spcBef>
                <a:spcPct val="0"/>
              </a:spcBef>
            </a:pPr>
            <a:r>
              <a:rPr lang="en-US" sz="3000" b="1" dirty="0">
                <a:solidFill>
                  <a:srgbClr val="000000"/>
                </a:solidFill>
                <a:latin typeface="Calibri (MS) Bold"/>
                <a:ea typeface="Calibri (MS) Bold"/>
                <a:cs typeface="Calibri (MS) Bold"/>
                <a:sym typeface="Calibri (MS) Bold"/>
              </a:rPr>
              <a:t>Q1. A CT volume contains multiple tissue types whose intensity ranges overlap significantly. Which visualization approach is most suitable when the goal is to reveal information throughout the volume rather than display only one tissue boundary?</a:t>
            </a:r>
          </a:p>
          <a:p>
            <a:pPr algn="l">
              <a:lnSpc>
                <a:spcPts val="3600"/>
              </a:lnSpc>
              <a:spcBef>
                <a:spcPct val="0"/>
              </a:spcBef>
            </a:pPr>
            <a:endParaRPr lang="en-US" sz="3000" b="1" dirty="0">
              <a:solidFill>
                <a:srgbClr val="000000"/>
              </a:solidFill>
              <a:latin typeface="Calibri (MS) Bold"/>
              <a:ea typeface="Calibri (MS) Bold"/>
              <a:cs typeface="Calibri (MS) Bold"/>
              <a:sym typeface="Calibri (MS) Bold"/>
            </a:endParaRPr>
          </a:p>
          <a:p>
            <a:pPr algn="l">
              <a:lnSpc>
                <a:spcPts val="3600"/>
              </a:lnSpc>
              <a:spcBef>
                <a:spcPct val="0"/>
              </a:spcBef>
            </a:pPr>
            <a:r>
              <a:rPr lang="en-US" sz="3000" dirty="0">
                <a:solidFill>
                  <a:srgbClr val="000000"/>
                </a:solidFill>
                <a:latin typeface="Calibri (MS)"/>
                <a:ea typeface="Calibri (MS)"/>
                <a:cs typeface="Calibri (MS)"/>
                <a:sym typeface="Calibri (MS)"/>
              </a:rPr>
              <a:t>A. Direct volume rendering</a:t>
            </a:r>
          </a:p>
          <a:p>
            <a:pPr algn="l">
              <a:lnSpc>
                <a:spcPts val="3600"/>
              </a:lnSpc>
              <a:spcBef>
                <a:spcPct val="0"/>
              </a:spcBef>
            </a:pPr>
            <a:r>
              <a:rPr lang="en-US" sz="3000" dirty="0">
                <a:solidFill>
                  <a:srgbClr val="000000"/>
                </a:solidFill>
                <a:latin typeface="Calibri (MS)"/>
                <a:ea typeface="Calibri (MS)"/>
                <a:cs typeface="Calibri (MS)"/>
                <a:sym typeface="Calibri (MS)"/>
              </a:rPr>
              <a:t>B. Single orthogonal slice</a:t>
            </a:r>
          </a:p>
          <a:p>
            <a:pPr algn="l">
              <a:lnSpc>
                <a:spcPts val="3600"/>
              </a:lnSpc>
              <a:spcBef>
                <a:spcPct val="0"/>
              </a:spcBef>
            </a:pPr>
            <a:r>
              <a:rPr lang="en-US" sz="3000" dirty="0">
                <a:solidFill>
                  <a:srgbClr val="000000"/>
                </a:solidFill>
                <a:latin typeface="Calibri (MS)"/>
                <a:ea typeface="Calibri (MS)"/>
                <a:cs typeface="Calibri (MS)"/>
                <a:sym typeface="Calibri (MS)"/>
              </a:rPr>
              <a:t>C. Binary </a:t>
            </a:r>
            <a:r>
              <a:rPr lang="en-US" sz="3000" dirty="0" err="1">
                <a:solidFill>
                  <a:srgbClr val="000000"/>
                </a:solidFill>
                <a:latin typeface="Calibri (MS)"/>
                <a:ea typeface="Calibri (MS)"/>
                <a:cs typeface="Calibri (MS)"/>
                <a:sym typeface="Calibri (MS)"/>
              </a:rPr>
              <a:t>isosurface</a:t>
            </a:r>
            <a:r>
              <a:rPr lang="en-US" sz="3000" dirty="0">
                <a:solidFill>
                  <a:srgbClr val="000000"/>
                </a:solidFill>
                <a:latin typeface="Calibri (MS)"/>
                <a:ea typeface="Calibri (MS)"/>
                <a:cs typeface="Calibri (MS)"/>
                <a:sym typeface="Calibri (MS)"/>
              </a:rPr>
              <a:t> extraction</a:t>
            </a:r>
          </a:p>
          <a:p>
            <a:pPr algn="l">
              <a:lnSpc>
                <a:spcPts val="3600"/>
              </a:lnSpc>
              <a:spcBef>
                <a:spcPct val="0"/>
              </a:spcBef>
            </a:pPr>
            <a:r>
              <a:rPr lang="en-US" sz="3000" dirty="0">
                <a:solidFill>
                  <a:srgbClr val="000000"/>
                </a:solidFill>
                <a:latin typeface="Calibri (MS)"/>
                <a:ea typeface="Calibri (MS)"/>
                <a:cs typeface="Calibri (MS)"/>
                <a:sym typeface="Calibri (MS)"/>
              </a:rPr>
              <a:t>D. Maximum-resolution sampling</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Answer: A</a:t>
            </a:r>
          </a:p>
        </p:txBody>
      </p:sp>
      <p:sp>
        <p:nvSpPr>
          <p:cNvPr id="6" name="TextBox 6"/>
          <p:cNvSpPr txBox="1"/>
          <p:nvPr/>
        </p:nvSpPr>
        <p:spPr>
          <a:xfrm>
            <a:off x="681104" y="958463"/>
            <a:ext cx="11785093" cy="609558"/>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08573" cy="4638675"/>
          </a:xfrm>
          <a:prstGeom prst="rect">
            <a:avLst/>
          </a:prstGeom>
        </p:spPr>
        <p:txBody>
          <a:bodyPr lIns="0" tIns="0" rIns="0" bIns="0" rtlCol="0" anchor="t">
            <a:spAutoFit/>
          </a:bodyPr>
          <a:lstStyle/>
          <a:p>
            <a:pPr algn="l">
              <a:lnSpc>
                <a:spcPts val="3600"/>
              </a:lnSpc>
              <a:spcBef>
                <a:spcPct val="0"/>
              </a:spcBef>
            </a:pPr>
            <a:r>
              <a:rPr lang="en-US" sz="3000" b="1" dirty="0">
                <a:solidFill>
                  <a:srgbClr val="000000"/>
                </a:solidFill>
                <a:latin typeface="Calibri (MS) Bold"/>
                <a:ea typeface="Calibri (MS) Bold"/>
                <a:cs typeface="Calibri (MS) Bold"/>
                <a:sym typeface="Calibri (MS) Bold"/>
              </a:rPr>
              <a:t>Q2. In a medical visualization pipeline, segmentation produces a label volume where each voxel is assigned to an anatomical structure. What is the primary purpose of this intermediate representation?</a:t>
            </a:r>
          </a:p>
          <a:p>
            <a:pPr algn="l">
              <a:lnSpc>
                <a:spcPts val="3600"/>
              </a:lnSpc>
              <a:spcBef>
                <a:spcPct val="0"/>
              </a:spcBef>
            </a:pPr>
            <a:endParaRPr lang="en-US" sz="3000" b="1" dirty="0">
              <a:solidFill>
                <a:srgbClr val="000000"/>
              </a:solidFill>
              <a:latin typeface="Calibri (MS) Bold"/>
              <a:ea typeface="Calibri (MS) Bold"/>
              <a:cs typeface="Calibri (MS) Bold"/>
              <a:sym typeface="Calibri (MS) Bold"/>
            </a:endParaRPr>
          </a:p>
          <a:p>
            <a:pPr algn="l">
              <a:lnSpc>
                <a:spcPts val="3600"/>
              </a:lnSpc>
              <a:spcBef>
                <a:spcPct val="0"/>
              </a:spcBef>
            </a:pPr>
            <a:r>
              <a:rPr lang="en-US" sz="3000" dirty="0">
                <a:solidFill>
                  <a:srgbClr val="000000"/>
                </a:solidFill>
                <a:latin typeface="Calibri (MS)"/>
                <a:ea typeface="Calibri (MS)"/>
                <a:cs typeface="Calibri (MS)"/>
                <a:sym typeface="Calibri (MS)"/>
              </a:rPr>
              <a:t>A. Increase the spatial resolution of the scan</a:t>
            </a:r>
          </a:p>
          <a:p>
            <a:pPr algn="l">
              <a:lnSpc>
                <a:spcPts val="3600"/>
              </a:lnSpc>
              <a:spcBef>
                <a:spcPct val="0"/>
              </a:spcBef>
            </a:pPr>
            <a:r>
              <a:rPr lang="en-US" sz="3000" dirty="0">
                <a:solidFill>
                  <a:srgbClr val="000000"/>
                </a:solidFill>
                <a:latin typeface="Calibri (MS)"/>
                <a:ea typeface="Calibri (MS)"/>
                <a:cs typeface="Calibri (MS)"/>
                <a:sym typeface="Calibri (MS)"/>
              </a:rPr>
              <a:t>B. Separate meaningful structures for targeted visualization</a:t>
            </a:r>
          </a:p>
          <a:p>
            <a:pPr algn="l">
              <a:lnSpc>
                <a:spcPts val="3600"/>
              </a:lnSpc>
              <a:spcBef>
                <a:spcPct val="0"/>
              </a:spcBef>
            </a:pPr>
            <a:r>
              <a:rPr lang="en-US" sz="3000" dirty="0">
                <a:solidFill>
                  <a:srgbClr val="000000"/>
                </a:solidFill>
                <a:latin typeface="Calibri (MS)"/>
                <a:ea typeface="Calibri (MS)"/>
                <a:cs typeface="Calibri (MS)"/>
                <a:sym typeface="Calibri (MS)"/>
              </a:rPr>
              <a:t>C. Convert the volume directly into a perspective projection</a:t>
            </a:r>
          </a:p>
          <a:p>
            <a:pPr algn="l">
              <a:lnSpc>
                <a:spcPts val="3600"/>
              </a:lnSpc>
              <a:spcBef>
                <a:spcPct val="0"/>
              </a:spcBef>
            </a:pPr>
            <a:r>
              <a:rPr lang="en-US" sz="3000" dirty="0">
                <a:solidFill>
                  <a:srgbClr val="000000"/>
                </a:solidFill>
                <a:latin typeface="Calibri (MS)"/>
                <a:ea typeface="Calibri (MS)"/>
                <a:cs typeface="Calibri (MS)"/>
                <a:sym typeface="Calibri (MS)"/>
              </a:rPr>
              <a:t>D. Remove the need for any visualization mapping</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Answer: B</a:t>
            </a:r>
          </a:p>
        </p:txBody>
      </p:sp>
      <p:sp>
        <p:nvSpPr>
          <p:cNvPr id="6" name="TextBox 6"/>
          <p:cNvSpPr txBox="1"/>
          <p:nvPr/>
        </p:nvSpPr>
        <p:spPr>
          <a:xfrm>
            <a:off x="681104" y="958463"/>
            <a:ext cx="11785093" cy="609558"/>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08573" cy="4181475"/>
          </a:xfrm>
          <a:prstGeom prst="rect">
            <a:avLst/>
          </a:prstGeom>
        </p:spPr>
        <p:txBody>
          <a:bodyPr lIns="0" tIns="0" rIns="0" bIns="0" rtlCol="0" anchor="t">
            <a:spAutoFit/>
          </a:bodyPr>
          <a:lstStyle/>
          <a:p>
            <a:pPr algn="l">
              <a:lnSpc>
                <a:spcPts val="3600"/>
              </a:lnSpc>
              <a:spcBef>
                <a:spcPct val="0"/>
              </a:spcBef>
            </a:pPr>
            <a:r>
              <a:rPr lang="en-US" sz="3000" b="1" dirty="0">
                <a:solidFill>
                  <a:srgbClr val="000000"/>
                </a:solidFill>
                <a:latin typeface="Calibri (MS) Bold"/>
                <a:ea typeface="Calibri (MS) Bold"/>
                <a:cs typeface="Calibri (MS) Bold"/>
                <a:sym typeface="Calibri (MS) Bold"/>
              </a:rPr>
              <a:t>Q3. A weather visualization maps temperature to color, pressure to contours, and wind direction to glyph orientation. What is the main advantage of this design?</a:t>
            </a:r>
          </a:p>
          <a:p>
            <a:pPr algn="l">
              <a:lnSpc>
                <a:spcPts val="3600"/>
              </a:lnSpc>
              <a:spcBef>
                <a:spcPct val="0"/>
              </a:spcBef>
            </a:pPr>
            <a:endParaRPr lang="en-US" sz="3000" b="1" dirty="0">
              <a:solidFill>
                <a:srgbClr val="000000"/>
              </a:solidFill>
              <a:latin typeface="Calibri (MS) Bold"/>
              <a:ea typeface="Calibri (MS) Bold"/>
              <a:cs typeface="Calibri (MS) Bold"/>
              <a:sym typeface="Calibri (MS) Bold"/>
            </a:endParaRPr>
          </a:p>
          <a:p>
            <a:pPr algn="l">
              <a:lnSpc>
                <a:spcPts val="3600"/>
              </a:lnSpc>
              <a:spcBef>
                <a:spcPct val="0"/>
              </a:spcBef>
            </a:pPr>
            <a:r>
              <a:rPr lang="en-US" sz="3000" dirty="0">
                <a:solidFill>
                  <a:srgbClr val="000000"/>
                </a:solidFill>
                <a:latin typeface="Calibri (MS)"/>
                <a:ea typeface="Calibri (MS)"/>
                <a:cs typeface="Calibri (MS)"/>
                <a:sym typeface="Calibri (MS)"/>
              </a:rPr>
              <a:t>A. It assigns different variables to distinct visual channels</a:t>
            </a:r>
          </a:p>
          <a:p>
            <a:pPr algn="l">
              <a:lnSpc>
                <a:spcPts val="3600"/>
              </a:lnSpc>
              <a:spcBef>
                <a:spcPct val="0"/>
              </a:spcBef>
            </a:pPr>
            <a:r>
              <a:rPr lang="en-US" sz="3000" dirty="0">
                <a:solidFill>
                  <a:srgbClr val="000000"/>
                </a:solidFill>
                <a:latin typeface="Calibri (MS)"/>
                <a:ea typeface="Calibri (MS)"/>
                <a:cs typeface="Calibri (MS)"/>
                <a:sym typeface="Calibri (MS)"/>
              </a:rPr>
              <a:t>B. It guarantees that all variables have equal perceptual accuracy</a:t>
            </a:r>
          </a:p>
          <a:p>
            <a:pPr algn="l">
              <a:lnSpc>
                <a:spcPts val="3600"/>
              </a:lnSpc>
              <a:spcBef>
                <a:spcPct val="0"/>
              </a:spcBef>
            </a:pPr>
            <a:r>
              <a:rPr lang="en-US" sz="3000" dirty="0">
                <a:solidFill>
                  <a:srgbClr val="000000"/>
                </a:solidFill>
                <a:latin typeface="Calibri (MS)"/>
                <a:ea typeface="Calibri (MS)"/>
                <a:cs typeface="Calibri (MS)"/>
                <a:sym typeface="Calibri (MS)"/>
              </a:rPr>
              <a:t>C. It converts all variables into equivalent scalar fields</a:t>
            </a:r>
          </a:p>
          <a:p>
            <a:pPr algn="l">
              <a:lnSpc>
                <a:spcPts val="3600"/>
              </a:lnSpc>
              <a:spcBef>
                <a:spcPct val="0"/>
              </a:spcBef>
            </a:pPr>
            <a:r>
              <a:rPr lang="en-US" sz="3000" dirty="0">
                <a:solidFill>
                  <a:srgbClr val="000000"/>
                </a:solidFill>
                <a:latin typeface="Calibri (MS)"/>
                <a:ea typeface="Calibri (MS)"/>
                <a:cs typeface="Calibri (MS)"/>
                <a:sym typeface="Calibri (MS)"/>
              </a:rPr>
              <a:t>D. It eliminates the need for temporal visualization</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Answer: A</a:t>
            </a:r>
          </a:p>
        </p:txBody>
      </p:sp>
      <p:sp>
        <p:nvSpPr>
          <p:cNvPr id="6" name="TextBox 6"/>
          <p:cNvSpPr txBox="1"/>
          <p:nvPr/>
        </p:nvSpPr>
        <p:spPr>
          <a:xfrm>
            <a:off x="681104" y="958463"/>
            <a:ext cx="11785093" cy="609558"/>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08573" cy="4638675"/>
          </a:xfrm>
          <a:prstGeom prst="rect">
            <a:avLst/>
          </a:prstGeom>
        </p:spPr>
        <p:txBody>
          <a:bodyPr lIns="0" tIns="0" rIns="0" bIns="0" rtlCol="0" anchor="t">
            <a:spAutoFit/>
          </a:bodyPr>
          <a:lstStyle/>
          <a:p>
            <a:pPr algn="l">
              <a:lnSpc>
                <a:spcPts val="3600"/>
              </a:lnSpc>
              <a:spcBef>
                <a:spcPct val="0"/>
              </a:spcBef>
            </a:pPr>
            <a:r>
              <a:rPr lang="en-US" sz="3000" b="1" dirty="0">
                <a:solidFill>
                  <a:srgbClr val="000000"/>
                </a:solidFill>
                <a:latin typeface="Calibri (MS) Bold"/>
                <a:ea typeface="Calibri (MS) Bold"/>
                <a:cs typeface="Calibri (MS) Bold"/>
                <a:sym typeface="Calibri (MS) Bold"/>
              </a:rPr>
              <a:t>Q4. In a CFD simulation, an analyst wants to determine both the direction and spatial structure of fluid movement rather than simply locate regions of high pressure. Which visualization would be most appropriate?</a:t>
            </a:r>
          </a:p>
          <a:p>
            <a:pPr algn="l">
              <a:lnSpc>
                <a:spcPts val="3600"/>
              </a:lnSpc>
              <a:spcBef>
                <a:spcPct val="0"/>
              </a:spcBef>
            </a:pPr>
            <a:endParaRPr lang="en-US" sz="3000" b="1" dirty="0">
              <a:solidFill>
                <a:srgbClr val="000000"/>
              </a:solidFill>
              <a:latin typeface="Calibri (MS) Bold"/>
              <a:ea typeface="Calibri (MS) Bold"/>
              <a:cs typeface="Calibri (MS) Bold"/>
              <a:sym typeface="Calibri (MS) Bold"/>
            </a:endParaRPr>
          </a:p>
          <a:p>
            <a:pPr algn="l">
              <a:lnSpc>
                <a:spcPts val="3600"/>
              </a:lnSpc>
              <a:spcBef>
                <a:spcPct val="0"/>
              </a:spcBef>
            </a:pPr>
            <a:r>
              <a:rPr lang="en-US" sz="3000" dirty="0">
                <a:solidFill>
                  <a:srgbClr val="000000"/>
                </a:solidFill>
                <a:latin typeface="Calibri (MS)"/>
                <a:ea typeface="Calibri (MS)"/>
                <a:cs typeface="Calibri (MS)"/>
                <a:sym typeface="Calibri (MS)"/>
              </a:rPr>
              <a:t>A. Pressure histogram</a:t>
            </a:r>
          </a:p>
          <a:p>
            <a:pPr algn="l">
              <a:lnSpc>
                <a:spcPts val="3600"/>
              </a:lnSpc>
              <a:spcBef>
                <a:spcPct val="0"/>
              </a:spcBef>
            </a:pPr>
            <a:r>
              <a:rPr lang="en-US" sz="3000" dirty="0">
                <a:solidFill>
                  <a:srgbClr val="000000"/>
                </a:solidFill>
                <a:latin typeface="Calibri (MS)"/>
                <a:ea typeface="Calibri (MS)"/>
                <a:cs typeface="Calibri (MS)"/>
                <a:sym typeface="Calibri (MS)"/>
              </a:rPr>
              <a:t>B. Streamlines</a:t>
            </a:r>
          </a:p>
          <a:p>
            <a:pPr algn="l">
              <a:lnSpc>
                <a:spcPts val="3600"/>
              </a:lnSpc>
              <a:spcBef>
                <a:spcPct val="0"/>
              </a:spcBef>
            </a:pPr>
            <a:r>
              <a:rPr lang="en-US" sz="3000" dirty="0">
                <a:solidFill>
                  <a:srgbClr val="000000"/>
                </a:solidFill>
                <a:latin typeface="Calibri (MS)"/>
                <a:ea typeface="Calibri (MS)"/>
                <a:cs typeface="Calibri (MS)"/>
                <a:sym typeface="Calibri (MS)"/>
              </a:rPr>
              <a:t>C. Binary segmentation mask</a:t>
            </a:r>
          </a:p>
          <a:p>
            <a:pPr algn="l">
              <a:lnSpc>
                <a:spcPts val="3600"/>
              </a:lnSpc>
              <a:spcBef>
                <a:spcPct val="0"/>
              </a:spcBef>
            </a:pPr>
            <a:r>
              <a:rPr lang="en-US" sz="3000" dirty="0">
                <a:solidFill>
                  <a:srgbClr val="000000"/>
                </a:solidFill>
                <a:latin typeface="Calibri (MS)"/>
                <a:ea typeface="Calibri (MS)"/>
                <a:cs typeface="Calibri (MS)"/>
                <a:sym typeface="Calibri (MS)"/>
              </a:rPr>
              <a:t>D. </a:t>
            </a:r>
            <a:r>
              <a:rPr lang="en-US" sz="3000" dirty="0" err="1">
                <a:solidFill>
                  <a:srgbClr val="000000"/>
                </a:solidFill>
                <a:latin typeface="Calibri (MS)"/>
                <a:ea typeface="Calibri (MS)"/>
                <a:cs typeface="Calibri (MS)"/>
                <a:sym typeface="Calibri (MS)"/>
              </a:rPr>
              <a:t>Isosurface</a:t>
            </a:r>
            <a:r>
              <a:rPr lang="en-US" sz="3000" dirty="0">
                <a:solidFill>
                  <a:srgbClr val="000000"/>
                </a:solidFill>
                <a:latin typeface="Calibri (MS)"/>
                <a:ea typeface="Calibri (MS)"/>
                <a:cs typeface="Calibri (MS)"/>
                <a:sym typeface="Calibri (MS)"/>
              </a:rPr>
              <a:t> of pressure</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Answer: B</a:t>
            </a:r>
          </a:p>
        </p:txBody>
      </p:sp>
      <p:sp>
        <p:nvSpPr>
          <p:cNvPr id="6" name="TextBox 6"/>
          <p:cNvSpPr txBox="1"/>
          <p:nvPr/>
        </p:nvSpPr>
        <p:spPr>
          <a:xfrm>
            <a:off x="681104" y="958463"/>
            <a:ext cx="11785093" cy="609558"/>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08573" cy="4638675"/>
          </a:xfrm>
          <a:prstGeom prst="rect">
            <a:avLst/>
          </a:prstGeom>
        </p:spPr>
        <p:txBody>
          <a:bodyPr lIns="0" tIns="0" rIns="0" bIns="0" rtlCol="0" anchor="t">
            <a:spAutoFit/>
          </a:bodyPr>
          <a:lstStyle/>
          <a:p>
            <a:pPr algn="l">
              <a:lnSpc>
                <a:spcPts val="3600"/>
              </a:lnSpc>
              <a:spcBef>
                <a:spcPct val="0"/>
              </a:spcBef>
            </a:pPr>
            <a:r>
              <a:rPr lang="en-US" sz="3000" b="1" dirty="0">
                <a:solidFill>
                  <a:srgbClr val="000000"/>
                </a:solidFill>
                <a:latin typeface="Calibri (MS) Bold"/>
                <a:ea typeface="Calibri (MS) Bold"/>
                <a:cs typeface="Calibri (MS) Bold"/>
                <a:sym typeface="Calibri (MS) Bold"/>
              </a:rPr>
              <a:t>Q5. A 3D medical visualization contains several transparent anatomical structures, but important internal regions become difficult to distinguish because multiple surfaces overlap along the viewing direction. Which issue is primarily responsible?</a:t>
            </a:r>
          </a:p>
          <a:p>
            <a:pPr algn="l">
              <a:lnSpc>
                <a:spcPts val="3600"/>
              </a:lnSpc>
              <a:spcBef>
                <a:spcPct val="0"/>
              </a:spcBef>
            </a:pPr>
            <a:endParaRPr lang="en-US" sz="3000" b="1" dirty="0">
              <a:solidFill>
                <a:srgbClr val="000000"/>
              </a:solidFill>
              <a:latin typeface="Calibri (MS) Bold"/>
              <a:ea typeface="Calibri (MS) Bold"/>
              <a:cs typeface="Calibri (MS) Bold"/>
              <a:sym typeface="Calibri (MS) Bold"/>
            </a:endParaRPr>
          </a:p>
          <a:p>
            <a:pPr algn="l">
              <a:lnSpc>
                <a:spcPts val="3600"/>
              </a:lnSpc>
              <a:spcBef>
                <a:spcPct val="0"/>
              </a:spcBef>
            </a:pPr>
            <a:r>
              <a:rPr lang="en-US" sz="3000" dirty="0">
                <a:solidFill>
                  <a:srgbClr val="000000"/>
                </a:solidFill>
                <a:latin typeface="Calibri (MS)"/>
                <a:ea typeface="Calibri (MS)"/>
                <a:cs typeface="Calibri (MS)"/>
                <a:sym typeface="Calibri (MS)"/>
              </a:rPr>
              <a:t>A. Sampling bias</a:t>
            </a:r>
          </a:p>
          <a:p>
            <a:pPr algn="l">
              <a:lnSpc>
                <a:spcPts val="3600"/>
              </a:lnSpc>
              <a:spcBef>
                <a:spcPct val="0"/>
              </a:spcBef>
            </a:pPr>
            <a:r>
              <a:rPr lang="en-US" sz="3000" dirty="0">
                <a:solidFill>
                  <a:srgbClr val="000000"/>
                </a:solidFill>
                <a:latin typeface="Calibri (MS)"/>
                <a:ea typeface="Calibri (MS)"/>
                <a:cs typeface="Calibri (MS)"/>
                <a:sym typeface="Calibri (MS)"/>
              </a:rPr>
              <a:t>B. Occlusion</a:t>
            </a:r>
          </a:p>
          <a:p>
            <a:pPr algn="l">
              <a:lnSpc>
                <a:spcPts val="3600"/>
              </a:lnSpc>
              <a:spcBef>
                <a:spcPct val="0"/>
              </a:spcBef>
            </a:pPr>
            <a:r>
              <a:rPr lang="en-US" sz="3000" dirty="0">
                <a:solidFill>
                  <a:srgbClr val="000000"/>
                </a:solidFill>
                <a:latin typeface="Calibri (MS)"/>
                <a:ea typeface="Calibri (MS)"/>
                <a:cs typeface="Calibri (MS)"/>
                <a:sym typeface="Calibri (MS)"/>
              </a:rPr>
              <a:t>C. Interpolation error</a:t>
            </a:r>
          </a:p>
          <a:p>
            <a:pPr algn="l">
              <a:lnSpc>
                <a:spcPts val="3600"/>
              </a:lnSpc>
              <a:spcBef>
                <a:spcPct val="0"/>
              </a:spcBef>
            </a:pPr>
            <a:r>
              <a:rPr lang="en-US" sz="3000" dirty="0">
                <a:solidFill>
                  <a:srgbClr val="000000"/>
                </a:solidFill>
                <a:latin typeface="Calibri (MS)"/>
                <a:ea typeface="Calibri (MS)"/>
                <a:cs typeface="Calibri (MS)"/>
                <a:sym typeface="Calibri (MS)"/>
              </a:rPr>
              <a:t>D. Quantization</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Answer: B</a:t>
            </a:r>
          </a:p>
        </p:txBody>
      </p:sp>
      <p:sp>
        <p:nvSpPr>
          <p:cNvPr id="6" name="TextBox 6"/>
          <p:cNvSpPr txBox="1"/>
          <p:nvPr/>
        </p:nvSpPr>
        <p:spPr>
          <a:xfrm>
            <a:off x="681104" y="958463"/>
            <a:ext cx="11785093" cy="609558"/>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AutoShape 3"/>
          <p:cNvSpPr/>
          <p:nvPr/>
        </p:nvSpPr>
        <p:spPr>
          <a:xfrm>
            <a:off x="7260757" y="5576944"/>
            <a:ext cx="6440689" cy="0"/>
          </a:xfrm>
          <a:prstGeom prst="line">
            <a:avLst/>
          </a:prstGeom>
          <a:ln w="28575" cap="rnd">
            <a:solidFill>
              <a:srgbClr val="ED7D31"/>
            </a:solidFill>
            <a:prstDash val="solid"/>
            <a:headEnd type="none" w="sm" len="sm"/>
            <a:tailEnd type="none" w="sm" len="sm"/>
          </a:ln>
        </p:spPr>
        <p:txBody>
          <a:bodyPr/>
          <a:lstStyle/>
          <a:p>
            <a:endParaRPr lang="en-IN"/>
          </a:p>
        </p:txBody>
      </p:sp>
      <p:sp>
        <p:nvSpPr>
          <p:cNvPr id="4" name="Freeform 4"/>
          <p:cNvSpPr/>
          <p:nvPr/>
        </p:nvSpPr>
        <p:spPr>
          <a:xfrm>
            <a:off x="16283549" y="399098"/>
            <a:ext cx="1600343" cy="1617231"/>
          </a:xfrm>
          <a:custGeom>
            <a:avLst/>
            <a:gdLst/>
            <a:ahLst/>
            <a:cxnLst/>
            <a:rect l="l" t="t" r="r" b="b"/>
            <a:pathLst>
              <a:path w="1600343" h="1617231">
                <a:moveTo>
                  <a:pt x="0" y="0"/>
                </a:moveTo>
                <a:lnTo>
                  <a:pt x="1600343" y="0"/>
                </a:lnTo>
                <a:lnTo>
                  <a:pt x="1600343" y="1617230"/>
                </a:lnTo>
                <a:lnTo>
                  <a:pt x="0" y="16172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9144000" y="4695825"/>
            <a:ext cx="2658963" cy="809625"/>
          </a:xfrm>
          <a:prstGeom prst="rect">
            <a:avLst/>
          </a:prstGeom>
        </p:spPr>
        <p:txBody>
          <a:bodyPr lIns="0" tIns="0" rIns="0" bIns="0" rtlCol="0" anchor="t">
            <a:spAutoFit/>
          </a:bodyPr>
          <a:lstStyle/>
          <a:p>
            <a:pPr algn="ctr">
              <a:lnSpc>
                <a:spcPts val="5759"/>
              </a:lnSpc>
            </a:pPr>
            <a:r>
              <a:rPr lang="en-US" sz="4800" b="1">
                <a:solidFill>
                  <a:srgbClr val="2F5597"/>
                </a:solidFill>
                <a:latin typeface="Calibri (MS) Bold"/>
                <a:ea typeface="Calibri (MS) Bold"/>
                <a:cs typeface="Calibri (MS) Bold"/>
                <a:sym typeface="Calibri (MS) Bold"/>
              </a:rPr>
              <a:t>Thank You</a:t>
            </a:r>
          </a:p>
        </p:txBody>
      </p:sp>
      <p:grpSp>
        <p:nvGrpSpPr>
          <p:cNvPr id="6" name="Group 6"/>
          <p:cNvGrpSpPr/>
          <p:nvPr/>
        </p:nvGrpSpPr>
        <p:grpSpPr>
          <a:xfrm>
            <a:off x="2071106" y="1540573"/>
            <a:ext cx="3891710" cy="7205853"/>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5534</Words>
  <Application>Microsoft Office PowerPoint</Application>
  <PresentationFormat>Custom</PresentationFormat>
  <Paragraphs>611</Paragraphs>
  <Slides>46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Calibri</vt:lpstr>
      <vt:lpstr>Calibri (MS) Bold</vt:lpstr>
      <vt:lpstr>Calibri (MS)</vt:lpstr>
      <vt:lpstr>Arial Bold</vt:lpstr>
      <vt:lpstr>Aptos</vt:lpstr>
      <vt:lpstr>Arial</vt:lpstr>
      <vt:lpstr>Calibri (MS)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DV_U3_PPT1_PPT2_PPT3</dc:title>
  <cp:lastModifiedBy>prajwala talanki</cp:lastModifiedBy>
  <cp:revision>1</cp:revision>
  <dcterms:created xsi:type="dcterms:W3CDTF">2006-08-16T00:00:00Z</dcterms:created>
  <dcterms:modified xsi:type="dcterms:W3CDTF">2026-10-11T14:01:45Z</dcterms:modified>
  <dc:identifier>DAHU0vOJTKs</dc:identifier>
</cp:coreProperties>
</file>